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56" r:id="rId2"/>
    <p:sldId id="458" r:id="rId3"/>
    <p:sldId id="48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66FF33"/>
    <a:srgbClr val="D2DEEF"/>
    <a:srgbClr val="D0D8E8"/>
    <a:srgbClr val="0000CC"/>
    <a:srgbClr val="FF9900"/>
    <a:srgbClr val="FFFFFF"/>
    <a:srgbClr val="FFFFCC"/>
    <a:srgbClr val="D99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156" autoAdjust="0"/>
  </p:normalViewPr>
  <p:slideViewPr>
    <p:cSldViewPr snapToGrid="0">
      <p:cViewPr varScale="1">
        <p:scale>
          <a:sx n="108" d="100"/>
          <a:sy n="108" d="100"/>
        </p:scale>
        <p:origin x="732" y="138"/>
      </p:cViewPr>
      <p:guideLst>
        <p:guide orient="horz" pos="223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x2001634\Desktop\Hemeoi\&#22577;&#21578;\L930\&#25613;&#20214;&#22577;&#21578;&#65288;&#27599;&#36913;1.3.5&#21069;&#23436;&#25104;&#65289;\L930%20&#25613;&#20214;&#20998;&#26512;03.03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F1335659\Desktop\L930%20damage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1335659\Desktop\L930%20damage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1335659\Desktop\L930%20damag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en-US" altLang="zh-TW" sz="1200" b="1" i="0" u="none" strike="noStrike" baseline="0" dirty="0" smtClean="0">
                <a:latin typeface="Arial" pitchFamily="34" charset="0"/>
                <a:cs typeface="Arial" pitchFamily="34" charset="0"/>
              </a:rPr>
              <a:t>Serial number distribution</a:t>
            </a:r>
            <a:endParaRPr lang="zh-TW" altLang="en-US" sz="1200" b="1" dirty="0">
              <a:latin typeface="Arial" pitchFamily="34" charset="0"/>
              <a:ea typeface="標楷體" panose="03000509000000000000" pitchFamily="65" charset="-120"/>
              <a:cs typeface="Arial" pitchFamily="34" charset="0"/>
            </a:endParaRPr>
          </a:p>
        </c:rich>
      </c:tx>
      <c:layout>
        <c:manualLayout>
          <c:xMode val="edge"/>
          <c:yMode val="edge"/>
          <c:x val="0.23055225622857284"/>
          <c:y val="5.667081285802734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4106687627898608E-2"/>
          <c:y val="0.25291135145386295"/>
          <c:w val="0.7212208963584289"/>
          <c:h val="0.576710303936278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工作表3!$D$31</c:f>
              <c:strCache>
                <c:ptCount val="1"/>
                <c:pt idx="0">
                  <c:v>數量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val>
            <c:numRef>
              <c:f>工作表3!$E$31:$P$31</c:f>
              <c:numCache>
                <c:formatCode>General</c:formatCode>
                <c:ptCount val="12"/>
                <c:pt idx="0">
                  <c:v>7</c:v>
                </c:pt>
                <c:pt idx="1">
                  <c:v>14</c:v>
                </c:pt>
                <c:pt idx="2">
                  <c:v>4</c:v>
                </c:pt>
                <c:pt idx="3">
                  <c:v>4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6</c:v>
                </c:pt>
                <c:pt idx="8">
                  <c:v>4</c:v>
                </c:pt>
                <c:pt idx="9">
                  <c:v>7</c:v>
                </c:pt>
                <c:pt idx="10">
                  <c:v>14</c:v>
                </c:pt>
                <c:pt idx="1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E4-4091-B539-A462E5BAEF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6081152"/>
        <c:axId val="216082688"/>
      </c:barChart>
      <c:catAx>
        <c:axId val="216081152"/>
        <c:scaling>
          <c:orientation val="minMax"/>
        </c:scaling>
        <c:delete val="0"/>
        <c:axPos val="b"/>
        <c:majorTickMark val="out"/>
        <c:minorTickMark val="none"/>
        <c:tickLblPos val="nextTo"/>
        <c:crossAx val="216082688"/>
        <c:crosses val="autoZero"/>
        <c:auto val="1"/>
        <c:lblAlgn val="ctr"/>
        <c:lblOffset val="100"/>
        <c:noMultiLvlLbl val="0"/>
      </c:catAx>
      <c:valAx>
        <c:axId val="216082688"/>
        <c:scaling>
          <c:orientation val="minMax"/>
          <c:max val="2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6081152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84427213553112801"/>
          <c:y val="6.9716255487196122E-2"/>
          <c:w val="0.12002869221947146"/>
          <c:h val="0.12809667505201333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zh-TW" altLang="en-US" sz="1200" b="1" i="0" u="none" strike="noStrike" kern="1200" baseline="0" dirty="0">
                <a:solidFill>
                  <a:prstClr val="black"/>
                </a:solidFill>
                <a:latin typeface="標楷體" pitchFamily="65" charset="-120"/>
                <a:ea typeface="標楷體" pitchFamily="65" charset="-120"/>
                <a:cs typeface="+mn-cs"/>
              </a:defRPr>
            </a:pPr>
            <a:r>
              <a:rPr lang="en-US" altLang="zh-TW" sz="1200" b="1" i="0" u="none" strike="noStrike" baseline="0" dirty="0" smtClean="0">
                <a:latin typeface="Arial" pitchFamily="34" charset="0"/>
                <a:cs typeface="Arial" pitchFamily="34" charset="0"/>
              </a:rPr>
              <a:t>Panel Assembly Time</a:t>
            </a:r>
            <a:endParaRPr lang="zh-TW" altLang="en-US" sz="1200" b="1" i="0" u="none" strike="noStrike" kern="1200" baseline="0" dirty="0">
              <a:solidFill>
                <a:prstClr val="black"/>
              </a:solidFill>
              <a:latin typeface="Arial" pitchFamily="34" charset="0"/>
              <a:ea typeface="標楷體" pitchFamily="65" charset="-120"/>
              <a:cs typeface="Arial" pitchFamily="34" charset="0"/>
            </a:endParaRPr>
          </a:p>
        </c:rich>
      </c:tx>
      <c:layout>
        <c:manualLayout>
          <c:xMode val="edge"/>
          <c:yMode val="edge"/>
          <c:x val="0.30735438332670328"/>
          <c:y val="7.211576929767912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9.6405647331739217E-2"/>
          <c:y val="0.20248542490735255"/>
          <c:w val="0.77811301949229972"/>
          <c:h val="0.527990158804395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Sheet1!$S$9</c:f>
              <c:strCache>
                <c:ptCount val="1"/>
                <c:pt idx="0">
                  <c:v>数量</c:v>
                </c:pt>
              </c:strCache>
            </c:strRef>
          </c:tx>
          <c:invertIfNegative val="0"/>
          <c:dLbls>
            <c:dLbl>
              <c:idx val="3"/>
              <c:spPr>
                <a:solidFill>
                  <a:srgbClr val="FF0000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zh-TW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667-45DF-BAF8-A4A22524484B}"/>
                </c:ext>
              </c:extLst>
            </c:dLbl>
            <c:dLbl>
              <c:idx val="4"/>
              <c:spPr>
                <a:solidFill>
                  <a:srgbClr val="FF0000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zh-TW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667-45DF-BAF8-A4A22524484B}"/>
                </c:ext>
              </c:extLst>
            </c:dLbl>
            <c:dLbl>
              <c:idx val="5"/>
              <c:spPr>
                <a:noFill/>
              </c:spPr>
              <c:txPr>
                <a:bodyPr/>
                <a:lstStyle/>
                <a:p>
                  <a:pPr>
                    <a:defRPr/>
                  </a:pPr>
                  <a:endParaRPr lang="zh-TW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667-45DF-BAF8-A4A22524484B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Sheet1!$T$8:$Y$8</c:f>
              <c:numCache>
                <c:formatCode>m/d;@</c:formatCode>
                <c:ptCount val="6"/>
                <c:pt idx="0">
                  <c:v>44617</c:v>
                </c:pt>
                <c:pt idx="1">
                  <c:v>44618</c:v>
                </c:pt>
                <c:pt idx="2">
                  <c:v>44619</c:v>
                </c:pt>
                <c:pt idx="3">
                  <c:v>44620</c:v>
                </c:pt>
                <c:pt idx="4">
                  <c:v>44621</c:v>
                </c:pt>
                <c:pt idx="5">
                  <c:v>44622</c:v>
                </c:pt>
              </c:numCache>
            </c:numRef>
          </c:cat>
          <c:val>
            <c:numRef>
              <c:f>Sheet1!$T$9:$Y$9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0</c:v>
                </c:pt>
                <c:pt idx="3">
                  <c:v>13</c:v>
                </c:pt>
                <c:pt idx="4">
                  <c:v>26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667-45DF-BAF8-A4A2252448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5978368"/>
        <c:axId val="215979904"/>
      </c:barChart>
      <c:dateAx>
        <c:axId val="215978368"/>
        <c:scaling>
          <c:orientation val="minMax"/>
        </c:scaling>
        <c:delete val="0"/>
        <c:axPos val="b"/>
        <c:numFmt formatCode="m/d;@" sourceLinked="1"/>
        <c:majorTickMark val="out"/>
        <c:minorTickMark val="none"/>
        <c:tickLblPos val="nextTo"/>
        <c:crossAx val="215979904"/>
        <c:crosses val="autoZero"/>
        <c:auto val="1"/>
        <c:lblOffset val="100"/>
        <c:baseTimeUnit val="days"/>
      </c:dateAx>
      <c:valAx>
        <c:axId val="215979904"/>
        <c:scaling>
          <c:orientation val="minMax"/>
          <c:max val="30"/>
        </c:scaling>
        <c:delete val="0"/>
        <c:axPos val="l"/>
        <c:numFmt formatCode="General" sourceLinked="1"/>
        <c:majorTickMark val="out"/>
        <c:minorTickMark val="none"/>
        <c:tickLblPos val="nextTo"/>
        <c:crossAx val="215978368"/>
        <c:crosses val="autoZero"/>
        <c:crossBetween val="between"/>
        <c:majorUnit val="5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9949116311194846"/>
          <c:y val="0.59003811243555648"/>
          <c:w val="0.1931065133161681"/>
          <c:h val="0.14461302430409831"/>
        </c:manualLayout>
      </c:layout>
      <c:overlay val="0"/>
      <c:txPr>
        <a:bodyPr/>
        <a:lstStyle/>
        <a:p>
          <a:pPr>
            <a:defRPr sz="1000" baseline="0">
              <a:ea typeface="標楷體" pitchFamily="65" charset="-120"/>
            </a:defRPr>
          </a:pPr>
          <a:endParaRPr lang="zh-TW"/>
        </a:p>
      </c:txPr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altLang="zh-TW" sz="1200" b="1" i="0" u="none" strike="noStrike" baseline="0" dirty="0" smtClean="0">
                <a:effectLst/>
                <a:latin typeface="Arial" pitchFamily="34" charset="0"/>
                <a:cs typeface="Arial" pitchFamily="34" charset="0"/>
              </a:rPr>
              <a:t>Line distribution</a:t>
            </a:r>
            <a:endParaRPr lang="zh-TW" altLang="en-US" sz="1000" b="1" dirty="0">
              <a:latin typeface="Arial" pitchFamily="34" charset="0"/>
              <a:ea typeface="標楷體" pitchFamily="65" charset="-120"/>
              <a:cs typeface="Arial" pitchFamily="34" charset="0"/>
            </a:endParaRPr>
          </a:p>
        </c:rich>
      </c:tx>
      <c:layout>
        <c:manualLayout>
          <c:xMode val="edge"/>
          <c:yMode val="edge"/>
          <c:x val="0.31556780005351465"/>
          <c:y val="7.8517734304557926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6.9446194630574193E-2"/>
          <c:y val="0.24124954175984439"/>
          <c:w val="0.75789975921505681"/>
          <c:h val="0.616499944399307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Sheet1!$O$79</c:f>
              <c:strCache>
                <c:ptCount val="1"/>
                <c:pt idx="0">
                  <c:v>数量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Sheet1!$P$78:$V$78</c:f>
              <c:strCache>
                <c:ptCount val="7"/>
                <c:pt idx="0">
                  <c:v>EPA1</c:v>
                </c:pt>
                <c:pt idx="1">
                  <c:v>EPA2</c:v>
                </c:pt>
                <c:pt idx="2">
                  <c:v>EPA3</c:v>
                </c:pt>
                <c:pt idx="3">
                  <c:v>EPA4</c:v>
                </c:pt>
                <c:pt idx="4">
                  <c:v>EPA5</c:v>
                </c:pt>
                <c:pt idx="5">
                  <c:v>EPA6</c:v>
                </c:pt>
                <c:pt idx="6">
                  <c:v>EPA7</c:v>
                </c:pt>
              </c:strCache>
            </c:strRef>
          </c:cat>
          <c:val>
            <c:numRef>
              <c:f>Sheet1!$P$79:$V$79</c:f>
              <c:numCache>
                <c:formatCode>General</c:formatCode>
                <c:ptCount val="7"/>
                <c:pt idx="0">
                  <c:v>9</c:v>
                </c:pt>
                <c:pt idx="1">
                  <c:v>7</c:v>
                </c:pt>
                <c:pt idx="2">
                  <c:v>10</c:v>
                </c:pt>
                <c:pt idx="3">
                  <c:v>12</c:v>
                </c:pt>
                <c:pt idx="4">
                  <c:v>12</c:v>
                </c:pt>
                <c:pt idx="5">
                  <c:v>4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54-401E-A5AF-F7CCA5A058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6218240"/>
        <c:axId val="216220032"/>
      </c:barChart>
      <c:catAx>
        <c:axId val="2162182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6220032"/>
        <c:crosses val="autoZero"/>
        <c:auto val="1"/>
        <c:lblAlgn val="ctr"/>
        <c:lblOffset val="100"/>
        <c:noMultiLvlLbl val="0"/>
      </c:catAx>
      <c:valAx>
        <c:axId val="216220032"/>
        <c:scaling>
          <c:orientation val="minMax"/>
          <c:max val="2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216218240"/>
        <c:crosses val="autoZero"/>
        <c:crossBetween val="between"/>
        <c:majorUnit val="5"/>
        <c:minorUnit val="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82075691701154774"/>
          <c:y val="0.57607637885726481"/>
          <c:w val="0.122798490976447"/>
          <c:h val="0.12219010328959234"/>
        </c:manualLayout>
      </c:layout>
      <c:overlay val="0"/>
      <c:txPr>
        <a:bodyPr/>
        <a:lstStyle/>
        <a:p>
          <a:pPr>
            <a:defRPr>
              <a:latin typeface="標楷體" pitchFamily="65" charset="-120"/>
              <a:ea typeface="標楷體" pitchFamily="65" charset="-120"/>
            </a:defRPr>
          </a:pPr>
          <a:endParaRPr lang="zh-TW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600"/>
            </a:pPr>
            <a:r>
              <a:rPr lang="en-US" altLang="zh-TW" sz="1000" dirty="0" smtClean="0">
                <a:effectLst/>
                <a:latin typeface="Arial" pitchFamily="34" charset="0"/>
                <a:cs typeface="Arial" pitchFamily="34" charset="0"/>
              </a:rPr>
              <a:t>Non-performing rate</a:t>
            </a:r>
            <a:endParaRPr lang="zh-TW" altLang="zh-TW" sz="600" dirty="0">
              <a:effectLst/>
              <a:latin typeface="Arial" pitchFamily="34" charset="0"/>
              <a:cs typeface="Arial" pitchFamily="34" charset="0"/>
            </a:endParaRPr>
          </a:p>
        </c:rich>
      </c:tx>
      <c:layout>
        <c:manualLayout>
          <c:xMode val="edge"/>
          <c:yMode val="edge"/>
          <c:x val="0.13644061608204303"/>
          <c:y val="0.10636003811106944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8663-4359-A74C-224A29A90455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>
                <a:solidFill>
                  <a:srgbClr val="FFFF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663-4359-A74C-224A29A90455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</c:spPr>
            <c:extLst>
              <c:ext xmlns:c16="http://schemas.microsoft.com/office/drawing/2014/chart" uri="{C3380CC4-5D6E-409C-BE32-E72D297353CC}">
                <c16:uniqueId val="{00000005-8663-4359-A74C-224A29A90455}"/>
              </c:ext>
            </c:extLst>
          </c:dPt>
          <c:dLbls>
            <c:dLbl>
              <c:idx val="0"/>
              <c:layout>
                <c:manualLayout>
                  <c:x val="-0.1119017966146891"/>
                  <c:y val="0.12921585684105882"/>
                </c:manualLayout>
              </c:layout>
              <c:tx>
                <c:rich>
                  <a:bodyPr/>
                  <a:lstStyle/>
                  <a:p>
                    <a:r>
                      <a:rPr lang="en-US" altLang="zh-TW" sz="700" b="1" dirty="0" smtClean="0">
                        <a:latin typeface="標楷體" pitchFamily="65" charset="-120"/>
                        <a:ea typeface="標楷體" pitchFamily="65" charset="-120"/>
                      </a:rPr>
                      <a:t>16.0%</a:t>
                    </a:r>
                    <a:endParaRPr lang="en-US" altLang="zh-TW" sz="700" b="1" dirty="0">
                      <a:latin typeface="標楷體" pitchFamily="65" charset="-120"/>
                      <a:ea typeface="標楷體" pitchFamily="65" charset="-120"/>
                    </a:endParaRP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8663-4359-A74C-224A29A90455}"/>
                </c:ext>
              </c:extLst>
            </c:dLbl>
            <c:dLbl>
              <c:idx val="1"/>
              <c:layout>
                <c:manualLayout>
                  <c:x val="-0.15098174507745024"/>
                  <c:y val="-7.3621935415150275E-2"/>
                </c:manualLayout>
              </c:layout>
              <c:tx>
                <c:rich>
                  <a:bodyPr/>
                  <a:lstStyle/>
                  <a:p>
                    <a:r>
                      <a:rPr lang="en-US" altLang="zh-TW" sz="700" b="1" dirty="0" smtClean="0">
                        <a:latin typeface="標楷體" pitchFamily="65" charset="-120"/>
                        <a:ea typeface="標楷體" pitchFamily="65" charset="-120"/>
                      </a:rPr>
                      <a:t>20.0%</a:t>
                    </a:r>
                    <a:endParaRPr lang="en-US" altLang="zh-TW" sz="700" b="1" dirty="0">
                      <a:latin typeface="標楷體" pitchFamily="65" charset="-120"/>
                      <a:ea typeface="標楷體" pitchFamily="65" charset="-120"/>
                    </a:endParaRP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8663-4359-A74C-224A29A90455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altLang="zh-TW" sz="700" b="1" dirty="0" smtClean="0">
                        <a:latin typeface="標楷體" pitchFamily="65" charset="-120"/>
                        <a:ea typeface="標楷體" pitchFamily="65" charset="-120"/>
                      </a:rPr>
                      <a:t>64.0%</a:t>
                    </a:r>
                    <a:endParaRPr lang="en-US" altLang="zh-TW" sz="700" b="1" dirty="0">
                      <a:latin typeface="標楷體" pitchFamily="65" charset="-120"/>
                      <a:ea typeface="標楷體" pitchFamily="65" charset="-120"/>
                    </a:endParaRP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8663-4359-A74C-224A29A90455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val>
            <c:numRef>
              <c:f>Sheet1!$AB$39:$AB$41</c:f>
              <c:numCache>
                <c:formatCode>0.0%</c:formatCode>
                <c:ptCount val="3"/>
                <c:pt idx="0">
                  <c:v>0.18181818181818182</c:v>
                </c:pt>
                <c:pt idx="1">
                  <c:v>0.22727272727272727</c:v>
                </c:pt>
                <c:pt idx="2">
                  <c:v>0.49099999999999999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663-4359-A74C-224A29A9045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0.42841</cdr:x>
      <cdr:y>0.40907</cdr:y>
    </cdr:from>
    <cdr:to>
      <cdr:x>0.50314</cdr:x>
      <cdr:y>0.54675</cdr:y>
    </cdr:to>
    <cdr:cxnSp macro="">
      <cdr:nvCxnSpPr>
        <cdr:cNvPr id="3" name="直線單箭頭接點 2"/>
        <cdr:cNvCxnSpPr/>
      </cdr:nvCxnSpPr>
      <cdr:spPr>
        <a:xfrm xmlns:a="http://schemas.openxmlformats.org/drawingml/2006/main">
          <a:off x="1470042" y="792444"/>
          <a:ext cx="256424" cy="266700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FF0000"/>
          </a:solidFill>
          <a:tailEnd type="arrow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39ADF-E341-4D51-8813-C8C3454C7EB7}" type="datetimeFigureOut">
              <a:rPr lang="en-US" smtClean="0"/>
              <a:t>12/14/2024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D16B7-EB86-4BB7-981D-0203E8C9AF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0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8D16B7-EB86-4BB7-981D-0203E8C9AFE8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8D16B7-EB86-4BB7-981D-0203E8C9AFE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chart" Target="../charts/chart1.xml"/><Relationship Id="rId7" Type="http://schemas.openxmlformats.org/officeDocument/2006/relationships/image" Target="../media/image4.png"/><Relationship Id="rId12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image" Target="../media/image2.emf"/><Relationship Id="rId10" Type="http://schemas.openxmlformats.org/officeDocument/2006/relationships/chart" Target="../charts/chart4.xml"/><Relationship Id="rId4" Type="http://schemas.openxmlformats.org/officeDocument/2006/relationships/image" Target="../media/image1.png"/><Relationship Id="rId9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/>
        </p:nvGrpSpPr>
        <p:grpSpPr>
          <a:xfrm>
            <a:off x="0" y="-6590"/>
            <a:ext cx="12192000" cy="597331"/>
            <a:chOff x="0" y="0"/>
            <a:chExt cx="12192000" cy="597331"/>
          </a:xfrm>
        </p:grpSpPr>
        <p:sp>
          <p:nvSpPr>
            <p:cNvPr id="4" name="Rectangle 6"/>
            <p:cNvSpPr/>
            <p:nvPr/>
          </p:nvSpPr>
          <p:spPr>
            <a:xfrm>
              <a:off x="0" y="0"/>
              <a:ext cx="12192000" cy="56991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21602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TW" sz="28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5" name="圖片 3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7926" y="14871"/>
              <a:ext cx="1415915" cy="582460"/>
            </a:xfrm>
            <a:prstGeom prst="rect">
              <a:avLst/>
            </a:prstGeom>
          </p:spPr>
        </p:pic>
      </p:grpSp>
      <p:sp>
        <p:nvSpPr>
          <p:cNvPr id="2" name="文字方塊 1"/>
          <p:cNvSpPr txBox="1"/>
          <p:nvPr/>
        </p:nvSpPr>
        <p:spPr>
          <a:xfrm>
            <a:off x="0" y="-6350"/>
            <a:ext cx="9570720" cy="553994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defTabSz="1216025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  <a:sym typeface="+mn-ea"/>
              </a:rPr>
              <a:t>1.Weekly key job </a:t>
            </a:r>
            <a:r>
              <a:rPr lang="en-US" altLang="zh-TW" sz="2800" b="1" dirty="0" smtClean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  <a:sym typeface="+mn-ea"/>
              </a:rPr>
              <a:t>list                     Owner: Francis</a:t>
            </a:r>
            <a:endParaRPr lang="zh-TW" altLang="en-US" sz="2800" b="1" dirty="0">
              <a:solidFill>
                <a:schemeClr val="bg1">
                  <a:lumMod val="95000"/>
                </a:schemeClr>
              </a:solidFill>
              <a:latin typeface="Arial" pitchFamily="34" charset="0"/>
              <a:ea typeface="微軟正黑體" panose="020B0604030504040204" pitchFamily="34" charset="-120"/>
              <a:cs typeface="Arial" pitchFamily="34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834013"/>
              </p:ext>
            </p:extLst>
          </p:nvPr>
        </p:nvGraphicFramePr>
        <p:xfrm>
          <a:off x="114880" y="590741"/>
          <a:ext cx="11962240" cy="614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13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6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Arial" pitchFamily="34" charset="0"/>
                          <a:cs typeface="Arial" pitchFamily="34" charset="0"/>
                        </a:rPr>
                        <a:t>NO</a:t>
                      </a:r>
                      <a:endParaRPr lang="zh-TW" alt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Arial" pitchFamily="34" charset="0"/>
                          <a:cs typeface="Arial" pitchFamily="34" charset="0"/>
                        </a:rPr>
                        <a:t>Work content</a:t>
                      </a:r>
                      <a:endParaRPr lang="zh-TW" alt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  <a:endParaRPr lang="zh-TW" alt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Arial" pitchFamily="34" charset="0"/>
                          <a:cs typeface="Arial" pitchFamily="34" charset="0"/>
                        </a:rPr>
                        <a:t>Owner</a:t>
                      </a:r>
                      <a:endParaRPr lang="zh-TW" alt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Arial" pitchFamily="34" charset="0"/>
                          <a:cs typeface="Arial" pitchFamily="34" charset="0"/>
                        </a:rPr>
                        <a:t>status</a:t>
                      </a:r>
                      <a:endParaRPr lang="zh-TW" alt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Arial" pitchFamily="34" charset="0"/>
                          <a:cs typeface="Arial" pitchFamily="34" charset="0"/>
                        </a:rPr>
                        <a:t>Due</a:t>
                      </a:r>
                      <a:r>
                        <a:rPr lang="en-US" altLang="zh-TW" sz="1600" baseline="0" dirty="0">
                          <a:latin typeface="Arial" pitchFamily="34" charset="0"/>
                          <a:cs typeface="Arial" pitchFamily="34" charset="0"/>
                        </a:rPr>
                        <a:t> date</a:t>
                      </a:r>
                      <a:endParaRPr lang="zh-TW" alt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7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zh-TW" alt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  <a:sym typeface="+mn-ea"/>
                        </a:rPr>
                        <a:t>Giraffe</a:t>
                      </a:r>
                      <a:r>
                        <a:rPr lang="en-US" altLang="zh-TW" sz="1200" kern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  <a:sym typeface="+mn-ea"/>
                        </a:rPr>
                        <a:t> Auto screw DFM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1.Get</a:t>
                      </a:r>
                      <a:r>
                        <a:rPr lang="en-US" altLang="zh-CN" sz="10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all auto screw machine DFMs  and reviewed with Lotus</a:t>
                      </a: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-</a:t>
                      </a: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  <a:sym typeface="Wingdings" pitchFamily="2" charset="2"/>
                        </a:rPr>
                        <a:t>--&gt;</a:t>
                      </a: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2/21</a:t>
                      </a:r>
                    </a:p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2. Give feedback </a:t>
                      </a:r>
                      <a:r>
                        <a:rPr lang="en-US" altLang="zh-CN" sz="10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to screw machine suppliers and ask them to update the DFM based on customer’s requests.---&gt; 2/24</a:t>
                      </a:r>
                    </a:p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altLang="zh-CN" sz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3. Send out the updated auto screw DFMs to customer by 2/28 and waiting for final approval.---&gt;3/2</a:t>
                      </a:r>
                    </a:p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altLang="zh-CN" sz="1200" dirty="0" smtClean="0">
                          <a:solidFill>
                            <a:srgbClr val="0000FF"/>
                          </a:solidFill>
                          <a:latin typeface="Arial" pitchFamily="34" charset="0"/>
                          <a:cs typeface="Arial" pitchFamily="34" charset="0"/>
                        </a:rPr>
                        <a:t>4. All</a:t>
                      </a:r>
                      <a:r>
                        <a:rPr lang="en-US" altLang="zh-CN" sz="1200" baseline="0" dirty="0" smtClean="0">
                          <a:solidFill>
                            <a:srgbClr val="0000FF"/>
                          </a:solidFill>
                          <a:latin typeface="Arial" pitchFamily="34" charset="0"/>
                          <a:cs typeface="Arial" pitchFamily="34" charset="0"/>
                        </a:rPr>
                        <a:t> the auto screw machine DFMs approved by customer---&gt;3/4.</a:t>
                      </a:r>
                      <a:endParaRPr lang="en-US" altLang="zh-CN" sz="1200" dirty="0">
                        <a:solidFill>
                          <a:srgbClr val="0000FF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Francis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Closed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itchFamily="34" charset="0"/>
                          <a:cs typeface="Arial" pitchFamily="34" charset="0"/>
                        </a:rPr>
                        <a:t>3/2</a:t>
                      </a:r>
                      <a:endParaRPr lang="zh-TW" alt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5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zh-TW" altLang="en-US" sz="12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Giraffe</a:t>
                      </a:r>
                      <a:r>
                        <a:rPr lang="en-US" altLang="zh-TW" sz="1200" b="0" kern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overall auto line DFM</a:t>
                      </a:r>
                      <a:endParaRPr lang="zh-TW" altLang="en-US" sz="1200" b="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050" kern="12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1.Review</a:t>
                      </a:r>
                      <a:r>
                        <a:rPr lang="en-US" altLang="zh-TW" sz="1050" kern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ed with Lotus half of the overall auto line DFMs---&gt;2/21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zh-TW" sz="1050" kern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2.Will plan to review the rest of DFMs with Lotus today---&gt;2/22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zh-TW" sz="1050" kern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3.Will update the DFMs based on customer’s request---&gt;2/25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4.</a:t>
                      </a:r>
                      <a:r>
                        <a:rPr lang="en-US" altLang="zh-TW" sz="1200" kern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Cusomer has partially approved the overall DFM reports, target to get all machine DFMs approved by 3/5.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zh-TW" sz="1200" kern="1200" baseline="0" dirty="0" smtClean="0">
                          <a:solidFill>
                            <a:srgbClr val="0000FF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5.The overall auto line DFM approved by customer, several open items tracking is in-progress.</a:t>
                      </a:r>
                      <a:endParaRPr lang="en-US" altLang="zh-TW" sz="1200" kern="1200" dirty="0">
                        <a:solidFill>
                          <a:srgbClr val="0000FF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Francis/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Lan</a:t>
                      </a:r>
                      <a:r>
                        <a:rPr lang="en-US" altLang="zh-CN" sz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Xiang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On-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going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itchFamily="34" charset="0"/>
                          <a:cs typeface="Arial" pitchFamily="34" charset="0"/>
                        </a:rPr>
                        <a:t>3/10</a:t>
                      </a:r>
                      <a:endParaRPr lang="zh-TW" alt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1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zh-TW" alt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Giraffe</a:t>
                      </a:r>
                      <a:r>
                        <a:rPr lang="en-US" altLang="zh-TW" sz="1200" kern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FPC tray Design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1.Vendor</a:t>
                      </a:r>
                      <a:r>
                        <a:rPr lang="en-US" altLang="zh-TW" sz="12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altLang="zh-TW" sz="1200" b="0" i="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Mflex</a:t>
                      </a:r>
                      <a:r>
                        <a:rPr lang="en-US" altLang="zh-TW" sz="12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emailed us the cost will increase 30% if follow the tray CNT designed.---&gt;2/14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zh-TW" sz="12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2. Provided to customer an optimized tray design, waiting for customer’s final evaluation---&gt;3/5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zh-TW" sz="1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3. </a:t>
                      </a:r>
                      <a:r>
                        <a:rPr lang="en-US" altLang="zh-TW" sz="12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Mflex</a:t>
                      </a:r>
                      <a:r>
                        <a:rPr lang="en-US" altLang="zh-TW" sz="1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provided us an optimized tray design, we gave feedback to supplier, waiting for their modification.---&gt;3/5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zh-TW" sz="1200" b="0" i="0" kern="1200" baseline="0" dirty="0" smtClean="0"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4. The final design was locked down and aligned by 2 suppliers.---&gt;3/7</a:t>
                      </a:r>
                      <a:endParaRPr lang="en-US" altLang="zh-TW" sz="1200" b="0" i="0" kern="12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Francis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Closed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Arial" pitchFamily="34" charset="0"/>
                          <a:cs typeface="Arial" pitchFamily="34" charset="0"/>
                        </a:rPr>
                        <a:t>3/5</a:t>
                      </a:r>
                      <a:endParaRPr lang="zh-TW" alt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0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zh-TW" altLang="en-US" sz="12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FPC press</a:t>
                      </a:r>
                      <a:r>
                        <a:rPr lang="en-US" altLang="zh-TW" sz="1200" baseline="0" dirty="0" smtClean="0"/>
                        <a:t> machine meet target UPH solution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solidFill>
                            <a:srgbClr val="0000FF"/>
                          </a:solidFill>
                        </a:rPr>
                        <a:t>1.Send</a:t>
                      </a:r>
                      <a:r>
                        <a:rPr lang="en-US" altLang="zh-TW" sz="1200" baseline="0" dirty="0" smtClean="0">
                          <a:solidFill>
                            <a:srgbClr val="0000FF"/>
                          </a:solidFill>
                        </a:rPr>
                        <a:t> out Giraffe FPC press machine design&amp; fabrication schedule to customer, need get final press time spec by 4/20, waiting for customer’s DOE trail run plan.---&gt;3/5</a:t>
                      </a:r>
                      <a:endParaRPr lang="zh-TW" altLang="en-US" sz="12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Francis/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Lan</a:t>
                      </a:r>
                      <a:r>
                        <a:rPr lang="en-US" altLang="zh-CN" sz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Xiang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On-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going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Arial" pitchFamily="34" charset="0"/>
                          <a:cs typeface="Arial" pitchFamily="34" charset="0"/>
                        </a:rPr>
                        <a:t>4/20</a:t>
                      </a:r>
                      <a:endParaRPr lang="zh-TW" alt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223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TW" altLang="en-US" sz="12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CNT new</a:t>
                      </a:r>
                      <a:r>
                        <a:rPr lang="en-US" altLang="zh-TW" sz="1200" b="0" kern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solder paste validation</a:t>
                      </a:r>
                      <a:endParaRPr lang="zh-TW" altLang="en-US" sz="1200" b="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1.The samples for SIR and electron transfer has send out to Su Zhou Lab, waiting for the test result.</a:t>
                      </a:r>
                      <a:r>
                        <a:rPr lang="en-US" altLang="zh-TW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1.The</a:t>
                      </a:r>
                      <a:r>
                        <a:rPr lang="en-US" altLang="zh-TW" sz="105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system MOC has sign-off ---&gt;2/21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2.Will send out the paper MOC to SMT technical department to sign---&gt;2/22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3.The 2</a:t>
                      </a:r>
                      <a:r>
                        <a:rPr lang="en-US" altLang="zh-TW" sz="1050" b="0" i="0" kern="1200" baseline="3000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nd</a:t>
                      </a:r>
                      <a:r>
                        <a:rPr lang="en-US" altLang="zh-TW" sz="105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batch of solder paste cross-section &amp; Dye pry test passed and sent to customer---&gt;2/21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4. Delivered the validation report to Central global purchaser, waiting for her to provide quotation.---&gt;3/15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5.Summaried the validation report and send out to customer, will discuss with </a:t>
                      </a:r>
                      <a:r>
                        <a:rPr lang="en-US" altLang="zh-TW" sz="105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Heison</a:t>
                      </a:r>
                      <a:r>
                        <a:rPr lang="en-US" altLang="zh-TW" sz="105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within this week, target to get approval by 3/5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i="0" kern="1200" baseline="0" dirty="0" smtClean="0"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5.Get the solder paste quotation from central purchaser, 469RMB/Kg---&gt;3/5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i="0" kern="1200" baseline="0" dirty="0" smtClean="0"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6.Heison reviewed the validation summary report and he will review with his team members together, target to get Amazon team’s approval by this week.---&gt;3/10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Francis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On-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going</a:t>
                      </a:r>
                      <a:endParaRPr lang="zh-TW" altLang="en-US" sz="1200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Arial" pitchFamily="34" charset="0"/>
                          <a:cs typeface="Arial" pitchFamily="34" charset="0"/>
                        </a:rPr>
                        <a:t>3/23</a:t>
                      </a:r>
                      <a:endParaRPr lang="zh-TW" alt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50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 smtClean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zh-TW" altLang="en-US" sz="12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Gazelle MLB</a:t>
                      </a:r>
                      <a:r>
                        <a:rPr lang="en-US" altLang="zh-TW" sz="1200" b="0" kern="12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&amp; MIC Gerber DFM</a:t>
                      </a:r>
                      <a:endParaRPr lang="zh-TW" altLang="en-US" sz="1200" b="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i="0" kern="1200" baseline="0" dirty="0" smtClean="0"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1.Customer has released the V1 of MLB and MIC Gerber.---&gt;2/26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i="0" kern="1200" baseline="0" dirty="0" smtClean="0"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2.Provided the DFMs of MLB and MIC on 2/28, waiting for customer’s feedback.-</a:t>
                      </a:r>
                      <a:r>
                        <a:rPr lang="en-US" altLang="zh-TW" sz="1200" b="0" i="0" kern="1200" baseline="0" dirty="0" smtClean="0"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  <a:sym typeface="Wingdings" pitchFamily="2" charset="2"/>
                        </a:rPr>
                        <a:t>--&gt;3/4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i="0" kern="1200" baseline="0" dirty="0" smtClean="0"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  <a:sym typeface="Wingdings" pitchFamily="2" charset="2"/>
                        </a:rPr>
                        <a:t>3.MLB and MIC </a:t>
                      </a:r>
                      <a:r>
                        <a:rPr lang="en-US" altLang="zh-TW" sz="1200" b="0" i="0" kern="1200" baseline="0" dirty="0" err="1" smtClean="0"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  <a:sym typeface="Wingdings" pitchFamily="2" charset="2"/>
                        </a:rPr>
                        <a:t>Gerbers</a:t>
                      </a:r>
                      <a:r>
                        <a:rPr lang="en-US" altLang="zh-TW" sz="1200" b="0" i="0" kern="1200" baseline="0" dirty="0" smtClean="0"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  <a:sym typeface="Wingdings" pitchFamily="2" charset="2"/>
                        </a:rPr>
                        <a:t> are almost locked down, waiting for customer’s final confirmation.---&gt;3/8</a:t>
                      </a:r>
                      <a:endParaRPr lang="en-US" altLang="zh-TW" sz="1200" b="0" i="0" kern="1200" baseline="0" dirty="0" smtClean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Francis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On-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going</a:t>
                      </a:r>
                      <a:endParaRPr lang="zh-TW" altLang="en-US" sz="1200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Arial" pitchFamily="34" charset="0"/>
                          <a:cs typeface="Arial" pitchFamily="34" charset="0"/>
                        </a:rPr>
                        <a:t>3/4</a:t>
                      </a:r>
                      <a:endParaRPr lang="zh-TW" alt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24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>
            <a:extLst>
              <a:ext uri="{FF2B5EF4-FFF2-40B4-BE49-F238E27FC236}">
                <a16:creationId xmlns:a16="http://schemas.microsoft.com/office/drawing/2014/main" id="{2A07309C-C4B2-40C1-B6EB-D4E136C3CB0F}"/>
              </a:ext>
            </a:extLst>
          </p:cNvPr>
          <p:cNvSpPr/>
          <p:nvPr/>
        </p:nvSpPr>
        <p:spPr>
          <a:xfrm>
            <a:off x="0" y="-1986"/>
            <a:ext cx="12192000" cy="56991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21602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2800" b="1" dirty="0">
              <a:solidFill>
                <a:prstClr val="whit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3298" y="-16848"/>
            <a:ext cx="8186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  <a:sym typeface="+mn-ea"/>
              </a:rPr>
              <a:t>2. CNT 2</a:t>
            </a:r>
            <a:r>
              <a:rPr lang="en-US" altLang="zh-TW" sz="2800" b="1" baseline="30000" dirty="0" smtClean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  <a:sym typeface="+mn-ea"/>
              </a:rPr>
              <a:t>nd</a:t>
            </a:r>
            <a:r>
              <a:rPr lang="en-US" altLang="zh-TW" sz="2800" b="1" dirty="0" smtClean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微軟正黑體" panose="020B0604030504040204" pitchFamily="34" charset="-120"/>
                <a:cs typeface="Arial" pitchFamily="34" charset="0"/>
                <a:sym typeface="+mn-ea"/>
              </a:rPr>
              <a:t> solder paste implementation plan</a:t>
            </a:r>
            <a:endParaRPr lang="zh-TW" altLang="en-US" sz="2800" b="1" dirty="0">
              <a:solidFill>
                <a:schemeClr val="bg1">
                  <a:lumMod val="95000"/>
                </a:schemeClr>
              </a:solidFill>
              <a:latin typeface="Arial" pitchFamily="34" charset="0"/>
              <a:ea typeface="微軟正黑體" panose="020B0604030504040204" pitchFamily="34" charset="-120"/>
              <a:cs typeface="Arial" pitchFamily="34" charset="0"/>
            </a:endParaRPr>
          </a:p>
        </p:txBody>
      </p:sp>
      <p:graphicFrame>
        <p:nvGraphicFramePr>
          <p:cNvPr id="51" name="表格 -1"/>
          <p:cNvGraphicFramePr/>
          <p:nvPr>
            <p:extLst>
              <p:ext uri="{D42A27DB-BD31-4B8C-83A1-F6EECF244321}">
                <p14:modId xmlns:p14="http://schemas.microsoft.com/office/powerpoint/2010/main" val="756064720"/>
              </p:ext>
            </p:extLst>
          </p:nvPr>
        </p:nvGraphicFramePr>
        <p:xfrm>
          <a:off x="308310" y="1926992"/>
          <a:ext cx="11685944" cy="48309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8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16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3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3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3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904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dirty="0">
                          <a:latin typeface="微軟正黑體" pitchFamily="34" charset="-120"/>
                          <a:ea typeface="微軟正黑體" pitchFamily="34" charset="-120"/>
                        </a:rPr>
                        <a:t>No.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 smtClean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楷体" charset="0"/>
                        </a:rPr>
                        <a:t>Qualification</a:t>
                      </a:r>
                      <a:r>
                        <a:rPr lang="en-US" altLang="zh-CN" sz="1050" b="0" baseline="0" dirty="0" smtClean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楷体" charset="0"/>
                        </a:rPr>
                        <a:t> </a:t>
                      </a:r>
                      <a:r>
                        <a:rPr lang="en-US" altLang="zh-CN" sz="1050" b="0" dirty="0" smtClean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楷体" charset="0"/>
                        </a:rPr>
                        <a:t>Item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Detailed</a:t>
                      </a:r>
                      <a:r>
                        <a:rPr lang="en-US" altLang="zh-CN" sz="1050" b="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Qualification Plan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3765" rtl="0" eaLnBrk="1" latinLnBrk="0" hangingPunct="1">
                        <a:buNone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Start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date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Due</a:t>
                      </a:r>
                      <a:r>
                        <a:rPr lang="en-US" altLang="zh-CN" sz="1050" b="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date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3765" rtl="0" eaLnBrk="1" latinLnBrk="0" hangingPunct="1">
                        <a:buNone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Actually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Due date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 smtClean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楷体" charset="0"/>
                        </a:rPr>
                        <a:t>Status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07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dirty="0">
                          <a:latin typeface="微軟正黑體" pitchFamily="34" charset="-120"/>
                          <a:ea typeface="微軟正黑體" pitchFamily="34" charset="-120"/>
                        </a:rPr>
                        <a:t>1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Scheme kick off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Solder paste type evaluation and selection.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2.New solder paste and current solder paste parameters comparison.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printing and solder quality.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12/1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12/5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12/5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Closed</a:t>
                      </a:r>
                      <a:endParaRPr lang="en-US" altLang="zh-CN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5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dirty="0">
                          <a:latin typeface="微軟正黑體" pitchFamily="34" charset="-120"/>
                          <a:ea typeface="微軟正黑體" pitchFamily="34" charset="-120"/>
                        </a:rPr>
                        <a:t>2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50" dirty="0" smtClean="0"/>
                        <a:t>Send report to customer and approve</a:t>
                      </a:r>
                      <a:endParaRPr lang="zh-TW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1.Send new solder paste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evaluation report to customers.</a:t>
                      </a:r>
                      <a:endParaRPr lang="en-US" altLang="zh-CN" sz="105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2.Set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 meeting to discuss with customer for the detailed qualification plan.</a:t>
                      </a:r>
                      <a:endParaRPr lang="en-US" altLang="zh-CN" sz="105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12/6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12/14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12/14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Closed</a:t>
                      </a:r>
                      <a:endParaRPr lang="en-US" altLang="zh-CN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15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dirty="0">
                          <a:latin typeface="微軟正黑體" pitchFamily="34" charset="-120"/>
                          <a:ea typeface="微軟正黑體" pitchFamily="34" charset="-120"/>
                        </a:rPr>
                        <a:t>3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050" dirty="0" smtClean="0">
                          <a:solidFill>
                            <a:schemeClr val="tx1"/>
                          </a:solidFill>
                        </a:rPr>
                        <a:t>System and Paper MOC sign off</a:t>
                      </a:r>
                      <a:endParaRPr lang="zh-TW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1.System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paper MOC sign off</a:t>
                      </a: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---&gt;2/21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2.SMT E system new samples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application sign off, SMT technical team confirmed the vendor will come to factory for the details to discuss.---&gt;1/15</a:t>
                      </a:r>
                      <a:endParaRPr lang="en-US" altLang="zh-CN" sz="105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12/15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2/21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2/21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On-going</a:t>
                      </a:r>
                      <a:endParaRPr lang="en-US" altLang="zh-CN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47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dirty="0">
                          <a:latin typeface="微軟正黑體" pitchFamily="34" charset="-120"/>
                          <a:ea typeface="微軟正黑體" pitchFamily="34" charset="-120"/>
                        </a:rPr>
                        <a:t>4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050" dirty="0" smtClean="0">
                          <a:solidFill>
                            <a:srgbClr val="0000FF"/>
                          </a:solidFill>
                        </a:rPr>
                        <a:t>Validation kick off</a:t>
                      </a:r>
                      <a:endParaRPr lang="zh-TW" altLang="en-US" sz="105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Small control run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WO.</a:t>
                      </a:r>
                      <a:endParaRPr lang="en-US" altLang="zh-CN" sz="105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2.ORT test. ---&gt;1/20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3.Cross-section &amp; Dye Pry test</a:t>
                      </a:r>
                      <a:r>
                        <a:rPr lang="zh-CN" altLang="en-US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---&gt;2/22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4.Send</a:t>
                      </a:r>
                      <a:r>
                        <a:rPr lang="en-US" altLang="zh-CN" sz="1050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samples to Su Zhou Lab for SIR and electron transfer test---&gt;3/23</a:t>
                      </a:r>
                      <a:endParaRPr lang="zh-CN" altLang="en-US" sz="105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12/26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3/23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On-going</a:t>
                      </a:r>
                      <a:endParaRPr lang="en-US" altLang="zh-CN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69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dirty="0" smtClean="0">
                          <a:latin typeface="微軟正黑體" pitchFamily="34" charset="-120"/>
                          <a:ea typeface="微軟正黑體" pitchFamily="34" charset="-120"/>
                        </a:rPr>
                        <a:t>6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dirty="0" smtClean="0">
                          <a:solidFill>
                            <a:srgbClr val="0000FF"/>
                          </a:solidFill>
                        </a:rPr>
                        <a:t>Send customer validation report and approve</a:t>
                      </a:r>
                      <a:endParaRPr lang="zh-TW" altLang="en-US" sz="105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1.Send</a:t>
                      </a:r>
                      <a:r>
                        <a:rPr lang="en-US" altLang="zh-CN" sz="1050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out the qualification summary report to customer on 2/25.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2. Waiting</a:t>
                      </a:r>
                      <a:r>
                        <a:rPr lang="en-US" altLang="zh-CN" sz="1050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for </a:t>
                      </a:r>
                      <a:r>
                        <a:rPr lang="en-US" altLang="zh-CN" sz="1050" kern="1200" baseline="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Heison</a:t>
                      </a:r>
                      <a:r>
                        <a:rPr lang="en-US" altLang="zh-CN" sz="1050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and his  team’s final  approval.</a:t>
                      </a:r>
                      <a:endParaRPr lang="zh-CN" altLang="en-US" sz="105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2/23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3/10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On-going</a:t>
                      </a:r>
                      <a:endParaRPr lang="en-US" altLang="zh-CN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1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 smtClean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楷体" charset="0"/>
                        </a:rPr>
                        <a:t>7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050" dirty="0" smtClean="0"/>
                        <a:t>Large control run validation</a:t>
                      </a:r>
                      <a:endParaRPr lang="en-US" altLang="zh-TW" sz="105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Large control run WO to run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samples.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3/6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3/22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53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 smtClean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楷体" charset="0"/>
                        </a:rPr>
                        <a:t>8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050" dirty="0" smtClean="0"/>
                        <a:t>Send control run report to customer and approve</a:t>
                      </a:r>
                      <a:endParaRPr lang="en-US" altLang="zh-TW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Send 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yield report to customer and approve.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3/23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3/24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8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 smtClean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楷体" charset="0"/>
                        </a:rPr>
                        <a:t>9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dirty="0" smtClean="0"/>
                        <a:t>New PN setup in Agile &amp; SAP and maintain</a:t>
                      </a:r>
                      <a:endParaRPr lang="zh-TW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Setu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 new PN.</a:t>
                      </a:r>
                    </a:p>
                    <a:p>
                      <a:pPr marL="228600" marR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Upload new PN to Agile and SAP systems.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2/25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3/3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2/26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Closed</a:t>
                      </a:r>
                    </a:p>
                  </a:txBody>
                  <a:tcPr marL="0" marR="0" marT="0" marB="0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53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楷体" charset="0"/>
                        </a:rPr>
                        <a:t>9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dirty="0" smtClean="0">
                          <a:solidFill>
                            <a:schemeClr val="tx1"/>
                          </a:solidFill>
                        </a:rPr>
                        <a:t>Price and purchase environment maintain</a:t>
                      </a:r>
                      <a:endParaRPr lang="zh-TW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Price and purchase environment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maintenance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3/4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3/15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3/5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Closed</a:t>
                      </a:r>
                      <a:endParaRPr lang="en-US" altLang="zh-CN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02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楷体" charset="0"/>
                        </a:rPr>
                        <a:t>10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楷体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050" dirty="0" smtClean="0"/>
                        <a:t>Solder paste implementation completion</a:t>
                      </a:r>
                      <a:endParaRPr lang="zh-TW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Finished</a:t>
                      </a:r>
                      <a:r>
                        <a:rPr lang="en-US" altLang="zh-CN" sz="105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validation, Place PO, OK2P.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3/11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50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3/27</a:t>
                      </a: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50" kern="12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2" name="文字方塊 51"/>
          <p:cNvSpPr txBox="1"/>
          <p:nvPr/>
        </p:nvSpPr>
        <p:spPr>
          <a:xfrm>
            <a:off x="117459" y="548917"/>
            <a:ext cx="522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Solder paste validation Milestone</a:t>
            </a:r>
            <a:r>
              <a:rPr lang="en-US" altLang="zh-TW" b="1" dirty="0" smtClean="0"/>
              <a:t>:</a:t>
            </a:r>
            <a:endParaRPr lang="zh-TW" altLang="en-US" b="1" dirty="0"/>
          </a:p>
        </p:txBody>
      </p:sp>
      <p:grpSp>
        <p:nvGrpSpPr>
          <p:cNvPr id="54" name="群組 53"/>
          <p:cNvGrpSpPr/>
          <p:nvPr/>
        </p:nvGrpSpPr>
        <p:grpSpPr>
          <a:xfrm>
            <a:off x="263351" y="787654"/>
            <a:ext cx="11978962" cy="1188987"/>
            <a:chOff x="244072" y="922140"/>
            <a:chExt cx="11978962" cy="1188987"/>
          </a:xfrm>
        </p:grpSpPr>
        <p:sp>
          <p:nvSpPr>
            <p:cNvPr id="55" name="文字方塊 54"/>
            <p:cNvSpPr txBox="1"/>
            <p:nvPr/>
          </p:nvSpPr>
          <p:spPr>
            <a:xfrm>
              <a:off x="7119481" y="970057"/>
              <a:ext cx="16287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/>
                <a:t>Send control run report to customer and approve</a:t>
              </a:r>
              <a:endParaRPr lang="en-US" altLang="zh-TW" sz="1200" dirty="0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9035206" y="1803064"/>
              <a:ext cx="521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 smtClean="0"/>
                <a:t>3/3</a:t>
              </a:r>
              <a:endParaRPr lang="zh-TW" altLang="en-US" sz="1400" dirty="0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10190633" y="1785632"/>
              <a:ext cx="5957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 smtClean="0"/>
                <a:t>3/15</a:t>
              </a:r>
              <a:endParaRPr lang="zh-TW" altLang="en-US" sz="1400" dirty="0"/>
            </a:p>
          </p:txBody>
        </p:sp>
        <p:grpSp>
          <p:nvGrpSpPr>
            <p:cNvPr id="58" name="群組 57"/>
            <p:cNvGrpSpPr/>
            <p:nvPr/>
          </p:nvGrpSpPr>
          <p:grpSpPr>
            <a:xfrm>
              <a:off x="263351" y="922140"/>
              <a:ext cx="11737304" cy="1188987"/>
              <a:chOff x="263351" y="1072571"/>
              <a:chExt cx="11737304" cy="1188987"/>
            </a:xfrm>
          </p:grpSpPr>
          <p:grpSp>
            <p:nvGrpSpPr>
              <p:cNvPr id="63" name="群組 62"/>
              <p:cNvGrpSpPr/>
              <p:nvPr/>
            </p:nvGrpSpPr>
            <p:grpSpPr>
              <a:xfrm>
                <a:off x="263351" y="1106254"/>
                <a:ext cx="11737304" cy="1155304"/>
                <a:chOff x="490436" y="3836154"/>
                <a:chExt cx="11737304" cy="1155304"/>
              </a:xfrm>
            </p:grpSpPr>
            <p:sp>
              <p:nvSpPr>
                <p:cNvPr id="66" name="文字方塊 65"/>
                <p:cNvSpPr txBox="1"/>
                <p:nvPr/>
              </p:nvSpPr>
              <p:spPr>
                <a:xfrm>
                  <a:off x="7880720" y="4668761"/>
                  <a:ext cx="6840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400" dirty="0"/>
                    <a:t>3</a:t>
                  </a:r>
                  <a:r>
                    <a:rPr lang="en-US" altLang="zh-TW" sz="1400" dirty="0" smtClean="0"/>
                    <a:t>/24</a:t>
                  </a:r>
                  <a:endParaRPr lang="zh-TW" altLang="en-US" sz="1400" dirty="0"/>
                </a:p>
              </p:txBody>
            </p:sp>
            <p:grpSp>
              <p:nvGrpSpPr>
                <p:cNvPr id="67" name="群組 66"/>
                <p:cNvGrpSpPr/>
                <p:nvPr/>
              </p:nvGrpSpPr>
              <p:grpSpPr>
                <a:xfrm>
                  <a:off x="490436" y="3836154"/>
                  <a:ext cx="11737304" cy="1155304"/>
                  <a:chOff x="650046" y="1502529"/>
                  <a:chExt cx="11737304" cy="1155304"/>
                </a:xfrm>
              </p:grpSpPr>
              <p:grpSp>
                <p:nvGrpSpPr>
                  <p:cNvPr id="72" name="群組 71"/>
                  <p:cNvGrpSpPr/>
                  <p:nvPr/>
                </p:nvGrpSpPr>
                <p:grpSpPr>
                  <a:xfrm>
                    <a:off x="650046" y="1515977"/>
                    <a:ext cx="11737304" cy="1141856"/>
                    <a:chOff x="580800" y="1227139"/>
                    <a:chExt cx="8456241" cy="1404975"/>
                  </a:xfrm>
                </p:grpSpPr>
                <p:cxnSp>
                  <p:nvCxnSpPr>
                    <p:cNvPr id="75" name="直線單箭頭接點 74"/>
                    <p:cNvCxnSpPr/>
                    <p:nvPr/>
                  </p:nvCxnSpPr>
                  <p:spPr>
                    <a:xfrm>
                      <a:off x="580800" y="2183853"/>
                      <a:ext cx="8456241" cy="0"/>
                    </a:xfrm>
                    <a:prstGeom prst="straightConnector1">
                      <a:avLst/>
                    </a:prstGeom>
                    <a:ln w="57150">
                      <a:solidFill>
                        <a:srgbClr val="0066FF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直線單箭頭接點 75"/>
                    <p:cNvCxnSpPr/>
                    <p:nvPr/>
                  </p:nvCxnSpPr>
                  <p:spPr>
                    <a:xfrm flipV="1">
                      <a:off x="1123950" y="1909762"/>
                      <a:ext cx="0" cy="271464"/>
                    </a:xfrm>
                    <a:prstGeom prst="straightConnector1">
                      <a:avLst/>
                    </a:prstGeom>
                    <a:ln w="19050">
                      <a:solidFill>
                        <a:srgbClr val="4E93D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線單箭頭接點 76"/>
                    <p:cNvCxnSpPr/>
                    <p:nvPr/>
                  </p:nvCxnSpPr>
                  <p:spPr>
                    <a:xfrm flipV="1">
                      <a:off x="2836974" y="1878193"/>
                      <a:ext cx="0" cy="288423"/>
                    </a:xfrm>
                    <a:prstGeom prst="straightConnector1">
                      <a:avLst/>
                    </a:prstGeom>
                    <a:ln w="19050">
                      <a:solidFill>
                        <a:srgbClr val="4E93D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線單箭頭接點 77"/>
                    <p:cNvCxnSpPr/>
                    <p:nvPr/>
                  </p:nvCxnSpPr>
                  <p:spPr>
                    <a:xfrm flipV="1">
                      <a:off x="4367951" y="1875810"/>
                      <a:ext cx="0" cy="302240"/>
                    </a:xfrm>
                    <a:prstGeom prst="straightConnector1">
                      <a:avLst/>
                    </a:prstGeom>
                    <a:ln w="19050">
                      <a:solidFill>
                        <a:srgbClr val="4E93D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線單箭頭接點 78"/>
                    <p:cNvCxnSpPr/>
                    <p:nvPr/>
                  </p:nvCxnSpPr>
                  <p:spPr>
                    <a:xfrm flipH="1" flipV="1">
                      <a:off x="5198012" y="1887716"/>
                      <a:ext cx="1" cy="290512"/>
                    </a:xfrm>
                    <a:prstGeom prst="straightConnector1">
                      <a:avLst/>
                    </a:prstGeom>
                    <a:ln w="19050">
                      <a:solidFill>
                        <a:srgbClr val="4E93D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直線單箭頭接點 79"/>
                    <p:cNvCxnSpPr/>
                    <p:nvPr/>
                  </p:nvCxnSpPr>
                  <p:spPr>
                    <a:xfrm flipH="1" flipV="1">
                      <a:off x="6131830" y="1854739"/>
                      <a:ext cx="1" cy="302239"/>
                    </a:xfrm>
                    <a:prstGeom prst="straightConnector1">
                      <a:avLst/>
                    </a:prstGeom>
                    <a:ln w="19050">
                      <a:solidFill>
                        <a:srgbClr val="4E93D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1" name="文字方塊 80"/>
                    <p:cNvSpPr txBox="1"/>
                    <p:nvPr/>
                  </p:nvSpPr>
                  <p:spPr>
                    <a:xfrm>
                      <a:off x="666236" y="1492755"/>
                      <a:ext cx="867179" cy="34082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200" dirty="0" smtClean="0"/>
                        <a:t>Scheme kick off</a:t>
                      </a:r>
                      <a:endParaRPr lang="zh-TW" altLang="en-US" sz="1200" dirty="0"/>
                    </a:p>
                  </p:txBody>
                </p:sp>
                <p:sp>
                  <p:nvSpPr>
                    <p:cNvPr id="82" name="文字方塊 81"/>
                    <p:cNvSpPr txBox="1"/>
                    <p:nvPr/>
                  </p:nvSpPr>
                  <p:spPr>
                    <a:xfrm>
                      <a:off x="925310" y="2253416"/>
                      <a:ext cx="397279" cy="3786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400" dirty="0" smtClean="0"/>
                        <a:t>12/5</a:t>
                      </a:r>
                      <a:endParaRPr lang="zh-TW" altLang="en-US" sz="1400" dirty="0"/>
                    </a:p>
                  </p:txBody>
                </p:sp>
                <p:sp>
                  <p:nvSpPr>
                    <p:cNvPr id="83" name="文字方塊 82"/>
                    <p:cNvSpPr txBox="1"/>
                    <p:nvPr/>
                  </p:nvSpPr>
                  <p:spPr>
                    <a:xfrm>
                      <a:off x="2396558" y="1329836"/>
                      <a:ext cx="1005011" cy="56804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0000FF"/>
                          </a:solidFill>
                        </a:rPr>
                        <a:t>System and Paper MOC sign off</a:t>
                      </a:r>
                      <a:endParaRPr lang="zh-TW" altLang="en-US" sz="1200" dirty="0">
                        <a:solidFill>
                          <a:srgbClr val="0000FF"/>
                        </a:solidFill>
                      </a:endParaRPr>
                    </a:p>
                  </p:txBody>
                </p:sp>
                <p:sp>
                  <p:nvSpPr>
                    <p:cNvPr id="84" name="文字方塊 83"/>
                    <p:cNvSpPr txBox="1"/>
                    <p:nvPr/>
                  </p:nvSpPr>
                  <p:spPr>
                    <a:xfrm>
                      <a:off x="1653973" y="2220614"/>
                      <a:ext cx="551351" cy="3786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400" dirty="0" smtClean="0"/>
                        <a:t>12/14</a:t>
                      </a:r>
                      <a:endParaRPr lang="zh-TW" altLang="en-US" sz="1400" dirty="0"/>
                    </a:p>
                  </p:txBody>
                </p:sp>
                <p:sp>
                  <p:nvSpPr>
                    <p:cNvPr id="85" name="文字方塊 84"/>
                    <p:cNvSpPr txBox="1"/>
                    <p:nvPr/>
                  </p:nvSpPr>
                  <p:spPr>
                    <a:xfrm>
                      <a:off x="3293708" y="1368880"/>
                      <a:ext cx="640963" cy="56804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0000FF"/>
                          </a:solidFill>
                        </a:rPr>
                        <a:t>Validation kick off</a:t>
                      </a:r>
                      <a:endParaRPr lang="zh-TW" altLang="en-US" sz="1200" dirty="0">
                        <a:solidFill>
                          <a:srgbClr val="0000FF"/>
                        </a:solidFill>
                      </a:endParaRPr>
                    </a:p>
                  </p:txBody>
                </p:sp>
                <p:sp>
                  <p:nvSpPr>
                    <p:cNvPr id="86" name="文字方塊 85"/>
                    <p:cNvSpPr txBox="1"/>
                    <p:nvPr/>
                  </p:nvSpPr>
                  <p:spPr>
                    <a:xfrm>
                      <a:off x="2570833" y="2231613"/>
                      <a:ext cx="532281" cy="3786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400" dirty="0" smtClean="0"/>
                        <a:t>12/25</a:t>
                      </a:r>
                      <a:endParaRPr lang="zh-TW" altLang="en-US" sz="1400" dirty="0"/>
                    </a:p>
                  </p:txBody>
                </p:sp>
                <p:sp>
                  <p:nvSpPr>
                    <p:cNvPr id="87" name="文字方塊 86"/>
                    <p:cNvSpPr txBox="1"/>
                    <p:nvPr/>
                  </p:nvSpPr>
                  <p:spPr>
                    <a:xfrm>
                      <a:off x="3347991" y="2231619"/>
                      <a:ext cx="532398" cy="3786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400" dirty="0" smtClean="0"/>
                        <a:t>1/20</a:t>
                      </a:r>
                      <a:endParaRPr lang="zh-TW" altLang="en-US" sz="1400" dirty="0"/>
                    </a:p>
                  </p:txBody>
                </p:sp>
                <p:sp>
                  <p:nvSpPr>
                    <p:cNvPr id="88" name="文字方塊 87"/>
                    <p:cNvSpPr txBox="1"/>
                    <p:nvPr/>
                  </p:nvSpPr>
                  <p:spPr>
                    <a:xfrm>
                      <a:off x="3888057" y="1227139"/>
                      <a:ext cx="1061243" cy="7952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200" dirty="0" smtClean="0"/>
                        <a:t>Send customer validation report and approve</a:t>
                      </a:r>
                      <a:endParaRPr lang="zh-TW" altLang="en-US" sz="1200" dirty="0"/>
                    </a:p>
                  </p:txBody>
                </p:sp>
                <p:sp>
                  <p:nvSpPr>
                    <p:cNvPr id="89" name="文字方塊 88"/>
                    <p:cNvSpPr txBox="1"/>
                    <p:nvPr/>
                  </p:nvSpPr>
                  <p:spPr>
                    <a:xfrm>
                      <a:off x="4859238" y="1341716"/>
                      <a:ext cx="779326" cy="56804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200" dirty="0" smtClean="0"/>
                        <a:t>Large control run validation</a:t>
                      </a:r>
                      <a:endParaRPr lang="en-US" altLang="zh-TW" sz="1200" dirty="0"/>
                    </a:p>
                  </p:txBody>
                </p:sp>
                <p:sp>
                  <p:nvSpPr>
                    <p:cNvPr id="90" name="文字方塊 89"/>
                    <p:cNvSpPr txBox="1"/>
                    <p:nvPr/>
                  </p:nvSpPr>
                  <p:spPr>
                    <a:xfrm>
                      <a:off x="4140109" y="2231617"/>
                      <a:ext cx="455683" cy="3786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400" dirty="0" smtClean="0"/>
                        <a:t>3/10</a:t>
                      </a:r>
                      <a:endParaRPr lang="zh-TW" altLang="en-US" sz="1400" dirty="0"/>
                    </a:p>
                  </p:txBody>
                </p:sp>
              </p:grpSp>
              <p:cxnSp>
                <p:nvCxnSpPr>
                  <p:cNvPr id="73" name="直線單箭頭接點 72"/>
                  <p:cNvCxnSpPr/>
                  <p:nvPr/>
                </p:nvCxnSpPr>
                <p:spPr>
                  <a:xfrm flipV="1">
                    <a:off x="9651047" y="2060585"/>
                    <a:ext cx="6861" cy="220624"/>
                  </a:xfrm>
                  <a:prstGeom prst="straightConnector1">
                    <a:avLst/>
                  </a:prstGeom>
                  <a:ln w="19050">
                    <a:solidFill>
                      <a:srgbClr val="4E93D2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" name="文字方塊 73"/>
                  <p:cNvSpPr txBox="1"/>
                  <p:nvPr/>
                </p:nvSpPr>
                <p:spPr>
                  <a:xfrm>
                    <a:off x="8993748" y="1502529"/>
                    <a:ext cx="137737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200" dirty="0" smtClean="0"/>
                      <a:t>New PN setup in Agile &amp; SAP and maintain</a:t>
                    </a:r>
                    <a:endParaRPr lang="zh-TW" altLang="en-US" sz="1200" dirty="0"/>
                  </a:p>
                </p:txBody>
              </p:sp>
            </p:grpSp>
            <p:cxnSp>
              <p:nvCxnSpPr>
                <p:cNvPr id="68" name="直線單箭頭接點 67"/>
                <p:cNvCxnSpPr/>
                <p:nvPr/>
              </p:nvCxnSpPr>
              <p:spPr>
                <a:xfrm flipV="1">
                  <a:off x="4700796" y="4386350"/>
                  <a:ext cx="0" cy="236345"/>
                </a:xfrm>
                <a:prstGeom prst="straightConnector1">
                  <a:avLst/>
                </a:prstGeom>
                <a:ln w="19050">
                  <a:solidFill>
                    <a:srgbClr val="4E93D2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線單箭頭接點 68"/>
                <p:cNvCxnSpPr/>
                <p:nvPr/>
              </p:nvCxnSpPr>
              <p:spPr>
                <a:xfrm flipV="1">
                  <a:off x="2362645" y="4386350"/>
                  <a:ext cx="0" cy="245638"/>
                </a:xfrm>
                <a:prstGeom prst="straightConnector1">
                  <a:avLst/>
                </a:prstGeom>
                <a:ln w="19050">
                  <a:solidFill>
                    <a:srgbClr val="4E93D2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文字方塊 69"/>
                <p:cNvSpPr txBox="1"/>
                <p:nvPr/>
              </p:nvSpPr>
              <p:spPr>
                <a:xfrm>
                  <a:off x="1600644" y="3942722"/>
                  <a:ext cx="166084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200" dirty="0" smtClean="0"/>
                    <a:t>Send report to customer and approve</a:t>
                  </a:r>
                  <a:endParaRPr lang="zh-TW" altLang="en-US" sz="1200" dirty="0"/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6645747" y="4634032"/>
                  <a:ext cx="6480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400" dirty="0" smtClean="0"/>
                    <a:t>3/11</a:t>
                  </a:r>
                  <a:endParaRPr lang="zh-TW" altLang="en-US" sz="1400" dirty="0"/>
                </a:p>
              </p:txBody>
            </p:sp>
          </p:grpSp>
          <p:cxnSp>
            <p:nvCxnSpPr>
              <p:cNvPr id="64" name="直線單箭頭接點 63"/>
              <p:cNvCxnSpPr/>
              <p:nvPr/>
            </p:nvCxnSpPr>
            <p:spPr>
              <a:xfrm flipV="1">
                <a:off x="10488488" y="1647342"/>
                <a:ext cx="6861" cy="220624"/>
              </a:xfrm>
              <a:prstGeom prst="straightConnector1">
                <a:avLst/>
              </a:prstGeom>
              <a:ln w="19050">
                <a:solidFill>
                  <a:srgbClr val="4E93D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文字方塊 64"/>
              <p:cNvSpPr txBox="1"/>
              <p:nvPr/>
            </p:nvSpPr>
            <p:spPr>
              <a:xfrm>
                <a:off x="9796525" y="1072571"/>
                <a:ext cx="14209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 smtClean="0"/>
                  <a:t>Price and purchase environment maintain</a:t>
                </a:r>
                <a:endParaRPr lang="zh-TW" altLang="en-US" sz="1200" dirty="0"/>
              </a:p>
            </p:txBody>
          </p:sp>
        </p:grpSp>
        <p:cxnSp>
          <p:nvCxnSpPr>
            <p:cNvPr id="59" name="直線單箭頭接點 58"/>
            <p:cNvCxnSpPr/>
            <p:nvPr/>
          </p:nvCxnSpPr>
          <p:spPr>
            <a:xfrm flipV="1">
              <a:off x="244072" y="1742099"/>
              <a:ext cx="5346273" cy="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字方塊 59"/>
            <p:cNvSpPr txBox="1"/>
            <p:nvPr/>
          </p:nvSpPr>
          <p:spPr>
            <a:xfrm>
              <a:off x="11217488" y="1803065"/>
              <a:ext cx="5701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 smtClean="0"/>
                <a:t>3/27</a:t>
              </a:r>
              <a:endParaRPr lang="zh-TW" altLang="en-US" sz="1400" dirty="0"/>
            </a:p>
          </p:txBody>
        </p:sp>
        <p:cxnSp>
          <p:nvCxnSpPr>
            <p:cNvPr id="61" name="直線單箭頭接點 60"/>
            <p:cNvCxnSpPr/>
            <p:nvPr/>
          </p:nvCxnSpPr>
          <p:spPr>
            <a:xfrm flipV="1">
              <a:off x="11461534" y="1556100"/>
              <a:ext cx="6861" cy="220624"/>
            </a:xfrm>
            <a:prstGeom prst="straightConnector1">
              <a:avLst/>
            </a:prstGeom>
            <a:ln w="19050">
              <a:solidFill>
                <a:srgbClr val="4E93D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/>
            <p:cNvSpPr txBox="1"/>
            <p:nvPr/>
          </p:nvSpPr>
          <p:spPr>
            <a:xfrm>
              <a:off x="11002774" y="955822"/>
              <a:ext cx="12202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/>
                <a:t>Solder paste implementation completion</a:t>
              </a:r>
              <a:endParaRPr lang="zh-TW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5419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圖表 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5630171"/>
              </p:ext>
            </p:extLst>
          </p:nvPr>
        </p:nvGraphicFramePr>
        <p:xfrm>
          <a:off x="3927329" y="2166408"/>
          <a:ext cx="3913256" cy="1792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群組 2"/>
          <p:cNvGrpSpPr/>
          <p:nvPr/>
        </p:nvGrpSpPr>
        <p:grpSpPr>
          <a:xfrm>
            <a:off x="0" y="-6590"/>
            <a:ext cx="12192000" cy="597331"/>
            <a:chOff x="0" y="0"/>
            <a:chExt cx="12192000" cy="597331"/>
          </a:xfrm>
        </p:grpSpPr>
        <p:sp>
          <p:nvSpPr>
            <p:cNvPr id="4" name="Rectangle 6"/>
            <p:cNvSpPr/>
            <p:nvPr/>
          </p:nvSpPr>
          <p:spPr>
            <a:xfrm>
              <a:off x="0" y="0"/>
              <a:ext cx="12192000" cy="56991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21602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TW" sz="2800" b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5" name="圖片 3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7926" y="14871"/>
              <a:ext cx="1415915" cy="582460"/>
            </a:xfrm>
            <a:prstGeom prst="rect">
              <a:avLst/>
            </a:prstGeom>
          </p:spPr>
        </p:pic>
      </p:grpSp>
      <p:sp>
        <p:nvSpPr>
          <p:cNvPr id="43" name="文字方塊 42"/>
          <p:cNvSpPr txBox="1"/>
          <p:nvPr/>
        </p:nvSpPr>
        <p:spPr>
          <a:xfrm>
            <a:off x="-1" y="7977"/>
            <a:ext cx="11355884" cy="553994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defTabSz="1216025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Analysis of L930 Damage Problems</a:t>
            </a:r>
            <a:endParaRPr lang="en-US" altLang="zh-TW" sz="28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-1" y="512316"/>
            <a:ext cx="12192000" cy="3865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chemeClr val="tx1"/>
                </a:solidFill>
                <a:ea typeface="標楷體" pitchFamily="65" charset="-120"/>
                <a:cs typeface="Arial" panose="020B0604020202020204" pitchFamily="34" charset="0"/>
              </a:rPr>
              <a:t>Data analysis of L930 damaged parts, 2/28~3/5 cumulative damage parts 75PCS, production information is as follows:</a:t>
            </a:r>
            <a:endParaRPr lang="en-US" altLang="zh-CN" b="1" dirty="0">
              <a:solidFill>
                <a:schemeClr val="tx1"/>
              </a:solidFill>
              <a:ea typeface="標楷體" pitchFamily="65" charset="-120"/>
              <a:cs typeface="Arial" panose="020B0604020202020204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9" y="1069400"/>
            <a:ext cx="3554085" cy="3480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0" name="表格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070751"/>
              </p:ext>
            </p:extLst>
          </p:nvPr>
        </p:nvGraphicFramePr>
        <p:xfrm>
          <a:off x="26375" y="4503598"/>
          <a:ext cx="3836597" cy="2347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602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標楷體" pitchFamily="65" charset="-120"/>
                          <a:cs typeface="Arial" pitchFamily="34" charset="0"/>
                        </a:rPr>
                        <a:t>Analysis of the bad phenomenon of L930 damaged parts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Arial" pitchFamily="34" charset="0"/>
                        <a:ea typeface="標楷體" pitchFamily="65" charset="-12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Arial" pitchFamily="34" charset="0"/>
                          <a:ea typeface="標楷體" pitchFamily="65" charset="-120"/>
                          <a:cs typeface="Arial" pitchFamily="34" charset="0"/>
                        </a:rPr>
                        <a:t>Bad pictures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Arial" pitchFamily="34" charset="0"/>
                          <a:ea typeface="標楷體" pitchFamily="65" charset="-120"/>
                          <a:cs typeface="Arial" pitchFamily="34" charset="0"/>
                        </a:rPr>
                        <a:t>Production source</a:t>
                      </a:r>
                      <a:endParaRPr lang="zh-TW" altLang="en-US" sz="1200" dirty="0">
                        <a:latin typeface="Arial" pitchFamily="34" charset="0"/>
                        <a:ea typeface="標楷體" pitchFamily="65" charset="-12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Arial" pitchFamily="34" charset="0"/>
                          <a:ea typeface="標楷體" pitchFamily="65" charset="-120"/>
                          <a:cs typeface="Arial" pitchFamily="34" charset="0"/>
                        </a:rPr>
                        <a:t>L930 damaged before HDMI reflow</a:t>
                      </a:r>
                      <a:endParaRPr lang="zh-TW" altLang="en-US" sz="1200" dirty="0">
                        <a:latin typeface="Arial" pitchFamily="34" charset="0"/>
                        <a:ea typeface="標楷體" pitchFamily="65" charset="-12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itchFamily="34" charset="0"/>
                          <a:ea typeface="標楷體" pitchFamily="65" charset="-120"/>
                          <a:cs typeface="Arial" pitchFamily="34" charset="0"/>
                        </a:rPr>
                        <a:t>L930 damaged after HDMI reflow soldering</a:t>
                      </a:r>
                      <a:endParaRPr lang="zh-TW" altLang="en-US" sz="1200" dirty="0">
                        <a:latin typeface="Arial" pitchFamily="34" charset="0"/>
                        <a:ea typeface="標楷體" pitchFamily="65" charset="-12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標楷體" pitchFamily="65" charset="-120"/>
                          <a:ea typeface="標楷體" pitchFamily="65" charset="-120"/>
                        </a:rPr>
                        <a:t>Non-performing rate</a:t>
                      </a:r>
                      <a:endParaRPr lang="zh-TW" altLang="en-US" sz="1200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標楷體" pitchFamily="65" charset="-120"/>
                          <a:ea typeface="標楷體" pitchFamily="65" charset="-120"/>
                        </a:rPr>
                        <a:t>2.7%</a:t>
                      </a:r>
                      <a:endParaRPr lang="zh-TW" altLang="en-US" sz="1200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標楷體" pitchFamily="65" charset="-120"/>
                          <a:ea typeface="標楷體" pitchFamily="65" charset="-120"/>
                        </a:rPr>
                        <a:t>97.3%</a:t>
                      </a:r>
                      <a:endParaRPr lang="zh-TW" altLang="en-US" sz="1200" dirty="0"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1" name="Picture 3"/>
          <p:cNvPicPr preferRelativeResize="0">
            <a:picLocks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 t="16689" b="17755"/>
          <a:stretch/>
        </p:blipFill>
        <p:spPr bwMode="auto">
          <a:xfrm>
            <a:off x="1083651" y="5040918"/>
            <a:ext cx="1270489" cy="51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31" b="17736"/>
          <a:stretch/>
        </p:blipFill>
        <p:spPr bwMode="auto">
          <a:xfrm>
            <a:off x="2566843" y="5040918"/>
            <a:ext cx="1199927" cy="51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群組 23"/>
          <p:cNvGrpSpPr/>
          <p:nvPr/>
        </p:nvGrpSpPr>
        <p:grpSpPr>
          <a:xfrm>
            <a:off x="3903785" y="3717513"/>
            <a:ext cx="3823016" cy="1972180"/>
            <a:chOff x="3903785" y="3810919"/>
            <a:chExt cx="3748485" cy="2028238"/>
          </a:xfrm>
        </p:grpSpPr>
        <p:graphicFrame>
          <p:nvGraphicFramePr>
            <p:cNvPr id="41" name="圖表 4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98002779"/>
                </p:ext>
              </p:extLst>
            </p:nvPr>
          </p:nvGraphicFramePr>
          <p:xfrm>
            <a:off x="3903785" y="3810919"/>
            <a:ext cx="3431355" cy="193716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8" name="文字方塊 17"/>
            <p:cNvSpPr txBox="1"/>
            <p:nvPr/>
          </p:nvSpPr>
          <p:spPr>
            <a:xfrm>
              <a:off x="4101155" y="5377492"/>
              <a:ext cx="35511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Arial" pitchFamily="34" charset="0"/>
                  <a:ea typeface="標楷體" pitchFamily="65" charset="-120"/>
                  <a:cs typeface="Arial" pitchFamily="34" charset="0"/>
                </a:rPr>
                <a:t>The occurrence time of damaged parts is concentrated on 2/28-3/1</a:t>
              </a:r>
              <a:endParaRPr lang="zh-TW" altLang="en-US" sz="1200" dirty="0">
                <a:latin typeface="Arial" pitchFamily="34" charset="0"/>
                <a:ea typeface="標楷體" pitchFamily="65" charset="-120"/>
                <a:cs typeface="Arial" pitchFamily="34" charset="0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8092595" y="3804727"/>
            <a:ext cx="3644814" cy="1842805"/>
            <a:chOff x="11157437" y="2523780"/>
            <a:chExt cx="3717662" cy="2352832"/>
          </a:xfrm>
        </p:grpSpPr>
        <p:graphicFrame>
          <p:nvGraphicFramePr>
            <p:cNvPr id="81" name="圖表 8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88034603"/>
                </p:ext>
              </p:extLst>
            </p:nvPr>
          </p:nvGraphicFramePr>
          <p:xfrm>
            <a:off x="11157437" y="2523780"/>
            <a:ext cx="3396486" cy="2016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89" name="文字方塊 88"/>
            <p:cNvSpPr txBox="1"/>
            <p:nvPr/>
          </p:nvSpPr>
          <p:spPr>
            <a:xfrm>
              <a:off x="11261140" y="4522949"/>
              <a:ext cx="3613959" cy="353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Arial" pitchFamily="34" charset="0"/>
                  <a:ea typeface="標楷體" pitchFamily="65" charset="-120"/>
                  <a:cs typeface="Arial" pitchFamily="34" charset="0"/>
                </a:rPr>
                <a:t>Line distribution without concentration</a:t>
              </a:r>
              <a:endParaRPr lang="zh-TW" altLang="en-US" sz="1200" dirty="0">
                <a:latin typeface="Arial" pitchFamily="34" charset="0"/>
                <a:ea typeface="標楷體" pitchFamily="65" charset="-120"/>
                <a:cs typeface="Arial" pitchFamily="34" charset="0"/>
              </a:endParaRPr>
            </a:p>
          </p:txBody>
        </p:sp>
      </p:grpSp>
      <p:sp>
        <p:nvSpPr>
          <p:cNvPr id="123" name="文字方塊 122"/>
          <p:cNvSpPr txBox="1"/>
          <p:nvPr/>
        </p:nvSpPr>
        <p:spPr>
          <a:xfrm>
            <a:off x="6333383" y="4108841"/>
            <a:ext cx="1790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Abnormal streamline*</a:t>
            </a:r>
            <a:r>
              <a:rPr lang="en-US" altLang="zh-TW" sz="10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9pcs</a:t>
            </a:r>
          </a:p>
          <a:p>
            <a:r>
              <a:rPr lang="en-US" altLang="zh-TW" sz="1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Manual </a:t>
            </a:r>
            <a:r>
              <a:rPr lang="en-US" altLang="zh-TW" sz="1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assembly</a:t>
            </a:r>
            <a:r>
              <a:rPr lang="en-US" altLang="zh-CN" sz="10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*3pcs</a:t>
            </a:r>
            <a:endParaRPr lang="zh-TW" altLang="en-US" sz="1000" dirty="0">
              <a:solidFill>
                <a:srgbClr val="0000FF"/>
              </a:solidFill>
              <a:latin typeface="Arial" pitchFamily="34" charset="0"/>
              <a:ea typeface="標楷體" pitchFamily="65" charset="-120"/>
              <a:cs typeface="Arial" pitchFamily="34" charset="0"/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6419649" y="4508951"/>
            <a:ext cx="168661" cy="213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482437" y="4120565"/>
            <a:ext cx="178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Abnormal </a:t>
            </a:r>
            <a:r>
              <a:rPr lang="en-US" altLang="zh-CN" sz="1000" dirty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streamline*</a:t>
            </a:r>
            <a:r>
              <a:rPr lang="en-US" altLang="zh-TW" sz="10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6pcs</a:t>
            </a:r>
          </a:p>
          <a:p>
            <a:r>
              <a:rPr lang="en-US" altLang="zh-TW" sz="1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Manual assembly</a:t>
            </a:r>
            <a:r>
              <a:rPr lang="en-US" altLang="zh-CN" sz="10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*2pcs</a:t>
            </a:r>
            <a:endParaRPr lang="zh-TW" altLang="en-US" sz="1000" dirty="0">
              <a:solidFill>
                <a:srgbClr val="0000FF"/>
              </a:solidFill>
              <a:latin typeface="Arial" pitchFamily="34" charset="0"/>
              <a:ea typeface="標楷體" pitchFamily="65" charset="-120"/>
              <a:cs typeface="Arial" pitchFamily="34" charset="0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3923279" y="1139907"/>
            <a:ext cx="2024796" cy="900416"/>
            <a:chOff x="235263" y="6095455"/>
            <a:chExt cx="2072610" cy="646856"/>
          </a:xfrm>
        </p:grpSpPr>
        <p:sp>
          <p:nvSpPr>
            <p:cNvPr id="45" name="矩形 44"/>
            <p:cNvSpPr/>
            <p:nvPr/>
          </p:nvSpPr>
          <p:spPr>
            <a:xfrm>
              <a:off x="237049" y="6186135"/>
              <a:ext cx="289028" cy="10044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sp>
          <p:nvSpPr>
            <p:cNvPr id="46" name="矩形 45"/>
            <p:cNvSpPr/>
            <p:nvPr/>
          </p:nvSpPr>
          <p:spPr>
            <a:xfrm>
              <a:off x="478753" y="6095455"/>
              <a:ext cx="1410911" cy="245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M</a:t>
              </a:r>
              <a:r>
                <a:rPr lang="en-US" altLang="zh-CN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anual assembly</a:t>
              </a:r>
              <a:endParaRPr lang="zh-TW" altLang="en-US" sz="1200" b="1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237049" y="6383129"/>
              <a:ext cx="289028" cy="1022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390016" y="6285996"/>
              <a:ext cx="1917857" cy="249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Abnormal Production</a:t>
              </a:r>
              <a:endParaRPr lang="zh-TW" altLang="en-US" sz="1200" b="1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235263" y="6590307"/>
              <a:ext cx="289028" cy="917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460475" y="6518465"/>
              <a:ext cx="978863" cy="223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WIP</a:t>
              </a:r>
              <a:r>
                <a:rPr lang="zh-CN" altLang="en-US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板</a:t>
              </a:r>
              <a:endParaRPr lang="zh-TW" altLang="en-US" sz="1200" b="1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</p:grpSp>
      <p:graphicFrame>
        <p:nvGraphicFramePr>
          <p:cNvPr id="52" name="圖表 5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6720532"/>
              </p:ext>
            </p:extLst>
          </p:nvPr>
        </p:nvGraphicFramePr>
        <p:xfrm>
          <a:off x="5489983" y="770978"/>
          <a:ext cx="1711785" cy="157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pSp>
        <p:nvGrpSpPr>
          <p:cNvPr id="16" name="群組 15"/>
          <p:cNvGrpSpPr/>
          <p:nvPr/>
        </p:nvGrpSpPr>
        <p:grpSpPr>
          <a:xfrm>
            <a:off x="7015332" y="925071"/>
            <a:ext cx="1080998" cy="1194532"/>
            <a:chOff x="6099444" y="4374018"/>
            <a:chExt cx="1106525" cy="858148"/>
          </a:xfrm>
        </p:grpSpPr>
        <p:sp>
          <p:nvSpPr>
            <p:cNvPr id="56" name="矩形 55"/>
            <p:cNvSpPr/>
            <p:nvPr/>
          </p:nvSpPr>
          <p:spPr>
            <a:xfrm>
              <a:off x="6101230" y="4675990"/>
              <a:ext cx="289028" cy="10044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sp>
          <p:nvSpPr>
            <p:cNvPr id="59" name="矩形 58"/>
            <p:cNvSpPr/>
            <p:nvPr/>
          </p:nvSpPr>
          <p:spPr>
            <a:xfrm>
              <a:off x="6116831" y="4585310"/>
              <a:ext cx="1080824" cy="245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12</a:t>
              </a:r>
              <a:endParaRPr lang="zh-TW" altLang="en-US" sz="1200" b="1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6101230" y="4872984"/>
              <a:ext cx="289028" cy="1022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sp>
          <p:nvSpPr>
            <p:cNvPr id="62" name="矩形 61"/>
            <p:cNvSpPr/>
            <p:nvPr/>
          </p:nvSpPr>
          <p:spPr>
            <a:xfrm>
              <a:off x="6125145" y="4777742"/>
              <a:ext cx="1080824" cy="249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15</a:t>
              </a:r>
              <a:endParaRPr lang="zh-TW" altLang="en-US" sz="1200" b="1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6099444" y="5080162"/>
              <a:ext cx="289028" cy="917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sp>
          <p:nvSpPr>
            <p:cNvPr id="64" name="矩形 63"/>
            <p:cNvSpPr/>
            <p:nvPr/>
          </p:nvSpPr>
          <p:spPr>
            <a:xfrm>
              <a:off x="6125144" y="5008320"/>
              <a:ext cx="1080825" cy="223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48</a:t>
              </a:r>
              <a:endParaRPr lang="zh-TW" altLang="en-US" sz="1200" b="1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6248221" y="4374018"/>
              <a:ext cx="834671" cy="245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Q</a:t>
              </a:r>
              <a:r>
                <a:rPr lang="en-US" altLang="zh-CN" sz="1200" b="1" dirty="0" smtClean="0">
                  <a:solidFill>
                    <a:schemeClr val="tx1"/>
                  </a:solidFill>
                  <a:latin typeface="標楷體" pitchFamily="65" charset="-120"/>
                  <a:ea typeface="標楷體" pitchFamily="65" charset="-120"/>
                </a:rPr>
                <a:t>uantity</a:t>
              </a:r>
              <a:endParaRPr lang="zh-TW" altLang="en-US" sz="1200" b="1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</p:grpSp>
      <p:sp>
        <p:nvSpPr>
          <p:cNvPr id="53" name="向右箭號 52"/>
          <p:cNvSpPr/>
          <p:nvPr/>
        </p:nvSpPr>
        <p:spPr>
          <a:xfrm>
            <a:off x="7476139" y="3022691"/>
            <a:ext cx="545635" cy="404172"/>
          </a:xfrm>
          <a:prstGeom prst="rightArrow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/>
          <p:cNvSpPr txBox="1"/>
          <p:nvPr/>
        </p:nvSpPr>
        <p:spPr>
          <a:xfrm>
            <a:off x="3891268" y="5691492"/>
            <a:ext cx="830073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 smtClean="0">
                <a:ea typeface="標楷體" pitchFamily="65" charset="-120"/>
                <a:cs typeface="Arial" pitchFamily="34" charset="0"/>
              </a:rPr>
              <a:t>S</a:t>
            </a:r>
            <a:r>
              <a:rPr lang="en-US" altLang="zh-CN" sz="1600" b="1" dirty="0" smtClean="0">
                <a:ea typeface="標楷體" pitchFamily="65" charset="-120"/>
                <a:cs typeface="Arial" pitchFamily="34" charset="0"/>
              </a:rPr>
              <a:t>ummary:</a:t>
            </a:r>
          </a:p>
          <a:p>
            <a:r>
              <a:rPr lang="en-US" altLang="zh-CN" sz="13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1.According </a:t>
            </a:r>
            <a:r>
              <a:rPr lang="en-US" altLang="zh-CN" sz="1300" dirty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to the bad phenomenon analysis, L930 is mainly damaged after reflow and during </a:t>
            </a:r>
            <a:r>
              <a:rPr lang="en-US" altLang="zh-CN" sz="13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assembly</a:t>
            </a:r>
          </a:p>
          <a:p>
            <a:r>
              <a:rPr lang="en-US" altLang="zh-CN" sz="1300" dirty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2. The board number of defective products is concentrated on the edge of the board, and the risk of picking and placing the board is locked (22.7% of defective products are taken out after BFT test)</a:t>
            </a:r>
          </a:p>
          <a:p>
            <a:r>
              <a:rPr lang="en-US" altLang="zh-CN" sz="13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3.Through </a:t>
            </a:r>
            <a:r>
              <a:rPr lang="en-US" altLang="zh-CN" sz="1300" dirty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bad data analysis, manual assembly is confirmed, and manual testing is a high-risk workstation;</a:t>
            </a:r>
            <a:endParaRPr lang="en-US" altLang="zh-CN" sz="1300" dirty="0" smtClean="0">
              <a:solidFill>
                <a:srgbClr val="0000FF"/>
              </a:solidFill>
              <a:latin typeface="Arial" pitchFamily="34" charset="0"/>
              <a:ea typeface="標楷體" pitchFamily="65" charset="-120"/>
              <a:cs typeface="Arial" pitchFamily="34" charset="0"/>
            </a:endParaRPr>
          </a:p>
        </p:txBody>
      </p:sp>
      <p:sp>
        <p:nvSpPr>
          <p:cNvPr id="57" name="向右箭號 56"/>
          <p:cNvSpPr/>
          <p:nvPr/>
        </p:nvSpPr>
        <p:spPr>
          <a:xfrm>
            <a:off x="7726801" y="1426751"/>
            <a:ext cx="432462" cy="335216"/>
          </a:xfrm>
          <a:prstGeom prst="rightArrow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/>
          <p:cNvSpPr txBox="1"/>
          <p:nvPr/>
        </p:nvSpPr>
        <p:spPr>
          <a:xfrm>
            <a:off x="7791462" y="1657169"/>
            <a:ext cx="4394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 altLang="zh-CN" sz="1000" dirty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Manually assembled damaged parts 12pcs, accounting for 18.2</a:t>
            </a:r>
            <a:r>
              <a:rPr lang="en-US" altLang="zh-CN" sz="1000" dirty="0" smtClean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%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altLang="zh-TW" sz="1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After the BFT test, the abnormal flow line is 15pcs, accounting for 22.7</a:t>
            </a:r>
            <a:r>
              <a:rPr lang="en-US" altLang="zh-TW" sz="1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%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altLang="zh-TW" sz="1000" dirty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The WIP board is 39pcs, accounting for 59.1%, and the damaged parts increase with the increase of the WIP board</a:t>
            </a:r>
          </a:p>
        </p:txBody>
      </p:sp>
      <p:cxnSp>
        <p:nvCxnSpPr>
          <p:cNvPr id="10" name="直線接點 9"/>
          <p:cNvCxnSpPr/>
          <p:nvPr/>
        </p:nvCxnSpPr>
        <p:spPr>
          <a:xfrm>
            <a:off x="3891268" y="2318505"/>
            <a:ext cx="8300732" cy="0"/>
          </a:xfrm>
          <a:prstGeom prst="line">
            <a:avLst/>
          </a:prstGeom>
          <a:ln w="12700">
            <a:solidFill>
              <a:srgbClr val="0000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>
            <a:off x="3906596" y="3881438"/>
            <a:ext cx="8285403" cy="0"/>
          </a:xfrm>
          <a:prstGeom prst="line">
            <a:avLst/>
          </a:prstGeom>
          <a:ln w="12700">
            <a:solidFill>
              <a:srgbClr val="0000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3903785" y="5657484"/>
            <a:ext cx="8282361" cy="4768"/>
          </a:xfrm>
          <a:prstGeom prst="line">
            <a:avLst/>
          </a:prstGeom>
          <a:ln w="12700">
            <a:solidFill>
              <a:srgbClr val="0000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4276460" y="2472010"/>
            <a:ext cx="2795959" cy="1195067"/>
            <a:chOff x="4334651" y="2619523"/>
            <a:chExt cx="2795959" cy="1195067"/>
          </a:xfrm>
        </p:grpSpPr>
        <p:sp>
          <p:nvSpPr>
            <p:cNvPr id="68" name="文字方塊 67"/>
            <p:cNvSpPr txBox="1"/>
            <p:nvPr/>
          </p:nvSpPr>
          <p:spPr>
            <a:xfrm>
              <a:off x="5135171" y="2619523"/>
              <a:ext cx="14186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>
                  <a:solidFill>
                    <a:srgbClr val="0000FF"/>
                  </a:solidFill>
                  <a:latin typeface="Arial" pitchFamily="34" charset="0"/>
                  <a:ea typeface="標楷體" pitchFamily="65" charset="-120"/>
                  <a:cs typeface="Arial" pitchFamily="34" charset="0"/>
                </a:rPr>
                <a:t>Board </a:t>
              </a:r>
              <a:r>
                <a:rPr lang="en-US" altLang="zh-CN" sz="1000" dirty="0">
                  <a:solidFill>
                    <a:srgbClr val="0000FF"/>
                  </a:solidFill>
                  <a:latin typeface="Arial" pitchFamily="34" charset="0"/>
                  <a:ea typeface="標楷體" pitchFamily="65" charset="-120"/>
                  <a:cs typeface="Arial" pitchFamily="34" charset="0"/>
                </a:rPr>
                <a:t>edge number </a:t>
              </a:r>
              <a:r>
                <a:rPr lang="en-US" altLang="zh-CN" sz="1000" dirty="0">
                  <a:solidFill>
                    <a:srgbClr val="0000FF"/>
                  </a:solidFill>
                  <a:latin typeface="標楷體" pitchFamily="65" charset="-120"/>
                  <a:ea typeface="標楷體" pitchFamily="65" charset="-120"/>
                </a:rPr>
                <a:t>1</a:t>
              </a:r>
              <a:r>
                <a:rPr lang="en-US" altLang="zh-CN" sz="1000" dirty="0" smtClean="0">
                  <a:solidFill>
                    <a:srgbClr val="0000FF"/>
                  </a:solidFill>
                  <a:latin typeface="標楷體" pitchFamily="65" charset="-120"/>
                  <a:ea typeface="標楷體" pitchFamily="65" charset="-120"/>
                </a:rPr>
                <a:t>#</a:t>
              </a:r>
              <a:r>
                <a:rPr lang="zh-CN" altLang="en-US" sz="1000" dirty="0" smtClean="0">
                  <a:solidFill>
                    <a:srgbClr val="0000FF"/>
                  </a:solidFill>
                  <a:latin typeface="標楷體" pitchFamily="65" charset="-120"/>
                  <a:ea typeface="標楷體" pitchFamily="65" charset="-120"/>
                </a:rPr>
                <a:t>，</a:t>
              </a:r>
              <a:r>
                <a:rPr lang="en-US" altLang="zh-CN" sz="1000" dirty="0" smtClean="0">
                  <a:solidFill>
                    <a:srgbClr val="0000FF"/>
                  </a:solidFill>
                  <a:latin typeface="標楷體" pitchFamily="65" charset="-120"/>
                  <a:ea typeface="標楷體" pitchFamily="65" charset="-120"/>
                </a:rPr>
                <a:t>2#</a:t>
              </a:r>
              <a:r>
                <a:rPr lang="zh-CN" altLang="en-US" sz="1000" dirty="0" smtClean="0">
                  <a:solidFill>
                    <a:srgbClr val="0000FF"/>
                  </a:solidFill>
                  <a:latin typeface="標楷體" pitchFamily="65" charset="-120"/>
                  <a:ea typeface="標楷體" pitchFamily="65" charset="-120"/>
                </a:rPr>
                <a:t>，</a:t>
              </a:r>
              <a:r>
                <a:rPr lang="en-US" altLang="zh-CN" sz="1000" dirty="0" smtClean="0">
                  <a:solidFill>
                    <a:srgbClr val="0000FF"/>
                  </a:solidFill>
                  <a:latin typeface="標楷體" pitchFamily="65" charset="-120"/>
                  <a:ea typeface="標楷體" pitchFamily="65" charset="-120"/>
                </a:rPr>
                <a:t>11#</a:t>
              </a:r>
              <a:r>
                <a:rPr lang="zh-CN" altLang="en-US" sz="1000" dirty="0" smtClean="0">
                  <a:solidFill>
                    <a:srgbClr val="0000FF"/>
                  </a:solidFill>
                  <a:latin typeface="標楷體" pitchFamily="65" charset="-120"/>
                  <a:ea typeface="標楷體" pitchFamily="65" charset="-120"/>
                </a:rPr>
                <a:t>，</a:t>
              </a:r>
              <a:r>
                <a:rPr lang="en-US" altLang="zh-CN" sz="1000" dirty="0" smtClean="0">
                  <a:solidFill>
                    <a:srgbClr val="0000FF"/>
                  </a:solidFill>
                  <a:latin typeface="標楷體" pitchFamily="65" charset="-120"/>
                  <a:ea typeface="標楷體" pitchFamily="65" charset="-120"/>
                </a:rPr>
                <a:t>12#</a:t>
              </a:r>
              <a:endParaRPr lang="zh-TW" altLang="en-US" sz="1000" dirty="0">
                <a:solidFill>
                  <a:srgbClr val="0000FF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34651" y="2906567"/>
              <a:ext cx="429538" cy="9059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6701072" y="2908671"/>
              <a:ext cx="429538" cy="9059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9" name="直線單箭頭接點 68"/>
            <p:cNvCxnSpPr/>
            <p:nvPr/>
          </p:nvCxnSpPr>
          <p:spPr>
            <a:xfrm flipH="1">
              <a:off x="4764189" y="2908671"/>
              <a:ext cx="481464" cy="11096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>
              <a:off x="6323604" y="2908671"/>
              <a:ext cx="297534" cy="16163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文字方塊 70"/>
          <p:cNvSpPr txBox="1"/>
          <p:nvPr/>
        </p:nvSpPr>
        <p:spPr>
          <a:xfrm>
            <a:off x="9551315" y="2472833"/>
            <a:ext cx="22714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 altLang="zh-CN" sz="1000" dirty="0">
                <a:solidFill>
                  <a:srgbClr val="0000FF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The damaged parts of the main board are concentrated on the edge of the board, with a total of 43pcs, accounting for 57.3%, and the risk of board damage during the turnover process of the WIP board is very high.</a:t>
            </a:r>
            <a:endParaRPr lang="en-US" altLang="zh-TW" sz="1000" dirty="0">
              <a:solidFill>
                <a:srgbClr val="0000FF"/>
              </a:solidFill>
              <a:latin typeface="Arial" pitchFamily="34" charset="0"/>
              <a:ea typeface="標楷體" pitchFamily="65" charset="-120"/>
              <a:cs typeface="Arial" pitchFamily="34" charset="0"/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8353315" y="2369065"/>
            <a:ext cx="1198000" cy="1348448"/>
            <a:chOff x="8594392" y="2465777"/>
            <a:chExt cx="1198000" cy="134844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8522603" y="2544436"/>
              <a:ext cx="1348448" cy="1191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橢圓 13"/>
            <p:cNvSpPr/>
            <p:nvPr/>
          </p:nvSpPr>
          <p:spPr>
            <a:xfrm>
              <a:off x="8736675" y="2521518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1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2" name="橢圓 71"/>
            <p:cNvSpPr/>
            <p:nvPr/>
          </p:nvSpPr>
          <p:spPr>
            <a:xfrm>
              <a:off x="9310253" y="2522766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2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橢圓 86"/>
            <p:cNvSpPr/>
            <p:nvPr/>
          </p:nvSpPr>
          <p:spPr>
            <a:xfrm>
              <a:off x="8736675" y="2748182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3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橢圓 87"/>
            <p:cNvSpPr/>
            <p:nvPr/>
          </p:nvSpPr>
          <p:spPr>
            <a:xfrm>
              <a:off x="9310253" y="2749430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>
                  <a:solidFill>
                    <a:schemeClr val="tx1"/>
                  </a:solidFill>
                </a:rPr>
                <a:t>4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橢圓 89"/>
            <p:cNvSpPr/>
            <p:nvPr/>
          </p:nvSpPr>
          <p:spPr>
            <a:xfrm>
              <a:off x="8736675" y="2971565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5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1" name="橢圓 90"/>
            <p:cNvSpPr/>
            <p:nvPr/>
          </p:nvSpPr>
          <p:spPr>
            <a:xfrm>
              <a:off x="9310253" y="2972813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6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2" name="橢圓 91"/>
            <p:cNvSpPr/>
            <p:nvPr/>
          </p:nvSpPr>
          <p:spPr>
            <a:xfrm>
              <a:off x="8736675" y="3171580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7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橢圓 92"/>
            <p:cNvSpPr/>
            <p:nvPr/>
          </p:nvSpPr>
          <p:spPr>
            <a:xfrm>
              <a:off x="9310253" y="3172828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8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橢圓 93"/>
            <p:cNvSpPr/>
            <p:nvPr/>
          </p:nvSpPr>
          <p:spPr>
            <a:xfrm>
              <a:off x="8736675" y="3394695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9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橢圓 94"/>
            <p:cNvSpPr/>
            <p:nvPr/>
          </p:nvSpPr>
          <p:spPr>
            <a:xfrm>
              <a:off x="9310253" y="3387631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橢圓 95"/>
            <p:cNvSpPr/>
            <p:nvPr/>
          </p:nvSpPr>
          <p:spPr>
            <a:xfrm>
              <a:off x="8736675" y="3584559"/>
              <a:ext cx="180000" cy="18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橢圓 97"/>
            <p:cNvSpPr/>
            <p:nvPr/>
          </p:nvSpPr>
          <p:spPr>
            <a:xfrm>
              <a:off x="9180201" y="3339496"/>
              <a:ext cx="464565" cy="27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10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橢圓 98"/>
            <p:cNvSpPr/>
            <p:nvPr/>
          </p:nvSpPr>
          <p:spPr>
            <a:xfrm>
              <a:off x="8594392" y="3539559"/>
              <a:ext cx="464565" cy="27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 smtClean="0">
                  <a:solidFill>
                    <a:schemeClr val="tx1"/>
                  </a:solidFill>
                </a:rPr>
                <a:t>11</a:t>
              </a:r>
              <a:endParaRPr lang="zh-TW" altLang="en-US" sz="1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群組 14"/>
            <p:cNvGrpSpPr/>
            <p:nvPr/>
          </p:nvGrpSpPr>
          <p:grpSpPr>
            <a:xfrm>
              <a:off x="9180200" y="3540919"/>
              <a:ext cx="464565" cy="270000"/>
              <a:chOff x="9180200" y="3540919"/>
              <a:chExt cx="464565" cy="270000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9310253" y="3585919"/>
                <a:ext cx="180000" cy="18000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橢圓 99"/>
              <p:cNvSpPr/>
              <p:nvPr/>
            </p:nvSpPr>
            <p:spPr>
              <a:xfrm>
                <a:off x="9180200" y="3540919"/>
                <a:ext cx="464565" cy="27000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b="1" dirty="0" smtClean="0">
                    <a:solidFill>
                      <a:schemeClr val="tx1"/>
                    </a:solidFill>
                  </a:rPr>
                  <a:t>12</a:t>
                </a:r>
                <a:endParaRPr lang="zh-TW" altLang="en-US" sz="10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01" name="文字方塊 100"/>
          <p:cNvSpPr txBox="1"/>
          <p:nvPr/>
        </p:nvSpPr>
        <p:spPr>
          <a:xfrm>
            <a:off x="8699874" y="3692156"/>
            <a:ext cx="642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rgbClr val="0000FF"/>
                </a:solidFill>
                <a:latin typeface="標楷體" pitchFamily="65" charset="-120"/>
                <a:ea typeface="標楷體" pitchFamily="65" charset="-120"/>
              </a:rPr>
              <a:t>拼板圖</a:t>
            </a:r>
            <a:endParaRPr lang="zh-TW" altLang="en-US" sz="1000" dirty="0">
              <a:solidFill>
                <a:srgbClr val="0000FF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02" name="直線接點 101"/>
          <p:cNvCxnSpPr/>
          <p:nvPr/>
        </p:nvCxnSpPr>
        <p:spPr>
          <a:xfrm>
            <a:off x="3874332" y="1069400"/>
            <a:ext cx="12299" cy="5788600"/>
          </a:xfrm>
          <a:prstGeom prst="line">
            <a:avLst/>
          </a:prstGeom>
          <a:ln w="12700">
            <a:solidFill>
              <a:srgbClr val="0000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/>
          <p:cNvSpPr txBox="1"/>
          <p:nvPr/>
        </p:nvSpPr>
        <p:spPr>
          <a:xfrm>
            <a:off x="11404706" y="1479525"/>
            <a:ext cx="8361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WIP </a:t>
            </a:r>
            <a:r>
              <a:rPr lang="en-US" altLang="zh-TW" sz="1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78</a:t>
            </a:r>
            <a:r>
              <a:rPr lang="en-US" altLang="zh-CN" sz="1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K</a:t>
            </a:r>
            <a:endParaRPr lang="zh-TW" altLang="en-US" sz="10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10872353" y="4335691"/>
            <a:ext cx="1298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EPA7 for manual line</a:t>
            </a:r>
            <a:endParaRPr lang="zh-TW" altLang="en-US" sz="1000" dirty="0">
              <a:solidFill>
                <a:srgbClr val="0000FF"/>
              </a:solidFill>
              <a:latin typeface="Arial" pitchFamily="34" charset="0"/>
              <a:ea typeface="標楷體" pitchFamily="65" charset="-120"/>
              <a:cs typeface="Arial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567" y="981466"/>
            <a:ext cx="3925145" cy="534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332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4144</TotalTime>
  <Words>1176</Words>
  <Application>Microsoft Office PowerPoint</Application>
  <PresentationFormat>寬螢幕</PresentationFormat>
  <Paragraphs>220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4" baseType="lpstr">
      <vt:lpstr>宋体</vt:lpstr>
      <vt:lpstr>微軟正黑體</vt:lpstr>
      <vt:lpstr>微軟正黑體</vt:lpstr>
      <vt:lpstr>新細明體</vt:lpstr>
      <vt:lpstr>楷体</vt:lpstr>
      <vt:lpstr>標楷體</vt:lpstr>
      <vt:lpstr>Arial</vt:lpstr>
      <vt:lpstr>Calibri</vt:lpstr>
      <vt:lpstr>Calibri Light</vt:lpstr>
      <vt:lpstr>Wingdings</vt:lpstr>
      <vt:lpstr>Office 主题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程義瑞</dc:creator>
  <cp:lastModifiedBy>孟祥合</cp:lastModifiedBy>
  <cp:revision>2740</cp:revision>
  <dcterms:created xsi:type="dcterms:W3CDTF">2015-05-05T08:02:00Z</dcterms:created>
  <dcterms:modified xsi:type="dcterms:W3CDTF">2024-12-14T03:58:57Z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2052-10.1.0.5866</vt:lpwstr>
  </property>
</Properties>
</file>
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3.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4.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6.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7.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8.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9.xml" ContentType="application/vnd.openxmlformats-officedocument.presentationml.notesSlide+xml"/>
  <Override PartName="/ppt/tags/tag114.xml" ContentType="application/vnd.openxmlformats-officedocument.presentationml.tags+xml"/>
  <Override PartName="/ppt/notesSlides/notesSlide10.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11.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12.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13.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notesSlides/notesSlide14.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notesSlides/notesSlide15.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16.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17.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18.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notesSlides/notesSlide19.xml" ContentType="application/vnd.openxmlformats-officedocument.presentationml.notesSlide+xml"/>
  <Override PartName="/ppt/tags/tag18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26"/>
  </p:notesMasterIdLst>
  <p:handoutMasterIdLst>
    <p:handoutMasterId r:id="rId27"/>
  </p:handoutMasterIdLst>
  <p:sldIdLst>
    <p:sldId id="276" r:id="rId2"/>
    <p:sldId id="744" r:id="rId3"/>
    <p:sldId id="745" r:id="rId4"/>
    <p:sldId id="587" r:id="rId5"/>
    <p:sldId id="588" r:id="rId6"/>
    <p:sldId id="589" r:id="rId7"/>
    <p:sldId id="746" r:id="rId8"/>
    <p:sldId id="590" r:id="rId9"/>
    <p:sldId id="591" r:id="rId10"/>
    <p:sldId id="686" r:id="rId11"/>
    <p:sldId id="747" r:id="rId12"/>
    <p:sldId id="748" r:id="rId13"/>
    <p:sldId id="724" r:id="rId14"/>
    <p:sldId id="595" r:id="rId15"/>
    <p:sldId id="624" r:id="rId16"/>
    <p:sldId id="608" r:id="rId17"/>
    <p:sldId id="690" r:id="rId18"/>
    <p:sldId id="691" r:id="rId19"/>
    <p:sldId id="719" r:id="rId20"/>
    <p:sldId id="637" r:id="rId21"/>
    <p:sldId id="642" r:id="rId22"/>
    <p:sldId id="600" r:id="rId23"/>
    <p:sldId id="718" r:id="rId24"/>
    <p:sldId id="277" r:id="rId25"/>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7" userDrawn="1">
          <p15:clr>
            <a:srgbClr val="A4A3A4"/>
          </p15:clr>
        </p15:guide>
        <p15:guide id="2" pos="37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用户" initials="W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00034"/>
    <a:srgbClr val="99CCFF"/>
    <a:srgbClr val="9933FF"/>
    <a:srgbClr val="F1C7BC"/>
    <a:srgbClr val="002F75"/>
    <a:srgbClr val="002F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2989" autoAdjust="0"/>
  </p:normalViewPr>
  <p:slideViewPr>
    <p:cSldViewPr snapToGrid="0" showGuides="1">
      <p:cViewPr varScale="1">
        <p:scale>
          <a:sx n="81" d="100"/>
          <a:sy n="81" d="100"/>
        </p:scale>
        <p:origin x="662" y="72"/>
      </p:cViewPr>
      <p:guideLst>
        <p:guide orient="horz" pos="1967"/>
        <p:guide pos="372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9" d="100"/>
          <a:sy n="89" d="100"/>
        </p:scale>
        <p:origin x="3172" y="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2026/2/12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C47B5-ADAF-41B0-8E25-798150F70C66}" type="datetimeFigureOut">
              <a:rPr lang="zh-CN" altLang="en-US" smtClean="0"/>
              <a:t>2026/2/12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33EC7-D770-4470-B266-BEBD01C7444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microsoft.com/office/2007/relationships/hdphoto" Target="../media/hdphoto1.wdp"/><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microsoft.com/office/2007/relationships/hdphoto" Target="../media/hdphoto1.wdp"/><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microsoft.com/office/2007/relationships/hdphoto" Target="../media/hdphoto1.wdp"/><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microsoft.com/office/2007/relationships/hdphoto" Target="../media/hdphoto1.wdp"/><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5" Type="http://schemas.microsoft.com/office/2007/relationships/hdphoto" Target="../media/hdphoto1.wdp"/><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5" Type="http://schemas.microsoft.com/office/2007/relationships/hdphoto" Target="../media/hdphoto1.wdp"/><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5" Type="http://schemas.microsoft.com/office/2007/relationships/hdphoto" Target="../media/hdphoto1.wdp"/><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microsoft.com/office/2007/relationships/hdphoto" Target="../media/hdphoto1.wdp"/><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microsoft.com/office/2007/relationships/hdphoto" Target="../media/hdphoto1.wdp"/><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ags" Target="../tags/tag28.xml"/><Relationship Id="rId5" Type="http://schemas.microsoft.com/office/2007/relationships/hdphoto" Target="../media/hdphoto1.wdp"/><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1.xml"/><Relationship Id="rId1" Type="http://schemas.openxmlformats.org/officeDocument/2006/relationships/tags" Target="../tags/tag30.xml"/><Relationship Id="rId5" Type="http://schemas.microsoft.com/office/2007/relationships/hdphoto" Target="../media/hdphoto1.wdp"/><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页码">
    <p:spTree>
      <p:nvGrpSpPr>
        <p:cNvPr id="1" name=""/>
        <p:cNvGrpSpPr/>
        <p:nvPr/>
      </p:nvGrpSpPr>
      <p:grpSpPr>
        <a:xfrm>
          <a:off x="0" y="0"/>
          <a:ext cx="0" cy="0"/>
          <a:chOff x="0" y="0"/>
          <a:chExt cx="0" cy="0"/>
        </a:xfrm>
      </p:grpSpPr>
      <p:pic>
        <p:nvPicPr>
          <p:cNvPr id="5" name="图片 4"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dirty="0">
                <a:latin typeface="+mj-ea"/>
                <a:ea typeface="+mj-ea"/>
                <a:sym typeface="等线" panose="02010600030101010101" charset="-122"/>
              </a:rPr>
              <a:t>正文内容</a:t>
            </a:r>
            <a:r>
              <a:rPr kumimoji="1" lang="en-US" altLang="zh-CN" sz="1600" dirty="0">
                <a:latin typeface="+mj-ea"/>
                <a:ea typeface="+mj-ea"/>
                <a:sym typeface="等线" panose="02010600030101010101" charset="-122"/>
              </a:rPr>
              <a:t>-</a:t>
            </a:r>
            <a:r>
              <a:rPr kumimoji="1" lang="zh-CN" altLang="en-US" sz="1600" dirty="0">
                <a:latin typeface="+mj-ea"/>
                <a:ea typeface="+mj-ea"/>
                <a:sym typeface="等线" panose="02010600030101010101" charset="-122"/>
              </a:rPr>
              <a:t>字号</a:t>
            </a:r>
            <a:r>
              <a:rPr kumimoji="1" lang="en-US" altLang="zh-CN" sz="1600" dirty="0">
                <a:latin typeface="+mj-ea"/>
                <a:ea typeface="+mj-ea"/>
                <a:sym typeface="等线" panose="02010600030101010101" charset="-122"/>
              </a:rPr>
              <a:t>12-18</a:t>
            </a:r>
            <a:endParaRPr lang="zh-CN" altLang="en-US" dirty="0"/>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t>‹#›</a:t>
            </a:fld>
            <a:r>
              <a:rPr lang="en-US" altLang="zh-CN"/>
              <a:t>/N</a:t>
            </a:r>
            <a:endParaRPr lang="en-US" altLang="zh-CN" dirty="0"/>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dirty="0"/>
              <a:t>单击此处编辑母版标题样式</a:t>
            </a:r>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dirty="0"/>
              <a:t>主标题文本样式</a:t>
            </a:r>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dirty="0"/>
              <a:t>副标题文本样式</a:t>
            </a:r>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dirty="0"/>
              <a:t>正文文本样式</a:t>
            </a:r>
            <a:r>
              <a:rPr lang="en-US" altLang="zh-CN" dirty="0"/>
              <a:t>——</a:t>
            </a:r>
          </a:p>
          <a:p>
            <a:pPr lvl="0"/>
            <a:r>
              <a:rPr lang="zh-CN" altLang="en-US" dirty="0"/>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dirty="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图片 5"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图片 4"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图片 7"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图片 7"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图片 6"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7" name="图片 6"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t>‹#›</a:t>
            </a:fld>
            <a:endParaRPr lang="zh-CN" altLang="en-US"/>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訂版面配置">
    <p:bg>
      <p:bgPr>
        <a:blipFill dpi="0" rotWithShape="1">
          <a:blip r:embed="rId2" cstate="email">
            <a:lum/>
          </a:blip>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pic>
        <p:nvPicPr>
          <p:cNvPr id="5" name="图片 4"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日期占位符 1"/>
          <p:cNvSpPr>
            <a:spLocks noGrp="1"/>
          </p:cNvSpPr>
          <p:nvPr>
            <p:ph type="dt" sz="half" idx="10"/>
          </p:nvPr>
        </p:nvSpPr>
        <p:spPr>
          <a:xfrm>
            <a:off x="838200" y="6356350"/>
            <a:ext cx="2743200" cy="365125"/>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EA36B8C5-9D3D-4C15-8389-DC33031D634D}" type="datetime1">
              <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rPr>
              <a:t>2026/2/12</a:t>
            </a:fld>
            <a:endPar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TW" altLang="en-US" sz="1800" b="0" i="0" u="none" strike="noStrike" kern="1200" cap="none" spc="0" normalizeH="0" baseline="0" noProof="0">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a:xfrm>
            <a:off x="9185275" y="6381750"/>
            <a:ext cx="27432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95898A6-19C1-4AA1-870C-54A18F18E107}" type="slidenum">
              <a:rPr kumimoji="0" lang="zh-TW" altLang="en-US" sz="18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TW" altLang="en-US" sz="18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78471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LIDE 1">
    <p:spTree>
      <p:nvGrpSpPr>
        <p:cNvPr id="1" name=""/>
        <p:cNvGrpSpPr/>
        <p:nvPr/>
      </p:nvGrpSpPr>
      <p:grpSpPr>
        <a:xfrm>
          <a:off x="0" y="0"/>
          <a:ext cx="0" cy="0"/>
          <a:chOff x="0" y="0"/>
          <a:chExt cx="0" cy="0"/>
        </a:xfrm>
      </p:grpSpPr>
      <p:pic>
        <p:nvPicPr>
          <p:cNvPr id="3" name="图片 2"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2" name="Titel 1"/>
          <p:cNvSpPr>
            <a:spLocks noGrp="1"/>
          </p:cNvSpPr>
          <p:nvPr>
            <p:ph type="title" hasCustomPrompt="1"/>
          </p:nvPr>
        </p:nvSpPr>
        <p:spPr>
          <a:xfrm>
            <a:off x="516321" y="410831"/>
            <a:ext cx="11135859" cy="565714"/>
          </a:xfrm>
          <a:prstGeom prst="rect">
            <a:avLst/>
          </a:prstGeom>
        </p:spPr>
        <p:txBody>
          <a:bodyPr vert="horz" lIns="0" tIns="0" rIns="0" bIns="0" rtlCol="0" anchor="t" anchorCtr="0">
            <a:normAutofit/>
          </a:bodyPr>
          <a:lstStyle>
            <a:lvl1pPr>
              <a:defRPr lang="en-US" dirty="0"/>
            </a:lvl1pPr>
          </a:lstStyle>
          <a:p>
            <a:pPr lvl="0"/>
            <a:r>
              <a:rPr lang="de-DE" dirty="0"/>
              <a:t>TITELMASTERFORMAT DURCH KLICKEN BEARBEITEN</a:t>
            </a:r>
            <a:endParaRPr lang="en-US" dirty="0"/>
          </a:p>
        </p:txBody>
      </p:sp>
      <p:sp>
        <p:nvSpPr>
          <p:cNvPr id="15" name="Foliennummernplatzhalter 5"/>
          <p:cNvSpPr>
            <a:spLocks noGrp="1"/>
          </p:cNvSpPr>
          <p:nvPr>
            <p:ph type="sldNum" sz="quarter" idx="4"/>
          </p:nvPr>
        </p:nvSpPr>
        <p:spPr>
          <a:xfrm>
            <a:off x="516330" y="6525087"/>
            <a:ext cx="914426" cy="224424"/>
          </a:xfrm>
          <a:prstGeom prst="rect">
            <a:avLst/>
          </a:prstGeom>
        </p:spPr>
        <p:txBody>
          <a:bodyPr vert="horz" lIns="0" tIns="0" rIns="0" bIns="0" rtlCol="0" anchor="b" anchorCtr="0"/>
          <a:lstStyle>
            <a:lvl1pPr algn="l">
              <a:lnSpc>
                <a:spcPct val="90000"/>
              </a:lnSpc>
              <a:spcAft>
                <a:spcPts val="980"/>
              </a:spcAft>
              <a:defRPr sz="1000" b="1">
                <a:solidFill>
                  <a:schemeClr val="tx1"/>
                </a:solidFill>
              </a:defRPr>
            </a:lvl1pPr>
          </a:lstStyle>
          <a:p>
            <a:r>
              <a:rPr lang="en-US">
                <a:solidFill>
                  <a:prstClr val="black"/>
                </a:solidFill>
              </a:rPr>
              <a:t>-</a:t>
            </a:r>
            <a:fld id="{75A4F164-3A46-4CEE-A25C-CA523D5E42F3}" type="slidenum">
              <a:rPr lang="en-US" smtClean="0">
                <a:solidFill>
                  <a:prstClr val="black"/>
                </a:solidFill>
              </a:rPr>
              <a:t>‹#›</a:t>
            </a:fld>
            <a:r>
              <a:rPr lang="en-US">
                <a:solidFill>
                  <a:prstClr val="black"/>
                </a:solidFill>
              </a:rPr>
              <a:t>-</a:t>
            </a:r>
            <a:endParaRPr lang="en-US" dirty="0">
              <a:solidFill>
                <a:prstClr val="black"/>
              </a:solidFill>
            </a:endParaRPr>
          </a:p>
        </p:txBody>
      </p:sp>
      <p:sp>
        <p:nvSpPr>
          <p:cNvPr id="17" name="Inhaltsplatzhalter 2"/>
          <p:cNvSpPr>
            <a:spLocks noGrp="1"/>
          </p:cNvSpPr>
          <p:nvPr>
            <p:ph idx="1" hasCustomPrompt="1"/>
          </p:nvPr>
        </p:nvSpPr>
        <p:spPr>
          <a:xfrm>
            <a:off x="516326" y="1154098"/>
            <a:ext cx="4096208" cy="1720984"/>
          </a:xfrm>
          <a:prstGeom prst="rect">
            <a:avLst/>
          </a:prstGeom>
          <a:noFill/>
        </p:spPr>
        <p:txBody>
          <a:bodyPr/>
          <a:lstStyle>
            <a:lvl1pPr>
              <a:lnSpc>
                <a:spcPct val="100000"/>
              </a:lnSpc>
              <a:spcAft>
                <a:spcPts val="0"/>
              </a:spcAft>
              <a:defRPr sz="2200">
                <a:solidFill>
                  <a:schemeClr val="tx1"/>
                </a:solidFill>
              </a:defRPr>
            </a:lvl1pPr>
            <a:lvl2pPr>
              <a:lnSpc>
                <a:spcPct val="100000"/>
              </a:lnSpc>
              <a:spcAft>
                <a:spcPts val="0"/>
              </a:spcAft>
              <a:defRPr sz="2000">
                <a:solidFill>
                  <a:schemeClr val="tx1"/>
                </a:solidFill>
              </a:defRPr>
            </a:lvl2pPr>
            <a:lvl3pPr>
              <a:lnSpc>
                <a:spcPct val="100000"/>
              </a:lnSpc>
              <a:spcAft>
                <a:spcPts val="0"/>
              </a:spcAft>
              <a:defRPr sz="1800">
                <a:solidFill>
                  <a:schemeClr val="tx1"/>
                </a:solidFill>
              </a:defRPr>
            </a:lvl3pPr>
            <a:lvl4pPr>
              <a:lnSpc>
                <a:spcPct val="100000"/>
              </a:lnSpc>
              <a:spcAft>
                <a:spcPts val="0"/>
              </a:spcAft>
              <a:defRPr sz="1600">
                <a:solidFill>
                  <a:schemeClr val="tx1"/>
                </a:solidFill>
              </a:defRPr>
            </a:lvl4pPr>
            <a:lvl5pPr>
              <a:lnSpc>
                <a:spcPct val="100000"/>
              </a:lnSpc>
              <a:spcAft>
                <a:spcPts val="0"/>
              </a:spcAft>
              <a:defRPr sz="1600">
                <a:solidFill>
                  <a:schemeClr val="tx1"/>
                </a:solidFill>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2"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图片 6"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a:xfrm>
            <a:off x="609664" y="6356172"/>
            <a:ext cx="2845096" cy="365024"/>
          </a:xfrm>
        </p:spPr>
        <p:txBody>
          <a:bodyPr/>
          <a:lstStyle/>
          <a:p>
            <a:pPr marL="0" marR="0" lvl="0" indent="0" algn="l" defTabSz="1088390" rtl="0" eaLnBrk="1" fontAlgn="auto" latinLnBrk="0" hangingPunct="1">
              <a:lnSpc>
                <a:spcPct val="100000"/>
              </a:lnSpc>
              <a:spcBef>
                <a:spcPts val="0"/>
              </a:spcBef>
              <a:spcAft>
                <a:spcPts val="0"/>
              </a:spcAft>
              <a:buClrTx/>
              <a:buSzTx/>
              <a:buFontTx/>
              <a:buNone/>
              <a:defRPr/>
            </a:pPr>
            <a:fld id="{92BAA3EF-8CCB-4922-96E9-BC0976D55C0C}" type="datetimeFigureOut">
              <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rPr>
              <a:t>2026/2/12</a:t>
            </a:fld>
            <a:endPar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a:xfrm>
            <a:off x="4166034" y="6356172"/>
            <a:ext cx="3859615" cy="365024"/>
          </a:xfrm>
        </p:spPr>
        <p:txBody>
          <a:bodyPr/>
          <a:lstStyle/>
          <a:p>
            <a:pPr marL="0" marR="0" lvl="0" indent="0" algn="ctr" defTabSz="108839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a:xfrm>
            <a:off x="8736923" y="6356172"/>
            <a:ext cx="2845096" cy="365024"/>
          </a:xfrm>
        </p:spPr>
        <p:txBody>
          <a:bodyPr/>
          <a:lstStyle/>
          <a:p>
            <a:pPr lvl="0" eaLnBrk="1" hangingPunct="1">
              <a:buNone/>
            </a:pPr>
            <a:fld id="{9A0DB2DC-4C9A-4742-B13C-FB6460FD3503}" type="slidenum">
              <a:rPr lang="en-US" altLang="en-US" dirty="0">
                <a:latin typeface="Calibri" panose="020F0502020204030204" charset="0"/>
              </a:rPr>
              <a:t>‹#›</a:t>
            </a:fld>
            <a:endParaRPr lang="en-US" altLang="en-US" dirty="0">
              <a:latin typeface="Calibri" panose="020F0502020204030204" charset="0"/>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標題投影片">
  <p:cSld name="2_標題投影片">
    <p:spTree>
      <p:nvGrpSpPr>
        <p:cNvPr id="1" name="Shape 31"/>
        <p:cNvGrpSpPr/>
        <p:nvPr/>
      </p:nvGrpSpPr>
      <p:grpSpPr>
        <a:xfrm>
          <a:off x="0" y="0"/>
          <a:ext cx="0" cy="0"/>
          <a:chOff x="0" y="0"/>
          <a:chExt cx="0" cy="0"/>
        </a:xfrm>
      </p:grpSpPr>
      <p:pic>
        <p:nvPicPr>
          <p:cNvPr id="2" name="图片 1" descr="图片包含 图示&#10;&#10;描述已自动生成"/>
          <p:cNvPicPr>
            <a:picLocks noChangeAspect="1"/>
          </p:cNvPicPr>
          <p:nvPr userDrawn="1"/>
        </p:nvPicPr>
        <p:blipFill>
          <a:blip r:embed="rId4">
            <a:extLst>
              <a:ext uri="{BEBA8EAE-BF5A-486C-A8C5-ECC9F3942E4B}">
                <a14:imgProps xmlns:a14="http://schemas.microsoft.com/office/drawing/2010/main">
                  <a14:imgLayer r:embed="rId5">
                    <a14:imgEffect>
                      <a14:backgroundRemoval t="2908" b="98061" l="1430" r="98318">
                        <a14:foregroundMark x1="14045" y1="30856" x2="46762" y2="25848"/>
                        <a14:foregroundMark x1="46762" y1="25848" x2="65433" y2="37641"/>
                        <a14:foregroundMark x1="65433" y1="37641" x2="54584" y2="41842"/>
                        <a14:foregroundMark x1="14802" y1="60905" x2="32801" y2="46688"/>
                        <a14:foregroundMark x1="32801" y1="46688" x2="76703" y2="62843"/>
                        <a14:foregroundMark x1="76703" y1="62843" x2="45753" y2="68498"/>
                        <a14:foregroundMark x1="1430" y1="2908" x2="4205" y2="88691"/>
                        <a14:foregroundMark x1="252" y1="96446" x2="86880" y2="93538"/>
                        <a14:foregroundMark x1="86880" y1="93538" x2="98318" y2="95153"/>
                        <a14:foregroundMark x1="98318" y1="95153" x2="97393" y2="98061"/>
                        <a14:backgroundMark x1="89992" y1="1616" x2="92431" y2="14055"/>
                        <a14:backgroundMark x1="92431" y1="14055" x2="98150" y2="16478"/>
                        <a14:backgroundMark x1="98150" y1="16478" x2="99495" y2="15509"/>
                        <a14:backgroundMark x1="94281" y1="13732" x2="97897" y2="13409"/>
                        <a14:backgroundMark x1="89907" y1="2746" x2="91842" y2="13732"/>
                      </a14:backgroundRemoval>
                    </a14:imgEffect>
                  </a14:imgLayer>
                </a14:imgProps>
              </a:ext>
              <a:ext uri="{28A0092B-C50C-407E-A947-70E740481C1C}">
                <a14:useLocalDpi xmlns:a14="http://schemas.microsoft.com/office/drawing/2010/main" val="0"/>
              </a:ext>
            </a:extLst>
          </a:blip>
          <a:stretch>
            <a:fillRect/>
          </a:stretch>
        </p:blipFill>
        <p:spPr>
          <a:xfrm>
            <a:off x="743405" y="199044"/>
            <a:ext cx="10983187" cy="5717909"/>
          </a:xfrm>
          <a:prstGeom prst="rect">
            <a:avLst/>
          </a:prstGeom>
        </p:spPr>
      </p:pic>
      <p:sp>
        <p:nvSpPr>
          <p:cNvPr id="32" name="Google Shape;32;p9"/>
          <p:cNvSpPr txBox="1">
            <a:spLocks noGrp="1"/>
          </p:cNvSpPr>
          <p:nvPr>
            <p:ph type="title"/>
          </p:nvPr>
        </p:nvSpPr>
        <p:spPr>
          <a:xfrm>
            <a:off x="285752" y="95251"/>
            <a:ext cx="11906291" cy="666731"/>
          </a:xfrm>
          <a:prstGeom prst="rect">
            <a:avLst/>
          </a:prstGeom>
          <a:noFill/>
          <a:ln>
            <a:noFill/>
          </a:ln>
        </p:spPr>
        <p:txBody>
          <a:bodyPr spcFirstLastPara="1" lIns="121897" tIns="60932" rIns="121897" bIns="60932" anchor="t">
            <a:noAutofit/>
          </a:bodyPr>
          <a:lstStyle>
            <a:lvl1pPr marR="0" lvl="0" algn="l" rtl="0">
              <a:spcBef>
                <a:spcPts val="0"/>
              </a:spcBef>
              <a:spcAft>
                <a:spcPts val="0"/>
              </a:spcAft>
              <a:buSzPts val="1400"/>
              <a:buNone/>
              <a:defRPr sz="3700" b="1" i="1" u="none" strike="noStrike" cap="none">
                <a:solidFill>
                  <a:srgbClr val="00B050"/>
                </a:solidFill>
                <a:latin typeface="Calibri" panose="020F0502020204030204"/>
                <a:ea typeface="Calibri" panose="020F0502020204030204"/>
                <a:cs typeface="Calibri" panose="020F0502020204030204"/>
                <a:sym typeface="Calibri" panose="020F0502020204030204"/>
              </a:defRPr>
            </a:lvl1pPr>
            <a:lvl2pPr marR="0" lvl="1"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a:spcBef>
                <a:spcPts val="0"/>
              </a:spcBef>
              <a:spcAft>
                <a:spcPts val="0"/>
              </a:spcAft>
              <a:buSzPts val="1400"/>
              <a:buNone/>
              <a:defRPr sz="59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Freeform 200"/>
          <p:cNvSpPr>
            <a:spLocks noEditPoints="1"/>
          </p:cNvSpPr>
          <p:nvPr userDrawn="1">
            <p:custDataLst>
              <p:tags r:id="rId1"/>
            </p:custDataLst>
          </p:nvPr>
        </p:nvSpPr>
        <p:spPr bwMode="auto">
          <a:xfrm>
            <a:off x="159927" y="285571"/>
            <a:ext cx="457625" cy="463189"/>
          </a:xfrm>
          <a:custGeom>
            <a:avLst/>
            <a:gdLst>
              <a:gd name="T0" fmla="*/ 164 w 329"/>
              <a:gd name="T1" fmla="*/ 0 h 333"/>
              <a:gd name="T2" fmla="*/ 0 w 329"/>
              <a:gd name="T3" fmla="*/ 40 h 333"/>
              <a:gd name="T4" fmla="*/ 0 w 329"/>
              <a:gd name="T5" fmla="*/ 250 h 333"/>
              <a:gd name="T6" fmla="*/ 164 w 329"/>
              <a:gd name="T7" fmla="*/ 333 h 333"/>
              <a:gd name="T8" fmla="*/ 329 w 329"/>
              <a:gd name="T9" fmla="*/ 250 h 333"/>
              <a:gd name="T10" fmla="*/ 329 w 329"/>
              <a:gd name="T11" fmla="*/ 40 h 333"/>
              <a:gd name="T12" fmla="*/ 164 w 329"/>
              <a:gd name="T13" fmla="*/ 0 h 333"/>
              <a:gd name="T14" fmla="*/ 297 w 329"/>
              <a:gd name="T15" fmla="*/ 53 h 333"/>
              <a:gd name="T16" fmla="*/ 175 w 329"/>
              <a:gd name="T17" fmla="*/ 99 h 333"/>
              <a:gd name="T18" fmla="*/ 40 w 329"/>
              <a:gd name="T19" fmla="*/ 53 h 333"/>
              <a:gd name="T20" fmla="*/ 164 w 329"/>
              <a:gd name="T21" fmla="*/ 20 h 333"/>
              <a:gd name="T22" fmla="*/ 297 w 329"/>
              <a:gd name="T23" fmla="*/ 53 h 333"/>
              <a:gd name="T24" fmla="*/ 22 w 329"/>
              <a:gd name="T25" fmla="*/ 236 h 333"/>
              <a:gd name="T26" fmla="*/ 22 w 329"/>
              <a:gd name="T27" fmla="*/ 67 h 333"/>
              <a:gd name="T28" fmla="*/ 164 w 329"/>
              <a:gd name="T29" fmla="*/ 118 h 333"/>
              <a:gd name="T30" fmla="*/ 164 w 329"/>
              <a:gd name="T31" fmla="*/ 309 h 333"/>
              <a:gd name="T32" fmla="*/ 22 w 329"/>
              <a:gd name="T33" fmla="*/ 236 h 333"/>
              <a:gd name="T34" fmla="*/ 22 w 329"/>
              <a:gd name="T35" fmla="*/ 236 h 333"/>
              <a:gd name="T36" fmla="*/ 22 w 329"/>
              <a:gd name="T37" fmla="*/ 236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9" h="333">
                <a:moveTo>
                  <a:pt x="164" y="0"/>
                </a:moveTo>
                <a:lnTo>
                  <a:pt x="0" y="40"/>
                </a:lnTo>
                <a:lnTo>
                  <a:pt x="0" y="250"/>
                </a:lnTo>
                <a:lnTo>
                  <a:pt x="164" y="333"/>
                </a:lnTo>
                <a:lnTo>
                  <a:pt x="329" y="250"/>
                </a:lnTo>
                <a:lnTo>
                  <a:pt x="329" y="40"/>
                </a:lnTo>
                <a:lnTo>
                  <a:pt x="164" y="0"/>
                </a:lnTo>
                <a:close/>
                <a:moveTo>
                  <a:pt x="297" y="53"/>
                </a:moveTo>
                <a:lnTo>
                  <a:pt x="175" y="99"/>
                </a:lnTo>
                <a:lnTo>
                  <a:pt x="40" y="53"/>
                </a:lnTo>
                <a:lnTo>
                  <a:pt x="164" y="20"/>
                </a:lnTo>
                <a:lnTo>
                  <a:pt x="297" y="53"/>
                </a:lnTo>
                <a:close/>
                <a:moveTo>
                  <a:pt x="22" y="236"/>
                </a:moveTo>
                <a:lnTo>
                  <a:pt x="22" y="67"/>
                </a:lnTo>
                <a:lnTo>
                  <a:pt x="164" y="118"/>
                </a:lnTo>
                <a:lnTo>
                  <a:pt x="164" y="309"/>
                </a:lnTo>
                <a:lnTo>
                  <a:pt x="22" y="236"/>
                </a:lnTo>
                <a:close/>
                <a:moveTo>
                  <a:pt x="22" y="236"/>
                </a:moveTo>
                <a:lnTo>
                  <a:pt x="22" y="236"/>
                </a:lnTo>
                <a:close/>
              </a:path>
            </a:pathLst>
          </a:custGeom>
          <a:solidFill>
            <a:srgbClr val="003366"/>
          </a:solidFill>
          <a:ln>
            <a:noFill/>
          </a:ln>
          <a:effectLst>
            <a:outerShdw blurRad="50800" dist="38100" dir="2700000" algn="tl" rotWithShape="0">
              <a:prstClr val="black">
                <a:alpha val="40000"/>
              </a:prstClr>
            </a:outerShdw>
          </a:effectLst>
        </p:spPr>
        <p:txBody>
          <a:bodyPr vert="horz" wrap="square" lIns="68580" tIns="34290" rIns="68580" bIns="34290" numCol="1" anchor="t" anchorCtr="0" compatLnSpc="1">
            <a:norm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a:ln>
                <a:noFill/>
              </a:ln>
              <a:solidFill>
                <a:prstClr val="black"/>
              </a:solidFill>
              <a:effectLst/>
              <a:uLnTx/>
              <a:uFillTx/>
              <a:latin typeface="Arial" panose="020B0604020202020204"/>
            </a:endParaRPr>
          </a:p>
        </p:txBody>
      </p:sp>
      <p:cxnSp>
        <p:nvCxnSpPr>
          <p:cNvPr id="15" name="直接连接符 5"/>
          <p:cNvCxnSpPr/>
          <p:nvPr userDrawn="1">
            <p:custDataLst>
              <p:tags r:id="rId2"/>
            </p:custDataLst>
          </p:nvPr>
        </p:nvCxnSpPr>
        <p:spPr>
          <a:xfrm>
            <a:off x="743405" y="764704"/>
            <a:ext cx="9813925"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9" cstate="email">
            <a:lum/>
          </a:blip>
          <a:srcRect/>
          <a:stretch>
            <a:fillRect/>
          </a:stretch>
        </a:blipFill>
        <a:effectLst/>
      </p:bgPr>
    </p:bg>
    <p:spTree>
      <p:nvGrpSpPr>
        <p:cNvPr id="1" name=""/>
        <p:cNvGrpSpPr/>
        <p:nvPr/>
      </p:nvGrpSpPr>
      <p:grpSpPr>
        <a:xfrm>
          <a:off x="0" y="0"/>
          <a:ext cx="0" cy="0"/>
          <a:chOff x="0" y="0"/>
          <a:chExt cx="0" cy="0"/>
        </a:xfrm>
      </p:grpSpPr>
      <p:sp>
        <p:nvSpPr>
          <p:cNvPr id="5" name="标题占位符 4"/>
          <p:cNvSpPr>
            <a:spLocks noGrp="1"/>
          </p:cNvSpPr>
          <p:nvPr>
            <p:ph type="title"/>
          </p:nvPr>
        </p:nvSpPr>
        <p:spPr>
          <a:xfrm>
            <a:off x="848411" y="461817"/>
            <a:ext cx="9341963" cy="791947"/>
          </a:xfrm>
          <a:prstGeom prst="rect">
            <a:avLst/>
          </a:prstGeom>
        </p:spPr>
        <p:txBody>
          <a:bodyPr vert="horz" lIns="91440" tIns="45720" rIns="91440" bIns="45720" rtlCol="0" anchor="ctr">
            <a:normAutofit/>
          </a:bodyPr>
          <a:lstStyle/>
          <a:p>
            <a:pPr>
              <a:defRPr/>
            </a:pPr>
            <a:r>
              <a:rPr kumimoji="1" lang="zh-CN" altLang="en-US" sz="3600" b="1" dirty="0">
                <a:solidFill>
                  <a:srgbClr val="002F75"/>
                </a:solidFill>
                <a:latin typeface="微软雅黑" panose="020B0503020204020204" pitchFamily="34" charset="-122"/>
                <a:ea typeface="微软雅黑" panose="020B0503020204020204" pitchFamily="34" charset="-122"/>
              </a:rPr>
              <a:t>主标题</a:t>
            </a:r>
            <a:r>
              <a:rPr kumimoji="1" lang="en-US" altLang="zh-CN" sz="3600" b="1" dirty="0">
                <a:solidFill>
                  <a:srgbClr val="002F75"/>
                </a:solidFill>
                <a:latin typeface="微软雅黑" panose="020B0503020204020204" pitchFamily="34" charset="-122"/>
                <a:ea typeface="微软雅黑" panose="020B0503020204020204" pitchFamily="34" charset="-122"/>
              </a:rPr>
              <a:t>-</a:t>
            </a:r>
            <a:r>
              <a:rPr kumimoji="1" lang="zh-CN" altLang="en-US" sz="3600" b="1" dirty="0">
                <a:solidFill>
                  <a:srgbClr val="002F75"/>
                </a:solidFill>
                <a:latin typeface="微软雅黑" panose="020B0503020204020204" pitchFamily="34" charset="-122"/>
                <a:ea typeface="微软雅黑" panose="020B0503020204020204" pitchFamily="34" charset="-122"/>
              </a:rPr>
              <a:t>字号</a:t>
            </a:r>
            <a:r>
              <a:rPr kumimoji="1" lang="en-US" altLang="zh-CN" sz="3600" b="1" dirty="0">
                <a:solidFill>
                  <a:srgbClr val="002F75"/>
                </a:solidFill>
                <a:latin typeface="微软雅黑" panose="020B0503020204020204" pitchFamily="34" charset="-122"/>
                <a:ea typeface="微软雅黑" panose="020B0503020204020204" pitchFamily="34" charset="-122"/>
              </a:rPr>
              <a:t>30-36</a:t>
            </a:r>
            <a:endParaRPr kumimoji="1" lang="zh-TW" altLang="en-US" sz="3600" b="1" dirty="0">
              <a:solidFill>
                <a:srgbClr val="002F75"/>
              </a:solidFill>
              <a:latin typeface="微软雅黑" panose="020B0503020204020204" pitchFamily="34" charset="-122"/>
              <a:ea typeface="微软雅黑" panose="020B0503020204020204" pitchFamily="34" charset="-122"/>
            </a:endParaRPr>
          </a:p>
        </p:txBody>
      </p:sp>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zh-CN" altLang="en-US" dirty="0"/>
              <a:t>第三级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lnSpc>
          <a:spcPct val="90000"/>
        </a:lnSpc>
        <a:spcBef>
          <a:spcPct val="0"/>
        </a:spcBef>
        <a:buNone/>
        <a:defRPr sz="3600" b="1" kern="1200">
          <a:solidFill>
            <a:schemeClr val="tx1"/>
          </a:solidFill>
          <a:latin typeface="思源黑体 CN Heavy" panose="020B0A00000000000000" pitchFamily="34" charset="-122"/>
          <a:ea typeface="思源黑体 CN Heavy" panose="020B0A00000000000000" pitchFamily="34" charset="-122"/>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思源黑体 CN Normal" panose="020B0400000000000000" pitchFamily="34" charset="-122"/>
          <a:ea typeface="思源黑体 CN Normal" panose="020B04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tags" Target="../tags/tag35.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slideLayout" Target="../slideLayouts/slideLayout16.xml"/><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3.png"/><Relationship Id="rId3" Type="http://schemas.openxmlformats.org/officeDocument/2006/relationships/tags" Target="../tags/tag38.xml"/><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slideLayout" Target="../slideLayouts/slideLayout16.xml"/><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45.xml"/><Relationship Id="rId7" Type="http://schemas.openxmlformats.org/officeDocument/2006/relationships/notesSlide" Target="../notesSlides/notesSlide3.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15.xml"/><Relationship Id="rId5" Type="http://schemas.openxmlformats.org/officeDocument/2006/relationships/tags" Target="../tags/tag47.xml"/><Relationship Id="rId10" Type="http://schemas.openxmlformats.org/officeDocument/2006/relationships/image" Target="../media/image26.png"/><Relationship Id="rId4" Type="http://schemas.openxmlformats.org/officeDocument/2006/relationships/tags" Target="../tags/tag46.xml"/><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tags" Target="../tags/tag50.xml"/><Relationship Id="rId7" Type="http://schemas.openxmlformats.org/officeDocument/2006/relationships/image" Target="../media/image28.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27.png"/><Relationship Id="rId5" Type="http://schemas.openxmlformats.org/officeDocument/2006/relationships/notesSlide" Target="../notesSlides/notesSlide4.xml"/><Relationship Id="rId4"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53.xml"/><Relationship Id="rId7" Type="http://schemas.microsoft.com/office/2007/relationships/hdphoto" Target="../media/hdphoto2.wdp"/><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29.png"/><Relationship Id="rId5" Type="http://schemas.openxmlformats.org/officeDocument/2006/relationships/notesSlide" Target="../notesSlides/notesSlide5.xml"/><Relationship Id="rId10" Type="http://schemas.openxmlformats.org/officeDocument/2006/relationships/image" Target="../media/image31.png"/><Relationship Id="rId4" Type="http://schemas.openxmlformats.org/officeDocument/2006/relationships/slideLayout" Target="../slideLayouts/slideLayout15.xml"/><Relationship Id="rId9" Type="http://schemas.microsoft.com/office/2007/relationships/hdphoto" Target="../media/hdphoto3.wdp"/></Relationships>
</file>

<file path=ppt/slides/_rels/slide9.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tags" Target="../tags/tag71.xml"/><Relationship Id="rId3" Type="http://schemas.openxmlformats.org/officeDocument/2006/relationships/tags" Target="../tags/tag56.xml"/><Relationship Id="rId21" Type="http://schemas.openxmlformats.org/officeDocument/2006/relationships/tags" Target="../tags/tag74.xml"/><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5" Type="http://schemas.microsoft.com/office/2007/relationships/hdphoto" Target="../media/hdphoto2.wdp"/><Relationship Id="rId2" Type="http://schemas.openxmlformats.org/officeDocument/2006/relationships/tags" Target="../tags/tag55.xml"/><Relationship Id="rId16" Type="http://schemas.openxmlformats.org/officeDocument/2006/relationships/tags" Target="../tags/tag69.xml"/><Relationship Id="rId20" Type="http://schemas.openxmlformats.org/officeDocument/2006/relationships/tags" Target="../tags/tag73.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24" Type="http://schemas.openxmlformats.org/officeDocument/2006/relationships/image" Target="../media/image32.png"/><Relationship Id="rId5" Type="http://schemas.openxmlformats.org/officeDocument/2006/relationships/tags" Target="../tags/tag58.xml"/><Relationship Id="rId15" Type="http://schemas.openxmlformats.org/officeDocument/2006/relationships/tags" Target="../tags/tag68.xml"/><Relationship Id="rId23" Type="http://schemas.openxmlformats.org/officeDocument/2006/relationships/notesSlide" Target="../notesSlides/notesSlide6.xml"/><Relationship Id="rId10" Type="http://schemas.openxmlformats.org/officeDocument/2006/relationships/tags" Target="../tags/tag63.xml"/><Relationship Id="rId19" Type="http://schemas.openxmlformats.org/officeDocument/2006/relationships/tags" Target="../tags/tag72.xml"/><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 Id="rId22"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13" Type="http://schemas.microsoft.com/office/2007/relationships/hdphoto" Target="../media/hdphoto6.wdp"/><Relationship Id="rId3" Type="http://schemas.openxmlformats.org/officeDocument/2006/relationships/tags" Target="../tags/tag77.xml"/><Relationship Id="rId7" Type="http://schemas.microsoft.com/office/2007/relationships/hdphoto" Target="../media/hdphoto4.wdp"/><Relationship Id="rId12" Type="http://schemas.openxmlformats.org/officeDocument/2006/relationships/image" Target="../media/image37.png"/><Relationship Id="rId2" Type="http://schemas.openxmlformats.org/officeDocument/2006/relationships/tags" Target="../tags/tag76.xml"/><Relationship Id="rId16" Type="http://schemas.microsoft.com/office/2007/relationships/hdphoto" Target="../media/hdphoto7.wdp"/><Relationship Id="rId1" Type="http://schemas.openxmlformats.org/officeDocument/2006/relationships/tags" Target="../tags/tag75.xml"/><Relationship Id="rId6" Type="http://schemas.openxmlformats.org/officeDocument/2006/relationships/image" Target="../media/image33.png"/><Relationship Id="rId11" Type="http://schemas.openxmlformats.org/officeDocument/2006/relationships/image" Target="../media/image36.png"/><Relationship Id="rId5" Type="http://schemas.openxmlformats.org/officeDocument/2006/relationships/notesSlide" Target="../notesSlides/notesSlide7.xml"/><Relationship Id="rId15" Type="http://schemas.openxmlformats.org/officeDocument/2006/relationships/image" Target="../media/image39.png"/><Relationship Id="rId10" Type="http://schemas.openxmlformats.org/officeDocument/2006/relationships/image" Target="../media/image35.png"/><Relationship Id="rId4" Type="http://schemas.openxmlformats.org/officeDocument/2006/relationships/slideLayout" Target="../slideLayouts/slideLayout15.xml"/><Relationship Id="rId9" Type="http://schemas.microsoft.com/office/2007/relationships/hdphoto" Target="../media/hdphoto5.wdp"/><Relationship Id="rId14"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tags" Target="../tags/tag90.xml"/><Relationship Id="rId18" Type="http://schemas.openxmlformats.org/officeDocument/2006/relationships/tags" Target="../tags/tag95.xml"/><Relationship Id="rId3" Type="http://schemas.openxmlformats.org/officeDocument/2006/relationships/tags" Target="../tags/tag80.xml"/><Relationship Id="rId21" Type="http://schemas.openxmlformats.org/officeDocument/2006/relationships/tags" Target="../tags/tag98.xml"/><Relationship Id="rId7" Type="http://schemas.openxmlformats.org/officeDocument/2006/relationships/tags" Target="../tags/tag84.xml"/><Relationship Id="rId12" Type="http://schemas.openxmlformats.org/officeDocument/2006/relationships/tags" Target="../tags/tag89.xml"/><Relationship Id="rId17" Type="http://schemas.openxmlformats.org/officeDocument/2006/relationships/tags" Target="../tags/tag94.xml"/><Relationship Id="rId25" Type="http://schemas.openxmlformats.org/officeDocument/2006/relationships/image" Target="../media/image41.png"/><Relationship Id="rId2" Type="http://schemas.openxmlformats.org/officeDocument/2006/relationships/tags" Target="../tags/tag79.xml"/><Relationship Id="rId16" Type="http://schemas.openxmlformats.org/officeDocument/2006/relationships/tags" Target="../tags/tag93.xml"/><Relationship Id="rId20" Type="http://schemas.openxmlformats.org/officeDocument/2006/relationships/tags" Target="../tags/tag97.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24" Type="http://schemas.openxmlformats.org/officeDocument/2006/relationships/image" Target="../media/image40.png"/><Relationship Id="rId5" Type="http://schemas.openxmlformats.org/officeDocument/2006/relationships/tags" Target="../tags/tag82.xml"/><Relationship Id="rId15" Type="http://schemas.openxmlformats.org/officeDocument/2006/relationships/tags" Target="../tags/tag92.xml"/><Relationship Id="rId23" Type="http://schemas.openxmlformats.org/officeDocument/2006/relationships/notesSlide" Target="../notesSlides/notesSlide8.xml"/><Relationship Id="rId10" Type="http://schemas.openxmlformats.org/officeDocument/2006/relationships/tags" Target="../tags/tag87.xml"/><Relationship Id="rId19" Type="http://schemas.openxmlformats.org/officeDocument/2006/relationships/tags" Target="../tags/tag96.xml"/><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tags" Target="../tags/tag91.xml"/><Relationship Id="rId22"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image" Target="../media/image42.png"/><Relationship Id="rId3" Type="http://schemas.openxmlformats.org/officeDocument/2006/relationships/tags" Target="../tags/tag101.xml"/><Relationship Id="rId21" Type="http://schemas.openxmlformats.org/officeDocument/2006/relationships/image" Target="../media/image44.png"/><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notesSlide" Target="../notesSlides/notesSlide9.xml"/><Relationship Id="rId2" Type="http://schemas.openxmlformats.org/officeDocument/2006/relationships/tags" Target="../tags/tag100.xml"/><Relationship Id="rId16" Type="http://schemas.openxmlformats.org/officeDocument/2006/relationships/slideLayout" Target="../slideLayouts/slideLayout15.xml"/><Relationship Id="rId20" Type="http://schemas.microsoft.com/office/2007/relationships/hdphoto" Target="../media/hdphoto8.wdp"/><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5" Type="http://schemas.openxmlformats.org/officeDocument/2006/relationships/tags" Target="../tags/tag103.xml"/><Relationship Id="rId15" Type="http://schemas.openxmlformats.org/officeDocument/2006/relationships/tags" Target="../tags/tag113.xml"/><Relationship Id="rId10" Type="http://schemas.openxmlformats.org/officeDocument/2006/relationships/tags" Target="../tags/tag108.xml"/><Relationship Id="rId19" Type="http://schemas.openxmlformats.org/officeDocument/2006/relationships/image" Target="../media/image43.png"/><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tags" Target="../tags/tag11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117.xml"/><Relationship Id="rId7" Type="http://schemas.openxmlformats.org/officeDocument/2006/relationships/slideLayout" Target="../slideLayouts/slideLayout15.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tags" Target="../tags/tag120.xml"/><Relationship Id="rId5" Type="http://schemas.openxmlformats.org/officeDocument/2006/relationships/tags" Target="../tags/tag119.xml"/><Relationship Id="rId10" Type="http://schemas.microsoft.com/office/2007/relationships/hdphoto" Target="../media/hdphoto9.wdp"/><Relationship Id="rId4" Type="http://schemas.openxmlformats.org/officeDocument/2006/relationships/tags" Target="../tags/tag118.xml"/><Relationship Id="rId9" Type="http://schemas.openxmlformats.org/officeDocument/2006/relationships/image" Target="../media/image48.png"/></Relationships>
</file>

<file path=ppt/slides/_rels/slide15.xml.rels><?xml version="1.0" encoding="UTF-8" standalone="yes"?>
<Relationships xmlns="http://schemas.openxmlformats.org/package/2006/relationships"><Relationship Id="rId8" Type="http://schemas.openxmlformats.org/officeDocument/2006/relationships/tags" Target="../tags/tag128.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image" Target="../media/image50.png"/><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image" Target="../media/image49.jpeg"/><Relationship Id="rId5" Type="http://schemas.openxmlformats.org/officeDocument/2006/relationships/tags" Target="../tags/tag125.xml"/><Relationship Id="rId10" Type="http://schemas.openxmlformats.org/officeDocument/2006/relationships/notesSlide" Target="../notesSlides/notesSlide12.xml"/><Relationship Id="rId4" Type="http://schemas.openxmlformats.org/officeDocument/2006/relationships/tags" Target="../tags/tag124.xml"/><Relationship Id="rId9"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11" Type="http://schemas.openxmlformats.org/officeDocument/2006/relationships/image" Target="../media/image52.png"/><Relationship Id="rId5" Type="http://schemas.openxmlformats.org/officeDocument/2006/relationships/tags" Target="../tags/tag133.xml"/><Relationship Id="rId10" Type="http://schemas.openxmlformats.org/officeDocument/2006/relationships/image" Target="../media/image51.png"/><Relationship Id="rId4" Type="http://schemas.openxmlformats.org/officeDocument/2006/relationships/tags" Target="../tags/tag132.xml"/><Relationship Id="rId9"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37.xml"/><Relationship Id="rId1" Type="http://schemas.openxmlformats.org/officeDocument/2006/relationships/tags" Target="../tags/tag136.xml"/><Relationship Id="rId6" Type="http://schemas.microsoft.com/office/2007/relationships/hdphoto" Target="../media/hdphoto10.wdp"/><Relationship Id="rId5" Type="http://schemas.openxmlformats.org/officeDocument/2006/relationships/image" Target="../media/image53.png"/><Relationship Id="rId4"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39.xml"/><Relationship Id="rId1" Type="http://schemas.openxmlformats.org/officeDocument/2006/relationships/tags" Target="../tags/tag138.xml"/><Relationship Id="rId6" Type="http://schemas.microsoft.com/office/2007/relationships/hdphoto" Target="../media/hdphoto11.wdp"/><Relationship Id="rId5" Type="http://schemas.openxmlformats.org/officeDocument/2006/relationships/image" Target="../media/image54.png"/><Relationship Id="rId4"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41.xml"/><Relationship Id="rId1" Type="http://schemas.openxmlformats.org/officeDocument/2006/relationships/tags" Target="../tags/tag140.xml"/><Relationship Id="rId5" Type="http://schemas.microsoft.com/office/2007/relationships/hdphoto" Target="../media/hdphoto12.wdp"/><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notesSlide" Target="../notesSlides/notesSlide16.xml"/><Relationship Id="rId3" Type="http://schemas.openxmlformats.org/officeDocument/2006/relationships/tags" Target="../tags/tag144.xml"/><Relationship Id="rId7" Type="http://schemas.openxmlformats.org/officeDocument/2006/relationships/tags" Target="../tags/tag148.xml"/><Relationship Id="rId12" Type="http://schemas.openxmlformats.org/officeDocument/2006/relationships/slideLayout" Target="../slideLayouts/slideLayout15.xml"/><Relationship Id="rId17" Type="http://schemas.microsoft.com/office/2007/relationships/hdphoto" Target="../media/hdphoto14.wdp"/><Relationship Id="rId2" Type="http://schemas.openxmlformats.org/officeDocument/2006/relationships/tags" Target="../tags/tag143.xml"/><Relationship Id="rId16" Type="http://schemas.openxmlformats.org/officeDocument/2006/relationships/image" Target="../media/image57.png"/><Relationship Id="rId1" Type="http://schemas.openxmlformats.org/officeDocument/2006/relationships/tags" Target="../tags/tag142.xml"/><Relationship Id="rId6" Type="http://schemas.openxmlformats.org/officeDocument/2006/relationships/tags" Target="../tags/tag147.xml"/><Relationship Id="rId11" Type="http://schemas.openxmlformats.org/officeDocument/2006/relationships/tags" Target="../tags/tag152.xml"/><Relationship Id="rId5" Type="http://schemas.openxmlformats.org/officeDocument/2006/relationships/tags" Target="../tags/tag146.xml"/><Relationship Id="rId15" Type="http://schemas.microsoft.com/office/2007/relationships/hdphoto" Target="../media/hdphoto13.wdp"/><Relationship Id="rId10" Type="http://schemas.openxmlformats.org/officeDocument/2006/relationships/tags" Target="../tags/tag151.xml"/><Relationship Id="rId4" Type="http://schemas.openxmlformats.org/officeDocument/2006/relationships/tags" Target="../tags/tag145.xml"/><Relationship Id="rId9" Type="http://schemas.openxmlformats.org/officeDocument/2006/relationships/tags" Target="../tags/tag150.xml"/><Relationship Id="rId14" Type="http://schemas.openxmlformats.org/officeDocument/2006/relationships/image" Target="../media/image56.png"/></Relationships>
</file>

<file path=ppt/slides/_rels/slide21.xml.rels><?xml version="1.0" encoding="UTF-8" standalone="yes"?>
<Relationships xmlns="http://schemas.openxmlformats.org/package/2006/relationships"><Relationship Id="rId8" Type="http://schemas.openxmlformats.org/officeDocument/2006/relationships/tags" Target="../tags/tag160.xml"/><Relationship Id="rId13" Type="http://schemas.openxmlformats.org/officeDocument/2006/relationships/tags" Target="../tags/tag165.xml"/><Relationship Id="rId18" Type="http://schemas.openxmlformats.org/officeDocument/2006/relationships/tags" Target="../tags/tag170.xml"/><Relationship Id="rId26" Type="http://schemas.openxmlformats.org/officeDocument/2006/relationships/image" Target="../media/image60.png"/><Relationship Id="rId3" Type="http://schemas.openxmlformats.org/officeDocument/2006/relationships/tags" Target="../tags/tag155.xml"/><Relationship Id="rId21" Type="http://schemas.openxmlformats.org/officeDocument/2006/relationships/image" Target="../media/image58.png"/><Relationship Id="rId7" Type="http://schemas.openxmlformats.org/officeDocument/2006/relationships/tags" Target="../tags/tag159.xml"/><Relationship Id="rId12" Type="http://schemas.openxmlformats.org/officeDocument/2006/relationships/tags" Target="../tags/tag164.xml"/><Relationship Id="rId17" Type="http://schemas.openxmlformats.org/officeDocument/2006/relationships/tags" Target="../tags/tag169.xml"/><Relationship Id="rId25" Type="http://schemas.microsoft.com/office/2007/relationships/hdphoto" Target="../media/hdphoto16.wdp"/><Relationship Id="rId2" Type="http://schemas.openxmlformats.org/officeDocument/2006/relationships/tags" Target="../tags/tag154.xml"/><Relationship Id="rId16" Type="http://schemas.openxmlformats.org/officeDocument/2006/relationships/tags" Target="../tags/tag168.xml"/><Relationship Id="rId20" Type="http://schemas.openxmlformats.org/officeDocument/2006/relationships/notesSlide" Target="../notesSlides/notesSlide17.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tags" Target="../tags/tag163.xml"/><Relationship Id="rId24" Type="http://schemas.openxmlformats.org/officeDocument/2006/relationships/image" Target="../media/image59.png"/><Relationship Id="rId5" Type="http://schemas.openxmlformats.org/officeDocument/2006/relationships/tags" Target="../tags/tag157.xml"/><Relationship Id="rId15" Type="http://schemas.openxmlformats.org/officeDocument/2006/relationships/tags" Target="../tags/tag167.xml"/><Relationship Id="rId23" Type="http://schemas.openxmlformats.org/officeDocument/2006/relationships/image" Target="../media/image26.png"/><Relationship Id="rId10" Type="http://schemas.openxmlformats.org/officeDocument/2006/relationships/tags" Target="../tags/tag162.xml"/><Relationship Id="rId19" Type="http://schemas.openxmlformats.org/officeDocument/2006/relationships/slideLayout" Target="../slideLayouts/slideLayout15.xml"/><Relationship Id="rId4" Type="http://schemas.openxmlformats.org/officeDocument/2006/relationships/tags" Target="../tags/tag156.xml"/><Relationship Id="rId9" Type="http://schemas.openxmlformats.org/officeDocument/2006/relationships/tags" Target="../tags/tag161.xml"/><Relationship Id="rId14" Type="http://schemas.openxmlformats.org/officeDocument/2006/relationships/tags" Target="../tags/tag166.xml"/><Relationship Id="rId22" Type="http://schemas.microsoft.com/office/2007/relationships/hdphoto" Target="../media/hdphoto15.wdp"/><Relationship Id="rId27" Type="http://schemas.microsoft.com/office/2007/relationships/hdphoto" Target="../media/hdphoto17.wdp"/></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microsoft.com/office/2007/relationships/hdphoto" Target="../media/hdphoto19.wdp"/><Relationship Id="rId18" Type="http://schemas.openxmlformats.org/officeDocument/2006/relationships/image" Target="../media/image65.png"/><Relationship Id="rId3" Type="http://schemas.openxmlformats.org/officeDocument/2006/relationships/tags" Target="../tags/tag173.xml"/><Relationship Id="rId21" Type="http://schemas.microsoft.com/office/2007/relationships/hdphoto" Target="../media/hdphoto23.wdp"/><Relationship Id="rId7" Type="http://schemas.openxmlformats.org/officeDocument/2006/relationships/tags" Target="../tags/tag177.xml"/><Relationship Id="rId12" Type="http://schemas.openxmlformats.org/officeDocument/2006/relationships/image" Target="../media/image62.png"/><Relationship Id="rId17" Type="http://schemas.microsoft.com/office/2007/relationships/hdphoto" Target="../media/hdphoto21.wdp"/><Relationship Id="rId2" Type="http://schemas.openxmlformats.org/officeDocument/2006/relationships/tags" Target="../tags/tag172.xml"/><Relationship Id="rId16" Type="http://schemas.openxmlformats.org/officeDocument/2006/relationships/image" Target="../media/image64.png"/><Relationship Id="rId20" Type="http://schemas.openxmlformats.org/officeDocument/2006/relationships/image" Target="../media/image66.png"/><Relationship Id="rId1" Type="http://schemas.openxmlformats.org/officeDocument/2006/relationships/tags" Target="../tags/tag171.xml"/><Relationship Id="rId6" Type="http://schemas.openxmlformats.org/officeDocument/2006/relationships/tags" Target="../tags/tag176.xml"/><Relationship Id="rId11" Type="http://schemas.microsoft.com/office/2007/relationships/hdphoto" Target="../media/hdphoto18.wdp"/><Relationship Id="rId5" Type="http://schemas.openxmlformats.org/officeDocument/2006/relationships/tags" Target="../tags/tag175.xml"/><Relationship Id="rId15" Type="http://schemas.microsoft.com/office/2007/relationships/hdphoto" Target="../media/hdphoto20.wdp"/><Relationship Id="rId10" Type="http://schemas.openxmlformats.org/officeDocument/2006/relationships/image" Target="../media/image61.png"/><Relationship Id="rId19" Type="http://schemas.microsoft.com/office/2007/relationships/hdphoto" Target="../media/hdphoto22.wdp"/><Relationship Id="rId4" Type="http://schemas.openxmlformats.org/officeDocument/2006/relationships/tags" Target="../tags/tag174.xml"/><Relationship Id="rId9" Type="http://schemas.openxmlformats.org/officeDocument/2006/relationships/notesSlide" Target="../notesSlides/notesSlide18.xml"/><Relationship Id="rId14" Type="http://schemas.openxmlformats.org/officeDocument/2006/relationships/image" Target="../media/image63.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79.xml"/><Relationship Id="rId1" Type="http://schemas.openxmlformats.org/officeDocument/2006/relationships/tags" Target="../tags/tag178.xml"/><Relationship Id="rId4"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722630" y="1049020"/>
            <a:ext cx="7526848" cy="4246245"/>
          </a:xfrm>
          <a:prstGeom prst="rect">
            <a:avLst/>
          </a:prstGeom>
          <a:noFill/>
        </p:spPr>
        <p:txBody>
          <a:bodyPr wrap="square" rtlCol="0">
            <a:spAutoFit/>
          </a:bodyPr>
          <a:lstStyle/>
          <a:p>
            <a:r>
              <a:rPr lang="en-US" altLang="zh-CN" sz="5400" b="1" dirty="0">
                <a:solidFill>
                  <a:schemeClr val="bg1"/>
                </a:solidFill>
                <a:latin typeface="Times New Roman" panose="02020603050405020304" pitchFamily="18" charset="0"/>
                <a:ea typeface="DFKai-SB" pitchFamily="65" charset="-120"/>
                <a:sym typeface="+mn-ea"/>
              </a:rPr>
              <a:t>CBD Calla panel</a:t>
            </a:r>
          </a:p>
          <a:p>
            <a:r>
              <a:rPr lang="en-US" altLang="zh-CN" sz="5400" b="1" dirty="0">
                <a:solidFill>
                  <a:schemeClr val="bg1"/>
                </a:solidFill>
                <a:latin typeface="Times New Roman" panose="02020603050405020304" pitchFamily="18" charset="0"/>
                <a:ea typeface="DFKai-SB" pitchFamily="65" charset="-120"/>
                <a:sym typeface="+mn-ea"/>
              </a:rPr>
              <a:t>Automatic assembly line</a:t>
            </a:r>
          </a:p>
          <a:p>
            <a:r>
              <a:rPr lang="en-US" sz="5400" b="1" dirty="0">
                <a:solidFill>
                  <a:schemeClr val="bg1"/>
                </a:solidFill>
                <a:latin typeface="Times New Roman" panose="02020603050405020304" pitchFamily="18" charset="0"/>
                <a:ea typeface="DFKai-SB" pitchFamily="65" charset="-120"/>
                <a:sym typeface="+mn-ea"/>
              </a:rPr>
              <a:t>--- </a:t>
            </a:r>
            <a:r>
              <a:rPr lang="zh-CN" altLang="en-US" sz="5400" b="1" dirty="0">
                <a:solidFill>
                  <a:schemeClr val="bg1"/>
                </a:solidFill>
                <a:latin typeface="Times New Roman" panose="02020603050405020304" pitchFamily="18" charset="0"/>
              </a:rPr>
              <a:t>Stick B-side EMI  Machine</a:t>
            </a:r>
          </a:p>
          <a:p>
            <a:endParaRPr lang="zh-TW" altLang="en-US" sz="5400" b="1" dirty="0">
              <a:solidFill>
                <a:schemeClr val="bg1"/>
              </a:solidFill>
              <a:latin typeface="Times New Roman" panose="02020603050405020304" pitchFamily="18" charset="0"/>
              <a:ea typeface="DFKai-SB" pitchFamily="65" charset="-120"/>
            </a:endParaRPr>
          </a:p>
        </p:txBody>
      </p:sp>
      <p:sp>
        <p:nvSpPr>
          <p:cNvPr id="2" name="文本框 9"/>
          <p:cNvSpPr txBox="1"/>
          <p:nvPr>
            <p:custDataLst>
              <p:tags r:id="rId1"/>
            </p:custDataLst>
          </p:nvPr>
        </p:nvSpPr>
        <p:spPr>
          <a:xfrm>
            <a:off x="870698" y="5384499"/>
            <a:ext cx="4746169" cy="368300"/>
          </a:xfrm>
          <a:prstGeom prst="rect">
            <a:avLst/>
          </a:prstGeom>
          <a:noFill/>
        </p:spPr>
        <p:txBody>
          <a:bodyPr wrap="square" rtlCol="0">
            <a:spAutoFit/>
          </a:bodyPr>
          <a:lstStyle/>
          <a:p>
            <a:pPr hangingPunct="0"/>
            <a:r>
              <a:rPr lang="en-US" altLang="zh-TW"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J</a:t>
            </a:r>
            <a:r>
              <a:rPr lang="en-US" altLang="zh-CN"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an</a:t>
            </a:r>
            <a:r>
              <a:rPr lang="en-US" altLang="zh-TW" dirty="0">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 23, 2026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 name="组合 97"/>
          <p:cNvGrpSpPr/>
          <p:nvPr/>
        </p:nvGrpSpPr>
        <p:grpSpPr>
          <a:xfrm>
            <a:off x="389255" y="1431925"/>
            <a:ext cx="11413490" cy="1590040"/>
            <a:chOff x="613" y="2255"/>
            <a:chExt cx="17974" cy="2504"/>
          </a:xfrm>
        </p:grpSpPr>
        <p:pic>
          <p:nvPicPr>
            <p:cNvPr id="2" name="图片 1"/>
            <p:cNvPicPr>
              <a:picLocks noChangeAspect="1"/>
            </p:cNvPicPr>
            <p:nvPr/>
          </p:nvPicPr>
          <p:blipFill>
            <a:blip r:embed="rId5"/>
            <a:stretch>
              <a:fillRect/>
            </a:stretch>
          </p:blipFill>
          <p:spPr>
            <a:xfrm>
              <a:off x="613" y="2255"/>
              <a:ext cx="17975" cy="2505"/>
            </a:xfrm>
            <a:prstGeom prst="rect">
              <a:avLst/>
            </a:prstGeom>
          </p:spPr>
        </p:pic>
        <p:pic>
          <p:nvPicPr>
            <p:cNvPr id="97" name="图片 96"/>
            <p:cNvPicPr>
              <a:picLocks noChangeAspect="1"/>
            </p:cNvPicPr>
            <p:nvPr/>
          </p:nvPicPr>
          <p:blipFill>
            <a:blip r:embed="rId6"/>
            <a:stretch>
              <a:fillRect/>
            </a:stretch>
          </p:blipFill>
          <p:spPr>
            <a:xfrm>
              <a:off x="17240" y="2283"/>
              <a:ext cx="315" cy="600"/>
            </a:xfrm>
            <a:prstGeom prst="rect">
              <a:avLst/>
            </a:prstGeom>
          </p:spPr>
        </p:pic>
      </p:grpSp>
      <p:sp>
        <p:nvSpPr>
          <p:cNvPr id="4"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0300" name="TextBox 35"/>
          <p:cNvSpPr txBox="1">
            <a:spLocks noChangeArrowheads="1"/>
          </p:cNvSpPr>
          <p:nvPr>
            <p:custDataLst>
              <p:tags r:id="rId1"/>
            </p:custDataLst>
          </p:nvPr>
        </p:nvSpPr>
        <p:spPr bwMode="auto">
          <a:xfrm>
            <a:off x="919391" y="135890"/>
            <a:ext cx="812770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3200" i="1" dirty="0">
                <a:solidFill>
                  <a:srgbClr val="0070C0"/>
                </a:solidFill>
                <a:latin typeface="+mn-lt"/>
                <a:sym typeface="Arial" panose="020B0604020202020204" pitchFamily="34" charset="0"/>
              </a:rPr>
              <a:t>CBD Calla PCBA</a:t>
            </a:r>
            <a:r>
              <a:rPr lang="en-US" altLang="zh-CN" sz="3200" i="1" dirty="0">
                <a:solidFill>
                  <a:srgbClr val="0070C0"/>
                </a:solidFill>
                <a:latin typeface="+mn-lt"/>
                <a:sym typeface="Calibri" panose="020F0502020204030204"/>
              </a:rPr>
              <a:t> Assembly Line</a:t>
            </a:r>
            <a:r>
              <a:rPr lang="zh-CN" altLang="en-US" sz="3200" i="1" dirty="0">
                <a:solidFill>
                  <a:srgbClr val="0070C0"/>
                </a:solidFill>
                <a:latin typeface="+mn-lt"/>
                <a:sym typeface="Calibri" panose="020F0502020204030204"/>
              </a:rPr>
              <a:t>（</a:t>
            </a:r>
            <a:r>
              <a:rPr lang="en-US" altLang="zh-CN" sz="3200" i="1" dirty="0">
                <a:solidFill>
                  <a:srgbClr val="0070C0"/>
                </a:solidFill>
                <a:latin typeface="+mn-lt"/>
                <a:sym typeface="Calibri" panose="020F0502020204030204"/>
              </a:rPr>
              <a:t>New</a:t>
            </a:r>
            <a:r>
              <a:rPr lang="zh-CN" altLang="en-US" sz="3200" i="1" dirty="0">
                <a:solidFill>
                  <a:srgbClr val="0070C0"/>
                </a:solidFill>
                <a:latin typeface="+mn-lt"/>
                <a:sym typeface="Calibri" panose="020F0502020204030204"/>
              </a:rPr>
              <a:t>）</a:t>
            </a:r>
          </a:p>
        </p:txBody>
      </p:sp>
      <p:sp>
        <p:nvSpPr>
          <p:cNvPr id="5" name="右箭头 266"/>
          <p:cNvSpPr/>
          <p:nvPr/>
        </p:nvSpPr>
        <p:spPr>
          <a:xfrm>
            <a:off x="278606" y="683010"/>
            <a:ext cx="1277938" cy="341313"/>
          </a:xfrm>
          <a:prstGeom prst="rightArrow">
            <a:avLst>
              <a:gd name="adj1" fmla="val 50000"/>
              <a:gd name="adj2" fmla="val 115543"/>
            </a:avLst>
          </a:prstGeom>
          <a:solidFill>
            <a:srgbClr val="FF0000">
              <a:alpha val="75000"/>
            </a:srgbClr>
          </a:solidFill>
          <a:ln>
            <a:solidFill>
              <a:srgbClr val="FF0000"/>
            </a:solidFill>
          </a:ln>
        </p:spPr>
        <p:style>
          <a:lnRef idx="2">
            <a:schemeClr val="dk1"/>
          </a:lnRef>
          <a:fillRef idx="1">
            <a:schemeClr val="lt1"/>
          </a:fillRef>
          <a:effectRef idx="0">
            <a:schemeClr val="dk1"/>
          </a:effectRef>
          <a:fontRef idx="minor">
            <a:schemeClr val="dk1"/>
          </a:fontRef>
        </p:style>
        <p:txBody>
          <a:bodyPr anchor="ctr"/>
          <a:lstStyle/>
          <a:p>
            <a:pPr algn="ctr"/>
            <a:r>
              <a:rPr lang="zh-CN" altLang="en-US" sz="1400" b="1" dirty="0">
                <a:solidFill>
                  <a:srgbClr val="000000"/>
                </a:solidFill>
                <a:latin typeface="Microsoft JhengHei" panose="020B0604030504040204" pitchFamily="34" charset="-120"/>
                <a:ea typeface="Microsoft JhengHei" panose="020B0604030504040204" pitchFamily="34" charset="-120"/>
                <a:sym typeface="+mn-ea"/>
              </a:rPr>
              <a:t>Line flow </a:t>
            </a:r>
            <a:endParaRPr lang="zh-CN" altLang="en-US" sz="1400" b="1">
              <a:solidFill>
                <a:srgbClr val="000000"/>
              </a:solidFill>
              <a:latin typeface="Microsoft JhengHei" panose="020B0604030504040204" pitchFamily="34" charset="-120"/>
              <a:ea typeface="Microsoft JhengHei" panose="020B0604030504040204" pitchFamily="34" charset="-120"/>
            </a:endParaRPr>
          </a:p>
        </p:txBody>
      </p:sp>
      <p:cxnSp>
        <p:nvCxnSpPr>
          <p:cNvPr id="9" name="直接连接符 8"/>
          <p:cNvCxnSpPr/>
          <p:nvPr/>
        </p:nvCxnSpPr>
        <p:spPr>
          <a:xfrm flipV="1">
            <a:off x="2339674" y="2697756"/>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4079661" y="269773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5550787" y="267167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530225" y="2680335"/>
            <a:ext cx="913130" cy="760730"/>
            <a:chOff x="835" y="4221"/>
            <a:chExt cx="1438" cy="1198"/>
          </a:xfrm>
        </p:grpSpPr>
        <p:sp>
          <p:nvSpPr>
            <p:cNvPr id="6"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 name="直接连接符 6"/>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6" name="直接箭头连接符 15"/>
          <p:cNvCxnSpPr/>
          <p:nvPr/>
        </p:nvCxnSpPr>
        <p:spPr>
          <a:xfrm>
            <a:off x="1416876" y="3370298"/>
            <a:ext cx="93189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2339979" y="3363159"/>
            <a:ext cx="925830" cy="762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254541" y="3362484"/>
            <a:ext cx="850265" cy="889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4069501" y="3363149"/>
            <a:ext cx="960755" cy="825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5563292" y="3353819"/>
            <a:ext cx="882650" cy="889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6"/>
          <p:cNvSpPr txBox="1">
            <a:spLocks noChangeArrowheads="1"/>
          </p:cNvSpPr>
          <p:nvPr/>
        </p:nvSpPr>
        <p:spPr bwMode="auto">
          <a:xfrm>
            <a:off x="1732304" y="3040563"/>
            <a:ext cx="62071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3" name="TextBox 216"/>
          <p:cNvSpPr txBox="1">
            <a:spLocks noChangeArrowheads="1"/>
          </p:cNvSpPr>
          <p:nvPr/>
        </p:nvSpPr>
        <p:spPr bwMode="auto">
          <a:xfrm>
            <a:off x="2581275" y="3029585"/>
            <a:ext cx="51689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sp>
        <p:nvSpPr>
          <p:cNvPr id="24" name="TextBox 216"/>
          <p:cNvSpPr txBox="1">
            <a:spLocks noChangeArrowheads="1"/>
          </p:cNvSpPr>
          <p:nvPr/>
        </p:nvSpPr>
        <p:spPr bwMode="auto">
          <a:xfrm>
            <a:off x="3411636" y="303816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sp>
        <p:nvSpPr>
          <p:cNvPr id="25" name="TextBox 216"/>
          <p:cNvSpPr txBox="1">
            <a:spLocks noChangeArrowheads="1"/>
          </p:cNvSpPr>
          <p:nvPr/>
        </p:nvSpPr>
        <p:spPr bwMode="auto">
          <a:xfrm>
            <a:off x="4330218" y="3022307"/>
            <a:ext cx="6207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6" name="TextBox 216"/>
          <p:cNvSpPr txBox="1">
            <a:spLocks noChangeArrowheads="1"/>
          </p:cNvSpPr>
          <p:nvPr/>
        </p:nvSpPr>
        <p:spPr bwMode="auto">
          <a:xfrm>
            <a:off x="5713730" y="2988945"/>
            <a:ext cx="474345"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28" name="TextBox 142"/>
          <p:cNvSpPr txBox="1">
            <a:spLocks noChangeArrowheads="1"/>
          </p:cNvSpPr>
          <p:nvPr/>
        </p:nvSpPr>
        <p:spPr bwMode="auto">
          <a:xfrm>
            <a:off x="50800" y="5969000"/>
            <a:ext cx="1067117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a:t>
            </a:r>
            <a:r>
              <a:rPr lang="en-US" altLang="zh-CN" sz="1400" b="1" dirty="0">
                <a:latin typeface="+mn-lt"/>
                <a:ea typeface="Microsoft JhengHei" panose="020B0604030504040204" pitchFamily="34" charset="-120"/>
                <a:sym typeface="+mn-ea"/>
              </a:rPr>
              <a:t>UPH</a:t>
            </a:r>
            <a:r>
              <a:rPr lang="en-US" altLang="zh-CN" sz="1400" b="1" dirty="0">
                <a:latin typeface="Microsoft JhengHei" panose="020B0604030504040204" pitchFamily="34" charset="-120"/>
                <a:ea typeface="Microsoft JhengHei" panose="020B0604030504040204" pitchFamily="34" charset="-120"/>
              </a:rPr>
              <a:t> </a:t>
            </a:r>
            <a:r>
              <a:rPr lang="zh-CN" altLang="en-US" sz="1400" b="1" dirty="0">
                <a:latin typeface="Microsoft JhengHei" panose="020B0604030504040204" pitchFamily="34" charset="-120"/>
                <a:ea typeface="Microsoft JhengHei" panose="020B0604030504040204" pitchFamily="34" charset="-120"/>
              </a:rPr>
              <a:t>：</a:t>
            </a:r>
            <a:r>
              <a:rPr lang="en-US" altLang="zh-TW" sz="1400" b="1" dirty="0">
                <a:solidFill>
                  <a:srgbClr val="0000FF"/>
                </a:solidFill>
                <a:latin typeface="Microsoft JhengHei" panose="020B0604030504040204" pitchFamily="34" charset="-120"/>
                <a:ea typeface="Microsoft JhengHei" panose="020B0604030504040204" pitchFamily="34" charset="-120"/>
              </a:rPr>
              <a:t>500PCS/H</a:t>
            </a:r>
            <a:endParaRPr lang="en-US" altLang="zh-CN" sz="1400" b="1" dirty="0">
              <a:solidFill>
                <a:srgbClr val="0000FF"/>
              </a:solidFill>
              <a:latin typeface="Microsoft JhengHei" panose="020B0604030504040204" pitchFamily="34" charset="-120"/>
              <a:ea typeface="Microsoft JhengHei" panose="020B0604030504040204" pitchFamily="34" charset="-120"/>
            </a:endParaRPr>
          </a:p>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Dimension </a:t>
            </a:r>
            <a:r>
              <a:rPr lang="zh-CN" altLang="en-US" sz="1400" b="1" dirty="0">
                <a:latin typeface="Microsoft JhengHei" panose="020B0604030504040204" pitchFamily="34" charset="-120"/>
                <a:ea typeface="Microsoft JhengHei" panose="020B0604030504040204" pitchFamily="34" charset="-120"/>
              </a:rPr>
              <a:t>：</a:t>
            </a:r>
            <a:r>
              <a:rPr lang="en-US" altLang="zh-CN" sz="1400" b="1" dirty="0">
                <a:latin typeface="Microsoft JhengHei" panose="020B0604030504040204" pitchFamily="34" charset="-120"/>
                <a:ea typeface="Microsoft JhengHei" panose="020B0604030504040204" pitchFamily="34" charset="-120"/>
              </a:rPr>
              <a:t> </a:t>
            </a:r>
            <a:r>
              <a:rPr lang="en-US" altLang="zh-CN" sz="1400" b="1" dirty="0">
                <a:solidFill>
                  <a:srgbClr val="0000FF"/>
                </a:solidFill>
                <a:latin typeface="Microsoft JhengHei" panose="020B0604030504040204" pitchFamily="34" charset="-120"/>
                <a:ea typeface="Microsoft JhengHei" panose="020B0604030504040204" pitchFamily="34" charset="-120"/>
              </a:rPr>
              <a:t>L 11020mm * W 1500mm * H 1620mm (</a:t>
            </a:r>
            <a:r>
              <a:rPr lang="zh-CN" altLang="en-US" sz="1400" b="1" dirty="0">
                <a:solidFill>
                  <a:srgbClr val="0000FF"/>
                </a:solidFill>
                <a:latin typeface="Microsoft JhengHei" panose="020B0604030504040204" pitchFamily="34" charset="-120"/>
                <a:ea typeface="Microsoft JhengHei" panose="020B0604030504040204" pitchFamily="34" charset="-120"/>
                <a:sym typeface="+mn-ea"/>
              </a:rPr>
              <a:t>For reference, according to the actual</a:t>
            </a:r>
            <a:r>
              <a:rPr lang="en-US" altLang="zh-CN" sz="1400" b="1" dirty="0">
                <a:solidFill>
                  <a:srgbClr val="0000FF"/>
                </a:solidFill>
                <a:latin typeface="Microsoft JhengHei" panose="020B0604030504040204" pitchFamily="34" charset="-120"/>
                <a:ea typeface="Microsoft JhengHei" panose="020B0604030504040204" pitchFamily="34" charset="-120"/>
              </a:rPr>
              <a:t>)</a:t>
            </a:r>
          </a:p>
        </p:txBody>
      </p:sp>
      <p:graphicFrame>
        <p:nvGraphicFramePr>
          <p:cNvPr id="31" name="表格 30"/>
          <p:cNvGraphicFramePr>
            <a:graphicFrameLocks noGrp="1"/>
          </p:cNvGraphicFramePr>
          <p:nvPr>
            <p:custDataLst>
              <p:tags r:id="rId2"/>
            </p:custDataLst>
          </p:nvPr>
        </p:nvGraphicFramePr>
        <p:xfrm>
          <a:off x="50800" y="3550285"/>
          <a:ext cx="11752580" cy="2115185"/>
        </p:xfrm>
        <a:graphic>
          <a:graphicData uri="http://schemas.openxmlformats.org/drawingml/2006/table">
            <a:tbl>
              <a:tblPr/>
              <a:tblGrid>
                <a:gridCol w="504190">
                  <a:extLst>
                    <a:ext uri="{9D8B030D-6E8A-4147-A177-3AD203B41FA5}">
                      <a16:colId xmlns:a16="http://schemas.microsoft.com/office/drawing/2014/main" val="20000"/>
                    </a:ext>
                  </a:extLst>
                </a:gridCol>
                <a:gridCol w="879475">
                  <a:extLst>
                    <a:ext uri="{9D8B030D-6E8A-4147-A177-3AD203B41FA5}">
                      <a16:colId xmlns:a16="http://schemas.microsoft.com/office/drawing/2014/main" val="20001"/>
                    </a:ext>
                  </a:extLst>
                </a:gridCol>
                <a:gridCol w="931545">
                  <a:extLst>
                    <a:ext uri="{9D8B030D-6E8A-4147-A177-3AD203B41FA5}">
                      <a16:colId xmlns:a16="http://schemas.microsoft.com/office/drawing/2014/main" val="20002"/>
                    </a:ext>
                  </a:extLst>
                </a:gridCol>
                <a:gridCol w="986790">
                  <a:extLst>
                    <a:ext uri="{9D8B030D-6E8A-4147-A177-3AD203B41FA5}">
                      <a16:colId xmlns:a16="http://schemas.microsoft.com/office/drawing/2014/main" val="20003"/>
                    </a:ext>
                  </a:extLst>
                </a:gridCol>
                <a:gridCol w="678815">
                  <a:extLst>
                    <a:ext uri="{9D8B030D-6E8A-4147-A177-3AD203B41FA5}">
                      <a16:colId xmlns:a16="http://schemas.microsoft.com/office/drawing/2014/main" val="20004"/>
                    </a:ext>
                  </a:extLst>
                </a:gridCol>
                <a:gridCol w="948690">
                  <a:extLst>
                    <a:ext uri="{9D8B030D-6E8A-4147-A177-3AD203B41FA5}">
                      <a16:colId xmlns:a16="http://schemas.microsoft.com/office/drawing/2014/main" val="20005"/>
                    </a:ext>
                  </a:extLst>
                </a:gridCol>
                <a:gridCol w="532765">
                  <a:extLst>
                    <a:ext uri="{9D8B030D-6E8A-4147-A177-3AD203B41FA5}">
                      <a16:colId xmlns:a16="http://schemas.microsoft.com/office/drawing/2014/main" val="20006"/>
                    </a:ext>
                  </a:extLst>
                </a:gridCol>
                <a:gridCol w="902335">
                  <a:extLst>
                    <a:ext uri="{9D8B030D-6E8A-4147-A177-3AD203B41FA5}">
                      <a16:colId xmlns:a16="http://schemas.microsoft.com/office/drawing/2014/main" val="20007"/>
                    </a:ext>
                  </a:extLst>
                </a:gridCol>
                <a:gridCol w="941070">
                  <a:extLst>
                    <a:ext uri="{9D8B030D-6E8A-4147-A177-3AD203B41FA5}">
                      <a16:colId xmlns:a16="http://schemas.microsoft.com/office/drawing/2014/main" val="20008"/>
                    </a:ext>
                  </a:extLst>
                </a:gridCol>
                <a:gridCol w="951230">
                  <a:extLst>
                    <a:ext uri="{9D8B030D-6E8A-4147-A177-3AD203B41FA5}">
                      <a16:colId xmlns:a16="http://schemas.microsoft.com/office/drawing/2014/main" val="20009"/>
                    </a:ext>
                  </a:extLst>
                </a:gridCol>
                <a:gridCol w="746125">
                  <a:extLst>
                    <a:ext uri="{9D8B030D-6E8A-4147-A177-3AD203B41FA5}">
                      <a16:colId xmlns:a16="http://schemas.microsoft.com/office/drawing/2014/main" val="20010"/>
                    </a:ext>
                  </a:extLst>
                </a:gridCol>
                <a:gridCol w="908685">
                  <a:extLst>
                    <a:ext uri="{9D8B030D-6E8A-4147-A177-3AD203B41FA5}">
                      <a16:colId xmlns:a16="http://schemas.microsoft.com/office/drawing/2014/main" val="20011"/>
                    </a:ext>
                  </a:extLst>
                </a:gridCol>
                <a:gridCol w="852170">
                  <a:extLst>
                    <a:ext uri="{9D8B030D-6E8A-4147-A177-3AD203B41FA5}">
                      <a16:colId xmlns:a16="http://schemas.microsoft.com/office/drawing/2014/main" val="20012"/>
                    </a:ext>
                  </a:extLst>
                </a:gridCol>
                <a:gridCol w="988695">
                  <a:extLst>
                    <a:ext uri="{9D8B030D-6E8A-4147-A177-3AD203B41FA5}">
                      <a16:colId xmlns:a16="http://schemas.microsoft.com/office/drawing/2014/main" val="20013"/>
                    </a:ext>
                  </a:extLst>
                </a:gridCol>
              </a:tblGrid>
              <a:tr h="243840">
                <a:tc>
                  <a:txBody>
                    <a:bodyPr/>
                    <a:lstStyle/>
                    <a:p>
                      <a:pPr algn="ctr"/>
                      <a:r>
                        <a:rPr lang="en-US" altLang="zh-TW" sz="900" dirty="0">
                          <a:solidFill>
                            <a:sysClr val="windowText" lastClr="000000"/>
                          </a:solidFill>
                          <a:sym typeface="+mn-ea"/>
                        </a:rPr>
                        <a:t>Item</a:t>
                      </a:r>
                      <a:endParaRPr kumimoji="0" lang="en-US" altLang="zh-TW"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7</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8</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9</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5486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900" dirty="0">
                          <a:ln>
                            <a:noFill/>
                          </a:ln>
                          <a:solidFill>
                            <a:srgbClr val="000000"/>
                          </a:solidFill>
                          <a:effectLst/>
                          <a:latin typeface="Microsoft JhengHei" panose="020B0604030504040204" pitchFamily="34" charset="-120"/>
                          <a:ea typeface="Microsoft JhengHei" panose="020B0604030504040204" pitchFamily="34" charset="-120"/>
                          <a:sym typeface="+mn-ea"/>
                        </a:rPr>
                        <a:t>Equipment</a:t>
                      </a:r>
                      <a:endParaRPr kumimoji="0" lang="zh-CN" altLang="en-US" sz="9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algn="ctr" fontAlgn="ctr">
                        <a:buClrTx/>
                        <a:buSzTx/>
                        <a:buFontTx/>
                      </a:pPr>
                      <a:r>
                        <a:rPr lang="zh-CN" altLang="en-US" sz="1000" dirty="0">
                          <a:ln>
                            <a:noFill/>
                          </a:ln>
                          <a:solidFill>
                            <a:srgbClr val="000000"/>
                          </a:solidFill>
                          <a:effectLst/>
                          <a:latin typeface="Calibri" panose="020F0502020204030204" charset="0"/>
                          <a:ea typeface="PMingLiU" panose="02020500000000000000" pitchFamily="18" charset="-120"/>
                          <a:sym typeface="+mn-ea"/>
                        </a:rPr>
                        <a:t>Stick B-side EMI  Machine</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lang="zh-CN" altLang="en-US" sz="1000" dirty="0">
                          <a:ln>
                            <a:noFill/>
                          </a:ln>
                          <a:solidFill>
                            <a:srgbClr val="000000"/>
                          </a:solidFill>
                          <a:effectLst/>
                          <a:latin typeface="Calibri" panose="020F0502020204030204" charset="0"/>
                          <a:ea typeface="PMingLiU" panose="02020500000000000000" pitchFamily="18" charset="-120"/>
                          <a:sym typeface="+mn-ea"/>
                        </a:rPr>
                        <a:t>Point B-side heat dissipation paste Machine</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heat sink Machine</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r>
                        <a:rPr lang="en-US" altLang="zh-CN" sz="1000" dirty="0">
                          <a:ln>
                            <a:noFill/>
                          </a:ln>
                          <a:solidFill>
                            <a:srgbClr val="000000"/>
                          </a:solidFill>
                          <a:effectLst/>
                          <a:latin typeface="Calibri" panose="020F0502020204030204" charset="0"/>
                          <a:ea typeface="PMingLiU" panose="02020500000000000000" pitchFamily="18" charset="-120"/>
                          <a:sym typeface="+mn-ea"/>
                        </a:rPr>
                        <a:t>Robot</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endParaRPr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B-side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*2</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base">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Flip Over Machine</a:t>
                      </a:r>
                      <a:endPar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EMI  Machine</a:t>
                      </a:r>
                      <a:endParaRPr kumimoji="1"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r>
                        <a:rPr kumimoji="1" lang="zh-CN" altLang="en-US" sz="1000" i="0" dirty="0">
                          <a:ln>
                            <a:noFill/>
                          </a:ln>
                          <a:solidFill>
                            <a:srgbClr val="000000"/>
                          </a:solidFill>
                          <a:effectLst/>
                          <a:latin typeface="Calibri" panose="020F0502020204030204" charset="0"/>
                          <a:ea typeface="PMingLiU" panose="02020500000000000000" pitchFamily="18" charset="-120"/>
                        </a:rPr>
                        <a:t>Point T-side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heat sink Machine</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r>
                        <a:rPr lang="en-US" altLang="zh-CN" sz="1000" dirty="0">
                          <a:ln>
                            <a:noFill/>
                          </a:ln>
                          <a:solidFill>
                            <a:srgbClr val="000000"/>
                          </a:solidFill>
                          <a:effectLst/>
                          <a:latin typeface="Calibri" panose="020F0502020204030204" charset="0"/>
                          <a:ea typeface="PMingLiU" panose="02020500000000000000" pitchFamily="18" charset="-120"/>
                          <a:sym typeface="+mn-ea"/>
                        </a:rPr>
                        <a:t>Robot</a:t>
                      </a:r>
                      <a:r>
                        <a:rPr lang="zh-CN" altLang="en-US" sz="1000" dirty="0">
                          <a:ln>
                            <a:noFill/>
                          </a:ln>
                          <a:solidFill>
                            <a:srgbClr val="000000"/>
                          </a:solidFill>
                          <a:effectLst/>
                          <a:latin typeface="Calibri" panose="020F0502020204030204" charset="0"/>
                          <a:ea typeface="PMingLiU" panose="02020500000000000000" pitchFamily="18" charset="-120"/>
                          <a:sym typeface="+mn-ea"/>
                        </a:rPr>
                        <a:t>）</a:t>
                      </a:r>
                      <a:endParaRPr kumimoji="1" lang="zh-CN" altLang="en-US"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endParaRPr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buClrTx/>
                        <a:buSzTx/>
                        <a:buFontTx/>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a:t>
                      </a:r>
                      <a:r>
                        <a:rPr kumimoji="1" lang="en-US" altLang="zh-CN" sz="1000" dirty="0">
                          <a:ln>
                            <a:noFill/>
                          </a:ln>
                          <a:solidFill>
                            <a:srgbClr val="000000"/>
                          </a:solidFill>
                          <a:effectLst/>
                          <a:latin typeface="Calibri" panose="020F0502020204030204" charset="0"/>
                          <a:ea typeface="PMingLiU" panose="02020500000000000000" pitchFamily="18" charset="-120"/>
                          <a:sym typeface="+mn-ea"/>
                        </a:rPr>
                        <a:t>FSS</a:t>
                      </a: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  Machine</a:t>
                      </a:r>
                      <a:endParaRPr kumimoji="1" lang="zh-TW"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algn="ctr" defTabSz="914400" rtl="0" eaLnBrk="1" fontAlgn="base" latinLnBrk="0" hangingPunct="1">
                        <a:lnSpc>
                          <a:spcPct val="100000"/>
                        </a:lnSpc>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Pressing</a:t>
                      </a:r>
                      <a:r>
                        <a:rPr kumimoji="1" lang="en-US" altLang="zh-CN" sz="1000" dirty="0">
                          <a:ln>
                            <a:noFill/>
                          </a:ln>
                          <a:solidFill>
                            <a:srgbClr val="000000"/>
                          </a:solidFill>
                          <a:effectLst/>
                          <a:latin typeface="Calibri" panose="020F0502020204030204" charset="0"/>
                          <a:ea typeface="PMingLiU" panose="02020500000000000000" pitchFamily="18" charset="-120"/>
                          <a:sym typeface="+mn-ea"/>
                        </a:rPr>
                        <a:t> FSS</a:t>
                      </a: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 machine</a:t>
                      </a:r>
                      <a:endParaRPr kumimoji="1" lang="en-US" altLang="zh-CN" sz="1000" i="0" dirty="0">
                        <a:ln>
                          <a:noFill/>
                        </a:ln>
                        <a:solidFill>
                          <a:srgbClr val="000000"/>
                        </a:solidFill>
                        <a:effectLst/>
                        <a:latin typeface="Calibri" panose="020F0502020204030204" charset="0"/>
                        <a:ea typeface="PMingLiU" panose="02020500000000000000" pitchFamily="18" charset="-120"/>
                      </a:endParaRP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Stick T-side foam Machine</a:t>
                      </a:r>
                      <a:r>
                        <a:rPr kumimoji="0"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a:t>
                      </a:r>
                      <a:r>
                        <a:rPr kumimoji="0" lang="en-US" altLang="zh-CN" sz="1000" b="0" i="0" u="none" strike="noStrike" cap="none" normalizeH="0" baseline="0" dirty="0">
                          <a:ln>
                            <a:noFill/>
                          </a:ln>
                          <a:solidFill>
                            <a:srgbClr val="000000"/>
                          </a:solidFill>
                          <a:effectLst/>
                          <a:latin typeface="Calibri" panose="020F0502020204030204" charset="0"/>
                          <a:ea typeface="PMingLiU" panose="02020500000000000000" pitchFamily="18" charset="-120"/>
                        </a:rPr>
                        <a:t>2</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1"/>
                  </a:ext>
                </a:extLst>
              </a:tr>
              <a:tr h="38925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dirty="0">
                          <a:solidFill>
                            <a:sysClr val="windowText" lastClr="000000"/>
                          </a:solidFill>
                          <a:sym typeface="+mn-ea"/>
                        </a:rPr>
                        <a:t>New</a:t>
                      </a:r>
                      <a:endParaRPr lang="en-US" altLang="zh-CN" sz="900" b="0" dirty="0">
                        <a:solidFill>
                          <a:sysClr val="windowText" lastClr="000000"/>
                        </a:solidFill>
                        <a:latin typeface="+mn-lt"/>
                        <a:ea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900" dirty="0">
                          <a:solidFill>
                            <a:sysClr val="windowText" lastClr="000000"/>
                          </a:solidFill>
                          <a:sym typeface="+mn-ea"/>
                        </a:rPr>
                        <a:t>/Old</a:t>
                      </a:r>
                      <a:endParaRPr kumimoji="0" lang="en-US" altLang="zh-CN"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old</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new</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9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CT(S)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000" b="0" i="0" u="none" strike="noStrike" cap="none" normalizeH="0" baseline="0" dirty="0">
                          <a:ln>
                            <a:noFill/>
                          </a:ln>
                          <a:solidFill>
                            <a:srgbClr val="000000"/>
                          </a:solidFill>
                          <a:effectLst/>
                          <a:latin typeface="Microsoft JhengHei" panose="020B0604030504040204" pitchFamily="34" charset="-120"/>
                          <a:ea typeface="+mn-ea"/>
                        </a:rPr>
                        <a:t>6</a:t>
                      </a:r>
                      <a:endParaRPr kumimoji="0" 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689610">
                <a:tc>
                  <a:txBody>
                    <a:bodyPr/>
                    <a:lstStyle/>
                    <a:p>
                      <a:pPr algn="ctr"/>
                      <a:r>
                        <a:rPr lang="en-US" altLang="zh-CN" sz="900" dirty="0">
                          <a:solidFill>
                            <a:sysClr val="windowText" lastClr="000000"/>
                          </a:solidFill>
                          <a:ea typeface="Microsoft JhengHei" panose="020B0604030504040204" pitchFamily="34" charset="-120"/>
                          <a:sym typeface="+mn-ea"/>
                        </a:rPr>
                        <a:t>Feeding method</a:t>
                      </a:r>
                      <a:endParaRPr kumimoji="0" lang="en-US" altLang="zh-CN" sz="900" b="0" i="0" u="none" strike="noStrike" cap="none" normalizeH="0" baseline="0" dirty="0">
                        <a:ln>
                          <a:noFill/>
                        </a:ln>
                        <a:solidFill>
                          <a:sysClr val="windowText" lastClr="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a:t>
                      </a: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bucket</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bucket</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algn="ctr" defTabSz="914400" rtl="0" eaLnBrk="1" fontAlgn="base" latinLnBrk="0" hangingPunct="1">
                        <a:lnSpc>
                          <a:spcPct val="100000"/>
                        </a:lnSpc>
                        <a:buClrTx/>
                        <a:buSzTx/>
                        <a:buFontTx/>
                        <a:buNone/>
                      </a:pPr>
                      <a:r>
                        <a:rPr lang="en-US" altLang="zh-TW" sz="1000" dirty="0">
                          <a:ln>
                            <a:noFill/>
                          </a:ln>
                          <a:solidFill>
                            <a:srgbClr val="000000"/>
                          </a:solidFill>
                          <a:effectLst/>
                          <a:latin typeface="Microsoft JhengHei" panose="020B0604030504040204" pitchFamily="34" charset="-120"/>
                          <a:ea typeface="Microsoft JhengHei" panose="020B0604030504040204" pitchFamily="34" charset="-120"/>
                          <a:sym typeface="+mn-ea"/>
                        </a:rPr>
                        <a:t>/</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4"/>
                  </a:ext>
                </a:extLst>
              </a:tr>
            </a:tbl>
          </a:graphicData>
        </a:graphic>
      </p:graphicFrame>
      <p:grpSp>
        <p:nvGrpSpPr>
          <p:cNvPr id="21" name="组合 20"/>
          <p:cNvGrpSpPr/>
          <p:nvPr/>
        </p:nvGrpSpPr>
        <p:grpSpPr>
          <a:xfrm>
            <a:off x="5684520" y="6004560"/>
            <a:ext cx="1674495" cy="245110"/>
            <a:chOff x="9325" y="9456"/>
            <a:chExt cx="2637" cy="386"/>
          </a:xfrm>
        </p:grpSpPr>
        <p:sp>
          <p:nvSpPr>
            <p:cNvPr id="32" name="Rectangle 17"/>
            <p:cNvSpPr>
              <a:spLocks noChangeArrowheads="1"/>
            </p:cNvSpPr>
            <p:nvPr/>
          </p:nvSpPr>
          <p:spPr bwMode="auto">
            <a:xfrm>
              <a:off x="9325" y="9525"/>
              <a:ext cx="401" cy="290"/>
            </a:xfrm>
            <a:prstGeom prst="rect">
              <a:avLst/>
            </a:prstGeom>
            <a:solidFill>
              <a:schemeClr val="accent4">
                <a:lumMod val="40000"/>
                <a:lumOff val="60000"/>
              </a:schemeClr>
            </a:solidFill>
            <a:ln w="9525">
              <a:solidFill>
                <a:schemeClr val="tx1"/>
              </a:solidFill>
              <a:miter lim="800000"/>
            </a:ln>
          </p:spPr>
          <p:txBody>
            <a:bodyPr anchor="ctr"/>
            <a:lstStyle/>
            <a:p>
              <a:pPr algn="ctr"/>
              <a:endParaRPr lang="en-US" altLang="zh-CN" sz="1000"/>
            </a:p>
          </p:txBody>
        </p:sp>
        <p:sp>
          <p:nvSpPr>
            <p:cNvPr id="33" name="TextBox 121"/>
            <p:cNvSpPr txBox="1">
              <a:spLocks noChangeArrowheads="1"/>
            </p:cNvSpPr>
            <p:nvPr/>
          </p:nvSpPr>
          <p:spPr bwMode="auto">
            <a:xfrm>
              <a:off x="9821" y="9456"/>
              <a:ext cx="2141"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a:t>
              </a:r>
              <a:r>
                <a:rPr lang="zh-CN" altLang="en-US" sz="1000" b="1" dirty="0">
                  <a:latin typeface="Microsoft JhengHei" panose="020B0604030504040204" pitchFamily="34" charset="-120"/>
                  <a:ea typeface="Microsoft JhengHei" panose="020B0604030504040204" pitchFamily="34" charset="-120"/>
                </a:rPr>
                <a:t>(new)</a:t>
              </a:r>
            </a:p>
          </p:txBody>
        </p:sp>
      </p:grpSp>
      <p:grpSp>
        <p:nvGrpSpPr>
          <p:cNvPr id="27" name="组合 26"/>
          <p:cNvGrpSpPr/>
          <p:nvPr/>
        </p:nvGrpSpPr>
        <p:grpSpPr>
          <a:xfrm>
            <a:off x="7640320" y="6004560"/>
            <a:ext cx="1736725" cy="245110"/>
            <a:chOff x="12405" y="9456"/>
            <a:chExt cx="2735" cy="386"/>
          </a:xfrm>
        </p:grpSpPr>
        <p:sp>
          <p:nvSpPr>
            <p:cNvPr id="35" name="Rectangle 17"/>
            <p:cNvSpPr>
              <a:spLocks noChangeArrowheads="1"/>
            </p:cNvSpPr>
            <p:nvPr/>
          </p:nvSpPr>
          <p:spPr bwMode="auto">
            <a:xfrm>
              <a:off x="12405" y="9525"/>
              <a:ext cx="565" cy="290"/>
            </a:xfrm>
            <a:prstGeom prst="rect">
              <a:avLst/>
            </a:prstGeom>
            <a:solidFill>
              <a:schemeClr val="accent6">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36" name="TextBox 121"/>
            <p:cNvSpPr txBox="1">
              <a:spLocks noChangeArrowheads="1"/>
            </p:cNvSpPr>
            <p:nvPr/>
          </p:nvSpPr>
          <p:spPr bwMode="auto">
            <a:xfrm>
              <a:off x="13012" y="9456"/>
              <a:ext cx="212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machine(old)</a:t>
              </a:r>
              <a:endParaRPr lang="zh-CN" altLang="en-US" sz="1000" b="1" dirty="0">
                <a:latin typeface="Microsoft JhengHei" panose="020B0604030504040204" pitchFamily="34" charset="-120"/>
                <a:ea typeface="Microsoft JhengHei" panose="020B0604030504040204" pitchFamily="34" charset="-120"/>
              </a:endParaRPr>
            </a:p>
          </p:txBody>
        </p:sp>
      </p:grpSp>
      <p:cxnSp>
        <p:nvCxnSpPr>
          <p:cNvPr id="54" name="直接连接符 53"/>
          <p:cNvCxnSpPr/>
          <p:nvPr/>
        </p:nvCxnSpPr>
        <p:spPr>
          <a:xfrm flipV="1">
            <a:off x="5015686" y="2671144"/>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TextBox 216"/>
          <p:cNvSpPr txBox="1">
            <a:spLocks noChangeArrowheads="1"/>
          </p:cNvSpPr>
          <p:nvPr/>
        </p:nvSpPr>
        <p:spPr bwMode="auto">
          <a:xfrm>
            <a:off x="5092065" y="2986405"/>
            <a:ext cx="471170" cy="35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600</a:t>
            </a:r>
            <a:endParaRPr lang="zh-CN" altLang="en-US" sz="1300" b="1" dirty="0">
              <a:latin typeface="宋体" panose="02010600030101010101" pitchFamily="2" charset="-122"/>
              <a:ea typeface="宋体" panose="02010600030101010101" pitchFamily="2" charset="-122"/>
            </a:endParaRPr>
          </a:p>
        </p:txBody>
      </p:sp>
      <p:cxnSp>
        <p:nvCxnSpPr>
          <p:cNvPr id="56" name="直接箭头连接符 55"/>
          <p:cNvCxnSpPr/>
          <p:nvPr/>
        </p:nvCxnSpPr>
        <p:spPr>
          <a:xfrm>
            <a:off x="5012442" y="3363269"/>
            <a:ext cx="541655"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V="1">
            <a:off x="3261694" y="2702201"/>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6437882" y="2671678"/>
            <a:ext cx="0" cy="7588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9" name="组合 58"/>
          <p:cNvGrpSpPr/>
          <p:nvPr/>
        </p:nvGrpSpPr>
        <p:grpSpPr>
          <a:xfrm>
            <a:off x="6437630" y="2680335"/>
            <a:ext cx="913130" cy="760730"/>
            <a:chOff x="835" y="4221"/>
            <a:chExt cx="1438" cy="1198"/>
          </a:xfrm>
        </p:grpSpPr>
        <p:sp>
          <p:nvSpPr>
            <p:cNvPr id="74"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5" name="直接连接符 74"/>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7359015" y="2667635"/>
            <a:ext cx="913130" cy="761365"/>
            <a:chOff x="835" y="4221"/>
            <a:chExt cx="1438" cy="1199"/>
          </a:xfrm>
        </p:grpSpPr>
        <p:sp>
          <p:nvSpPr>
            <p:cNvPr id="79" name="TextBox 216"/>
            <p:cNvSpPr txBox="1">
              <a:spLocks noChangeArrowheads="1"/>
            </p:cNvSpPr>
            <p:nvPr/>
          </p:nvSpPr>
          <p:spPr bwMode="auto">
            <a:xfrm>
              <a:off x="1208" y="4766"/>
              <a:ext cx="978"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cxnSp>
          <p:nvCxnSpPr>
            <p:cNvPr id="80" name="直接连接符 79"/>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83" name="直接箭头连接符 82"/>
          <p:cNvCxnSpPr/>
          <p:nvPr/>
        </p:nvCxnSpPr>
        <p:spPr>
          <a:xfrm>
            <a:off x="8258341" y="3349149"/>
            <a:ext cx="806450" cy="63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4" name="TextBox 216"/>
          <p:cNvSpPr txBox="1">
            <a:spLocks noChangeArrowheads="1"/>
          </p:cNvSpPr>
          <p:nvPr/>
        </p:nvSpPr>
        <p:spPr bwMode="auto">
          <a:xfrm>
            <a:off x="8467506" y="302038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grpSp>
        <p:nvGrpSpPr>
          <p:cNvPr id="85" name="组合 84"/>
          <p:cNvGrpSpPr/>
          <p:nvPr/>
        </p:nvGrpSpPr>
        <p:grpSpPr>
          <a:xfrm>
            <a:off x="9068435" y="2665730"/>
            <a:ext cx="913130" cy="760730"/>
            <a:chOff x="835" y="4221"/>
            <a:chExt cx="1438" cy="1198"/>
          </a:xfrm>
        </p:grpSpPr>
        <p:sp>
          <p:nvSpPr>
            <p:cNvPr id="86"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87" name="直接连接符 86"/>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90" name="直接箭头连接符 89"/>
          <p:cNvCxnSpPr/>
          <p:nvPr/>
        </p:nvCxnSpPr>
        <p:spPr>
          <a:xfrm>
            <a:off x="9994431" y="3361849"/>
            <a:ext cx="806450" cy="635"/>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TextBox 216"/>
          <p:cNvSpPr txBox="1">
            <a:spLocks noChangeArrowheads="1"/>
          </p:cNvSpPr>
          <p:nvPr/>
        </p:nvSpPr>
        <p:spPr bwMode="auto">
          <a:xfrm>
            <a:off x="10203596" y="3033081"/>
            <a:ext cx="449521" cy="31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grpSp>
        <p:nvGrpSpPr>
          <p:cNvPr id="92" name="组合 91"/>
          <p:cNvGrpSpPr/>
          <p:nvPr/>
        </p:nvGrpSpPr>
        <p:grpSpPr>
          <a:xfrm>
            <a:off x="10800715" y="2670175"/>
            <a:ext cx="913130" cy="760730"/>
            <a:chOff x="835" y="4221"/>
            <a:chExt cx="1438" cy="1198"/>
          </a:xfrm>
        </p:grpSpPr>
        <p:sp>
          <p:nvSpPr>
            <p:cNvPr id="93" name="TextBox 216"/>
            <p:cNvSpPr txBox="1">
              <a:spLocks noChangeArrowheads="1"/>
            </p:cNvSpPr>
            <p:nvPr/>
          </p:nvSpPr>
          <p:spPr bwMode="auto">
            <a:xfrm>
              <a:off x="1208"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94" name="直接连接符 93"/>
            <p:cNvCxnSpPr/>
            <p:nvPr/>
          </p:nvCxnSpPr>
          <p:spPr>
            <a:xfrm flipV="1">
              <a:off x="835"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V="1">
              <a:off x="2273"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a:off x="835"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pic>
        <p:nvPicPr>
          <p:cNvPr id="102" name="图片 101"/>
          <p:cNvPicPr>
            <a:picLocks noChangeAspect="1"/>
          </p:cNvPicPr>
          <p:nvPr/>
        </p:nvPicPr>
        <p:blipFill>
          <a:blip r:embed="rId7"/>
          <a:srcRect b="4129"/>
          <a:stretch>
            <a:fillRect/>
          </a:stretch>
        </p:blipFill>
        <p:spPr>
          <a:xfrm>
            <a:off x="7358380" y="1484630"/>
            <a:ext cx="855345" cy="1223645"/>
          </a:xfrm>
          <a:prstGeom prst="rect">
            <a:avLst/>
          </a:prstGeom>
        </p:spPr>
      </p:pic>
      <p:pic>
        <p:nvPicPr>
          <p:cNvPr id="103" name="图片 102"/>
          <p:cNvPicPr>
            <a:picLocks noChangeAspect="1"/>
          </p:cNvPicPr>
          <p:nvPr/>
        </p:nvPicPr>
        <p:blipFill>
          <a:blip r:embed="rId7"/>
          <a:srcRect b="4129"/>
          <a:stretch>
            <a:fillRect/>
          </a:stretch>
        </p:blipFill>
        <p:spPr>
          <a:xfrm>
            <a:off x="2353310" y="1473835"/>
            <a:ext cx="855345" cy="1223645"/>
          </a:xfrm>
          <a:prstGeom prst="rect">
            <a:avLst/>
          </a:prstGeom>
        </p:spPr>
      </p:pic>
      <p:pic>
        <p:nvPicPr>
          <p:cNvPr id="107" name="图片 106"/>
          <p:cNvPicPr>
            <a:picLocks noChangeAspect="1"/>
          </p:cNvPicPr>
          <p:nvPr/>
        </p:nvPicPr>
        <p:blipFill>
          <a:blip r:embed="rId8"/>
          <a:srcRect l="5827" t="10046" r="928" b="7778"/>
          <a:stretch>
            <a:fillRect/>
          </a:stretch>
        </p:blipFill>
        <p:spPr>
          <a:xfrm>
            <a:off x="1388110" y="1099185"/>
            <a:ext cx="943610" cy="374650"/>
          </a:xfrm>
          <a:prstGeom prst="rect">
            <a:avLst/>
          </a:prstGeom>
        </p:spPr>
      </p:pic>
      <p:pic>
        <p:nvPicPr>
          <p:cNvPr id="108" name="图片 35"/>
          <p:cNvPicPr>
            <a:picLocks noChangeAspect="1"/>
          </p:cNvPicPr>
          <p:nvPr/>
        </p:nvPicPr>
        <p:blipFill>
          <a:blip r:embed="rId9"/>
          <a:srcRect/>
          <a:stretch>
            <a:fillRect/>
          </a:stretch>
        </p:blipFill>
        <p:spPr bwMode="auto">
          <a:xfrm>
            <a:off x="839363" y="1023939"/>
            <a:ext cx="1587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图片 108"/>
          <p:cNvPicPr>
            <a:picLocks noChangeAspect="1"/>
          </p:cNvPicPr>
          <p:nvPr/>
        </p:nvPicPr>
        <p:blipFill>
          <a:blip r:embed="rId10"/>
          <a:stretch>
            <a:fillRect/>
          </a:stretch>
        </p:blipFill>
        <p:spPr>
          <a:xfrm>
            <a:off x="2494915" y="1099185"/>
            <a:ext cx="800100" cy="314325"/>
          </a:xfrm>
          <a:prstGeom prst="rect">
            <a:avLst/>
          </a:prstGeom>
        </p:spPr>
      </p:pic>
      <p:pic>
        <p:nvPicPr>
          <p:cNvPr id="114" name="图片 113"/>
          <p:cNvPicPr>
            <a:picLocks noChangeAspect="1"/>
          </p:cNvPicPr>
          <p:nvPr/>
        </p:nvPicPr>
        <p:blipFill>
          <a:blip r:embed="rId11"/>
          <a:srcRect t="67250" r="67259"/>
          <a:stretch>
            <a:fillRect/>
          </a:stretch>
        </p:blipFill>
        <p:spPr>
          <a:xfrm>
            <a:off x="4242435" y="1282700"/>
            <a:ext cx="198755" cy="118745"/>
          </a:xfrm>
          <a:prstGeom prst="rect">
            <a:avLst/>
          </a:prstGeom>
        </p:spPr>
      </p:pic>
      <p:pic>
        <p:nvPicPr>
          <p:cNvPr id="115" name="图片 114"/>
          <p:cNvPicPr>
            <a:picLocks noChangeAspect="1"/>
          </p:cNvPicPr>
          <p:nvPr/>
        </p:nvPicPr>
        <p:blipFill>
          <a:blip r:embed="rId11"/>
          <a:srcRect t="67250" r="67259"/>
          <a:stretch>
            <a:fillRect/>
          </a:stretch>
        </p:blipFill>
        <p:spPr>
          <a:xfrm>
            <a:off x="4541520" y="1282700"/>
            <a:ext cx="198755" cy="118745"/>
          </a:xfrm>
          <a:prstGeom prst="rect">
            <a:avLst/>
          </a:prstGeom>
        </p:spPr>
      </p:pic>
      <p:pic>
        <p:nvPicPr>
          <p:cNvPr id="116" name="图片 115"/>
          <p:cNvPicPr>
            <a:picLocks noChangeAspect="1"/>
          </p:cNvPicPr>
          <p:nvPr/>
        </p:nvPicPr>
        <p:blipFill>
          <a:blip r:embed="rId12" cstate="screen"/>
          <a:stretch>
            <a:fillRect/>
          </a:stretch>
        </p:blipFill>
        <p:spPr>
          <a:xfrm>
            <a:off x="5654308" y="945344"/>
            <a:ext cx="534321" cy="534321"/>
          </a:xfrm>
          <a:prstGeom prst="rect">
            <a:avLst/>
          </a:prstGeom>
        </p:spPr>
      </p:pic>
      <p:pic>
        <p:nvPicPr>
          <p:cNvPr id="117" name="图片 116"/>
          <p:cNvPicPr>
            <a:picLocks noChangeAspect="1"/>
          </p:cNvPicPr>
          <p:nvPr/>
        </p:nvPicPr>
        <p:blipFill>
          <a:blip r:embed="rId13"/>
          <a:stretch>
            <a:fillRect/>
          </a:stretch>
        </p:blipFill>
        <p:spPr>
          <a:xfrm>
            <a:off x="6727749" y="1133231"/>
            <a:ext cx="349329" cy="370213"/>
          </a:xfrm>
          <a:prstGeom prst="rect">
            <a:avLst/>
          </a:prstGeom>
        </p:spPr>
      </p:pic>
      <p:pic>
        <p:nvPicPr>
          <p:cNvPr id="118" name="图片 117"/>
          <p:cNvPicPr>
            <a:picLocks noChangeAspect="1"/>
          </p:cNvPicPr>
          <p:nvPr/>
        </p:nvPicPr>
        <p:blipFill>
          <a:blip r:embed="rId10"/>
          <a:stretch>
            <a:fillRect/>
          </a:stretch>
        </p:blipFill>
        <p:spPr>
          <a:xfrm>
            <a:off x="7413625" y="1087120"/>
            <a:ext cx="800100" cy="314325"/>
          </a:xfrm>
          <a:prstGeom prst="rect">
            <a:avLst/>
          </a:prstGeom>
        </p:spPr>
      </p:pic>
      <p:pic>
        <p:nvPicPr>
          <p:cNvPr id="119" name="图片 118"/>
          <p:cNvPicPr>
            <a:picLocks noChangeAspect="1"/>
          </p:cNvPicPr>
          <p:nvPr/>
        </p:nvPicPr>
        <p:blipFill>
          <a:blip r:embed="rId14"/>
          <a:srcRect b="18285"/>
          <a:stretch>
            <a:fillRect/>
          </a:stretch>
        </p:blipFill>
        <p:spPr>
          <a:xfrm>
            <a:off x="8975725" y="1098550"/>
            <a:ext cx="1005840" cy="313055"/>
          </a:xfrm>
          <a:prstGeom prst="rect">
            <a:avLst/>
          </a:prstGeom>
        </p:spPr>
      </p:pic>
      <p:pic>
        <p:nvPicPr>
          <p:cNvPr id="121" name="图片 120"/>
          <p:cNvPicPr>
            <a:picLocks noChangeAspect="1"/>
          </p:cNvPicPr>
          <p:nvPr/>
        </p:nvPicPr>
        <p:blipFill>
          <a:blip r:embed="rId15"/>
          <a:stretch>
            <a:fillRect/>
          </a:stretch>
        </p:blipFill>
        <p:spPr>
          <a:xfrm>
            <a:off x="10791825" y="1079500"/>
            <a:ext cx="866775" cy="400050"/>
          </a:xfrm>
          <a:prstGeom prst="rect">
            <a:avLst/>
          </a:prstGeom>
        </p:spPr>
      </p:pic>
      <p:grpSp>
        <p:nvGrpSpPr>
          <p:cNvPr id="14" name="组合 13"/>
          <p:cNvGrpSpPr/>
          <p:nvPr/>
        </p:nvGrpSpPr>
        <p:grpSpPr>
          <a:xfrm>
            <a:off x="9481995" y="6015355"/>
            <a:ext cx="2473150" cy="245110"/>
            <a:chOff x="16637" y="9987"/>
            <a:chExt cx="3895" cy="386"/>
          </a:xfrm>
        </p:grpSpPr>
        <p:sp>
          <p:nvSpPr>
            <p:cNvPr id="10" name="Rectangle 17"/>
            <p:cNvSpPr>
              <a:spLocks noChangeArrowheads="1"/>
            </p:cNvSpPr>
            <p:nvPr/>
          </p:nvSpPr>
          <p:spPr bwMode="auto">
            <a:xfrm>
              <a:off x="16637" y="10011"/>
              <a:ext cx="565" cy="290"/>
            </a:xfrm>
            <a:prstGeom prst="rect">
              <a:avLst/>
            </a:prstGeom>
            <a:solidFill>
              <a:schemeClr val="accent5">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13" name="TextBox 121"/>
            <p:cNvSpPr txBox="1">
              <a:spLocks noChangeArrowheads="1"/>
            </p:cNvSpPr>
            <p:nvPr/>
          </p:nvSpPr>
          <p:spPr bwMode="auto">
            <a:xfrm>
              <a:off x="17202" y="9987"/>
              <a:ext cx="3330"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a:t>
              </a:r>
              <a:r>
                <a:rPr lang="zh-CN" altLang="en-US" sz="1000" b="1" dirty="0">
                  <a:latin typeface="Microsoft JhengHei" panose="020B0604030504040204" pitchFamily="34" charset="-120"/>
                  <a:ea typeface="Microsoft JhengHei" panose="020B0604030504040204" pitchFamily="34" charset="-120"/>
                </a:rPr>
                <a:t> machine（</a:t>
              </a:r>
              <a:r>
                <a:rPr lang="zh-CN" altLang="en-US" sz="1000" b="1" dirty="0">
                  <a:latin typeface="Microsoft JhengHei" panose="020B0604030504040204" pitchFamily="34" charset="-120"/>
                  <a:ea typeface="Microsoft JhengHei" panose="020B0604030504040204" pitchFamily="34" charset="-120"/>
                  <a:sym typeface="+mn-ea"/>
                </a:rPr>
                <a:t>Guest supply</a:t>
              </a:r>
              <a:r>
                <a:rPr lang="zh-CN" altLang="en-US" sz="1000" b="1" dirty="0">
                  <a:latin typeface="Microsoft JhengHei" panose="020B0604030504040204" pitchFamily="34" charset="-120"/>
                  <a:ea typeface="Microsoft JhengHei" panose="020B0604030504040204" pitchFamily="34" charset="-120"/>
                </a:rPr>
                <a:t>）</a:t>
              </a:r>
            </a:p>
          </p:txBody>
        </p:sp>
      </p:grpSp>
      <p:sp>
        <p:nvSpPr>
          <p:cNvPr id="29" name="椭圆 28"/>
          <p:cNvSpPr/>
          <p:nvPr>
            <p:custDataLst>
              <p:tags r:id="rId3"/>
            </p:custDataLst>
          </p:nvPr>
        </p:nvSpPr>
        <p:spPr>
          <a:xfrm>
            <a:off x="278765" y="945344"/>
            <a:ext cx="1304290" cy="4779816"/>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5"/>
          <a:stretch>
            <a:fillRect/>
          </a:stretch>
        </p:blipFill>
        <p:spPr>
          <a:xfrm>
            <a:off x="1089530" y="1445395"/>
            <a:ext cx="10022842" cy="1947962"/>
          </a:xfrm>
          <a:prstGeom prst="rect">
            <a:avLst/>
          </a:prstGeom>
        </p:spPr>
      </p:pic>
      <p:graphicFrame>
        <p:nvGraphicFramePr>
          <p:cNvPr id="131" name="表格 130"/>
          <p:cNvGraphicFramePr>
            <a:graphicFrameLocks noGrp="1"/>
          </p:cNvGraphicFramePr>
          <p:nvPr>
            <p:custDataLst>
              <p:tags r:id="rId1"/>
            </p:custDataLst>
          </p:nvPr>
        </p:nvGraphicFramePr>
        <p:xfrm>
          <a:off x="770890" y="3770630"/>
          <a:ext cx="10081895" cy="1823720"/>
        </p:xfrm>
        <a:graphic>
          <a:graphicData uri="http://schemas.openxmlformats.org/drawingml/2006/table">
            <a:tbl>
              <a:tblPr/>
              <a:tblGrid>
                <a:gridCol w="640080">
                  <a:extLst>
                    <a:ext uri="{9D8B030D-6E8A-4147-A177-3AD203B41FA5}">
                      <a16:colId xmlns:a16="http://schemas.microsoft.com/office/drawing/2014/main" val="20000"/>
                    </a:ext>
                  </a:extLst>
                </a:gridCol>
                <a:gridCol w="955675">
                  <a:extLst>
                    <a:ext uri="{9D8B030D-6E8A-4147-A177-3AD203B41FA5}">
                      <a16:colId xmlns:a16="http://schemas.microsoft.com/office/drawing/2014/main" val="20001"/>
                    </a:ext>
                  </a:extLst>
                </a:gridCol>
                <a:gridCol w="897890">
                  <a:extLst>
                    <a:ext uri="{9D8B030D-6E8A-4147-A177-3AD203B41FA5}">
                      <a16:colId xmlns:a16="http://schemas.microsoft.com/office/drawing/2014/main" val="20002"/>
                    </a:ext>
                  </a:extLst>
                </a:gridCol>
                <a:gridCol w="821690">
                  <a:extLst>
                    <a:ext uri="{9D8B030D-6E8A-4147-A177-3AD203B41FA5}">
                      <a16:colId xmlns:a16="http://schemas.microsoft.com/office/drawing/2014/main" val="20003"/>
                    </a:ext>
                  </a:extLst>
                </a:gridCol>
                <a:gridCol w="768985">
                  <a:extLst>
                    <a:ext uri="{9D8B030D-6E8A-4147-A177-3AD203B41FA5}">
                      <a16:colId xmlns:a16="http://schemas.microsoft.com/office/drawing/2014/main" val="20004"/>
                    </a:ext>
                  </a:extLst>
                </a:gridCol>
                <a:gridCol w="989330">
                  <a:extLst>
                    <a:ext uri="{9D8B030D-6E8A-4147-A177-3AD203B41FA5}">
                      <a16:colId xmlns:a16="http://schemas.microsoft.com/office/drawing/2014/main" val="20005"/>
                    </a:ext>
                  </a:extLst>
                </a:gridCol>
                <a:gridCol w="545465">
                  <a:extLst>
                    <a:ext uri="{9D8B030D-6E8A-4147-A177-3AD203B41FA5}">
                      <a16:colId xmlns:a16="http://schemas.microsoft.com/office/drawing/2014/main" val="20006"/>
                    </a:ext>
                  </a:extLst>
                </a:gridCol>
                <a:gridCol w="956310">
                  <a:extLst>
                    <a:ext uri="{9D8B030D-6E8A-4147-A177-3AD203B41FA5}">
                      <a16:colId xmlns:a16="http://schemas.microsoft.com/office/drawing/2014/main" val="20007"/>
                    </a:ext>
                  </a:extLst>
                </a:gridCol>
                <a:gridCol w="901065">
                  <a:extLst>
                    <a:ext uri="{9D8B030D-6E8A-4147-A177-3AD203B41FA5}">
                      <a16:colId xmlns:a16="http://schemas.microsoft.com/office/drawing/2014/main" val="20008"/>
                    </a:ext>
                  </a:extLst>
                </a:gridCol>
                <a:gridCol w="849630">
                  <a:extLst>
                    <a:ext uri="{9D8B030D-6E8A-4147-A177-3AD203B41FA5}">
                      <a16:colId xmlns:a16="http://schemas.microsoft.com/office/drawing/2014/main" val="20009"/>
                    </a:ext>
                  </a:extLst>
                </a:gridCol>
                <a:gridCol w="777240">
                  <a:extLst>
                    <a:ext uri="{9D8B030D-6E8A-4147-A177-3AD203B41FA5}">
                      <a16:colId xmlns:a16="http://schemas.microsoft.com/office/drawing/2014/main" val="20010"/>
                    </a:ext>
                  </a:extLst>
                </a:gridCol>
                <a:gridCol w="978535">
                  <a:extLst>
                    <a:ext uri="{9D8B030D-6E8A-4147-A177-3AD203B41FA5}">
                      <a16:colId xmlns:a16="http://schemas.microsoft.com/office/drawing/2014/main" val="20011"/>
                    </a:ext>
                  </a:extLst>
                </a:gridCol>
              </a:tblGrid>
              <a:tr h="243840">
                <a:tc>
                  <a:txBody>
                    <a:bodyPr/>
                    <a:lstStyle/>
                    <a:p>
                      <a:pPr algn="ctr"/>
                      <a:r>
                        <a:rPr lang="en-US" altLang="zh-TW" sz="1000" dirty="0">
                          <a:solidFill>
                            <a:sysClr val="windowText" lastClr="000000"/>
                          </a:solidFill>
                          <a:sym typeface="+mn-ea"/>
                        </a:rPr>
                        <a:t>Item</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7</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8</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9</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10</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11</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12</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0"/>
                  </a:ext>
                </a:extLst>
              </a:tr>
              <a:tr h="5435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000" dirty="0">
                          <a:ln>
                            <a:noFill/>
                          </a:ln>
                          <a:solidFill>
                            <a:srgbClr val="000000"/>
                          </a:solidFill>
                          <a:effectLst/>
                          <a:latin typeface="Microsoft JhengHei" panose="020B0604030504040204" pitchFamily="34" charset="-120"/>
                          <a:ea typeface="Microsoft JhengHei" panose="020B0604030504040204" pitchFamily="34" charset="-120"/>
                          <a:sym typeface="+mn-ea"/>
                        </a:rPr>
                        <a:t>Equipment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Point B-side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EMI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lang="zh-CN" altLang="en-US" sz="1000" i="0" dirty="0">
                          <a:ln>
                            <a:noFill/>
                          </a:ln>
                          <a:solidFill>
                            <a:srgbClr val="000000"/>
                          </a:solidFill>
                          <a:effectLst/>
                          <a:latin typeface="Calibri" panose="020F0502020204030204" charset="0"/>
                          <a:ea typeface="PMingLiU" panose="02020500000000000000" pitchFamily="18" charset="-120"/>
                        </a:rPr>
                        <a:t>Stick B-side heat sink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rPr>
                        <a:t>Pressing machine</a:t>
                      </a: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B-side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*2</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Flip Over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algn="ctr" fontAlgn="ctr"/>
                      <a:r>
                        <a:rPr kumimoji="1" lang="zh-CN" altLang="en-US" sz="1000" i="0" dirty="0">
                          <a:ln>
                            <a:noFill/>
                          </a:ln>
                          <a:solidFill>
                            <a:srgbClr val="000000"/>
                          </a:solidFill>
                          <a:effectLst/>
                          <a:latin typeface="Calibri" panose="020F0502020204030204" charset="0"/>
                          <a:ea typeface="PMingLiU" panose="02020500000000000000" pitchFamily="18" charset="-120"/>
                        </a:rPr>
                        <a:t>Point T-side heat dissipation paste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algn="ctr" fontAlgn="ctr">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EMI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algn="ctr" fontAlgn="ctr">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heat sink Machine</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algn="ctr" defTabSz="914400" rtl="0" eaLnBrk="1" fontAlgn="base" latinLnBrk="0" hangingPunct="1">
                        <a:lnSpc>
                          <a:spcPct val="100000"/>
                        </a:lnSpc>
                        <a:buClrTx/>
                        <a:buSzTx/>
                        <a:buFontTx/>
                        <a:buNone/>
                      </a:pPr>
                      <a:r>
                        <a:rPr kumimoji="1" lang="zh-CN" altLang="en-US" sz="1000" dirty="0">
                          <a:ln>
                            <a:noFill/>
                          </a:ln>
                          <a:solidFill>
                            <a:srgbClr val="000000"/>
                          </a:solidFill>
                          <a:effectLst/>
                          <a:latin typeface="Calibri" panose="020F0502020204030204" charset="0"/>
                          <a:ea typeface="PMingLiU" panose="02020500000000000000" pitchFamily="18" charset="-120"/>
                          <a:sym typeface="+mn-ea"/>
                        </a:rPr>
                        <a:t>Pressing machine</a:t>
                      </a:r>
                      <a:endParaRPr kumimoji="1" lang="zh-TW" altLang="en-US" sz="1000" b="0" i="0" u="none" strike="noStrike" cap="none" normalizeH="0" baseline="0" dirty="0">
                        <a:ln>
                          <a:noFill/>
                        </a:ln>
                        <a:solidFill>
                          <a:srgbClr val="000000"/>
                        </a:solidFill>
                        <a:effectLst/>
                        <a:latin typeface="Calibri" panose="020F0502020204030204" charset="0"/>
                        <a:ea typeface="PMingLiU" panose="02020500000000000000" pitchFamily="18"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algn="ctr" fontAlgn="base">
                        <a:buClrTx/>
                        <a:buSzTx/>
                        <a:buFontTx/>
                      </a:pPr>
                      <a:r>
                        <a:rPr kumimoji="1" lang="zh-CN" altLang="en-US" sz="1000" i="0" dirty="0">
                          <a:ln>
                            <a:noFill/>
                          </a:ln>
                          <a:solidFill>
                            <a:srgbClr val="000000"/>
                          </a:solidFill>
                          <a:effectLst/>
                          <a:latin typeface="Calibri" panose="020F0502020204030204" charset="0"/>
                          <a:ea typeface="PMingLiU" panose="02020500000000000000" pitchFamily="18" charset="-120"/>
                        </a:rPr>
                        <a:t>Stick T-side foam Machine</a:t>
                      </a:r>
                      <a:r>
                        <a:rPr kumimoji="1" lang="en-US" altLang="zh-CN" sz="1000" i="0" dirty="0">
                          <a:ln>
                            <a:noFill/>
                          </a:ln>
                          <a:solidFill>
                            <a:srgbClr val="000000"/>
                          </a:solidFill>
                          <a:effectLst/>
                          <a:latin typeface="Calibri" panose="020F0502020204030204" charset="0"/>
                          <a:ea typeface="PMingLiU" panose="02020500000000000000" pitchFamily="18" charset="-120"/>
                        </a:rPr>
                        <a:t>*1</a:t>
                      </a:r>
                    </a:p>
                  </a:txBody>
                  <a:tcPr marL="9842" marR="9842" marT="98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1"/>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sysClr val="windowText" lastClr="000000"/>
                          </a:solidFill>
                          <a:sym typeface="+mn-ea"/>
                        </a:rPr>
                        <a:t>New</a:t>
                      </a:r>
                      <a:endParaRPr lang="en-US" altLang="zh-CN" sz="1000" b="0" dirty="0">
                        <a:solidFill>
                          <a:sysClr val="windowText" lastClr="000000"/>
                        </a:solidFill>
                        <a:latin typeface="+mn-lt"/>
                        <a:ea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000" dirty="0">
                          <a:solidFill>
                            <a:sysClr val="windowText" lastClr="000000"/>
                          </a:solidFill>
                          <a:sym typeface="+mn-ea"/>
                        </a:rPr>
                        <a:t>/Old</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old</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new</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Gs</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new</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old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2"/>
                  </a:ext>
                </a:extLst>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CT(S)</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4</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5</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3</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6</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3"/>
                  </a:ext>
                </a:extLst>
              </a:tr>
              <a:tr h="396240">
                <a:tc>
                  <a:txBody>
                    <a:bodyPr/>
                    <a:lstStyle/>
                    <a:p>
                      <a:pPr algn="ctr"/>
                      <a:r>
                        <a:rPr lang="en-US" altLang="zh-CN" sz="1000" dirty="0">
                          <a:solidFill>
                            <a:sysClr val="windowText" lastClr="000000"/>
                          </a:solidFill>
                          <a:ea typeface="Microsoft JhengHei" panose="020B0604030504040204" pitchFamily="34" charset="-120"/>
                          <a:sym typeface="+mn-ea"/>
                        </a:rPr>
                        <a:t>Feeding method</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9C9C9"/>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rPr>
                        <a:t>Plastic bucket</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sym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reel</a:t>
                      </a: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00">
                          <a:ln>
                            <a:noFill/>
                          </a:ln>
                          <a:solidFill>
                            <a:srgbClr val="000000"/>
                          </a:solidFill>
                          <a:effectLst/>
                          <a:latin typeface="Microsoft JhengHei" panose="020B0604030504040204" pitchFamily="34" charset="-120"/>
                          <a:ea typeface="Microsoft JhengHei" panose="020B0604030504040204" pitchFamily="34" charset="-120"/>
                          <a:sym typeface="+mn-ea"/>
                        </a:rPr>
                        <a:t>Plastic bucket</a:t>
                      </a:r>
                      <a:endParaRPr kumimoji="0" lang="zh-TW" altLang="en-US" sz="1000" b="0" i="0" u="none" strike="noStrike" cap="none" normalizeH="0" baseline="0">
                        <a:ln>
                          <a:noFill/>
                        </a:ln>
                        <a:solidFill>
                          <a:srgbClr val="000000"/>
                        </a:solidFill>
                        <a:effectLst/>
                        <a:latin typeface="Microsoft JhengHei" panose="020B0604030504040204" pitchFamily="34" charset="-120"/>
                        <a:ea typeface="+mn-ea"/>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9D18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TW"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rPr>
                        <a:t>/</a:t>
                      </a:r>
                      <a:endParaRPr kumimoji="0" lang="zh-TW"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000" dirty="0">
                          <a:ln>
                            <a:noFill/>
                          </a:ln>
                          <a:solidFill>
                            <a:srgbClr val="000000"/>
                          </a:solidFill>
                          <a:effectLst/>
                          <a:latin typeface="Microsoft JhengHei" panose="020B0604030504040204" pitchFamily="34" charset="-120"/>
                          <a:ea typeface="Microsoft JhengHei" panose="020B0604030504040204" pitchFamily="34" charset="-120"/>
                          <a:sym typeface="+mn-ea"/>
                        </a:rPr>
                        <a:t>reel</a:t>
                      </a:r>
                      <a:endParaRPr kumimoji="0" lang="zh-CN" altLang="en-US" sz="1000" b="0" i="0" u="none" strike="noStrike" cap="none" normalizeH="0" baseline="0" dirty="0">
                        <a:ln>
                          <a:noFill/>
                        </a:ln>
                        <a:solidFill>
                          <a:srgbClr val="000000"/>
                        </a:solidFill>
                        <a:effectLst/>
                        <a:latin typeface="Microsoft JhengHei" panose="020B0604030504040204" pitchFamily="34" charset="-120"/>
                        <a:ea typeface="Microsoft JhengHei" panose="020B0604030504040204" pitchFamily="34" charset="-120"/>
                      </a:endParaRPr>
                    </a:p>
                  </a:txBody>
                  <a:tcPr marL="36000" marR="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60000"/>
                        <a:lumOff val="40000"/>
                      </a:schemeClr>
                    </a:solidFill>
                  </a:tcPr>
                </a:tc>
                <a:extLst>
                  <a:ext uri="{0D108BD9-81ED-4DB2-BD59-A6C34878D82A}">
                    <a16:rowId xmlns:a16="http://schemas.microsoft.com/office/drawing/2014/main" val="10004"/>
                  </a:ext>
                </a:extLst>
              </a:tr>
            </a:tbl>
          </a:graphicData>
        </a:graphic>
      </p:graphicFrame>
      <p:sp>
        <p:nvSpPr>
          <p:cNvPr id="4"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0300" name="TextBox 35"/>
          <p:cNvSpPr txBox="1">
            <a:spLocks noChangeArrowheads="1"/>
          </p:cNvSpPr>
          <p:nvPr>
            <p:custDataLst>
              <p:tags r:id="rId2"/>
            </p:custDataLst>
          </p:nvPr>
        </p:nvSpPr>
        <p:spPr bwMode="auto">
          <a:xfrm>
            <a:off x="919391" y="135890"/>
            <a:ext cx="812770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3200" i="1" dirty="0">
                <a:solidFill>
                  <a:srgbClr val="0070C0"/>
                </a:solidFill>
                <a:latin typeface="+mn-lt"/>
                <a:sym typeface="Arial" panose="020B0604020202020204" pitchFamily="34" charset="0"/>
              </a:rPr>
              <a:t>CBD Cony PCBA</a:t>
            </a:r>
            <a:r>
              <a:rPr lang="en-US" altLang="zh-CN" sz="3200" i="1" dirty="0">
                <a:solidFill>
                  <a:srgbClr val="0070C0"/>
                </a:solidFill>
                <a:latin typeface="+mn-lt"/>
                <a:sym typeface="Calibri" panose="020F0502020204030204"/>
              </a:rPr>
              <a:t> Assembly Line</a:t>
            </a:r>
            <a:r>
              <a:rPr lang="zh-CN" altLang="en-US" sz="3200" i="1" dirty="0">
                <a:solidFill>
                  <a:srgbClr val="0070C0"/>
                </a:solidFill>
                <a:latin typeface="+mn-lt"/>
                <a:sym typeface="Calibri" panose="020F0502020204030204"/>
              </a:rPr>
              <a:t>（</a:t>
            </a:r>
            <a:r>
              <a:rPr lang="en-US" altLang="zh-CN" sz="3200" i="1" dirty="0">
                <a:solidFill>
                  <a:srgbClr val="0070C0"/>
                </a:solidFill>
                <a:latin typeface="+mn-lt"/>
                <a:sym typeface="Calibri" panose="020F0502020204030204"/>
              </a:rPr>
              <a:t>Old</a:t>
            </a:r>
            <a:r>
              <a:rPr lang="zh-CN" altLang="en-US" sz="3200" i="1" dirty="0">
                <a:solidFill>
                  <a:srgbClr val="0070C0"/>
                </a:solidFill>
                <a:latin typeface="+mn-lt"/>
                <a:sym typeface="Calibri" panose="020F0502020204030204"/>
              </a:rPr>
              <a:t>）</a:t>
            </a:r>
          </a:p>
        </p:txBody>
      </p:sp>
      <p:sp>
        <p:nvSpPr>
          <p:cNvPr id="5" name="右箭头 266"/>
          <p:cNvSpPr/>
          <p:nvPr/>
        </p:nvSpPr>
        <p:spPr>
          <a:xfrm>
            <a:off x="278606" y="683010"/>
            <a:ext cx="1277938" cy="341313"/>
          </a:xfrm>
          <a:prstGeom prst="rightArrow">
            <a:avLst>
              <a:gd name="adj1" fmla="val 50000"/>
              <a:gd name="adj2" fmla="val 115543"/>
            </a:avLst>
          </a:prstGeom>
          <a:solidFill>
            <a:srgbClr val="FF0000">
              <a:alpha val="75000"/>
            </a:srgbClr>
          </a:solidFill>
          <a:ln>
            <a:solidFill>
              <a:srgbClr val="FF0000"/>
            </a:solidFill>
          </a:ln>
        </p:spPr>
        <p:style>
          <a:lnRef idx="2">
            <a:schemeClr val="dk1"/>
          </a:lnRef>
          <a:fillRef idx="1">
            <a:schemeClr val="lt1"/>
          </a:fillRef>
          <a:effectRef idx="0">
            <a:schemeClr val="dk1"/>
          </a:effectRef>
          <a:fontRef idx="minor">
            <a:schemeClr val="dk1"/>
          </a:fontRef>
        </p:style>
        <p:txBody>
          <a:bodyPr anchor="ctr"/>
          <a:lstStyle/>
          <a:p>
            <a:pPr algn="ctr"/>
            <a:r>
              <a:rPr lang="zh-CN" altLang="en-US" sz="1400" b="1" dirty="0">
                <a:solidFill>
                  <a:srgbClr val="000000"/>
                </a:solidFill>
                <a:latin typeface="Microsoft JhengHei" panose="020B0604030504040204" pitchFamily="34" charset="-120"/>
                <a:ea typeface="Microsoft JhengHei" panose="020B0604030504040204" pitchFamily="34" charset="-120"/>
                <a:sym typeface="+mn-ea"/>
              </a:rPr>
              <a:t>Line flow </a:t>
            </a:r>
            <a:endParaRPr lang="zh-CN" altLang="en-US" sz="1400" b="1">
              <a:solidFill>
                <a:srgbClr val="000000"/>
              </a:solidFill>
              <a:latin typeface="Microsoft JhengHei" panose="020B0604030504040204" pitchFamily="34" charset="-120"/>
              <a:ea typeface="Microsoft JhengHei" panose="020B0604030504040204" pitchFamily="34" charset="-120"/>
            </a:endParaRPr>
          </a:p>
        </p:txBody>
      </p:sp>
      <p:sp>
        <p:nvSpPr>
          <p:cNvPr id="28" name="TextBox 142"/>
          <p:cNvSpPr txBox="1">
            <a:spLocks noChangeArrowheads="1"/>
          </p:cNvSpPr>
          <p:nvPr/>
        </p:nvSpPr>
        <p:spPr bwMode="auto">
          <a:xfrm>
            <a:off x="50800" y="5969000"/>
            <a:ext cx="10671175" cy="6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a:t>
            </a:r>
            <a:r>
              <a:rPr lang="en-US" altLang="zh-CN" sz="1400" b="1" dirty="0">
                <a:latin typeface="+mn-lt"/>
                <a:ea typeface="Microsoft JhengHei" panose="020B0604030504040204" pitchFamily="34" charset="-120"/>
                <a:sym typeface="+mn-ea"/>
              </a:rPr>
              <a:t>UPH</a:t>
            </a:r>
            <a:r>
              <a:rPr lang="en-US" altLang="zh-CN" sz="1400" b="1" dirty="0">
                <a:latin typeface="Microsoft JhengHei" panose="020B0604030504040204" pitchFamily="34" charset="-120"/>
                <a:ea typeface="Microsoft JhengHei" panose="020B0604030504040204" pitchFamily="34" charset="-120"/>
              </a:rPr>
              <a:t> </a:t>
            </a:r>
            <a:r>
              <a:rPr lang="zh-CN" altLang="en-US" sz="1400" b="1" dirty="0">
                <a:latin typeface="Microsoft JhengHei" panose="020B0604030504040204" pitchFamily="34" charset="-120"/>
                <a:ea typeface="Microsoft JhengHei" panose="020B0604030504040204" pitchFamily="34" charset="-120"/>
              </a:rPr>
              <a:t>：</a:t>
            </a:r>
            <a:r>
              <a:rPr lang="en-US" altLang="zh-TW" sz="1400" b="1" dirty="0">
                <a:solidFill>
                  <a:srgbClr val="0000FF"/>
                </a:solidFill>
                <a:latin typeface="Microsoft JhengHei" panose="020B0604030504040204" pitchFamily="34" charset="-120"/>
                <a:ea typeface="Microsoft JhengHei" panose="020B0604030504040204" pitchFamily="34" charset="-120"/>
              </a:rPr>
              <a:t>500PCS/H</a:t>
            </a:r>
            <a:endParaRPr lang="en-US" altLang="zh-CN" sz="1400" b="1" dirty="0">
              <a:solidFill>
                <a:srgbClr val="0000FF"/>
              </a:solidFill>
              <a:latin typeface="Microsoft JhengHei" panose="020B0604030504040204" pitchFamily="34" charset="-120"/>
              <a:ea typeface="Microsoft JhengHei" panose="020B0604030504040204" pitchFamily="34" charset="-120"/>
            </a:endParaRPr>
          </a:p>
          <a:p>
            <a:pPr>
              <a:lnSpc>
                <a:spcPct val="130000"/>
              </a:lnSpc>
            </a:pPr>
            <a:r>
              <a:rPr lang="en-US" altLang="zh-CN" sz="1400" b="1" dirty="0">
                <a:latin typeface="+mn-lt"/>
                <a:ea typeface="Microsoft JhengHei" panose="020B0604030504040204" pitchFamily="34" charset="-120"/>
                <a:cs typeface="Times New Roman" panose="02020603050405020304" pitchFamily="18" charset="0"/>
                <a:sym typeface="+mn-ea"/>
              </a:rPr>
              <a:t>Automation Assembly Line Dimension </a:t>
            </a:r>
            <a:r>
              <a:rPr lang="zh-CN" altLang="en-US" sz="1400" b="1" dirty="0">
                <a:latin typeface="Microsoft JhengHei" panose="020B0604030504040204" pitchFamily="34" charset="-120"/>
                <a:ea typeface="Microsoft JhengHei" panose="020B0604030504040204" pitchFamily="34" charset="-120"/>
              </a:rPr>
              <a:t>：</a:t>
            </a:r>
            <a:r>
              <a:rPr lang="en-US" altLang="zh-CN" sz="1400" b="1" dirty="0">
                <a:latin typeface="Microsoft JhengHei" panose="020B0604030504040204" pitchFamily="34" charset="-120"/>
                <a:ea typeface="Microsoft JhengHei" panose="020B0604030504040204" pitchFamily="34" charset="-120"/>
              </a:rPr>
              <a:t> </a:t>
            </a:r>
            <a:r>
              <a:rPr lang="en-US" altLang="zh-CN" sz="1400" b="1" dirty="0">
                <a:solidFill>
                  <a:srgbClr val="0000FF"/>
                </a:solidFill>
                <a:latin typeface="Microsoft JhengHei" panose="020B0604030504040204" pitchFamily="34" charset="-120"/>
                <a:ea typeface="Microsoft JhengHei" panose="020B0604030504040204" pitchFamily="34" charset="-120"/>
              </a:rPr>
              <a:t>L 9300mm * W 1500mm * H 1620mm (</a:t>
            </a:r>
            <a:r>
              <a:rPr lang="zh-CN" altLang="en-US" sz="1400" b="1" dirty="0">
                <a:solidFill>
                  <a:srgbClr val="0000FF"/>
                </a:solidFill>
                <a:latin typeface="Microsoft JhengHei" panose="020B0604030504040204" pitchFamily="34" charset="-120"/>
                <a:ea typeface="Microsoft JhengHei" panose="020B0604030504040204" pitchFamily="34" charset="-120"/>
                <a:sym typeface="+mn-ea"/>
              </a:rPr>
              <a:t>For reference, according to the actual</a:t>
            </a:r>
            <a:r>
              <a:rPr lang="en-US" altLang="zh-CN" sz="1400" b="1" dirty="0">
                <a:solidFill>
                  <a:srgbClr val="0000FF"/>
                </a:solidFill>
                <a:latin typeface="Microsoft JhengHei" panose="020B0604030504040204" pitchFamily="34" charset="-120"/>
                <a:ea typeface="Microsoft JhengHei" panose="020B0604030504040204" pitchFamily="34" charset="-120"/>
              </a:rPr>
              <a:t>)</a:t>
            </a:r>
          </a:p>
        </p:txBody>
      </p:sp>
      <p:grpSp>
        <p:nvGrpSpPr>
          <p:cNvPr id="6" name="组合 5"/>
          <p:cNvGrpSpPr/>
          <p:nvPr/>
        </p:nvGrpSpPr>
        <p:grpSpPr>
          <a:xfrm>
            <a:off x="1410970" y="2671445"/>
            <a:ext cx="9382125" cy="788670"/>
            <a:chOff x="2538" y="4207"/>
            <a:chExt cx="14775" cy="1242"/>
          </a:xfrm>
        </p:grpSpPr>
        <p:sp>
          <p:nvSpPr>
            <p:cNvPr id="30724" name="TextBox 216"/>
            <p:cNvSpPr txBox="1">
              <a:spLocks noChangeArrowheads="1"/>
            </p:cNvSpPr>
            <p:nvPr/>
          </p:nvSpPr>
          <p:spPr bwMode="auto">
            <a:xfrm>
              <a:off x="2912" y="4766"/>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194" name="直接连接符 193"/>
            <p:cNvCxnSpPr/>
            <p:nvPr/>
          </p:nvCxnSpPr>
          <p:spPr>
            <a:xfrm flipV="1">
              <a:off x="2538" y="422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a:xfrm flipV="1">
              <a:off x="3976"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直接连接符 195"/>
            <p:cNvCxnSpPr/>
            <p:nvPr/>
          </p:nvCxnSpPr>
          <p:spPr>
            <a:xfrm flipV="1">
              <a:off x="5429" y="4248"/>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V="1">
              <a:off x="6746"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V="1">
              <a:off x="8066" y="4211"/>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V="1">
              <a:off x="9519" y="4227"/>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flipV="1">
              <a:off x="10328" y="425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flipV="1">
              <a:off x="11764" y="4225"/>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2" name="直接箭头连接符 211"/>
            <p:cNvCxnSpPr/>
            <p:nvPr/>
          </p:nvCxnSpPr>
          <p:spPr>
            <a:xfrm>
              <a:off x="2538" y="5307"/>
              <a:ext cx="143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3" name="直接箭头连接符 212"/>
            <p:cNvCxnSpPr/>
            <p:nvPr/>
          </p:nvCxnSpPr>
          <p:spPr>
            <a:xfrm>
              <a:off x="3976" y="5321"/>
              <a:ext cx="1468"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4" name="直接箭头连接符 213"/>
            <p:cNvCxnSpPr/>
            <p:nvPr/>
          </p:nvCxnSpPr>
          <p:spPr>
            <a:xfrm flipV="1">
              <a:off x="5443" y="5321"/>
              <a:ext cx="1303" cy="1"/>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5" name="直接箭头连接符 214"/>
            <p:cNvCxnSpPr/>
            <p:nvPr/>
          </p:nvCxnSpPr>
          <p:spPr>
            <a:xfrm>
              <a:off x="6746" y="5316"/>
              <a:ext cx="1320"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6" name="直接箭头连接符 215"/>
            <p:cNvCxnSpPr/>
            <p:nvPr/>
          </p:nvCxnSpPr>
          <p:spPr>
            <a:xfrm>
              <a:off x="8066" y="5310"/>
              <a:ext cx="1453"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7" name="直接箭头连接符 216"/>
            <p:cNvCxnSpPr/>
            <p:nvPr/>
          </p:nvCxnSpPr>
          <p:spPr>
            <a:xfrm>
              <a:off x="9519" y="5312"/>
              <a:ext cx="809"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8" name="直接箭头连接符 217"/>
            <p:cNvCxnSpPr/>
            <p:nvPr/>
          </p:nvCxnSpPr>
          <p:spPr>
            <a:xfrm>
              <a:off x="10328" y="5316"/>
              <a:ext cx="1436"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6" name="TextBox 216"/>
            <p:cNvSpPr txBox="1">
              <a:spLocks noChangeArrowheads="1"/>
            </p:cNvSpPr>
            <p:nvPr/>
          </p:nvSpPr>
          <p:spPr bwMode="auto">
            <a:xfrm>
              <a:off x="4362" y="4788"/>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30757" name="TextBox 216"/>
            <p:cNvSpPr txBox="1">
              <a:spLocks noChangeArrowheads="1"/>
            </p:cNvSpPr>
            <p:nvPr/>
          </p:nvSpPr>
          <p:spPr bwMode="auto">
            <a:xfrm>
              <a:off x="5738" y="4790"/>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800</a:t>
              </a:r>
              <a:endParaRPr lang="zh-CN" altLang="en-US" sz="1300" b="1">
                <a:latin typeface="宋体" panose="02010600030101010101" pitchFamily="2" charset="-122"/>
                <a:ea typeface="宋体" panose="02010600030101010101" pitchFamily="2" charset="-122"/>
              </a:endParaRPr>
            </a:p>
          </p:txBody>
        </p:sp>
        <p:sp>
          <p:nvSpPr>
            <p:cNvPr id="30758" name="TextBox 216"/>
            <p:cNvSpPr txBox="1">
              <a:spLocks noChangeArrowheads="1"/>
            </p:cNvSpPr>
            <p:nvPr/>
          </p:nvSpPr>
          <p:spPr bwMode="auto">
            <a:xfrm>
              <a:off x="7034" y="4785"/>
              <a:ext cx="70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sp>
          <p:nvSpPr>
            <p:cNvPr id="30759" name="TextBox 216"/>
            <p:cNvSpPr txBox="1">
              <a:spLocks noChangeArrowheads="1"/>
            </p:cNvSpPr>
            <p:nvPr/>
          </p:nvSpPr>
          <p:spPr bwMode="auto">
            <a:xfrm>
              <a:off x="8435" y="4797"/>
              <a:ext cx="978"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sp>
          <p:nvSpPr>
            <p:cNvPr id="30760" name="TextBox 216"/>
            <p:cNvSpPr txBox="1">
              <a:spLocks noChangeArrowheads="1"/>
            </p:cNvSpPr>
            <p:nvPr/>
          </p:nvSpPr>
          <p:spPr bwMode="auto">
            <a:xfrm>
              <a:off x="9585" y="4773"/>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6</a:t>
              </a:r>
              <a:r>
                <a:rPr lang="en-US" altLang="zh-CN" sz="1300" b="1" dirty="0" smtClean="0">
                  <a:latin typeface="宋体" panose="02010600030101010101" pitchFamily="2" charset="-122"/>
                  <a:ea typeface="宋体" panose="02010600030101010101" pitchFamily="2" charset="-122"/>
                </a:rPr>
                <a:t>00</a:t>
              </a:r>
              <a:endParaRPr lang="zh-CN" altLang="en-US" sz="1300" b="1" dirty="0">
                <a:latin typeface="宋体" panose="02010600030101010101" pitchFamily="2" charset="-122"/>
                <a:ea typeface="宋体" panose="02010600030101010101" pitchFamily="2" charset="-122"/>
              </a:endParaRPr>
            </a:p>
          </p:txBody>
        </p:sp>
        <p:sp>
          <p:nvSpPr>
            <p:cNvPr id="30761" name="TextBox 216"/>
            <p:cNvSpPr txBox="1">
              <a:spLocks noChangeArrowheads="1"/>
            </p:cNvSpPr>
            <p:nvPr/>
          </p:nvSpPr>
          <p:spPr bwMode="auto">
            <a:xfrm>
              <a:off x="10745" y="4803"/>
              <a:ext cx="978"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246" name="直接箭头连接符 245"/>
            <p:cNvCxnSpPr/>
            <p:nvPr/>
          </p:nvCxnSpPr>
          <p:spPr>
            <a:xfrm>
              <a:off x="14557" y="5312"/>
              <a:ext cx="129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73" name="TextBox 216"/>
            <p:cNvSpPr txBox="1">
              <a:spLocks noChangeArrowheads="1"/>
            </p:cNvSpPr>
            <p:nvPr/>
          </p:nvSpPr>
          <p:spPr bwMode="auto">
            <a:xfrm>
              <a:off x="14857" y="4790"/>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840</a:t>
              </a:r>
              <a:endParaRPr lang="zh-CN" altLang="en-US" sz="1300" b="1" dirty="0">
                <a:latin typeface="宋体" panose="02010600030101010101" pitchFamily="2" charset="-122"/>
                <a:ea typeface="宋体" panose="02010600030101010101" pitchFamily="2" charset="-122"/>
              </a:endParaRPr>
            </a:p>
          </p:txBody>
        </p:sp>
        <p:cxnSp>
          <p:nvCxnSpPr>
            <p:cNvPr id="7" name="直接连接符 6"/>
            <p:cNvCxnSpPr/>
            <p:nvPr/>
          </p:nvCxnSpPr>
          <p:spPr>
            <a:xfrm flipV="1">
              <a:off x="13224" y="4207"/>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4550"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5860" y="4212"/>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3233" y="5310"/>
              <a:ext cx="1317"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216"/>
            <p:cNvSpPr txBox="1">
              <a:spLocks noChangeArrowheads="1"/>
            </p:cNvSpPr>
            <p:nvPr/>
          </p:nvSpPr>
          <p:spPr bwMode="auto">
            <a:xfrm>
              <a:off x="13546" y="4790"/>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800</a:t>
              </a:r>
              <a:endParaRPr lang="zh-CN" altLang="en-US" sz="1300" b="1" dirty="0">
                <a:latin typeface="宋体" panose="02010600030101010101" pitchFamily="2" charset="-122"/>
                <a:ea typeface="宋体" panose="02010600030101010101" pitchFamily="2" charset="-122"/>
              </a:endParaRPr>
            </a:p>
          </p:txBody>
        </p:sp>
        <p:cxnSp>
          <p:nvCxnSpPr>
            <p:cNvPr id="12" name="直接箭头连接符 11"/>
            <p:cNvCxnSpPr/>
            <p:nvPr/>
          </p:nvCxnSpPr>
          <p:spPr>
            <a:xfrm>
              <a:off x="11764" y="5316"/>
              <a:ext cx="1460"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TextBox 216"/>
            <p:cNvSpPr txBox="1">
              <a:spLocks noChangeArrowheads="1"/>
            </p:cNvSpPr>
            <p:nvPr/>
          </p:nvSpPr>
          <p:spPr bwMode="auto">
            <a:xfrm>
              <a:off x="12138" y="4805"/>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dirty="0"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1" name="直接箭头连接符 70"/>
            <p:cNvCxnSpPr/>
            <p:nvPr/>
          </p:nvCxnSpPr>
          <p:spPr>
            <a:xfrm>
              <a:off x="15844" y="5317"/>
              <a:ext cx="1469" cy="0"/>
            </a:xfrm>
            <a:prstGeom prst="straightConnector1">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216"/>
            <p:cNvSpPr txBox="1">
              <a:spLocks noChangeArrowheads="1"/>
            </p:cNvSpPr>
            <p:nvPr/>
          </p:nvSpPr>
          <p:spPr bwMode="auto">
            <a:xfrm>
              <a:off x="16297" y="4796"/>
              <a:ext cx="977"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nSpc>
                  <a:spcPct val="130000"/>
                </a:lnSpc>
              </a:pPr>
              <a:r>
                <a:rPr lang="en-US" altLang="zh-CN" sz="1300" b="1" smtClean="0">
                  <a:latin typeface="宋体" panose="02010600030101010101" pitchFamily="2" charset="-122"/>
                  <a:ea typeface="宋体" panose="02010600030101010101" pitchFamily="2" charset="-122"/>
                </a:rPr>
                <a:t>900</a:t>
              </a:r>
              <a:endParaRPr lang="zh-CN" altLang="en-US" sz="1300" b="1" dirty="0">
                <a:latin typeface="宋体" panose="02010600030101010101" pitchFamily="2" charset="-122"/>
                <a:ea typeface="宋体" panose="02010600030101010101" pitchFamily="2" charset="-122"/>
              </a:endParaRPr>
            </a:p>
          </p:txBody>
        </p:sp>
        <p:cxnSp>
          <p:nvCxnSpPr>
            <p:cNvPr id="73" name="直接连接符 72"/>
            <p:cNvCxnSpPr/>
            <p:nvPr/>
          </p:nvCxnSpPr>
          <p:spPr>
            <a:xfrm flipV="1">
              <a:off x="17313" y="4219"/>
              <a:ext cx="0" cy="119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79245" y="1043940"/>
            <a:ext cx="8785225" cy="497205"/>
            <a:chOff x="2803" y="1644"/>
            <a:chExt cx="13835" cy="783"/>
          </a:xfrm>
        </p:grpSpPr>
        <p:pic>
          <p:nvPicPr>
            <p:cNvPr id="30920" name="图片 3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70" y="1644"/>
              <a:ext cx="250" cy="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24" name="图片 43"/>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244" y="1685"/>
              <a:ext cx="250" cy="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6" name="图片 53"/>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15" y="1797"/>
              <a:ext cx="282"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937" name="图片 2"/>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768" y="1687"/>
              <a:ext cx="558"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2"/>
            <p:cNvPicPr>
              <a:picLocks noChangeAspect="1"/>
            </p:cNvPicPr>
            <p:nvPr/>
          </p:nvPicPr>
          <p:blipFill rotWithShape="1">
            <a:blip r:embed="rId9"/>
            <a:srcRect l="24249" t="21012" r="16655" b="13838"/>
            <a:stretch>
              <a:fillRect/>
            </a:stretch>
          </p:blipFill>
          <p:spPr>
            <a:xfrm>
              <a:off x="16282" y="1929"/>
              <a:ext cx="356" cy="288"/>
            </a:xfrm>
            <a:prstGeom prst="rect">
              <a:avLst/>
            </a:prstGeom>
          </p:spPr>
        </p:pic>
        <p:pic>
          <p:nvPicPr>
            <p:cNvPr id="24" name="图片 23"/>
            <p:cNvPicPr>
              <a:picLocks noChangeAspect="1"/>
            </p:cNvPicPr>
            <p:nvPr/>
          </p:nvPicPr>
          <p:blipFill>
            <a:blip r:embed="rId10"/>
            <a:stretch>
              <a:fillRect/>
            </a:stretch>
          </p:blipFill>
          <p:spPr>
            <a:xfrm>
              <a:off x="5395" y="1771"/>
              <a:ext cx="1353" cy="547"/>
            </a:xfrm>
            <a:prstGeom prst="rect">
              <a:avLst/>
            </a:prstGeom>
          </p:spPr>
        </p:pic>
        <p:pic>
          <p:nvPicPr>
            <p:cNvPr id="25" name="图片 24"/>
            <p:cNvPicPr>
              <a:picLocks noChangeAspect="1"/>
            </p:cNvPicPr>
            <p:nvPr/>
          </p:nvPicPr>
          <p:blipFill>
            <a:blip r:embed="rId11"/>
            <a:stretch>
              <a:fillRect/>
            </a:stretch>
          </p:blipFill>
          <p:spPr>
            <a:xfrm>
              <a:off x="13224" y="1763"/>
              <a:ext cx="1298" cy="598"/>
            </a:xfrm>
            <a:prstGeom prst="rect">
              <a:avLst/>
            </a:prstGeom>
          </p:spPr>
        </p:pic>
        <p:pic>
          <p:nvPicPr>
            <p:cNvPr id="26" name="图片 25"/>
            <p:cNvPicPr>
              <a:picLocks noChangeAspect="1"/>
            </p:cNvPicPr>
            <p:nvPr/>
          </p:nvPicPr>
          <p:blipFill>
            <a:blip r:embed="rId12"/>
            <a:stretch>
              <a:fillRect/>
            </a:stretch>
          </p:blipFill>
          <p:spPr>
            <a:xfrm>
              <a:off x="2803" y="1687"/>
              <a:ext cx="768" cy="656"/>
            </a:xfrm>
            <a:prstGeom prst="rect">
              <a:avLst/>
            </a:prstGeom>
          </p:spPr>
        </p:pic>
        <p:pic>
          <p:nvPicPr>
            <p:cNvPr id="14" name="图片 13"/>
            <p:cNvPicPr>
              <a:picLocks noChangeAspect="1"/>
            </p:cNvPicPr>
            <p:nvPr/>
          </p:nvPicPr>
          <p:blipFill>
            <a:blip r:embed="rId13"/>
            <a:stretch>
              <a:fillRect/>
            </a:stretch>
          </p:blipFill>
          <p:spPr>
            <a:xfrm>
              <a:off x="10711" y="1761"/>
              <a:ext cx="550" cy="583"/>
            </a:xfrm>
            <a:prstGeom prst="rect">
              <a:avLst/>
            </a:prstGeom>
          </p:spPr>
        </p:pic>
      </p:grpSp>
      <p:grpSp>
        <p:nvGrpSpPr>
          <p:cNvPr id="21" name="组合 20"/>
          <p:cNvGrpSpPr/>
          <p:nvPr/>
        </p:nvGrpSpPr>
        <p:grpSpPr>
          <a:xfrm>
            <a:off x="5684520" y="6004560"/>
            <a:ext cx="1674495" cy="245110"/>
            <a:chOff x="9325" y="9456"/>
            <a:chExt cx="2637" cy="386"/>
          </a:xfrm>
        </p:grpSpPr>
        <p:sp>
          <p:nvSpPr>
            <p:cNvPr id="19" name="Rectangle 17"/>
            <p:cNvSpPr>
              <a:spLocks noChangeArrowheads="1"/>
            </p:cNvSpPr>
            <p:nvPr/>
          </p:nvSpPr>
          <p:spPr bwMode="auto">
            <a:xfrm>
              <a:off x="9325" y="9525"/>
              <a:ext cx="401" cy="290"/>
            </a:xfrm>
            <a:prstGeom prst="rect">
              <a:avLst/>
            </a:prstGeom>
            <a:solidFill>
              <a:schemeClr val="accent4">
                <a:lumMod val="40000"/>
                <a:lumOff val="60000"/>
              </a:schemeClr>
            </a:solidFill>
            <a:ln w="9525">
              <a:solidFill>
                <a:schemeClr val="tx1"/>
              </a:solidFill>
              <a:miter lim="800000"/>
            </a:ln>
          </p:spPr>
          <p:txBody>
            <a:bodyPr anchor="ctr"/>
            <a:lstStyle/>
            <a:p>
              <a:pPr algn="ctr"/>
              <a:endParaRPr lang="en-US" altLang="zh-CN" sz="1000"/>
            </a:p>
          </p:txBody>
        </p:sp>
        <p:sp>
          <p:nvSpPr>
            <p:cNvPr id="20" name="TextBox 121"/>
            <p:cNvSpPr txBox="1">
              <a:spLocks noChangeArrowheads="1"/>
            </p:cNvSpPr>
            <p:nvPr/>
          </p:nvSpPr>
          <p:spPr bwMode="auto">
            <a:xfrm>
              <a:off x="9821" y="9456"/>
              <a:ext cx="2141"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a:t>
              </a:r>
              <a:r>
                <a:rPr lang="zh-CN" altLang="en-US" sz="1000" b="1" dirty="0">
                  <a:latin typeface="Microsoft JhengHei" panose="020B0604030504040204" pitchFamily="34" charset="-120"/>
                  <a:ea typeface="Microsoft JhengHei" panose="020B0604030504040204" pitchFamily="34" charset="-120"/>
                </a:rPr>
                <a:t>(new)</a:t>
              </a:r>
            </a:p>
          </p:txBody>
        </p:sp>
      </p:grpSp>
      <p:grpSp>
        <p:nvGrpSpPr>
          <p:cNvPr id="27" name="组合 26"/>
          <p:cNvGrpSpPr/>
          <p:nvPr/>
        </p:nvGrpSpPr>
        <p:grpSpPr>
          <a:xfrm>
            <a:off x="7640320" y="6004560"/>
            <a:ext cx="1736725" cy="245110"/>
            <a:chOff x="12405" y="9456"/>
            <a:chExt cx="2735" cy="386"/>
          </a:xfrm>
        </p:grpSpPr>
        <p:sp>
          <p:nvSpPr>
            <p:cNvPr id="22" name="Rectangle 17"/>
            <p:cNvSpPr>
              <a:spLocks noChangeArrowheads="1"/>
            </p:cNvSpPr>
            <p:nvPr/>
          </p:nvSpPr>
          <p:spPr bwMode="auto">
            <a:xfrm>
              <a:off x="12405" y="9525"/>
              <a:ext cx="565" cy="290"/>
            </a:xfrm>
            <a:prstGeom prst="rect">
              <a:avLst/>
            </a:prstGeom>
            <a:solidFill>
              <a:schemeClr val="accent6">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29" name="TextBox 121"/>
            <p:cNvSpPr txBox="1">
              <a:spLocks noChangeArrowheads="1"/>
            </p:cNvSpPr>
            <p:nvPr/>
          </p:nvSpPr>
          <p:spPr bwMode="auto">
            <a:xfrm>
              <a:off x="13012" y="9456"/>
              <a:ext cx="212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 machine(old)</a:t>
              </a:r>
              <a:endParaRPr lang="zh-CN" altLang="en-US" sz="1000" b="1" dirty="0">
                <a:latin typeface="Microsoft JhengHei" panose="020B0604030504040204" pitchFamily="34" charset="-120"/>
                <a:ea typeface="Microsoft JhengHei" panose="020B0604030504040204" pitchFamily="34" charset="-120"/>
              </a:endParaRPr>
            </a:p>
          </p:txBody>
        </p:sp>
      </p:grpSp>
      <p:grpSp>
        <p:nvGrpSpPr>
          <p:cNvPr id="30" name="组合 29"/>
          <p:cNvGrpSpPr/>
          <p:nvPr/>
        </p:nvGrpSpPr>
        <p:grpSpPr>
          <a:xfrm>
            <a:off x="9481995" y="6015355"/>
            <a:ext cx="2473150" cy="245110"/>
            <a:chOff x="16637" y="9987"/>
            <a:chExt cx="3895" cy="386"/>
          </a:xfrm>
        </p:grpSpPr>
        <p:sp>
          <p:nvSpPr>
            <p:cNvPr id="31" name="Rectangle 17"/>
            <p:cNvSpPr>
              <a:spLocks noChangeArrowheads="1"/>
            </p:cNvSpPr>
            <p:nvPr/>
          </p:nvSpPr>
          <p:spPr bwMode="auto">
            <a:xfrm>
              <a:off x="16637" y="10011"/>
              <a:ext cx="565" cy="290"/>
            </a:xfrm>
            <a:prstGeom prst="rect">
              <a:avLst/>
            </a:prstGeom>
            <a:solidFill>
              <a:schemeClr val="accent5">
                <a:lumMod val="60000"/>
                <a:lumOff val="40000"/>
              </a:schemeClr>
            </a:solidFill>
            <a:ln w="9525">
              <a:solidFill>
                <a:schemeClr val="tx1"/>
              </a:solidFill>
              <a:miter lim="800000"/>
            </a:ln>
          </p:spPr>
          <p:txBody>
            <a:bodyPr anchor="ct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pPr algn="ctr">
                <a:defRPr/>
              </a:pPr>
              <a:endParaRPr lang="en-US" altLang="zh-CN" sz="1000"/>
            </a:p>
          </p:txBody>
        </p:sp>
        <p:sp>
          <p:nvSpPr>
            <p:cNvPr id="34" name="TextBox 121"/>
            <p:cNvSpPr txBox="1">
              <a:spLocks noChangeArrowheads="1"/>
            </p:cNvSpPr>
            <p:nvPr/>
          </p:nvSpPr>
          <p:spPr bwMode="auto">
            <a:xfrm>
              <a:off x="17202" y="9987"/>
              <a:ext cx="3330"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eaLnBrk="0" fontAlgn="base" hangingPunct="0">
                <a:spcAft>
                  <a:spcPct val="0"/>
                </a:spcAft>
                <a:defRPr>
                  <a:solidFill>
                    <a:schemeClr val="tx1"/>
                  </a:solidFill>
                  <a:latin typeface="Arial" panose="020B0604020202020204" pitchFamily="34" charset="0"/>
                  <a:ea typeface="微软雅黑" panose="020B0503020204020204" pitchFamily="34" charset="-122"/>
                </a:defRPr>
              </a:lvl6pPr>
              <a:lvl7pPr eaLnBrk="0" fontAlgn="base" hangingPunct="0">
                <a:spcAft>
                  <a:spcPct val="0"/>
                </a:spcAft>
                <a:defRPr>
                  <a:solidFill>
                    <a:schemeClr val="tx1"/>
                  </a:solidFill>
                  <a:latin typeface="Arial" panose="020B0604020202020204" pitchFamily="34" charset="0"/>
                  <a:ea typeface="微软雅黑" panose="020B0503020204020204" pitchFamily="34" charset="-122"/>
                </a:defRPr>
              </a:lvl7pPr>
              <a:lvl8pPr eaLnBrk="0" fontAlgn="base" hangingPunct="0">
                <a:spcAft>
                  <a:spcPct val="0"/>
                </a:spcAft>
                <a:defRPr>
                  <a:solidFill>
                    <a:schemeClr val="tx1"/>
                  </a:solidFill>
                  <a:latin typeface="Arial" panose="020B0604020202020204" pitchFamily="34" charset="0"/>
                  <a:ea typeface="微软雅黑" panose="020B0503020204020204" pitchFamily="34" charset="-122"/>
                </a:defRPr>
              </a:lvl8pPr>
              <a:lvl9pPr eaLnBrk="0" fontAlgn="base" hangingPunct="0">
                <a:spcAft>
                  <a:spcPct val="0"/>
                </a:spcAft>
                <a:defRPr>
                  <a:solidFill>
                    <a:schemeClr val="tx1"/>
                  </a:solidFill>
                  <a:latin typeface="Arial" panose="020B0604020202020204" pitchFamily="34" charset="0"/>
                  <a:ea typeface="微软雅黑" panose="020B0503020204020204" pitchFamily="34" charset="-122"/>
                </a:defRPr>
              </a:lvl9pPr>
            </a:lstStyle>
            <a:p>
              <a:pPr algn="l">
                <a:buClrTx/>
                <a:buSzTx/>
                <a:buFontTx/>
              </a:pPr>
              <a:r>
                <a:rPr lang="zh-CN" altLang="en-US" sz="1000" b="1" dirty="0">
                  <a:latin typeface="Microsoft JhengHei" panose="020B0604030504040204" pitchFamily="34" charset="-120"/>
                  <a:ea typeface="Microsoft JhengHei" panose="020B0604030504040204" pitchFamily="34" charset="-120"/>
                  <a:sym typeface="+mn-ea"/>
                </a:rPr>
                <a:t>Auto</a:t>
              </a:r>
              <a:r>
                <a:rPr lang="zh-CN" altLang="en-US" sz="1000" b="1" dirty="0">
                  <a:latin typeface="Microsoft JhengHei" panose="020B0604030504040204" pitchFamily="34" charset="-120"/>
                  <a:ea typeface="Microsoft JhengHei" panose="020B0604030504040204" pitchFamily="34" charset="-120"/>
                </a:rPr>
                <a:t> machine（</a:t>
              </a:r>
              <a:r>
                <a:rPr lang="zh-CN" altLang="en-US" sz="1000" b="1" dirty="0">
                  <a:latin typeface="Microsoft JhengHei" panose="020B0604030504040204" pitchFamily="34" charset="-120"/>
                  <a:ea typeface="Microsoft JhengHei" panose="020B0604030504040204" pitchFamily="34" charset="-120"/>
                  <a:sym typeface="+mn-ea"/>
                </a:rPr>
                <a:t>Guest supply</a:t>
              </a:r>
              <a:r>
                <a:rPr lang="zh-CN" altLang="en-US" sz="1000" b="1" dirty="0">
                  <a:latin typeface="Microsoft JhengHei" panose="020B0604030504040204" pitchFamily="34" charset="-120"/>
                  <a:ea typeface="Microsoft JhengHei" panose="020B0604030504040204" pitchFamily="34" charset="-120"/>
                </a:rPr>
                <a:t>）</a:t>
              </a:r>
            </a:p>
          </p:txBody>
        </p:sp>
      </p:grpSp>
      <p:sp>
        <p:nvSpPr>
          <p:cNvPr id="38" name="椭圆 37"/>
          <p:cNvSpPr/>
          <p:nvPr>
            <p:custDataLst>
              <p:tags r:id="rId3"/>
            </p:custDataLst>
          </p:nvPr>
        </p:nvSpPr>
        <p:spPr>
          <a:xfrm>
            <a:off x="2194560" y="782320"/>
            <a:ext cx="1191260" cy="4883785"/>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marL="0" marR="0" lvl="0" indent="0" algn="l" defTabSz="1218565" rtl="0" eaLnBrk="1" fontAlgn="base" latinLnBrk="0" hangingPunct="1">
              <a:lnSpc>
                <a:spcPct val="100000"/>
              </a:lnSpc>
              <a:spcBef>
                <a:spcPct val="0"/>
              </a:spcBef>
              <a:spcAft>
                <a:spcPct val="0"/>
              </a:spcAft>
              <a:buClrTx/>
              <a:buSzTx/>
              <a:buFontTx/>
              <a:buNone/>
              <a:defRPr/>
            </a:pPr>
            <a:r>
              <a:rPr kumimoji="1" lang="en-US" altLang="zh-CN"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rPr>
              <a:t>Contents</a:t>
            </a:r>
            <a:endParaRPr kumimoji="1" lang="zh-TW" altLang="en-US" sz="3000" b="1" i="0" u="none" strike="noStrike" kern="0" cap="none" spc="0" normalizeH="0" baseline="0" noProof="0" dirty="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sym typeface="Gill Sans"/>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3</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4" name="表格 3"/>
          <p:cNvGraphicFramePr>
            <a:graphicFrameLocks noGrp="1"/>
          </p:cNvGraphicFramePr>
          <p:nvPr>
            <p:custDataLst>
              <p:tags r:id="rId2"/>
            </p:custDataLst>
          </p:nvPr>
        </p:nvGraphicFramePr>
        <p:xfrm>
          <a:off x="335361" y="1254012"/>
          <a:ext cx="11523749" cy="4320982"/>
        </p:xfrm>
        <a:graphic>
          <a:graphicData uri="http://schemas.openxmlformats.org/drawingml/2006/table">
            <a:tbl>
              <a:tblPr/>
              <a:tblGrid>
                <a:gridCol w="1875790">
                  <a:extLst>
                    <a:ext uri="{9D8B030D-6E8A-4147-A177-3AD203B41FA5}">
                      <a16:colId xmlns:a16="http://schemas.microsoft.com/office/drawing/2014/main" val="20000"/>
                    </a:ext>
                  </a:extLst>
                </a:gridCol>
                <a:gridCol w="5159820">
                  <a:extLst>
                    <a:ext uri="{9D8B030D-6E8A-4147-A177-3AD203B41FA5}">
                      <a16:colId xmlns:a16="http://schemas.microsoft.com/office/drawing/2014/main" val="20001"/>
                    </a:ext>
                  </a:extLst>
                </a:gridCol>
                <a:gridCol w="4488139">
                  <a:extLst>
                    <a:ext uri="{9D8B030D-6E8A-4147-A177-3AD203B41FA5}">
                      <a16:colId xmlns:a16="http://schemas.microsoft.com/office/drawing/2014/main" val="20002"/>
                    </a:ext>
                  </a:extLst>
                </a:gridCol>
              </a:tblGrid>
              <a:tr h="53784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latin typeface="Calibri" panose="020F0502020204030204" charset="0"/>
                          <a:cs typeface="Calibri" panose="020F0502020204030204" charset="0"/>
                        </a:rPr>
                        <a:t>Item</a:t>
                      </a:r>
                      <a:endParaRPr lang="en-US" sz="2400" b="0" i="0" u="none" strike="noStrike" dirty="0">
                        <a:solidFill>
                          <a:schemeClr val="bg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buClrTx/>
                        <a:buSzTx/>
                        <a:buFontTx/>
                      </a:pPr>
                      <a:r>
                        <a:rPr lang="en-US" sz="2400" dirty="0">
                          <a:solidFill>
                            <a:schemeClr val="bg1"/>
                          </a:solidFill>
                          <a:effectLst/>
                          <a:latin typeface="Calibri" panose="020F0502020204030204" charset="0"/>
                          <a:cs typeface="Calibri" panose="020F0502020204030204" charset="0"/>
                          <a:sym typeface="+mn-ea"/>
                        </a:rPr>
                        <a:t>Description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sz="2400" u="none" strike="noStrike" dirty="0">
                          <a:solidFill>
                            <a:schemeClr val="bg1"/>
                          </a:solidFill>
                          <a:effectLst/>
                        </a:rPr>
                        <a:t>DRI</a:t>
                      </a:r>
                      <a:endParaRPr lang="en-US" sz="2400" b="0" i="0" u="none" strike="noStrike" dirty="0">
                        <a:solidFill>
                          <a:schemeClr val="bg1"/>
                        </a:solidFill>
                        <a:effectLst/>
                        <a:latin typeface="等线" panose="02010600030101010101" charset="-122"/>
                        <a:ea typeface="等线" panose="02010600030101010101" charset="-122"/>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3917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1</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fontAlgn="b">
                        <a:buClrTx/>
                        <a:buSzTx/>
                        <a:buFontTx/>
                      </a:pPr>
                      <a:r>
                        <a:rPr lang="en-US" altLang="zh-CN" sz="2000" u="none" strike="noStrike" dirty="0">
                          <a:effectLst/>
                          <a:latin typeface="Calibri" panose="020F0502020204030204" charset="0"/>
                          <a:cs typeface="Calibri" panose="020F0502020204030204" charset="0"/>
                        </a:rPr>
                        <a:t>Historical version</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2</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en-US" altLang="zh-CN" sz="2000" dirty="0">
                          <a:effectLst/>
                          <a:latin typeface="Calibri" panose="020F0502020204030204" charset="0"/>
                          <a:cs typeface="Calibri" panose="020F0502020204030204" charset="0"/>
                          <a:sym typeface="+mn-ea"/>
                        </a:rPr>
                        <a:t>Machine performance design</a:t>
                      </a:r>
                      <a:endParaRPr lang="en-US" altLang="zh-CN" sz="2000" baseline="0" dirty="0">
                        <a:effectLst/>
                        <a:latin typeface="Calibri" panose="020F0502020204030204" charset="0"/>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2"/>
                  </a:ext>
                </a:extLst>
              </a:tr>
              <a:tr h="464092">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3</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Product Change</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
                  </a:ext>
                </a:extLst>
              </a:tr>
              <a:tr h="50609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4</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Equipment Layout</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4"/>
                  </a:ext>
                </a:extLst>
              </a:tr>
              <a:tr h="51689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2000" u="none" strike="noStrike" dirty="0">
                          <a:solidFill>
                            <a:schemeClr val="tx1"/>
                          </a:solidFill>
                          <a:effectLst/>
                          <a:latin typeface="Calibri" panose="020F0502020204030204" charset="0"/>
                          <a:cs typeface="Calibri" panose="020F0502020204030204" charset="0"/>
                        </a:rPr>
                        <a:t>5</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The key components</a:t>
                      </a: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5"/>
                  </a:ext>
                </a:extLst>
              </a:tr>
              <a:tr h="48005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6</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effectLst/>
                          <a:latin typeface="Calibri" panose="020F0502020204030204" charset="0"/>
                          <a:cs typeface="Calibri" panose="020F0502020204030204" charset="0"/>
                          <a:sym typeface="+mn-ea"/>
                        </a:rPr>
                        <a:t>Key Fixture Design</a:t>
                      </a:r>
                      <a:endParaRPr lang="en-US" altLang="zh-CN" sz="2000" kern="1200" baseline="0" dirty="0">
                        <a:solidFill>
                          <a:schemeClr val="dk1"/>
                        </a:solidFill>
                        <a:effectLst/>
                        <a:latin typeface="Calibri" panose="020F0502020204030204" charset="0"/>
                        <a:ea typeface="+mn-ea"/>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Arial" panose="020B0604020202020204"/>
                          <a:ea typeface="等线" panose="02010600030101010101" charset="-122"/>
                          <a:cs typeface="+mn-cs"/>
                          <a:sym typeface="+mn-ea"/>
                        </a:rPr>
                        <a:t>Wang hao</a:t>
                      </a: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10006"/>
                  </a:ext>
                </a:extLst>
              </a:tr>
              <a:tr h="4800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fontAlgn="ctr"/>
                      <a:r>
                        <a:rPr lang="en-US" altLang="zh-CN" sz="2000" u="none" strike="noStrike" dirty="0">
                          <a:solidFill>
                            <a:schemeClr val="tx1"/>
                          </a:solidFill>
                          <a:effectLst/>
                          <a:latin typeface="Calibri" panose="020F0502020204030204" charset="0"/>
                          <a:cs typeface="Calibri" panose="020F0502020204030204" charset="0"/>
                        </a:rPr>
                        <a:t>7</a:t>
                      </a:r>
                      <a:endPar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endParaRP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l" defTabSz="914400" rtl="0" eaLnBrk="1" fontAlgn="b" latinLnBrk="0" hangingPunct="1">
                        <a:lnSpc>
                          <a:spcPct val="100000"/>
                        </a:lnSpc>
                        <a:spcBef>
                          <a:spcPts val="0"/>
                        </a:spcBef>
                        <a:buClrTx/>
                        <a:buSzTx/>
                        <a:buFontTx/>
                        <a:buNone/>
                      </a:pPr>
                      <a:r>
                        <a:rPr lang="en-US" altLang="zh-CN" sz="2000" dirty="0">
                          <a:solidFill>
                            <a:prstClr val="black"/>
                          </a:solidFill>
                          <a:latin typeface="Calibri" panose="020F0502020204030204" charset="0"/>
                          <a:cs typeface="Calibri" panose="020F0502020204030204" charset="0"/>
                          <a:sym typeface="+mn-ea"/>
                        </a:rPr>
                        <a:t>Action flow design</a:t>
                      </a:r>
                      <a:endParaRPr lang="en-US" altLang="zh-CN" sz="2000" u="none" strike="noStrike" baseline="0" dirty="0">
                        <a:solidFill>
                          <a:prstClr val="black"/>
                        </a:solidFill>
                        <a:effectLst/>
                        <a:latin typeface="Calibri" panose="020F0502020204030204" charset="0"/>
                        <a:cs typeface="Calibri" panose="020F0502020204030204" charset="0"/>
                        <a:sym typeface="+mn-ea"/>
                      </a:endParaRPr>
                    </a:p>
                  </a:txBody>
                  <a:tcPr marL="12700" marR="12700" marT="12700" marB="0"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等线" panose="02010600030101010101" charset="-122"/>
                          <a:cs typeface="+mn-cs"/>
                          <a:sym typeface="+mn-ea"/>
                        </a:rPr>
                        <a:t>Wang hao</a:t>
                      </a: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7"/>
                  </a:ext>
                </a:extLst>
              </a:tr>
              <a:tr h="480060">
                <a:tc>
                  <a:txBody>
                    <a:bodyPr/>
                    <a:lstStyle/>
                    <a:p>
                      <a:pPr algn="ctr" fontAlgn="ctr"/>
                      <a:r>
                        <a:rPr lang="en-US" altLang="zh-CN" sz="2000" b="0" i="0" u="none" strike="noStrike" dirty="0">
                          <a:solidFill>
                            <a:schemeClr val="tx1"/>
                          </a:solidFill>
                          <a:effectLst/>
                          <a:latin typeface="Calibri" panose="020F0502020204030204" charset="0"/>
                          <a:ea typeface="等线" panose="02010600030101010101" charset="-122"/>
                          <a:cs typeface="Calibri" panose="020F0502020204030204" charset="0"/>
                        </a:rPr>
                        <a:t>8</a:t>
                      </a:r>
                    </a:p>
                  </a:txBody>
                  <a:tcPr marL="12700" marR="12700" marT="12700" marB="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lvl="0" algn="l" fontAlgn="b">
                        <a:buClrTx/>
                        <a:buSzTx/>
                        <a:buFontTx/>
                      </a:pPr>
                      <a:r>
                        <a:rPr lang="en-US" altLang="zh-CN" sz="2000" dirty="0">
                          <a:effectLst/>
                          <a:latin typeface="Calibri" panose="020F0502020204030204" charset="0"/>
                          <a:cs typeface="Calibri" panose="020F0502020204030204" charset="0"/>
                          <a:sym typeface="+mn-ea"/>
                        </a:rPr>
                        <a:t>Timing diagram</a:t>
                      </a:r>
                      <a:endParaRPr lang="en-US" altLang="zh-CN" sz="2000" u="none" strike="noStrike" baseline="0" dirty="0">
                        <a:effectLst/>
                        <a:latin typeface="Calibri" panose="020F0502020204030204" charset="0"/>
                        <a:cs typeface="Calibri" panose="020F0502020204030204" charset="0"/>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000000"/>
                          </a:solidFill>
                          <a:effectLst/>
                          <a:uLnTx/>
                          <a:uFillTx/>
                          <a:latin typeface="+mn-lt"/>
                          <a:ea typeface="等线" panose="02010600030101010101" charset="-122"/>
                          <a:cs typeface="+mn-cs"/>
                          <a:sym typeface="+mn-ea"/>
                        </a:rPr>
                        <a:t>Wang </a:t>
                      </a:r>
                      <a:r>
                        <a:rPr kumimoji="0" lang="en-US" altLang="zh-CN" sz="2000" b="0" i="0" u="none" strike="noStrike" kern="1200" cap="none" spc="0" normalizeH="0" baseline="0" noProof="0" dirty="0" err="1">
                          <a:ln>
                            <a:noFill/>
                          </a:ln>
                          <a:solidFill>
                            <a:srgbClr val="000000"/>
                          </a:solidFill>
                          <a:effectLst/>
                          <a:uLnTx/>
                          <a:uFillTx/>
                          <a:latin typeface="+mn-lt"/>
                          <a:ea typeface="等线" panose="02010600030101010101" charset="-122"/>
                          <a:cs typeface="+mn-cs"/>
                          <a:sym typeface="+mn-ea"/>
                        </a:rPr>
                        <a:t>hao</a:t>
                      </a:r>
                      <a:endParaRPr kumimoji="0" lang="en-US" altLang="zh-CN" sz="2000" b="0" i="0" u="none" strike="noStrike" kern="1200" cap="none" spc="0" normalizeH="0" baseline="0" noProof="0" dirty="0">
                        <a:ln>
                          <a:noFill/>
                        </a:ln>
                        <a:solidFill>
                          <a:srgbClr val="000000"/>
                        </a:solidFill>
                        <a:effectLst/>
                        <a:uLnTx/>
                        <a:uFillTx/>
                        <a:latin typeface="+mn-lt"/>
                        <a:ea typeface="等线" panose="02010600030101010101" charset="-122"/>
                        <a:cs typeface="+mn-cs"/>
                        <a:sym typeface="+mn-ea"/>
                      </a:endParaRPr>
                    </a:p>
                  </a:txBody>
                  <a:tcPr marL="12700" marR="12700" marT="12700" marB="0"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custDataLst>
              <p:tags r:id="rId1"/>
            </p:custDataLst>
          </p:nvPr>
        </p:nvGraphicFramePr>
        <p:xfrm>
          <a:off x="739833" y="1151412"/>
          <a:ext cx="11016000" cy="2303780"/>
        </p:xfrm>
        <a:graphic>
          <a:graphicData uri="http://schemas.openxmlformats.org/drawingml/2006/table">
            <a:tbl>
              <a:tblPr>
                <a:tableStyleId>{8799B23B-EC83-4686-B30A-512413B5E67A}</a:tableStyleId>
              </a:tblPr>
              <a:tblGrid>
                <a:gridCol w="1403985">
                  <a:extLst>
                    <a:ext uri="{9D8B030D-6E8A-4147-A177-3AD203B41FA5}">
                      <a16:colId xmlns:a16="http://schemas.microsoft.com/office/drawing/2014/main" val="20000"/>
                    </a:ext>
                  </a:extLst>
                </a:gridCol>
                <a:gridCol w="5400015">
                  <a:extLst>
                    <a:ext uri="{9D8B030D-6E8A-4147-A177-3AD203B41FA5}">
                      <a16:colId xmlns:a16="http://schemas.microsoft.com/office/drawing/2014/main" val="20001"/>
                    </a:ext>
                  </a:extLst>
                </a:gridCol>
                <a:gridCol w="1404000">
                  <a:extLst>
                    <a:ext uri="{9D8B030D-6E8A-4147-A177-3AD203B41FA5}">
                      <a16:colId xmlns:a16="http://schemas.microsoft.com/office/drawing/2014/main" val="20002"/>
                    </a:ext>
                  </a:extLst>
                </a:gridCol>
                <a:gridCol w="1404000">
                  <a:extLst>
                    <a:ext uri="{9D8B030D-6E8A-4147-A177-3AD203B41FA5}">
                      <a16:colId xmlns:a16="http://schemas.microsoft.com/office/drawing/2014/main" val="20003"/>
                    </a:ext>
                  </a:extLst>
                </a:gridCol>
                <a:gridCol w="1404000">
                  <a:extLst>
                    <a:ext uri="{9D8B030D-6E8A-4147-A177-3AD203B41FA5}">
                      <a16:colId xmlns:a16="http://schemas.microsoft.com/office/drawing/2014/main" val="20004"/>
                    </a:ext>
                  </a:extLst>
                </a:gridCol>
              </a:tblGrid>
              <a:tr h="575945">
                <a:tc>
                  <a:txBody>
                    <a:bodyPr/>
                    <a:lstStyle/>
                    <a:p>
                      <a:pPr algn="ctr" fontAlgn="b"/>
                      <a:r>
                        <a:rPr lang="en-US" sz="2000" u="none" strike="noStrike" dirty="0">
                          <a:effectLst/>
                        </a:rPr>
                        <a:t>Version</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Description</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Date</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DRI</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tc>
                  <a:txBody>
                    <a:bodyPr/>
                    <a:lstStyle/>
                    <a:p>
                      <a:pPr algn="ctr" fontAlgn="b"/>
                      <a:r>
                        <a:rPr lang="en-US" sz="2000" u="none" strike="noStrike" dirty="0">
                          <a:effectLst/>
                        </a:rPr>
                        <a:t>Remark</a:t>
                      </a:r>
                      <a:endParaRPr lang="en-US" sz="2000" b="1" i="0" u="none" strike="noStrike" dirty="0">
                        <a:solidFill>
                          <a:srgbClr val="000000"/>
                        </a:solidFill>
                        <a:effectLst/>
                        <a:latin typeface="+mn-lt"/>
                      </a:endParaRPr>
                    </a:p>
                  </a:txBody>
                  <a:tcPr marL="9525" marR="9525" marT="9525" marB="0" anchor="ctr">
                    <a:solidFill>
                      <a:schemeClr val="accent1">
                        <a:lumMod val="60000"/>
                        <a:lumOff val="40000"/>
                      </a:schemeClr>
                    </a:solidFill>
                  </a:tcPr>
                </a:tc>
                <a:extLst>
                  <a:ext uri="{0D108BD9-81ED-4DB2-BD59-A6C34878D82A}">
                    <a16:rowId xmlns:a16="http://schemas.microsoft.com/office/drawing/2014/main" val="10000"/>
                  </a:ext>
                </a:extLst>
              </a:tr>
              <a:tr h="575945">
                <a:tc>
                  <a:txBody>
                    <a:bodyPr/>
                    <a:lstStyle/>
                    <a:p>
                      <a:pPr algn="ctr" fontAlgn="b"/>
                      <a:r>
                        <a:rPr lang="en-US" altLang="zh-CN" sz="1600" u="none" strike="noStrike" dirty="0">
                          <a:solidFill>
                            <a:srgbClr val="000000"/>
                          </a:solidFill>
                          <a:effectLst/>
                          <a:latin typeface="Calibri" panose="020F0502020204030204" charset="0"/>
                          <a:cs typeface="Calibri" panose="020F0502020204030204" charset="0"/>
                        </a:rPr>
                        <a:t>V01</a:t>
                      </a:r>
                      <a:endParaRPr lang="en-US" altLang="zh-CN" sz="1600" b="0" i="0" u="none" strike="noStrike" dirty="0">
                        <a:solidFill>
                          <a:srgbClr val="000000"/>
                        </a:solidFill>
                        <a:effectLst/>
                        <a:latin typeface="Calibri" panose="020F0502020204030204" charset="0"/>
                        <a:cs typeface="Calibri" panose="020F0502020204030204" charset="0"/>
                      </a:endParaRPr>
                    </a:p>
                  </a:txBody>
                  <a:tcPr marL="9525" marR="9525" marT="9525" marB="0" anchor="ctr"/>
                </a:tc>
                <a:tc>
                  <a:txBody>
                    <a:bodyPr/>
                    <a:lstStyle/>
                    <a:p>
                      <a:pPr algn="l" fontAlgn="b"/>
                      <a:r>
                        <a:rPr lang="en-US" altLang="zh-CN" sz="1600" dirty="0">
                          <a:solidFill>
                            <a:srgbClr val="000000"/>
                          </a:solidFill>
                          <a:effectLst/>
                          <a:latin typeface="Calibri" panose="020F0502020204030204" charset="0"/>
                          <a:cs typeface="Calibri" panose="020F0502020204030204" charset="0"/>
                          <a:sym typeface="+mn-ea"/>
                        </a:rPr>
                        <a:t>Initial design version</a:t>
                      </a:r>
                      <a:endParaRPr lang="en-US" altLang="zh-CN" sz="1600" b="0" i="0" u="none" strike="noStrike" dirty="0">
                        <a:solidFill>
                          <a:srgbClr val="000000"/>
                        </a:solidFill>
                        <a:effectLst/>
                        <a:latin typeface="Calibri" panose="020F0502020204030204" charset="0"/>
                        <a:cs typeface="Calibri" panose="020F0502020204030204" charset="0"/>
                      </a:endParaRPr>
                    </a:p>
                  </a:txBody>
                  <a:tcPr marL="9525" marR="9525" marT="9525" marB="0" anchor="ctr"/>
                </a:tc>
                <a:tc>
                  <a:txBody>
                    <a:bodyPr/>
                    <a:lstStyle/>
                    <a:p>
                      <a:pPr algn="ctr" fontAlgn="b"/>
                      <a:r>
                        <a:rPr lang="en-US" altLang="zh-CN" sz="1200" u="none" strike="noStrike" dirty="0">
                          <a:effectLst/>
                          <a:latin typeface="Arial" panose="020B0604020202020204" pitchFamily="34" charset="0"/>
                          <a:cs typeface="Arial" panose="020B0604020202020204" pitchFamily="34" charset="0"/>
                        </a:rPr>
                        <a:t>2026/01/23</a:t>
                      </a:r>
                      <a:endParaRPr lang="zh-CN" alt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dirty="0">
                          <a:ln>
                            <a:noFill/>
                          </a:ln>
                          <a:solidFill>
                            <a:srgbClr val="000000"/>
                          </a:solidFill>
                          <a:effectLst/>
                          <a:uLnTx/>
                          <a:uFillTx/>
                          <a:latin typeface="+mn-lt"/>
                          <a:ea typeface="等线" panose="02010600030101010101" charset="-122"/>
                          <a:cs typeface="+mn-cs"/>
                          <a:sym typeface="+mn-ea"/>
                        </a:rPr>
                        <a:t>Wang</a:t>
                      </a:r>
                      <a:r>
                        <a:rPr lang="en-US" altLang="zh-CN" sz="1600" dirty="0">
                          <a:solidFill>
                            <a:srgbClr val="000000"/>
                          </a:solidFill>
                          <a:effectLst/>
                          <a:ea typeface="等线" panose="02010600030101010101" charset="-122"/>
                          <a:sym typeface="+mn-ea"/>
                        </a:rPr>
                        <a:t> </a:t>
                      </a:r>
                      <a:r>
                        <a:rPr kumimoji="0" lang="en-US" altLang="zh-CN" sz="1600" b="0" i="0" u="none" strike="noStrike" kern="1200" cap="none" spc="0" normalizeH="0" baseline="0" dirty="0">
                          <a:ln>
                            <a:noFill/>
                          </a:ln>
                          <a:solidFill>
                            <a:srgbClr val="000000"/>
                          </a:solidFill>
                          <a:effectLst/>
                          <a:uLnTx/>
                          <a:uFillTx/>
                          <a:latin typeface="+mn-lt"/>
                          <a:ea typeface="等线" panose="02010600030101010101" charset="-122"/>
                          <a:cs typeface="+mn-cs"/>
                          <a:sym typeface="+mn-ea"/>
                        </a:rPr>
                        <a:t>hao</a:t>
                      </a:r>
                    </a:p>
                  </a:txBody>
                  <a:tcPr marL="9525" marR="9525" marT="9525" marB="0" anchor="ctr"/>
                </a:tc>
                <a:tc>
                  <a:txBody>
                    <a:bodyPr/>
                    <a:lstStyle/>
                    <a:p>
                      <a:pPr algn="ctr" fontAlgn="b"/>
                      <a:r>
                        <a:rPr lang="zh-CN" altLang="en-US" sz="1600" u="none" strike="noStrike" dirty="0">
                          <a:effectLst/>
                          <a:latin typeface="+mn-lt"/>
                        </a:rPr>
                        <a:t>　</a:t>
                      </a:r>
                      <a:endParaRPr lang="zh-CN" altLang="en-US"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001"/>
                  </a:ext>
                </a:extLst>
              </a:tr>
              <a:tr h="575945">
                <a:tc>
                  <a:txBody>
                    <a:bodyPr/>
                    <a:lstStyle/>
                    <a:p>
                      <a:pPr marL="0" algn="ctr" defTabSz="914400" rtl="0" eaLnBrk="1" fontAlgn="b" latinLnBrk="0" hangingPunct="1"/>
                      <a:endParaRPr lang="en-US" sz="1600" u="none" strike="noStrike" kern="1200" dirty="0">
                        <a:solidFill>
                          <a:srgbClr val="000000"/>
                        </a:solidFill>
                        <a:effectLst/>
                        <a:latin typeface="Calibri" panose="020F0502020204030204" charset="0"/>
                        <a:ea typeface="+mn-ea"/>
                      </a:endParaRPr>
                    </a:p>
                  </a:txBody>
                  <a:tcPr marL="9525" marR="9525" marT="9525" marB="0" anchor="ctr"/>
                </a:tc>
                <a:tc>
                  <a:txBody>
                    <a:bodyPr/>
                    <a:lstStyle/>
                    <a:p>
                      <a:pPr marL="0" algn="l" defTabSz="914400" rtl="0" eaLnBrk="1" fontAlgn="b" latinLnBrk="0" hangingPunct="1"/>
                      <a:endParaRPr lang="zh-CN" altLang="zh-CN" sz="1600" u="none" strike="noStrike" kern="1200" dirty="0">
                        <a:solidFill>
                          <a:srgbClr val="000000"/>
                        </a:solidFill>
                        <a:effectLst/>
                        <a:latin typeface="Calibri" panose="020F0502020204030204" charset="0"/>
                        <a:ea typeface="+mn-ea"/>
                      </a:endParaRPr>
                    </a:p>
                  </a:txBody>
                  <a:tcPr marL="9525" marR="9525" marT="9525" marB="0" anchor="ctr"/>
                </a:tc>
                <a:tc>
                  <a:txBody>
                    <a:bodyPr/>
                    <a:lstStyle/>
                    <a:p>
                      <a:pPr marL="0" algn="ctr" defTabSz="914400" rtl="0" eaLnBrk="1" fontAlgn="b" latinLnBrk="0" hangingPunct="1"/>
                      <a:endParaRPr lang="zh-CN" altLang="en-US" sz="1600" u="none" strike="noStrike" kern="1200" dirty="0">
                        <a:solidFill>
                          <a:srgbClr val="000000"/>
                        </a:solidFill>
                        <a:effectLst/>
                        <a:latin typeface="Calibri" panose="020F0502020204030204" charset="0"/>
                        <a:ea typeface="+mn-ea"/>
                        <a:cs typeface="Arial" panose="020B0604020202020204" pitchFamily="34" charset="0"/>
                      </a:endParaRP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defRPr/>
                      </a:pPr>
                      <a:endParaRPr lang="en-US" altLang="zh-CN" sz="1600" u="none" strike="noStrike" kern="1200" dirty="0">
                        <a:solidFill>
                          <a:srgbClr val="000000"/>
                        </a:solidFill>
                        <a:effectLst/>
                        <a:latin typeface="Calibri" panose="020F0502020204030204" charset="0"/>
                        <a:ea typeface="+mn-ea"/>
                        <a:sym typeface="+mn-ea"/>
                      </a:endParaRPr>
                    </a:p>
                  </a:txBody>
                  <a:tcPr marL="9525" marR="9525" marT="9525" marB="0" anchor="ctr"/>
                </a:tc>
                <a:tc>
                  <a:txBody>
                    <a:bodyPr/>
                    <a:lstStyle/>
                    <a:p>
                      <a:pPr marL="0" algn="ctr" defTabSz="914400" rtl="0" eaLnBrk="1" fontAlgn="b" latinLnBrk="0" hangingPunct="1">
                        <a:buNone/>
                      </a:pPr>
                      <a:endParaRPr lang="zh-CN" altLang="en-US" sz="1600" u="none" strike="noStrike" kern="1200" dirty="0">
                        <a:solidFill>
                          <a:srgbClr val="000000"/>
                        </a:solidFill>
                        <a:effectLst/>
                        <a:latin typeface="Calibri" panose="020F0502020204030204" charset="0"/>
                        <a:ea typeface="+mn-ea"/>
                      </a:endParaRPr>
                    </a:p>
                  </a:txBody>
                  <a:tcPr marL="9525" marR="9525" marT="9525" marB="0" anchor="ctr"/>
                </a:tc>
                <a:extLst>
                  <a:ext uri="{0D108BD9-81ED-4DB2-BD59-A6C34878D82A}">
                    <a16:rowId xmlns:a16="http://schemas.microsoft.com/office/drawing/2014/main" val="10002"/>
                  </a:ext>
                </a:extLst>
              </a:tr>
              <a:tr h="575945">
                <a:tc>
                  <a:txBody>
                    <a:bodyPr/>
                    <a:lstStyle/>
                    <a:p>
                      <a:pPr algn="ctr" fontAlgn="b">
                        <a:buNone/>
                      </a:pPr>
                      <a:endParaRPr lang="en-US" altLang="en-US" sz="1600" b="0" i="0" u="none" strike="noStrike" dirty="0">
                        <a:solidFill>
                          <a:srgbClr val="000000"/>
                        </a:solidFill>
                        <a:effectLst/>
                        <a:latin typeface="+mn-lt"/>
                      </a:endParaRPr>
                    </a:p>
                  </a:txBody>
                  <a:tcPr marL="9525" marR="9525" marT="9525" marB="0" anchor="ctr"/>
                </a:tc>
                <a:tc>
                  <a:txBody>
                    <a:bodyPr/>
                    <a:lstStyle/>
                    <a:p>
                      <a:pPr algn="l" fontAlgn="b">
                        <a:buNone/>
                      </a:pPr>
                      <a:endParaRPr lang="en-US" altLang="zh-CN" sz="1600" b="0" i="0" u="none" strike="noStrike" dirty="0">
                        <a:solidFill>
                          <a:srgbClr val="000000"/>
                        </a:solidFill>
                        <a:effectLst/>
                        <a:latin typeface="+mn-lt"/>
                      </a:endParaRPr>
                    </a:p>
                  </a:txBody>
                  <a:tcPr marL="9525" marR="9525" marT="9525" marB="0" anchor="ctr"/>
                </a:tc>
                <a:tc>
                  <a:txBody>
                    <a:bodyPr/>
                    <a:lstStyle/>
                    <a:p>
                      <a:pPr algn="ctr" fontAlgn="b"/>
                      <a:endParaRPr lang="zh-CN" alt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endParaRPr lang="en-US" sz="1600" dirty="0">
                        <a:solidFill>
                          <a:srgbClr val="000000"/>
                        </a:solidFill>
                        <a:effectLst/>
                        <a:latin typeface="Calibri" panose="020F0502020204030204"/>
                        <a:ea typeface="等线" panose="02010600030101010101" charset="-122"/>
                        <a:sym typeface="+mn-ea"/>
                      </a:endParaRPr>
                    </a:p>
                  </a:txBody>
                  <a:tcPr marL="9525" marR="9525" marT="9525" marB="0" anchor="ctr"/>
                </a:tc>
                <a:tc>
                  <a:txBody>
                    <a:bodyPr/>
                    <a:lstStyle/>
                    <a:p>
                      <a:pPr algn="ctr" fontAlgn="b">
                        <a:buNone/>
                      </a:pPr>
                      <a:endParaRPr lang="zh-CN" altLang="en-US"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003"/>
                  </a:ext>
                </a:extLst>
              </a:tr>
            </a:tbl>
          </a:graphicData>
        </a:graphic>
      </p:graphicFrame>
      <p:sp>
        <p:nvSpPr>
          <p:cNvPr id="3" name="標題 1"/>
          <p:cNvSpPr txBox="1"/>
          <p:nvPr/>
        </p:nvSpPr>
        <p:spPr>
          <a:xfrm>
            <a:off x="740083"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a:sym typeface="+mn-ea"/>
              </a:rPr>
              <a:t>1. Historical version</a:t>
            </a:r>
            <a:endParaRPr lang="en-US" altLang="zh-CN" dirty="0"/>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4</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8"/>
          <a:stretch>
            <a:fillRect/>
          </a:stretch>
        </p:blipFill>
        <p:spPr>
          <a:xfrm>
            <a:off x="1108075" y="1097280"/>
            <a:ext cx="2753360" cy="1972310"/>
          </a:xfrm>
          <a:prstGeom prst="rect">
            <a:avLst/>
          </a:prstGeom>
        </p:spPr>
      </p:pic>
      <p:pic>
        <p:nvPicPr>
          <p:cNvPr id="3" name="图片 2"/>
          <p:cNvPicPr>
            <a:picLocks noChangeAspect="1"/>
          </p:cNvPicPr>
          <p:nvPr/>
        </p:nvPicPr>
        <p:blipFill>
          <a:blip r:embed="rId9"/>
          <a:stretch>
            <a:fillRect/>
          </a:stretch>
        </p:blipFill>
        <p:spPr>
          <a:xfrm>
            <a:off x="7539990" y="1021715"/>
            <a:ext cx="2835275" cy="1964055"/>
          </a:xfrm>
          <a:prstGeom prst="rect">
            <a:avLst/>
          </a:prstGeom>
        </p:spPr>
      </p:pic>
      <p:cxnSp>
        <p:nvCxnSpPr>
          <p:cNvPr id="2" name="直接连接符 1"/>
          <p:cNvCxnSpPr/>
          <p:nvPr/>
        </p:nvCxnSpPr>
        <p:spPr>
          <a:xfrm flipV="1">
            <a:off x="776658" y="3444061"/>
            <a:ext cx="9918236" cy="10106"/>
          </a:xfrm>
          <a:prstGeom prst="line">
            <a:avLst/>
          </a:prstGeom>
          <a:ln w="28575">
            <a:solidFill>
              <a:srgbClr val="005C4F"/>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4"/>
          <p:cNvGraphicFramePr>
            <a:graphicFrameLocks noGrp="1"/>
          </p:cNvGraphicFramePr>
          <p:nvPr>
            <p:custDataLst>
              <p:tags r:id="rId1"/>
            </p:custDataLst>
          </p:nvPr>
        </p:nvGraphicFramePr>
        <p:xfrm>
          <a:off x="658435" y="4016098"/>
          <a:ext cx="10154396" cy="1737360"/>
        </p:xfrm>
        <a:graphic>
          <a:graphicData uri="http://schemas.openxmlformats.org/drawingml/2006/table">
            <a:tbl>
              <a:tblPr firstRow="1" bandRow="1">
                <a:tableStyleId>{2D5ABB26-0587-4C30-8999-92F81FD0307C}</a:tableStyleId>
              </a:tblPr>
              <a:tblGrid>
                <a:gridCol w="1866265">
                  <a:extLst>
                    <a:ext uri="{9D8B030D-6E8A-4147-A177-3AD203B41FA5}">
                      <a16:colId xmlns:a16="http://schemas.microsoft.com/office/drawing/2014/main" val="20000"/>
                    </a:ext>
                  </a:extLst>
                </a:gridCol>
                <a:gridCol w="8288131">
                  <a:extLst>
                    <a:ext uri="{9D8B030D-6E8A-4147-A177-3AD203B41FA5}">
                      <a16:colId xmlns:a16="http://schemas.microsoft.com/office/drawing/2014/main" val="20001"/>
                    </a:ext>
                  </a:extLst>
                </a:gridCol>
              </a:tblGrid>
              <a:tr h="243840">
                <a:tc>
                  <a:txBody>
                    <a:bodyPr/>
                    <a:lstStyle/>
                    <a:p>
                      <a:r>
                        <a:rPr lang="en-US" altLang="zh-CN" sz="1300" dirty="0">
                          <a:latin typeface="Calibri" panose="020F0502020204030204" charset="0"/>
                          <a:ea typeface="黑体" panose="02010609060101010101" charset="-122"/>
                          <a:cs typeface="Calibri" panose="020F0502020204030204" charset="0"/>
                          <a:sym typeface="+mn-ea"/>
                        </a:rPr>
                        <a:t>Purpose</a:t>
                      </a:r>
                      <a:endParaRPr lang="en-US" altLang="zh-CN" sz="1300" b="0" dirty="0">
                        <a:latin typeface="Calibri" panose="020F0502020204030204" charset="0"/>
                        <a:ea typeface="黑体" panose="02010609060101010101" charset="-122"/>
                        <a:cs typeface="Calibri" panose="020F0502020204030204"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300" dirty="0">
                          <a:latin typeface="Calibri" panose="020F0502020204030204" charset="0"/>
                          <a:ea typeface="微软雅黑" panose="020B0503020204020204" pitchFamily="34" charset="-122"/>
                          <a:cs typeface="Calibri" panose="020F0502020204030204" charset="0"/>
                          <a:sym typeface="+mn-ea"/>
                        </a:rPr>
                        <a:t>Take out </a:t>
                      </a:r>
                      <a:r>
                        <a:rPr lang="en-US" sz="1300" dirty="0">
                          <a:solidFill>
                            <a:srgbClr val="000000"/>
                          </a:solidFill>
                          <a:effectLst/>
                          <a:latin typeface="Calibri" panose="020F0502020204030204" charset="0"/>
                          <a:ea typeface="微软雅黑" panose="020B0503020204020204" pitchFamily="34" charset="-122"/>
                          <a:cs typeface="Calibri" panose="020F0502020204030204" charset="0"/>
                          <a:sym typeface="+mn-ea"/>
                        </a:rPr>
                        <a:t>EMI</a:t>
                      </a:r>
                      <a:r>
                        <a:rPr sz="1300" dirty="0">
                          <a:latin typeface="Calibri" panose="020F0502020204030204" charset="0"/>
                          <a:ea typeface="微软雅黑" panose="020B0503020204020204" pitchFamily="34" charset="-122"/>
                          <a:cs typeface="Calibri" panose="020F0502020204030204" charset="0"/>
                          <a:sym typeface="+mn-ea"/>
                        </a:rPr>
                        <a:t> from the </a:t>
                      </a:r>
                      <a:r>
                        <a:rPr lang="en-US" sz="1300" dirty="0">
                          <a:latin typeface="Calibri" panose="020F0502020204030204" charset="0"/>
                          <a:ea typeface="微软雅黑" panose="020B0503020204020204" pitchFamily="34" charset="-122"/>
                          <a:cs typeface="Calibri" panose="020F0502020204030204" charset="0"/>
                          <a:sym typeface="+mn-ea"/>
                        </a:rPr>
                        <a:t>Feeder</a:t>
                      </a:r>
                      <a:r>
                        <a:rPr sz="1300" dirty="0">
                          <a:latin typeface="Calibri" panose="020F0502020204030204" charset="0"/>
                          <a:ea typeface="微软雅黑" panose="020B0503020204020204" pitchFamily="34" charset="-122"/>
                          <a:cs typeface="Calibri" panose="020F0502020204030204" charset="0"/>
                          <a:sym typeface="+mn-ea"/>
                        </a:rPr>
                        <a:t> and attach it to the PCBA board</a:t>
                      </a:r>
                      <a:r>
                        <a:rPr lang="en-US" sz="1300" dirty="0">
                          <a:latin typeface="Calibri" panose="020F0502020204030204" charset="0"/>
                          <a:ea typeface="微软雅黑" panose="020B0503020204020204" pitchFamily="34" charset="-122"/>
                          <a:cs typeface="Calibri" panose="020F0502020204030204" charset="0"/>
                          <a:sym typeface="+mn-ea"/>
                        </a:rPr>
                        <a:t> B-</a:t>
                      </a:r>
                      <a:r>
                        <a:rPr lang="en-US" altLang="zh-CN" sz="1300" dirty="0">
                          <a:latin typeface="Calibri" panose="020F0502020204030204" charset="0"/>
                          <a:ea typeface="微软雅黑" panose="020B0503020204020204" pitchFamily="34" charset="-122"/>
                          <a:cs typeface="Calibri" panose="020F0502020204030204" charset="0"/>
                          <a:sym typeface="+mn-ea"/>
                        </a:rPr>
                        <a:t>side</a:t>
                      </a:r>
                      <a:endParaRPr lang="zh-CN" altLang="en-US" sz="1300" dirty="0">
                        <a:latin typeface="Calibri" panose="020F0502020204030204" charset="0"/>
                        <a:ea typeface="微软雅黑" panose="020B0503020204020204" pitchFamily="34" charset="-122"/>
                        <a:cs typeface="Calibri" panose="020F050202020403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9560">
                <a:tc>
                  <a:txBody>
                    <a:bodyPr/>
                    <a:lstStyle/>
                    <a:p>
                      <a:r>
                        <a:rPr lang="en-US" altLang="zh-CN" sz="1300" kern="1200" dirty="0">
                          <a:solidFill>
                            <a:srgbClr val="000000"/>
                          </a:solidFill>
                          <a:effectLst/>
                          <a:latin typeface="Calibri" panose="020F0502020204030204" charset="0"/>
                          <a:ea typeface="微软雅黑" panose="020B0503020204020204" pitchFamily="34" charset="-122"/>
                          <a:cs typeface="Calibri" panose="020F0502020204030204" charset="0"/>
                          <a:sym typeface="+mn-ea"/>
                        </a:rPr>
                        <a:t>PCBA </a:t>
                      </a:r>
                      <a:r>
                        <a:rPr sz="1300" kern="1200" dirty="0">
                          <a:solidFill>
                            <a:srgbClr val="000000"/>
                          </a:solidFill>
                          <a:effectLst/>
                          <a:latin typeface="Calibri" panose="020F0502020204030204" charset="0"/>
                          <a:ea typeface="微软雅黑" panose="020B0503020204020204" pitchFamily="34" charset="-122"/>
                          <a:cs typeface="Calibri" panose="020F0502020204030204" charset="0"/>
                          <a:sym typeface="+mn-ea"/>
                        </a:rPr>
                        <a:t>board</a:t>
                      </a:r>
                      <a:endParaRPr lang="en-US" altLang="zh-CN" sz="1300" kern="1200" dirty="0">
                        <a:solidFill>
                          <a:srgbClr val="000000"/>
                        </a:solidFill>
                        <a:effectLst/>
                        <a:latin typeface="Calibri" panose="020F0502020204030204" charset="0"/>
                        <a:ea typeface="微软雅黑" panose="020B0503020204020204" pitchFamily="34" charset="-122"/>
                        <a:cs typeface="Calibri" panose="020F0502020204030204"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sz="1300" dirty="0">
                          <a:latin typeface="Calibri" panose="020F0502020204030204" charset="0"/>
                          <a:ea typeface="微软雅黑" panose="020B0503020204020204" pitchFamily="34" charset="-122"/>
                          <a:cs typeface="Calibri" panose="020F0502020204030204" charset="0"/>
                          <a:sym typeface="+mn-ea"/>
                        </a:rPr>
                        <a:t>137.6*199.8mm</a:t>
                      </a:r>
                      <a:endParaRPr lang="en-US" sz="1300" kern="1200" dirty="0">
                        <a:solidFill>
                          <a:schemeClr val="tx1"/>
                        </a:solidFill>
                        <a:latin typeface="Calibri" panose="020F0502020204030204" charset="0"/>
                        <a:ea typeface="微软雅黑" panose="020B0503020204020204" pitchFamily="34" charset="-122"/>
                        <a:cs typeface="Calibri" panose="020F050202020403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43840">
                <a:tc>
                  <a:txBody>
                    <a:bodyPr/>
                    <a:lstStyle/>
                    <a:p>
                      <a:r>
                        <a:rPr lang="en-US" altLang="zh-CN" sz="1300" dirty="0">
                          <a:latin typeface="Calibri" panose="020F0502020204030204" charset="0"/>
                          <a:cs typeface="Calibri" panose="020F0502020204030204" charset="0"/>
                        </a:rPr>
                        <a:t>Tool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00" dirty="0">
                          <a:latin typeface="Calibri" panose="020F0502020204030204" charset="0"/>
                          <a:ea typeface="黑体" panose="02010609060101010101" charset="-122"/>
                          <a:cs typeface="Calibri" panose="020F0502020204030204" charset="0"/>
                          <a:sym typeface="+mn-ea"/>
                        </a:rPr>
                        <a:t>TABLE Load transfer component，</a:t>
                      </a:r>
                      <a:r>
                        <a:rPr lang="zh-CN" altLang="en-US" sz="1300" dirty="0">
                          <a:latin typeface="Calibri" panose="020F0502020204030204" charset="0"/>
                          <a:ea typeface="微软雅黑" panose="020B0503020204020204" pitchFamily="34" charset="-122"/>
                          <a:cs typeface="Calibri" panose="020F0502020204030204" charset="0"/>
                          <a:sym typeface="+mn-ea"/>
                        </a:rPr>
                        <a:t>Suction nozzle</a:t>
                      </a:r>
                      <a:r>
                        <a:rPr lang="zh-CN" altLang="en-US" sz="1300" dirty="0">
                          <a:latin typeface="Calibri" panose="020F0502020204030204" charset="0"/>
                          <a:ea typeface="黑体" panose="02010609060101010101" charset="-122"/>
                          <a:cs typeface="Calibri" panose="020F0502020204030204" charset="0"/>
                          <a:sym typeface="+mn-ea"/>
                        </a:rPr>
                        <a:t>，</a:t>
                      </a:r>
                      <a:r>
                        <a:rPr lang="en-US" altLang="zh-CN" sz="1300" dirty="0">
                          <a:latin typeface="Calibri" panose="020F0502020204030204" charset="0"/>
                          <a:ea typeface="黑体" panose="02010609060101010101" charset="-122"/>
                          <a:cs typeface="Calibri" panose="020F0502020204030204" charset="0"/>
                          <a:sym typeface="+mn-ea"/>
                        </a:rPr>
                        <a:t>CCD</a:t>
                      </a:r>
                      <a:r>
                        <a:rPr lang="zh-CN" altLang="en-US" sz="1300" dirty="0">
                          <a:latin typeface="Calibri" panose="020F0502020204030204" charset="0"/>
                          <a:cs typeface="Calibri" panose="020F0502020204030204" charset="0"/>
                          <a:sym typeface="+mn-ea"/>
                        </a:rPr>
                        <a:t>，</a:t>
                      </a:r>
                      <a:r>
                        <a:rPr lang="en-US" altLang="zh-CN" sz="1300" dirty="0">
                          <a:latin typeface="Calibri" panose="020F0502020204030204" charset="0"/>
                          <a:cs typeface="Calibri" panose="020F0502020204030204" charset="0"/>
                          <a:sym typeface="+mn-ea"/>
                        </a:rPr>
                        <a:t>Feeder</a:t>
                      </a:r>
                      <a:r>
                        <a:rPr lang="zh-CN" altLang="en-US" sz="1300" dirty="0">
                          <a:latin typeface="Calibri" panose="020F0502020204030204" charset="0"/>
                          <a:cs typeface="Calibri" panose="020F0502020204030204" charset="0"/>
                          <a:sym typeface="+mn-ea"/>
                        </a:rPr>
                        <a:t>，</a:t>
                      </a:r>
                      <a:r>
                        <a:rPr lang="en-US" altLang="zh-CN" sz="1300" dirty="0">
                          <a:latin typeface="Calibri" panose="020F0502020204030204" charset="0"/>
                          <a:cs typeface="Calibri" panose="020F0502020204030204" charset="0"/>
                          <a:sym typeface="+mn-ea"/>
                        </a:rPr>
                        <a:t>A</a:t>
                      </a:r>
                      <a:r>
                        <a:rPr lang="zh-CN" altLang="en-US" sz="1300" dirty="0">
                          <a:latin typeface="Calibri" panose="020F0502020204030204" charset="0"/>
                          <a:cs typeface="Calibri" panose="020F0502020204030204" charset="0"/>
                          <a:sym typeface="+mn-ea"/>
                        </a:rPr>
                        <a:t>ctuator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3840">
                <a:tc>
                  <a:txBody>
                    <a:bodyPr/>
                    <a:lstStyle/>
                    <a:p>
                      <a:r>
                        <a:rPr lang="en-US" altLang="zh-CN" sz="1300" dirty="0">
                          <a:latin typeface="Calibri" panose="020F0502020204030204" charset="0"/>
                          <a:cs typeface="Calibri" panose="020F0502020204030204" charset="0"/>
                          <a:sym typeface="+mn-ea"/>
                        </a:rPr>
                        <a:t>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300" dirty="0">
                          <a:latin typeface="Calibri" panose="020F0502020204030204" charset="0"/>
                          <a:ea typeface="微软雅黑" panose="020B0503020204020204" pitchFamily="34" charset="-122"/>
                          <a:cs typeface="Calibri" panose="020F0502020204030204" charset="0"/>
                          <a:sym typeface="+mn-ea"/>
                        </a:rPr>
                        <a:t>CCD calibration</a:t>
                      </a:r>
                      <a:endParaRPr lang="zh-CN" altLang="en-US" sz="1300" dirty="0">
                        <a:latin typeface="Calibri" panose="020F0502020204030204" charset="0"/>
                        <a:ea typeface="微软雅黑" panose="020B0503020204020204" pitchFamily="34" charset="-122"/>
                        <a:cs typeface="Calibri" panose="020F0502020204030204" charset="0"/>
                        <a:sym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r>
                        <a:rPr lang="en-US" altLang="zh-CN" sz="1300" dirty="0">
                          <a:latin typeface="Calibri" panose="020F0502020204030204" charset="0"/>
                          <a:cs typeface="Calibri" panose="020F0502020204030204" charset="0"/>
                          <a:sym typeface="+mn-ea"/>
                        </a:rPr>
                        <a:t>Process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altLang="zh-CN" sz="1300" b="0" dirty="0">
                          <a:solidFill>
                            <a:schemeClr val="tx1"/>
                          </a:solidFill>
                          <a:latin typeface="Calibri" panose="020F0502020204030204" charset="0"/>
                          <a:ea typeface="黑体" panose="02010609060101010101" charset="-122"/>
                          <a:cs typeface="Calibri" panose="020F0502020204030204" charset="0"/>
                          <a:sym typeface="+mn-ea"/>
                        </a:rPr>
                        <a:t>Alignment tolerance:</a:t>
                      </a:r>
                      <a:r>
                        <a:rPr lang="en-US" altLang="zh-CN" sz="1300" b="0" baseline="0" dirty="0">
                          <a:solidFill>
                            <a:schemeClr val="tx1"/>
                          </a:solidFill>
                          <a:latin typeface="Calibri" panose="020F0502020204030204" charset="0"/>
                          <a:cs typeface="Calibri" panose="020F0502020204030204" charset="0"/>
                        </a:rPr>
                        <a:t> +/- 0.13mm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r>
                        <a:rPr lang="en-US" altLang="zh-CN" sz="1300" dirty="0">
                          <a:latin typeface="Calibri" panose="020F0502020204030204" charset="0"/>
                          <a:cs typeface="Calibri" panose="020F0502020204030204" charset="0"/>
                          <a:sym typeface="+mn-ea"/>
                        </a:rPr>
                        <a:t>UPH requirements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 typeface="Arial" panose="020B0604020202020204" pitchFamily="34" charset="0"/>
                        <a:buNone/>
                      </a:pPr>
                      <a:r>
                        <a:rPr lang="en-US" sz="1300" baseline="0" dirty="0">
                          <a:solidFill>
                            <a:schemeClr val="tx1"/>
                          </a:solidFill>
                          <a:latin typeface="Calibri" panose="020F0502020204030204" charset="0"/>
                          <a:cs typeface="Calibri" panose="020F0502020204030204" charset="0"/>
                        </a:rPr>
                        <a:t>640PCS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文本框 13"/>
          <p:cNvSpPr txBox="1"/>
          <p:nvPr/>
        </p:nvSpPr>
        <p:spPr>
          <a:xfrm>
            <a:off x="7575730" y="3013999"/>
            <a:ext cx="2799710" cy="292388"/>
          </a:xfrm>
          <a:prstGeom prst="rect">
            <a:avLst/>
          </a:prstGeom>
          <a:noFill/>
        </p:spPr>
        <p:txBody>
          <a:bodyPr wrap="square" rtlCol="0">
            <a:spAutoFit/>
          </a:bodyPr>
          <a:lstStyle/>
          <a:p>
            <a:pPr algn="ctr"/>
            <a:r>
              <a:rPr sz="1300" dirty="0">
                <a:solidFill>
                  <a:srgbClr val="000000"/>
                </a:solidFill>
                <a:effectLst/>
                <a:latin typeface="Calibri" panose="020F0502020204030204" charset="0"/>
                <a:cs typeface="Calibri" panose="020F0502020204030204" charset="0"/>
                <a:sym typeface="+mn-ea"/>
              </a:rPr>
              <a:t>Attach </a:t>
            </a:r>
            <a:r>
              <a:rPr lang="en-US" sz="1300" dirty="0">
                <a:solidFill>
                  <a:srgbClr val="000000"/>
                </a:solidFill>
                <a:latin typeface="Calibri" panose="020F0502020204030204" charset="0"/>
                <a:cs typeface="Calibri" panose="020F0502020204030204" charset="0"/>
                <a:sym typeface="+mn-ea"/>
              </a:rPr>
              <a:t>EMI</a:t>
            </a:r>
            <a:r>
              <a:rPr sz="1300" dirty="0">
                <a:solidFill>
                  <a:srgbClr val="000000"/>
                </a:solidFill>
                <a:effectLst/>
                <a:latin typeface="Calibri" panose="020F0502020204030204" charset="0"/>
                <a:cs typeface="Calibri" panose="020F0502020204030204" charset="0"/>
                <a:sym typeface="+mn-ea"/>
              </a:rPr>
              <a:t> to PCBA board</a:t>
            </a:r>
            <a:r>
              <a:rPr lang="en-US" sz="1300" dirty="0">
                <a:solidFill>
                  <a:srgbClr val="000000"/>
                </a:solidFill>
                <a:effectLst/>
                <a:latin typeface="Calibri" panose="020F0502020204030204" charset="0"/>
                <a:cs typeface="Calibri" panose="020F0502020204030204" charset="0"/>
                <a:sym typeface="+mn-ea"/>
              </a:rPr>
              <a:t> B-</a:t>
            </a:r>
            <a:r>
              <a:rPr lang="en-US" altLang="zh-CN" sz="1300" dirty="0">
                <a:solidFill>
                  <a:srgbClr val="000000"/>
                </a:solidFill>
                <a:effectLst/>
                <a:latin typeface="Calibri" panose="020F0502020204030204" charset="0"/>
                <a:cs typeface="Calibri" panose="020F0502020204030204" charset="0"/>
                <a:sym typeface="+mn-ea"/>
              </a:rPr>
              <a:t>side</a:t>
            </a:r>
            <a:endParaRPr lang="zh-CN" altLang="en-US" sz="1300" dirty="0">
              <a:solidFill>
                <a:srgbClr val="000000"/>
              </a:solidFill>
              <a:effectLst/>
              <a:latin typeface="Calibri" panose="020F0502020204030204" charset="0"/>
              <a:cs typeface="Calibri" panose="020F0502020204030204" charset="0"/>
              <a:sym typeface="+mn-ea"/>
            </a:endParaRPr>
          </a:p>
        </p:txBody>
      </p:sp>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300" smtClean="0">
                <a:solidFill>
                  <a:srgbClr val="898989"/>
                </a:solidFill>
                <a:ea typeface="微软雅黑" panose="020B0503020204020204" pitchFamily="34" charset="-122"/>
                <a:cs typeface="Calibri" panose="020F0502020204030204" charset="0"/>
              </a:rPr>
              <a:t>5</a:t>
            </a:fld>
            <a:endParaRPr lang="zh-TW" altLang="en-US" sz="1300" dirty="0">
              <a:solidFill>
                <a:srgbClr val="898989"/>
              </a:solidFill>
              <a:ea typeface="微软雅黑" panose="020B0503020204020204" pitchFamily="34" charset="-122"/>
              <a:cs typeface="Calibri" panose="020F0502020204030204" charset="0"/>
            </a:endParaRPr>
          </a:p>
        </p:txBody>
      </p:sp>
      <p:sp>
        <p:nvSpPr>
          <p:cNvPr id="7" name="TextBox 29"/>
          <p:cNvSpPr txBox="1">
            <a:spLocks noChangeArrowheads="1"/>
          </p:cNvSpPr>
          <p:nvPr/>
        </p:nvSpPr>
        <p:spPr bwMode="auto">
          <a:xfrm>
            <a:off x="10915291" y="782112"/>
            <a:ext cx="1078053"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300">
                <a:cs typeface="Calibri" panose="020F0502020204030204" charset="0"/>
              </a:rPr>
              <a:t>unit</a:t>
            </a:r>
            <a:r>
              <a:rPr lang="zh-CN" altLang="en-US" sz="1300">
                <a:cs typeface="Calibri" panose="020F0502020204030204" charset="0"/>
              </a:rPr>
              <a:t>：</a:t>
            </a:r>
            <a:r>
              <a:rPr lang="en-US" altLang="zh-CN" sz="1300">
                <a:cs typeface="Calibri" panose="020F0502020204030204" charset="0"/>
              </a:rPr>
              <a:t>mm</a:t>
            </a:r>
            <a:endParaRPr lang="zh-CN" altLang="en-US" sz="1300">
              <a:cs typeface="Calibri" panose="020F0502020204030204" charset="0"/>
            </a:endParaRPr>
          </a:p>
        </p:txBody>
      </p:sp>
      <p:sp>
        <p:nvSpPr>
          <p:cNvPr id="15" name="文本框 14"/>
          <p:cNvSpPr txBox="1"/>
          <p:nvPr>
            <p:custDataLst>
              <p:tags r:id="rId3"/>
            </p:custDataLst>
          </p:nvPr>
        </p:nvSpPr>
        <p:spPr>
          <a:xfrm>
            <a:off x="1703912" y="3069542"/>
            <a:ext cx="1191619" cy="291465"/>
          </a:xfrm>
          <a:prstGeom prst="rect">
            <a:avLst/>
          </a:prstGeom>
          <a:noFill/>
        </p:spPr>
        <p:txBody>
          <a:bodyPr wrap="square" rtlCol="0">
            <a:spAutoFit/>
          </a:bodyPr>
          <a:lstStyle/>
          <a:p>
            <a:pPr algn="ctr"/>
            <a:r>
              <a:rPr lang="en-US" altLang="zh-CN" sz="1300" dirty="0">
                <a:latin typeface="Calibri" panose="020F0502020204030204" charset="0"/>
                <a:cs typeface="Calibri" panose="020F0502020204030204" charset="0"/>
              </a:rPr>
              <a:t>PCBA </a:t>
            </a:r>
            <a:r>
              <a:rPr sz="1300" dirty="0">
                <a:solidFill>
                  <a:srgbClr val="000000"/>
                </a:solidFill>
                <a:effectLst/>
                <a:latin typeface="Calibri" panose="020F0502020204030204" charset="0"/>
                <a:cs typeface="Calibri" panose="020F0502020204030204" charset="0"/>
                <a:sym typeface="+mn-ea"/>
              </a:rPr>
              <a:t>board</a:t>
            </a:r>
            <a:endParaRPr lang="zh-CN" altLang="en-US" sz="1300" dirty="0">
              <a:latin typeface="Calibri" panose="020F0502020204030204" charset="0"/>
              <a:cs typeface="Calibri" panose="020F0502020204030204" charset="0"/>
            </a:endParaRPr>
          </a:p>
        </p:txBody>
      </p:sp>
      <p:sp>
        <p:nvSpPr>
          <p:cNvPr id="17" name="文本框 16"/>
          <p:cNvSpPr txBox="1"/>
          <p:nvPr>
            <p:custDataLst>
              <p:tags r:id="rId4"/>
            </p:custDataLst>
          </p:nvPr>
        </p:nvSpPr>
        <p:spPr>
          <a:xfrm>
            <a:off x="419907" y="891560"/>
            <a:ext cx="2182438" cy="322580"/>
          </a:xfrm>
          <a:prstGeom prst="rect">
            <a:avLst/>
          </a:prstGeom>
          <a:noFill/>
        </p:spPr>
        <p:txBody>
          <a:bodyPr wrap="square" lIns="0" tIns="0" rtlCol="0">
            <a:spAutoFit/>
          </a:bodyPr>
          <a:lstStyle/>
          <a:p>
            <a:r>
              <a:rPr lang="en-US" altLang="zh-CN" dirty="0">
                <a:ea typeface="微软雅黑" panose="020B0503020204020204" pitchFamily="34" charset="-122"/>
                <a:sym typeface="宋体" panose="02010600030101010101" pitchFamily="2" charset="-122"/>
              </a:rPr>
              <a:t>Function:</a:t>
            </a:r>
            <a:endParaRPr lang="zh-CN" altLang="en-US" dirty="0">
              <a:latin typeface="Arial" panose="020B0604020202020204" pitchFamily="34" charset="0"/>
              <a:ea typeface="微软雅黑" panose="020B0503020204020204" pitchFamily="34" charset="-122"/>
              <a:cs typeface="Arial" panose="020B0604020202020204" pitchFamily="34" charset="0"/>
            </a:endParaRPr>
          </a:p>
        </p:txBody>
      </p:sp>
      <p:sp>
        <p:nvSpPr>
          <p:cNvPr id="18" name="標題 1"/>
          <p:cNvSpPr txBox="1"/>
          <p:nvPr>
            <p:custDataLst>
              <p:tags r:id="rId5"/>
            </p:custDataLst>
          </p:nvPr>
        </p:nvSpPr>
        <p:spPr>
          <a:xfrm>
            <a:off x="741988" y="135368"/>
            <a:ext cx="9543610" cy="150558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2. </a:t>
            </a:r>
            <a:r>
              <a:rPr lang="en-US" altLang="zh-CN" dirty="0">
                <a:sym typeface="宋体" panose="02010600030101010101" pitchFamily="2" charset="-122"/>
              </a:rPr>
              <a:t>Machine Performance Design</a:t>
            </a:r>
            <a:endParaRPr lang="en-US" altLang="zh-CN" dirty="0">
              <a:latin typeface="+mn-lt"/>
            </a:endParaRPr>
          </a:p>
          <a:p>
            <a:pPr lvl="0" algn="l">
              <a:buClrTx/>
              <a:buSzTx/>
              <a:buFontTx/>
              <a:defRPr/>
            </a:pPr>
            <a:endParaRPr lang="en-US" altLang="zh-CN" dirty="0">
              <a:latin typeface="+mn-lt"/>
            </a:endParaRPr>
          </a:p>
          <a:p>
            <a:pPr lvl="0" algn="l">
              <a:buClrTx/>
              <a:buSzTx/>
              <a:buFontTx/>
              <a:defRPr/>
            </a:pPr>
            <a:endParaRPr lang="en-US" altLang="zh-CN" dirty="0">
              <a:latin typeface="+mn-lt"/>
            </a:endParaRPr>
          </a:p>
        </p:txBody>
      </p:sp>
      <p:sp>
        <p:nvSpPr>
          <p:cNvPr id="28" name="Arrow: Right 7"/>
          <p:cNvSpPr/>
          <p:nvPr/>
        </p:nvSpPr>
        <p:spPr>
          <a:xfrm>
            <a:off x="6635912" y="1966262"/>
            <a:ext cx="471216" cy="412983"/>
          </a:xfrm>
          <a:prstGeom prst="rightArrow">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ross 12"/>
          <p:cNvSpPr/>
          <p:nvPr/>
        </p:nvSpPr>
        <p:spPr>
          <a:xfrm>
            <a:off x="4237005" y="2033569"/>
            <a:ext cx="339864" cy="345676"/>
          </a:xfrm>
          <a:prstGeom prst="plus">
            <a:avLst>
              <a:gd name="adj" fmla="val 35506"/>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文本框 29"/>
          <p:cNvSpPr txBox="1"/>
          <p:nvPr/>
        </p:nvSpPr>
        <p:spPr>
          <a:xfrm>
            <a:off x="4642662" y="2985770"/>
            <a:ext cx="1724025" cy="275590"/>
          </a:xfrm>
          <a:prstGeom prst="rect">
            <a:avLst/>
          </a:prstGeom>
          <a:noFill/>
        </p:spPr>
        <p:txBody>
          <a:bodyPr wrap="square" rtlCol="0">
            <a:spAutoFit/>
          </a:bodyPr>
          <a:lstStyle/>
          <a:p>
            <a:pPr algn="ctr"/>
            <a:r>
              <a:rPr lang="en-US" sz="1200" dirty="0">
                <a:latin typeface="Arial" panose="020B0604020202020204" pitchFamily="34" charset="0"/>
                <a:cs typeface="Arial" panose="020B0604020202020204" pitchFamily="34" charset="0"/>
              </a:rPr>
              <a:t>EMI</a:t>
            </a:r>
          </a:p>
        </p:txBody>
      </p:sp>
      <p:pic>
        <p:nvPicPr>
          <p:cNvPr id="33" name="图片 32"/>
          <p:cNvPicPr>
            <a:picLocks noChangeAspect="1"/>
          </p:cNvPicPr>
          <p:nvPr/>
        </p:nvPicPr>
        <p:blipFill>
          <a:blip r:embed="rId10"/>
          <a:stretch>
            <a:fillRect/>
          </a:stretch>
        </p:blipFill>
        <p:spPr>
          <a:xfrm>
            <a:off x="5275751" y="1694708"/>
            <a:ext cx="491347" cy="118742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lgn="l">
              <a:buClrTx/>
              <a:buSzTx/>
              <a:buFontTx/>
              <a:defRPr/>
            </a:pPr>
            <a:r>
              <a:rPr lang="en-US" altLang="zh-CN" noProof="0" dirty="0">
                <a:sym typeface="+mn-ea"/>
              </a:rPr>
              <a:t>3.</a:t>
            </a:r>
            <a:r>
              <a:rPr lang="en-US" altLang="zh-CN" dirty="0">
                <a:sym typeface="+mn-ea"/>
              </a:rPr>
              <a:t>Product</a:t>
            </a:r>
            <a:r>
              <a:rPr lang="zh-CN" altLang="en-US" dirty="0">
                <a:sym typeface="+mn-ea"/>
              </a:rPr>
              <a:t> </a:t>
            </a:r>
            <a:r>
              <a:rPr lang="en-US" altLang="zh-CN" dirty="0">
                <a:sym typeface="+mn-ea"/>
              </a:rPr>
              <a:t>Change</a:t>
            </a:r>
            <a:endParaRPr lang="en-US" altLang="zh-CN" dirty="0">
              <a:latin typeface="+mn-lt"/>
            </a:endParaRPr>
          </a:p>
        </p:txBody>
      </p:sp>
      <p:sp>
        <p:nvSpPr>
          <p:cNvPr id="11" name="文本框 10"/>
          <p:cNvSpPr txBox="1"/>
          <p:nvPr/>
        </p:nvSpPr>
        <p:spPr>
          <a:xfrm>
            <a:off x="954405" y="938530"/>
            <a:ext cx="922655" cy="350520"/>
          </a:xfrm>
          <a:prstGeom prst="rect">
            <a:avLst/>
          </a:prstGeom>
          <a:noFill/>
        </p:spPr>
        <p:txBody>
          <a:bodyPr wrap="square" lIns="0" tIns="0" rtlCol="0">
            <a:noAutofit/>
          </a:bodyPr>
          <a:lstStyle/>
          <a:p>
            <a:r>
              <a:rPr lang="en-US" altLang="zh-CN" dirty="0">
                <a:latin typeface="Arial" panose="020B0604020202020204" pitchFamily="34" charset="0"/>
                <a:ea typeface="微软雅黑" panose="020B0503020204020204" pitchFamily="34" charset="-122"/>
                <a:cs typeface="Arial" panose="020B0604020202020204" pitchFamily="34" charset="0"/>
              </a:rPr>
              <a:t>PCBA</a:t>
            </a:r>
            <a:r>
              <a:rPr lang="zh-CN" altLang="en-US" dirty="0">
                <a:latin typeface="Arial" panose="020B0604020202020204" pitchFamily="34" charset="0"/>
                <a:ea typeface="微软雅黑" panose="020B0503020204020204" pitchFamily="34" charset="-122"/>
                <a:cs typeface="Arial" panose="020B0604020202020204" pitchFamily="34" charset="0"/>
              </a:rPr>
              <a:t>：</a:t>
            </a: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6</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8" name="Arrow: Right 7"/>
          <p:cNvSpPr/>
          <p:nvPr/>
        </p:nvSpPr>
        <p:spPr>
          <a:xfrm>
            <a:off x="5986206" y="3402620"/>
            <a:ext cx="460318" cy="365539"/>
          </a:xfrm>
          <a:prstGeom prst="rightArrow">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组合 12"/>
          <p:cNvGrpSpPr/>
          <p:nvPr/>
        </p:nvGrpSpPr>
        <p:grpSpPr>
          <a:xfrm>
            <a:off x="6832600" y="2062480"/>
            <a:ext cx="5083810" cy="3022777"/>
            <a:chOff x="10411" y="1642"/>
            <a:chExt cx="7244" cy="4134"/>
          </a:xfrm>
        </p:grpSpPr>
        <p:pic>
          <p:nvPicPr>
            <p:cNvPr id="4" name="图片 3"/>
            <p:cNvPicPr>
              <a:picLocks noChangeAspect="1"/>
            </p:cNvPicPr>
            <p:nvPr>
              <p:custDataLst>
                <p:tags r:id="rId3"/>
              </p:custDataLst>
            </p:nvPr>
          </p:nvPicPr>
          <p:blipFill>
            <a:blip r:embed="rId6"/>
            <a:stretch>
              <a:fillRect/>
            </a:stretch>
          </p:blipFill>
          <p:spPr>
            <a:xfrm>
              <a:off x="10411" y="1642"/>
              <a:ext cx="5537" cy="3851"/>
            </a:xfrm>
            <a:prstGeom prst="rect">
              <a:avLst/>
            </a:prstGeom>
          </p:spPr>
        </p:pic>
        <p:grpSp>
          <p:nvGrpSpPr>
            <p:cNvPr id="24" name="组合 23"/>
            <p:cNvGrpSpPr/>
            <p:nvPr/>
          </p:nvGrpSpPr>
          <p:grpSpPr>
            <a:xfrm rot="16200000">
              <a:off x="12868" y="3277"/>
              <a:ext cx="506" cy="4492"/>
              <a:chOff x="6014777" y="3267157"/>
              <a:chExt cx="852721" cy="852713"/>
            </a:xfrm>
          </p:grpSpPr>
          <p:cxnSp>
            <p:nvCxnSpPr>
              <p:cNvPr id="25" name="直接连接符 24"/>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8" name="TextBox 45"/>
              <p:cNvSpPr txBox="1"/>
              <p:nvPr/>
            </p:nvSpPr>
            <p:spPr>
              <a:xfrm rot="5400000">
                <a:off x="6246063" y="3464823"/>
                <a:ext cx="536293" cy="706576"/>
              </a:xfrm>
              <a:prstGeom prst="rect">
                <a:avLst/>
              </a:prstGeom>
              <a:noFill/>
            </p:spPr>
            <p:txBody>
              <a:bodyPr wrap="square" rtlCol="0">
                <a:spAutoFit/>
              </a:bodyPr>
              <a:lstStyle/>
              <a:p>
                <a:r>
                  <a:rPr lang="en-US" altLang="zh-CN" sz="1400" dirty="0"/>
                  <a:t>184mm</a:t>
                </a:r>
              </a:p>
            </p:txBody>
          </p:sp>
        </p:grpSp>
        <p:grpSp>
          <p:nvGrpSpPr>
            <p:cNvPr id="45" name="组合 44"/>
            <p:cNvGrpSpPr/>
            <p:nvPr/>
          </p:nvGrpSpPr>
          <p:grpSpPr>
            <a:xfrm rot="10800000">
              <a:off x="15645" y="1905"/>
              <a:ext cx="2010" cy="3342"/>
              <a:chOff x="5624341" y="3267157"/>
              <a:chExt cx="1100045" cy="852713"/>
            </a:xfrm>
          </p:grpSpPr>
          <p:cxnSp>
            <p:nvCxnSpPr>
              <p:cNvPr id="46" name="直接连接符 45"/>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0" name="TextBox 45"/>
              <p:cNvSpPr txBox="1"/>
              <p:nvPr/>
            </p:nvSpPr>
            <p:spPr>
              <a:xfrm rot="10800000">
                <a:off x="5624341" y="3567496"/>
                <a:ext cx="588839" cy="182151"/>
              </a:xfrm>
              <a:prstGeom prst="rect">
                <a:avLst/>
              </a:prstGeom>
              <a:noFill/>
            </p:spPr>
            <p:txBody>
              <a:bodyPr wrap="square" rtlCol="0">
                <a:spAutoFit/>
              </a:bodyPr>
              <a:lstStyle/>
              <a:p>
                <a:r>
                  <a:rPr lang="en-US" altLang="zh-CN" sz="1400" dirty="0"/>
                  <a:t>137.6mm</a:t>
                </a:r>
              </a:p>
            </p:txBody>
          </p:sp>
        </p:grpSp>
      </p:grpSp>
      <p:grpSp>
        <p:nvGrpSpPr>
          <p:cNvPr id="6" name="组合 5"/>
          <p:cNvGrpSpPr/>
          <p:nvPr/>
        </p:nvGrpSpPr>
        <p:grpSpPr>
          <a:xfrm>
            <a:off x="863600" y="2070735"/>
            <a:ext cx="5074920" cy="3074042"/>
            <a:chOff x="2289" y="1565"/>
            <a:chExt cx="7026" cy="4180"/>
          </a:xfrm>
        </p:grpSpPr>
        <p:pic>
          <p:nvPicPr>
            <p:cNvPr id="3" name="图片 2"/>
            <p:cNvPicPr>
              <a:picLocks noChangeAspect="1"/>
            </p:cNvPicPr>
            <p:nvPr>
              <p:custDataLst>
                <p:tags r:id="rId2"/>
              </p:custDataLst>
            </p:nvPr>
          </p:nvPicPr>
          <p:blipFill>
            <a:blip r:embed="rId7"/>
            <a:stretch>
              <a:fillRect/>
            </a:stretch>
          </p:blipFill>
          <p:spPr>
            <a:xfrm>
              <a:off x="2300" y="1565"/>
              <a:ext cx="4775" cy="3690"/>
            </a:xfrm>
            <a:prstGeom prst="rect">
              <a:avLst/>
            </a:prstGeom>
          </p:spPr>
        </p:pic>
        <p:grpSp>
          <p:nvGrpSpPr>
            <p:cNvPr id="49" name="组合 48"/>
            <p:cNvGrpSpPr/>
            <p:nvPr/>
          </p:nvGrpSpPr>
          <p:grpSpPr>
            <a:xfrm rot="10800000">
              <a:off x="7256" y="2019"/>
              <a:ext cx="2059" cy="3118"/>
              <a:chOff x="5563131" y="3267157"/>
              <a:chExt cx="1021485" cy="854797"/>
            </a:xfrm>
          </p:grpSpPr>
          <p:cxnSp>
            <p:nvCxnSpPr>
              <p:cNvPr id="50" name="直接连接符 49"/>
              <p:cNvCxnSpPr/>
              <p:nvPr/>
            </p:nvCxnSpPr>
            <p:spPr>
              <a:xfrm rot="10800000" flipV="1">
                <a:off x="6024505" y="3267157"/>
                <a:ext cx="500336" cy="2084"/>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10800000">
                <a:off x="6014777" y="4119870"/>
                <a:ext cx="569839" cy="2084"/>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rot="10800000" flipV="1">
                <a:off x="6213188" y="3267157"/>
                <a:ext cx="0" cy="852714"/>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3" name="TextBox 45"/>
              <p:cNvSpPr txBox="1"/>
              <p:nvPr/>
            </p:nvSpPr>
            <p:spPr>
              <a:xfrm rot="10800000">
                <a:off x="5563131" y="3591201"/>
                <a:ext cx="666768" cy="114326"/>
              </a:xfrm>
              <a:prstGeom prst="rect">
                <a:avLst/>
              </a:prstGeom>
              <a:noFill/>
            </p:spPr>
            <p:txBody>
              <a:bodyPr wrap="square" rtlCol="0">
                <a:spAutoFit/>
              </a:bodyPr>
              <a:lstStyle/>
              <a:p>
                <a:r>
                  <a:rPr lang="en-US" altLang="zh-CN" sz="1400" dirty="0"/>
                  <a:t>159mm</a:t>
                </a:r>
              </a:p>
            </p:txBody>
          </p:sp>
        </p:grpSp>
        <p:grpSp>
          <p:nvGrpSpPr>
            <p:cNvPr id="71" name="组合 70"/>
            <p:cNvGrpSpPr/>
            <p:nvPr/>
          </p:nvGrpSpPr>
          <p:grpSpPr>
            <a:xfrm rot="16200000">
              <a:off x="4359" y="3145"/>
              <a:ext cx="530" cy="4670"/>
              <a:chOff x="6014777" y="3267157"/>
              <a:chExt cx="853217" cy="852713"/>
            </a:xfrm>
          </p:grpSpPr>
          <p:cxnSp>
            <p:nvCxnSpPr>
              <p:cNvPr id="72" name="直接连接符 71"/>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rot="10800000" flipV="1">
                <a:off x="6213180" y="3267157"/>
                <a:ext cx="8" cy="845146"/>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5" name="TextBox 45"/>
              <p:cNvSpPr txBox="1"/>
              <p:nvPr/>
            </p:nvSpPr>
            <p:spPr>
              <a:xfrm rot="5400000">
                <a:off x="6264008" y="3482418"/>
                <a:ext cx="536293" cy="671678"/>
              </a:xfrm>
              <a:prstGeom prst="rect">
                <a:avLst/>
              </a:prstGeom>
              <a:noFill/>
            </p:spPr>
            <p:txBody>
              <a:bodyPr wrap="square" rtlCol="0">
                <a:spAutoFit/>
              </a:bodyPr>
              <a:lstStyle/>
              <a:p>
                <a:r>
                  <a:rPr lang="en-US" altLang="zh-CN" sz="1400" dirty="0"/>
                  <a:t>187.8mm</a:t>
                </a:r>
              </a:p>
            </p:txBody>
          </p:sp>
        </p:grpSp>
      </p:grpSp>
      <p:sp>
        <p:nvSpPr>
          <p:cNvPr id="15" name="文本框 14"/>
          <p:cNvSpPr txBox="1"/>
          <p:nvPr/>
        </p:nvSpPr>
        <p:spPr>
          <a:xfrm>
            <a:off x="1350645" y="1616710"/>
            <a:ext cx="1650365" cy="322580"/>
          </a:xfrm>
          <a:prstGeom prst="rect">
            <a:avLst/>
          </a:prstGeom>
          <a:noFill/>
        </p:spPr>
        <p:txBody>
          <a:bodyPr wrap="square" lIns="0" tIns="0" rtlCol="0">
            <a:spAutoFit/>
          </a:bodyPr>
          <a:lstStyle/>
          <a:p>
            <a:r>
              <a:rPr lang="en-US" altLang="zh-CN" dirty="0">
                <a:latin typeface="Arial" panose="020B0604020202020204" pitchFamily="34" charset="0"/>
                <a:ea typeface="微软雅黑" panose="020B0503020204020204" pitchFamily="34" charset="-122"/>
                <a:cs typeface="Arial" panose="020B0604020202020204" pitchFamily="34" charset="0"/>
              </a:rPr>
              <a:t>	</a:t>
            </a:r>
            <a:r>
              <a:rPr lang="en-US" dirty="0">
                <a:latin typeface="Arial" panose="020B0604020202020204" pitchFamily="34" charset="0"/>
                <a:ea typeface="微软雅黑" panose="020B0503020204020204" pitchFamily="34" charset="-122"/>
                <a:cs typeface="Arial" panose="020B0604020202020204" pitchFamily="34" charset="0"/>
              </a:rPr>
              <a:t>Cony</a:t>
            </a:r>
          </a:p>
        </p:txBody>
      </p:sp>
      <p:sp>
        <p:nvSpPr>
          <p:cNvPr id="17" name="文本框 16"/>
          <p:cNvSpPr txBox="1"/>
          <p:nvPr/>
        </p:nvSpPr>
        <p:spPr>
          <a:xfrm>
            <a:off x="8517255" y="1616710"/>
            <a:ext cx="796925" cy="322580"/>
          </a:xfrm>
          <a:prstGeom prst="rect">
            <a:avLst/>
          </a:prstGeom>
          <a:noFill/>
        </p:spPr>
        <p:txBody>
          <a:bodyPr wrap="square" lIns="0" tIns="0" rtlCol="0">
            <a:spAutoFit/>
          </a:bodyPr>
          <a:lstStyle/>
          <a:p>
            <a:r>
              <a:rPr lang="en-US" dirty="0">
                <a:latin typeface="Arial" panose="020B0604020202020204" pitchFamily="34" charset="0"/>
                <a:ea typeface="微软雅黑" panose="020B0503020204020204" pitchFamily="34" charset="-122"/>
                <a:cs typeface="Arial" panose="020B0604020202020204" pitchFamily="34" charset="0"/>
              </a:rPr>
              <a:t>Calla</a:t>
            </a:r>
          </a:p>
        </p:txBody>
      </p:sp>
      <p:sp>
        <p:nvSpPr>
          <p:cNvPr id="33" name="Explosion 1 32"/>
          <p:cNvSpPr/>
          <p:nvPr/>
        </p:nvSpPr>
        <p:spPr>
          <a:xfrm>
            <a:off x="3548706" y="862290"/>
            <a:ext cx="5016137" cy="3435505"/>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lt1"/>
                </a:solidFill>
                <a:latin typeface="+mn-lt"/>
                <a:ea typeface="+mn-ea"/>
                <a:cs typeface="+mn-cs"/>
              </a:defRPr>
            </a:lvl9pPr>
          </a:lstStyle>
          <a:p>
            <a:pPr algn="ctr"/>
            <a:r>
              <a:rPr lang="en-US" smtClean="0">
                <a:solidFill>
                  <a:srgbClr val="FF0000"/>
                </a:solidFill>
              </a:rPr>
              <a:t>Need to change the image from newst Calla panel design Drw, the dimension from 184mm to 177 mm</a:t>
            </a:r>
            <a:endParaRPr lang="en-US">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rcRect l="6041" r="6804" b="5092"/>
          <a:stretch>
            <a:fillRect/>
          </a:stretch>
        </p:blipFill>
        <p:spPr>
          <a:xfrm>
            <a:off x="2271580" y="3797523"/>
            <a:ext cx="1596922" cy="2306437"/>
          </a:xfrm>
          <a:prstGeom prst="rect">
            <a:avLst/>
          </a:prstGeom>
        </p:spPr>
      </p:pic>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7</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8"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10" name="標題 1"/>
          <p:cNvSpPr txBox="1"/>
          <p:nvPr>
            <p:custDataLst>
              <p:tags r:id="rId2"/>
            </p:custDataLst>
          </p:nvPr>
        </p:nvSpPr>
        <p:spPr>
          <a:xfrm>
            <a:off x="692458" y="135368"/>
            <a:ext cx="9543610" cy="582295"/>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marL="0" marR="0" algn="l" defTabSz="914400" rtl="0" eaLnBrk="1" fontAlgn="b" latinLnBrk="0" hangingPunct="1">
              <a:lnSpc>
                <a:spcPct val="100000"/>
              </a:lnSpc>
              <a:spcBef>
                <a:spcPts val="0"/>
              </a:spcBef>
              <a:buClrTx/>
              <a:buSzTx/>
              <a:buFontTx/>
              <a:buNone/>
            </a:pPr>
            <a:r>
              <a:rPr lang="en-US" altLang="zh-CN" sz="3000" kern="0" noProof="0" dirty="0">
                <a:ln>
                  <a:noFill/>
                </a:ln>
                <a:effectLst/>
                <a:uLnTx/>
                <a:uFillTx/>
                <a:sym typeface="+mn-ea"/>
              </a:rPr>
              <a:t>4.</a:t>
            </a:r>
            <a:r>
              <a:rPr lang="en-US" altLang="zh-CN" sz="3000" dirty="0">
                <a:effectLst/>
                <a:latin typeface="+mn-lt"/>
                <a:sym typeface="+mn-ea"/>
              </a:rPr>
              <a:t>Equipment Layout</a:t>
            </a:r>
            <a:endParaRPr lang="en-US" altLang="zh-CN" sz="3000" kern="0" noProof="0" dirty="0">
              <a:ln>
                <a:noFill/>
              </a:ln>
              <a:effectLst/>
              <a:uLnTx/>
              <a:uFillTx/>
              <a:sym typeface="+mn-ea"/>
            </a:endParaRPr>
          </a:p>
        </p:txBody>
      </p:sp>
      <p:pic>
        <p:nvPicPr>
          <p:cNvPr id="63" name="图片 62" descr="图片包含 白板&#10;&#10;描述已自动生成"/>
          <p:cNvPicPr/>
          <p:nvPr/>
        </p:nvPicPr>
        <p:blipFill>
          <a:blip r:embed="rId8">
            <a:extLst>
              <a:ext uri="{BEBA8EAE-BF5A-486C-A8C5-ECC9F3942E4B}">
                <a14:imgProps xmlns:a14="http://schemas.microsoft.com/office/drawing/2010/main">
                  <a14:imgLayer r:embed="rId9">
                    <a14:imgEffect>
                      <a14:brightnessContrast bright="40000"/>
                    </a14:imgEffect>
                  </a14:imgLayer>
                </a14:imgProps>
              </a:ext>
              <a:ext uri="{28A0092B-C50C-407E-A947-70E740481C1C}">
                <a14:useLocalDpi xmlns:a14="http://schemas.microsoft.com/office/drawing/2010/main" val="0"/>
              </a:ext>
            </a:extLst>
          </a:blip>
          <a:stretch>
            <a:fillRect/>
          </a:stretch>
        </p:blipFill>
        <p:spPr>
          <a:xfrm>
            <a:off x="5980819" y="820509"/>
            <a:ext cx="3220453" cy="4369431"/>
          </a:xfrm>
          <a:prstGeom prst="rect">
            <a:avLst/>
          </a:prstGeom>
        </p:spPr>
      </p:pic>
      <p:pic>
        <p:nvPicPr>
          <p:cNvPr id="12288" name="图片 12287"/>
          <p:cNvPicPr>
            <a:picLocks noChangeAspect="1"/>
          </p:cNvPicPr>
          <p:nvPr/>
        </p:nvPicPr>
        <p:blipFill rotWithShape="1">
          <a:blip r:embed="rId10"/>
          <a:srcRect l="19542" t="4237" r="17683" b="5361"/>
          <a:stretch>
            <a:fillRect/>
          </a:stretch>
        </p:blipFill>
        <p:spPr>
          <a:xfrm>
            <a:off x="2230613" y="776887"/>
            <a:ext cx="1596922" cy="3008021"/>
          </a:xfrm>
          <a:prstGeom prst="rect">
            <a:avLst/>
          </a:prstGeom>
        </p:spPr>
      </p:pic>
      <p:cxnSp>
        <p:nvCxnSpPr>
          <p:cNvPr id="12289" name="直接连接符 25"/>
          <p:cNvCxnSpPr/>
          <p:nvPr/>
        </p:nvCxnSpPr>
        <p:spPr>
          <a:xfrm flipH="1">
            <a:off x="1617078" y="1332702"/>
            <a:ext cx="758864" cy="0"/>
          </a:xfrm>
          <a:prstGeom prst="line">
            <a:avLst/>
          </a:prstGeom>
        </p:spPr>
        <p:style>
          <a:lnRef idx="1">
            <a:schemeClr val="dk1"/>
          </a:lnRef>
          <a:fillRef idx="0">
            <a:schemeClr val="dk1"/>
          </a:fillRef>
          <a:effectRef idx="0">
            <a:schemeClr val="dk1"/>
          </a:effectRef>
          <a:fontRef idx="minor">
            <a:schemeClr val="tx1"/>
          </a:fontRef>
        </p:style>
      </p:cxnSp>
      <p:cxnSp>
        <p:nvCxnSpPr>
          <p:cNvPr id="12290" name="直接连接符 26"/>
          <p:cNvCxnSpPr/>
          <p:nvPr/>
        </p:nvCxnSpPr>
        <p:spPr>
          <a:xfrm flipH="1">
            <a:off x="1617078" y="3721347"/>
            <a:ext cx="940437" cy="0"/>
          </a:xfrm>
          <a:prstGeom prst="line">
            <a:avLst/>
          </a:prstGeom>
        </p:spPr>
        <p:style>
          <a:lnRef idx="1">
            <a:schemeClr val="dk1"/>
          </a:lnRef>
          <a:fillRef idx="0">
            <a:schemeClr val="dk1"/>
          </a:fillRef>
          <a:effectRef idx="0">
            <a:schemeClr val="dk1"/>
          </a:effectRef>
          <a:fontRef idx="minor">
            <a:schemeClr val="tx1"/>
          </a:fontRef>
        </p:style>
      </p:cxnSp>
      <p:cxnSp>
        <p:nvCxnSpPr>
          <p:cNvPr id="12292" name="直接箭头连接符 12291"/>
          <p:cNvCxnSpPr/>
          <p:nvPr/>
        </p:nvCxnSpPr>
        <p:spPr>
          <a:xfrm>
            <a:off x="1727738" y="1338665"/>
            <a:ext cx="0" cy="2382682"/>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2293" name="文本框 34"/>
          <p:cNvSpPr txBox="1"/>
          <p:nvPr/>
        </p:nvSpPr>
        <p:spPr>
          <a:xfrm>
            <a:off x="1008784" y="2237105"/>
            <a:ext cx="681597" cy="246221"/>
          </a:xfrm>
          <a:prstGeom prst="rect">
            <a:avLst/>
          </a:prstGeom>
          <a:noFill/>
        </p:spPr>
        <p:txBody>
          <a:bodyPr wrap="none" rtlCol="0">
            <a:spAutoFit/>
          </a:bodyPr>
          <a:lstStyle/>
          <a:p>
            <a:r>
              <a:rPr lang="en-US" altLang="zh-CN" sz="1000" dirty="0">
                <a:ln w="0"/>
                <a:effectLst>
                  <a:outerShdw blurRad="38100" dist="19050" dir="2700000" algn="tl" rotWithShape="0">
                    <a:schemeClr val="dk1">
                      <a:alpha val="40000"/>
                    </a:schemeClr>
                  </a:outerShdw>
                </a:effectLst>
              </a:rPr>
              <a:t>1600mm</a:t>
            </a:r>
          </a:p>
        </p:txBody>
      </p:sp>
      <p:graphicFrame>
        <p:nvGraphicFramePr>
          <p:cNvPr id="12295" name="表格 12294"/>
          <p:cNvGraphicFramePr>
            <a:graphicFrameLocks noGrp="1"/>
          </p:cNvGraphicFramePr>
          <p:nvPr>
            <p:custDataLst>
              <p:tags r:id="rId3"/>
            </p:custDataLst>
          </p:nvPr>
        </p:nvGraphicFramePr>
        <p:xfrm>
          <a:off x="6192368" y="5289942"/>
          <a:ext cx="3220452" cy="1068184"/>
        </p:xfrm>
        <a:graphic>
          <a:graphicData uri="http://schemas.openxmlformats.org/drawingml/2006/table">
            <a:tbl>
              <a:tblPr firstRow="1" bandRow="1">
                <a:tableStyleId>{F5AB1C69-6EDB-4FF4-983F-18BD219EF322}</a:tableStyleId>
              </a:tblPr>
              <a:tblGrid>
                <a:gridCol w="1552068">
                  <a:extLst>
                    <a:ext uri="{9D8B030D-6E8A-4147-A177-3AD203B41FA5}">
                      <a16:colId xmlns:a16="http://schemas.microsoft.com/office/drawing/2014/main" val="20000"/>
                    </a:ext>
                  </a:extLst>
                </a:gridCol>
                <a:gridCol w="1668384">
                  <a:extLst>
                    <a:ext uri="{9D8B030D-6E8A-4147-A177-3AD203B41FA5}">
                      <a16:colId xmlns:a16="http://schemas.microsoft.com/office/drawing/2014/main" val="20001"/>
                    </a:ext>
                  </a:extLst>
                </a:gridCol>
              </a:tblGrid>
              <a:tr h="396695">
                <a:tc>
                  <a:txBody>
                    <a:bodyPr/>
                    <a:lstStyle/>
                    <a:p>
                      <a:pPr algn="ctr"/>
                      <a:endParaRPr lang="zh-CN" altLang="en-US"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tc>
                  <a:txBody>
                    <a:bodyPr/>
                    <a:lstStyle/>
                    <a:p>
                      <a:pPr algn="ctr"/>
                      <a:r>
                        <a:rPr lang="en-US" altLang="zh-CN" sz="1400" dirty="0">
                          <a:solidFill>
                            <a:schemeClr val="tx1"/>
                          </a:solidFill>
                          <a:latin typeface="Calibri" panose="020F0502020204030204" charset="0"/>
                          <a:cs typeface="Calibri" panose="020F0502020204030204" charset="0"/>
                          <a:sym typeface="+mn-ea"/>
                        </a:rPr>
                        <a:t>automatic</a:t>
                      </a:r>
                      <a:endParaRPr lang="zh-CN" altLang="en-US" sz="1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FF00"/>
                    </a:solidFill>
                  </a:tcPr>
                </a:tc>
                <a:extLst>
                  <a:ext uri="{0D108BD9-81ED-4DB2-BD59-A6C34878D82A}">
                    <a16:rowId xmlns:a16="http://schemas.microsoft.com/office/drawing/2014/main" val="10000"/>
                  </a:ext>
                </a:extLst>
              </a:tr>
              <a:tr h="373968">
                <a:tc>
                  <a:txBody>
                    <a:bodyPr/>
                    <a:lstStyle/>
                    <a:p>
                      <a:pPr algn="ctr"/>
                      <a:r>
                        <a:rPr lang="en-US" altLang="zh-CN" sz="1200" dirty="0">
                          <a:solidFill>
                            <a:schemeClr val="tx1"/>
                          </a:solidFill>
                          <a:latin typeface="Arial" panose="020B0604020202020204" pitchFamily="34" charset="0"/>
                          <a:cs typeface="Arial" panose="020B0604020202020204" pitchFamily="34" charset="0"/>
                        </a:rPr>
                        <a:t>CT</a:t>
                      </a:r>
                      <a:endParaRPr lang="zh-CN" altLang="en-US" sz="12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Arial" panose="020B0604020202020204" pitchFamily="34" charset="0"/>
                          <a:cs typeface="Arial" panose="020B0604020202020204" pitchFamily="34" charset="0"/>
                        </a:rPr>
                        <a:t>4.5S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97521">
                <a:tc>
                  <a:txBody>
                    <a:bodyPr/>
                    <a:lstStyle/>
                    <a:p>
                      <a:pPr algn="ctr"/>
                      <a:r>
                        <a:rPr lang="en-US" altLang="zh-CN" sz="1200" dirty="0">
                          <a:latin typeface="Arial" panose="020B0604020202020204" pitchFamily="34" charset="0"/>
                          <a:cs typeface="Arial" panose="020B0604020202020204" pitchFamily="34" charset="0"/>
                        </a:rPr>
                        <a:t>UPH</a:t>
                      </a:r>
                      <a:endParaRPr lang="zh-CN" altLang="en-US"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200" dirty="0">
                          <a:solidFill>
                            <a:schemeClr val="tx1"/>
                          </a:solidFill>
                          <a:latin typeface="Arial" panose="020B0604020202020204" pitchFamily="34" charset="0"/>
                          <a:cs typeface="Arial" panose="020B0604020202020204" pitchFamily="34" charset="0"/>
                        </a:rPr>
                        <a:t>640PCS</a:t>
                      </a:r>
                      <a:endParaRPr lang="zh-CN" altLang="en-US" sz="12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12297" name="组合 12296"/>
          <p:cNvGrpSpPr/>
          <p:nvPr/>
        </p:nvGrpSpPr>
        <p:grpSpPr>
          <a:xfrm>
            <a:off x="8607425" y="1223010"/>
            <a:ext cx="2664460" cy="2533015"/>
            <a:chOff x="13719" y="850"/>
            <a:chExt cx="4196" cy="3989"/>
          </a:xfrm>
        </p:grpSpPr>
        <p:sp>
          <p:nvSpPr>
            <p:cNvPr id="12298" name="文本框 12297"/>
            <p:cNvSpPr txBox="1"/>
            <p:nvPr/>
          </p:nvSpPr>
          <p:spPr>
            <a:xfrm>
              <a:off x="16087" y="1499"/>
              <a:ext cx="1828" cy="727"/>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Tricolor lamp</a:t>
              </a:r>
            </a:p>
            <a:p>
              <a:endParaRPr lang="zh-CN" altLang="en-US" dirty="0">
                <a:ln>
                  <a:noFill/>
                </a:ln>
              </a:endParaRPr>
            </a:p>
          </p:txBody>
        </p:sp>
        <p:cxnSp>
          <p:nvCxnSpPr>
            <p:cNvPr id="12299" name="直接箭头连接符 12298"/>
            <p:cNvCxnSpPr>
              <a:stCxn id="12298" idx="1"/>
            </p:cNvCxnSpPr>
            <p:nvPr/>
          </p:nvCxnSpPr>
          <p:spPr>
            <a:xfrm flipH="1" flipV="1">
              <a:off x="13719" y="850"/>
              <a:ext cx="2368" cy="1013"/>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2300" name="文本框 12299"/>
            <p:cNvSpPr txBox="1"/>
            <p:nvPr/>
          </p:nvSpPr>
          <p:spPr>
            <a:xfrm>
              <a:off x="16086" y="4114"/>
              <a:ext cx="1829" cy="725"/>
            </a:xfrm>
            <a:prstGeom prst="rect">
              <a:avLst/>
            </a:prstGeom>
            <a:noFill/>
            <a:ln>
              <a:noFill/>
            </a:ln>
          </p:spPr>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Touch screen</a:t>
              </a:r>
            </a:p>
            <a:p>
              <a:endParaRPr lang="zh-CN" altLang="en-US" dirty="0">
                <a:ln>
                  <a:noFill/>
                </a:ln>
              </a:endParaRPr>
            </a:p>
          </p:txBody>
        </p:sp>
        <p:sp>
          <p:nvSpPr>
            <p:cNvPr id="12301" name="矩形 12300"/>
            <p:cNvSpPr/>
            <p:nvPr/>
          </p:nvSpPr>
          <p:spPr>
            <a:xfrm>
              <a:off x="16363" y="2941"/>
              <a:ext cx="1303" cy="434"/>
            </a:xfrm>
            <a:prstGeom prst="rect">
              <a:avLst/>
            </a:prstGeom>
            <a:ln>
              <a:noFill/>
              <a:headEnd type="none" w="med" len="med"/>
              <a:tailEnd type="oval" w="med" len="med"/>
            </a:ln>
          </p:spPr>
          <p:style>
            <a:lnRef idx="2">
              <a:schemeClr val="accent1"/>
            </a:lnRef>
            <a:fillRef idx="0">
              <a:srgbClr val="FFFFFF"/>
            </a:fillRef>
            <a:effectRef idx="0">
              <a:srgbClr val="FFFFFF"/>
            </a:effectRef>
            <a:fontRef idx="minor">
              <a:schemeClr val="dk1"/>
            </a:fontRef>
          </p:style>
          <p:txBody>
            <a:bodyPr wrap="square" rtlCol="0">
              <a:spAutoFit/>
            </a:bodyPr>
            <a:lstStyle>
              <a:defPPr>
                <a:defRPr lang="zh-CN"/>
              </a:defPPr>
              <a:lvl1pPr algn="ctr">
                <a:defRPr sz="1200">
                  <a:latin typeface="微软雅黑" panose="020B0503020204020204" pitchFamily="34" charset="-122"/>
                  <a:ea typeface="微软雅黑" panose="020B0503020204020204" pitchFamily="34" charset="-122"/>
                </a:defRPr>
              </a:lvl1pPr>
            </a:lstStyle>
            <a:p>
              <a:r>
                <a:rPr lang="en-US" altLang="zh-CN" dirty="0">
                  <a:ln>
                    <a:noFill/>
                  </a:ln>
                </a:rPr>
                <a:t>PC</a:t>
              </a:r>
            </a:p>
          </p:txBody>
        </p:sp>
      </p:grpSp>
      <p:cxnSp>
        <p:nvCxnSpPr>
          <p:cNvPr id="12302" name="直接箭头连接符 12301"/>
          <p:cNvCxnSpPr>
            <a:stCxn id="12300" idx="1"/>
          </p:cNvCxnSpPr>
          <p:nvPr/>
        </p:nvCxnSpPr>
        <p:spPr>
          <a:xfrm flipH="1" flipV="1">
            <a:off x="8358809" y="2196772"/>
            <a:ext cx="1751661" cy="1329066"/>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12303" name="直接箭头连接符 12302"/>
          <p:cNvCxnSpPr>
            <a:stCxn id="12301" idx="1"/>
          </p:cNvCxnSpPr>
          <p:nvPr/>
        </p:nvCxnSpPr>
        <p:spPr>
          <a:xfrm flipH="1" flipV="1">
            <a:off x="8251061" y="1657613"/>
            <a:ext cx="2035304" cy="1030977"/>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12304"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12305" name="组合 12304"/>
          <p:cNvGrpSpPr/>
          <p:nvPr/>
        </p:nvGrpSpPr>
        <p:grpSpPr>
          <a:xfrm>
            <a:off x="1157641" y="4339273"/>
            <a:ext cx="1208722" cy="1462322"/>
            <a:chOff x="2172018" y="4848817"/>
            <a:chExt cx="1208722" cy="1462322"/>
          </a:xfrm>
        </p:grpSpPr>
        <p:grpSp>
          <p:nvGrpSpPr>
            <p:cNvPr id="12306" name="组合 39"/>
            <p:cNvGrpSpPr/>
            <p:nvPr/>
          </p:nvGrpSpPr>
          <p:grpSpPr>
            <a:xfrm>
              <a:off x="2577465" y="4848817"/>
              <a:ext cx="803275" cy="1462322"/>
              <a:chOff x="4059" y="7124"/>
              <a:chExt cx="1265" cy="1952"/>
            </a:xfrm>
          </p:grpSpPr>
          <p:cxnSp>
            <p:nvCxnSpPr>
              <p:cNvPr id="12308" name="直接连接符 27"/>
              <p:cNvCxnSpPr/>
              <p:nvPr/>
            </p:nvCxnSpPr>
            <p:spPr>
              <a:xfrm flipH="1">
                <a:off x="4059" y="7124"/>
                <a:ext cx="1265" cy="0"/>
              </a:xfrm>
              <a:prstGeom prst="line">
                <a:avLst/>
              </a:prstGeom>
            </p:spPr>
            <p:style>
              <a:lnRef idx="1">
                <a:schemeClr val="dk1"/>
              </a:lnRef>
              <a:fillRef idx="0">
                <a:schemeClr val="dk1"/>
              </a:fillRef>
              <a:effectRef idx="0">
                <a:schemeClr val="dk1"/>
              </a:effectRef>
              <a:fontRef idx="minor">
                <a:schemeClr val="tx1"/>
              </a:fontRef>
            </p:style>
          </p:cxnSp>
          <p:cxnSp>
            <p:nvCxnSpPr>
              <p:cNvPr id="12309" name="直接连接符 28"/>
              <p:cNvCxnSpPr/>
              <p:nvPr/>
            </p:nvCxnSpPr>
            <p:spPr>
              <a:xfrm flipH="1">
                <a:off x="4059" y="9068"/>
                <a:ext cx="1265" cy="0"/>
              </a:xfrm>
              <a:prstGeom prst="line">
                <a:avLst/>
              </a:prstGeom>
            </p:spPr>
            <p:style>
              <a:lnRef idx="1">
                <a:schemeClr val="dk1"/>
              </a:lnRef>
              <a:fillRef idx="0">
                <a:schemeClr val="dk1"/>
              </a:fillRef>
              <a:effectRef idx="0">
                <a:schemeClr val="dk1"/>
              </a:effectRef>
              <a:fontRef idx="minor">
                <a:schemeClr val="tx1"/>
              </a:fontRef>
            </p:style>
          </p:cxnSp>
          <p:cxnSp>
            <p:nvCxnSpPr>
              <p:cNvPr id="12310" name="直接箭头连接符 30"/>
              <p:cNvCxnSpPr/>
              <p:nvPr/>
            </p:nvCxnSpPr>
            <p:spPr>
              <a:xfrm>
                <a:off x="4331" y="7124"/>
                <a:ext cx="0" cy="1952"/>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grpSp>
        <p:sp>
          <p:nvSpPr>
            <p:cNvPr id="12307" name="文本框 35"/>
            <p:cNvSpPr txBox="1"/>
            <p:nvPr/>
          </p:nvSpPr>
          <p:spPr>
            <a:xfrm>
              <a:off x="2172018" y="5311319"/>
              <a:ext cx="611065" cy="246221"/>
            </a:xfrm>
            <a:prstGeom prst="rect">
              <a:avLst/>
            </a:prstGeom>
            <a:noFill/>
          </p:spPr>
          <p:txBody>
            <a:bodyPr wrap="none" rtlCol="0">
              <a:spAutoFit/>
            </a:bodyPr>
            <a:lstStyle/>
            <a:p>
              <a:r>
                <a:rPr lang="en-US" altLang="zh-CN" sz="1000" dirty="0">
                  <a:ln w="0"/>
                  <a:effectLst>
                    <a:outerShdw blurRad="38100" dist="19050" dir="2700000" algn="tl" rotWithShape="0">
                      <a:schemeClr val="dk1">
                        <a:alpha val="40000"/>
                      </a:schemeClr>
                    </a:outerShdw>
                  </a:effectLst>
                </a:rPr>
                <a:t>900mm</a:t>
              </a:r>
            </a:p>
          </p:txBody>
        </p:sp>
      </p:grpSp>
      <p:grpSp>
        <p:nvGrpSpPr>
          <p:cNvPr id="12311" name="组合 12310"/>
          <p:cNvGrpSpPr/>
          <p:nvPr/>
        </p:nvGrpSpPr>
        <p:grpSpPr>
          <a:xfrm rot="16200000">
            <a:off x="2508512" y="5249218"/>
            <a:ext cx="1036729" cy="1504274"/>
            <a:chOff x="2344011" y="4840577"/>
            <a:chExt cx="1036729" cy="1504274"/>
          </a:xfrm>
        </p:grpSpPr>
        <p:grpSp>
          <p:nvGrpSpPr>
            <p:cNvPr id="12312" name="组合 39"/>
            <p:cNvGrpSpPr/>
            <p:nvPr/>
          </p:nvGrpSpPr>
          <p:grpSpPr>
            <a:xfrm>
              <a:off x="2577465" y="4840577"/>
              <a:ext cx="803275" cy="1504274"/>
              <a:chOff x="4059" y="7113"/>
              <a:chExt cx="1265" cy="2008"/>
            </a:xfrm>
          </p:grpSpPr>
          <p:cxnSp>
            <p:nvCxnSpPr>
              <p:cNvPr id="12314" name="直接连接符 27"/>
              <p:cNvCxnSpPr/>
              <p:nvPr/>
            </p:nvCxnSpPr>
            <p:spPr>
              <a:xfrm flipH="1">
                <a:off x="4059" y="7124"/>
                <a:ext cx="1265" cy="0"/>
              </a:xfrm>
              <a:prstGeom prst="line">
                <a:avLst/>
              </a:prstGeom>
            </p:spPr>
            <p:style>
              <a:lnRef idx="1">
                <a:schemeClr val="dk1"/>
              </a:lnRef>
              <a:fillRef idx="0">
                <a:schemeClr val="dk1"/>
              </a:fillRef>
              <a:effectRef idx="0">
                <a:schemeClr val="dk1"/>
              </a:effectRef>
              <a:fontRef idx="minor">
                <a:schemeClr val="tx1"/>
              </a:fontRef>
            </p:style>
          </p:cxnSp>
          <p:cxnSp>
            <p:nvCxnSpPr>
              <p:cNvPr id="12315" name="直接连接符 28"/>
              <p:cNvCxnSpPr/>
              <p:nvPr/>
            </p:nvCxnSpPr>
            <p:spPr>
              <a:xfrm flipH="1">
                <a:off x="4059" y="9121"/>
                <a:ext cx="1265" cy="0"/>
              </a:xfrm>
              <a:prstGeom prst="line">
                <a:avLst/>
              </a:prstGeom>
            </p:spPr>
            <p:style>
              <a:lnRef idx="1">
                <a:schemeClr val="dk1"/>
              </a:lnRef>
              <a:fillRef idx="0">
                <a:schemeClr val="dk1"/>
              </a:fillRef>
              <a:effectRef idx="0">
                <a:schemeClr val="dk1"/>
              </a:effectRef>
              <a:fontRef idx="minor">
                <a:schemeClr val="tx1"/>
              </a:fontRef>
            </p:style>
          </p:cxnSp>
          <p:cxnSp>
            <p:nvCxnSpPr>
              <p:cNvPr id="12316" name="直接箭头连接符 30"/>
              <p:cNvCxnSpPr/>
              <p:nvPr/>
            </p:nvCxnSpPr>
            <p:spPr>
              <a:xfrm rot="5400000">
                <a:off x="3242" y="8117"/>
                <a:ext cx="2008" cy="0"/>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grpSp>
        <p:sp>
          <p:nvSpPr>
            <p:cNvPr id="12313" name="文本框 35"/>
            <p:cNvSpPr txBox="1"/>
            <p:nvPr/>
          </p:nvSpPr>
          <p:spPr>
            <a:xfrm rot="5400000">
              <a:off x="2161589" y="5527439"/>
              <a:ext cx="611065" cy="246221"/>
            </a:xfrm>
            <a:prstGeom prst="rect">
              <a:avLst/>
            </a:prstGeom>
            <a:noFill/>
          </p:spPr>
          <p:txBody>
            <a:bodyPr wrap="none" rtlCol="0">
              <a:spAutoFit/>
            </a:bodyPr>
            <a:lstStyle/>
            <a:p>
              <a:r>
                <a:rPr lang="en-US" altLang="zh-CN" sz="1000" dirty="0">
                  <a:ln w="0"/>
                  <a:effectLst>
                    <a:outerShdw blurRad="38100" dist="19050" dir="2700000" algn="tl" rotWithShape="0">
                      <a:schemeClr val="dk1">
                        <a:alpha val="40000"/>
                      </a:schemeClr>
                    </a:outerShdw>
                  </a:effectLst>
                </a:rPr>
                <a:t>900mm</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p:cNvPicPr>
            <a:picLocks noChangeAspect="1"/>
          </p:cNvPicPr>
          <p:nvPr/>
        </p:nvPicPr>
        <p:blipFill rotWithShape="1">
          <a:blip r:embed="rId24">
            <a:extLst>
              <a:ext uri="{BEBA8EAE-BF5A-486C-A8C5-ECC9F3942E4B}">
                <a14:imgProps xmlns:a14="http://schemas.microsoft.com/office/drawing/2010/main">
                  <a14:imgLayer r:embed="rId25">
                    <a14:imgEffect>
                      <a14:brightnessContrast bright="40000" contrast="-20000"/>
                    </a14:imgEffect>
                  </a14:imgLayer>
                </a14:imgProps>
              </a:ext>
              <a:ext uri="{28A0092B-C50C-407E-A947-70E740481C1C}">
                <a14:useLocalDpi xmlns:a14="http://schemas.microsoft.com/office/drawing/2010/main" val="0"/>
              </a:ext>
            </a:extLst>
          </a:blip>
          <a:srcRect l="6041" r="6804" b="5092"/>
          <a:stretch>
            <a:fillRect/>
          </a:stretch>
        </p:blipFill>
        <p:spPr>
          <a:xfrm>
            <a:off x="3052413" y="821305"/>
            <a:ext cx="3672575" cy="5455044"/>
          </a:xfrm>
          <a:prstGeom prst="rect">
            <a:avLst/>
          </a:prstGeom>
        </p:spPr>
      </p:pic>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8</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14" name="標題 1"/>
          <p:cNvSpPr txBox="1"/>
          <p:nvPr>
            <p:custDataLst>
              <p:tags r:id="rId2"/>
            </p:custDataLst>
          </p:nvPr>
        </p:nvSpPr>
        <p:spPr>
          <a:xfrm>
            <a:off x="692458" y="135368"/>
            <a:ext cx="9543610" cy="582295"/>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marL="0" marR="0" algn="l" defTabSz="914400" rtl="0" eaLnBrk="1" fontAlgn="b" latinLnBrk="0" hangingPunct="1">
              <a:lnSpc>
                <a:spcPct val="100000"/>
              </a:lnSpc>
              <a:spcBef>
                <a:spcPts val="0"/>
              </a:spcBef>
              <a:buClrTx/>
              <a:buSzTx/>
              <a:buFontTx/>
              <a:buNone/>
            </a:pPr>
            <a:r>
              <a:rPr lang="en-US" altLang="zh-CN" sz="3000" kern="0" noProof="0" dirty="0">
                <a:ln>
                  <a:noFill/>
                </a:ln>
                <a:effectLst/>
                <a:uLnTx/>
                <a:uFillTx/>
                <a:sym typeface="+mn-ea"/>
              </a:rPr>
              <a:t>4.</a:t>
            </a:r>
            <a:r>
              <a:rPr lang="en-US" altLang="zh-CN" sz="3000" dirty="0">
                <a:effectLst/>
                <a:latin typeface="+mn-lt"/>
                <a:sym typeface="+mn-ea"/>
              </a:rPr>
              <a:t>Equipment Layout</a:t>
            </a:r>
            <a:endParaRPr lang="en-US" altLang="zh-CN" sz="3000" kern="0" noProof="0" dirty="0">
              <a:ln>
                <a:noFill/>
              </a:ln>
              <a:effectLst/>
              <a:uLnTx/>
              <a:uFillTx/>
              <a:sym typeface="+mn-ea"/>
            </a:endParaRPr>
          </a:p>
        </p:txBody>
      </p:sp>
      <p:sp>
        <p:nvSpPr>
          <p:cNvPr id="5" name="TextBox 29"/>
          <p:cNvSpPr txBox="1">
            <a:spLocks noChangeArrowheads="1"/>
          </p:cNvSpPr>
          <p:nvPr>
            <p:custDataLst>
              <p:tags r:id="rId3"/>
            </p:custDataLst>
          </p:nvPr>
        </p:nvSpPr>
        <p:spPr bwMode="auto">
          <a:xfrm>
            <a:off x="10915291" y="782112"/>
            <a:ext cx="1078053"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300">
                <a:cs typeface="Calibri" panose="020F0502020204030204" charset="0"/>
              </a:rPr>
              <a:t>unit</a:t>
            </a:r>
            <a:r>
              <a:rPr lang="zh-CN" altLang="en-US" sz="1300">
                <a:cs typeface="Calibri" panose="020F0502020204030204" charset="0"/>
              </a:rPr>
              <a:t>：</a:t>
            </a:r>
            <a:r>
              <a:rPr lang="en-US" altLang="zh-CN" sz="1300">
                <a:cs typeface="Calibri" panose="020F0502020204030204" charset="0"/>
              </a:rPr>
              <a:t>mm</a:t>
            </a:r>
            <a:endParaRPr lang="zh-CN" altLang="en-US" sz="1300">
              <a:cs typeface="Calibri" panose="020F0502020204030204" charset="0"/>
            </a:endParaRPr>
          </a:p>
        </p:txBody>
      </p:sp>
      <p:graphicFrame>
        <p:nvGraphicFramePr>
          <p:cNvPr id="16" name="表格 15"/>
          <p:cNvGraphicFramePr>
            <a:graphicFrameLocks noGrp="1"/>
          </p:cNvGraphicFramePr>
          <p:nvPr>
            <p:custDataLst>
              <p:tags r:id="rId4"/>
            </p:custDataLst>
          </p:nvPr>
        </p:nvGraphicFramePr>
        <p:xfrm>
          <a:off x="7579607" y="2766325"/>
          <a:ext cx="3805675" cy="2594610"/>
        </p:xfrm>
        <a:graphic>
          <a:graphicData uri="http://schemas.openxmlformats.org/drawingml/2006/table">
            <a:tbl>
              <a:tblPr firstRow="1" bandRow="1">
                <a:tableStyleId>{5940675A-B579-460E-94D1-54222C63F5DA}</a:tableStyleId>
              </a:tblPr>
              <a:tblGrid>
                <a:gridCol w="1120140">
                  <a:extLst>
                    <a:ext uri="{9D8B030D-6E8A-4147-A177-3AD203B41FA5}">
                      <a16:colId xmlns:a16="http://schemas.microsoft.com/office/drawing/2014/main" val="20000"/>
                    </a:ext>
                  </a:extLst>
                </a:gridCol>
                <a:gridCol w="2685535">
                  <a:extLst>
                    <a:ext uri="{9D8B030D-6E8A-4147-A177-3AD203B41FA5}">
                      <a16:colId xmlns:a16="http://schemas.microsoft.com/office/drawing/2014/main" val="20001"/>
                    </a:ext>
                  </a:extLst>
                </a:gridCol>
              </a:tblGrid>
              <a:tr h="0">
                <a:tc>
                  <a:txBody>
                    <a:bodyPr/>
                    <a:lstStyle/>
                    <a:p>
                      <a:pPr algn="ctr"/>
                      <a:r>
                        <a:rPr lang="zh-CN" sz="1300" b="1" dirty="0">
                          <a:latin typeface="Calibri" panose="020F0502020204030204" charset="0"/>
                          <a:ea typeface="微软雅黑" panose="020B0503020204020204" pitchFamily="34" charset="-122"/>
                          <a:cs typeface="Calibri" panose="020F0502020204030204" charset="0"/>
                          <a:sym typeface="+mn-ea"/>
                        </a:rPr>
                        <a:t>Item</a:t>
                      </a:r>
                    </a:p>
                  </a:txBody>
                  <a:tcPr anchor="ctr"/>
                </a:tc>
                <a:tc>
                  <a:txBody>
                    <a:bodyPr/>
                    <a:lstStyle/>
                    <a:p>
                      <a:pPr algn="ctr"/>
                      <a:r>
                        <a:rPr lang="en-US" altLang="zh-CN" sz="1300" b="1" dirty="0">
                          <a:latin typeface="Calibri" panose="020F0502020204030204" charset="0"/>
                          <a:cs typeface="Calibri" panose="020F0502020204030204" charset="0"/>
                          <a:sym typeface="+mn-ea"/>
                        </a:rPr>
                        <a:t>Components</a:t>
                      </a:r>
                      <a:endParaRPr lang="en-US" altLang="zh-CN" sz="1300" b="1" dirty="0">
                        <a:latin typeface="Calibri" panose="020F0502020204030204" charset="0"/>
                        <a:ea typeface="微软雅黑" panose="020B0503020204020204" pitchFamily="34" charset="-122"/>
                        <a:cs typeface="Calibri" panose="020F0502020204030204" charset="0"/>
                        <a:sym typeface="+mn-ea"/>
                      </a:endParaRPr>
                    </a:p>
                  </a:txBody>
                  <a:tcPr anchor="ctr"/>
                </a:tc>
                <a:extLst>
                  <a:ext uri="{0D108BD9-81ED-4DB2-BD59-A6C34878D82A}">
                    <a16:rowId xmlns:a16="http://schemas.microsoft.com/office/drawing/2014/main" val="10000"/>
                  </a:ext>
                </a:extLst>
              </a:tr>
              <a:tr h="274320">
                <a:tc>
                  <a:txBody>
                    <a:bodyPr/>
                    <a:lstStyle/>
                    <a:p>
                      <a:pPr algn="ctr"/>
                      <a:r>
                        <a:rPr lang="en-US" altLang="zh-CN" sz="1200" dirty="0">
                          <a:latin typeface="微软雅黑" panose="020B0503020204020204" pitchFamily="34" charset="-122"/>
                          <a:ea typeface="微软雅黑" panose="020B0503020204020204" pitchFamily="34" charset="-122"/>
                        </a:rPr>
                        <a:t>1</a:t>
                      </a:r>
                      <a:endParaRPr lang="zh-CN" altLang="en-US" sz="1200" dirty="0">
                        <a:latin typeface="微软雅黑" panose="020B0503020204020204" pitchFamily="34" charset="-122"/>
                        <a:ea typeface="微软雅黑" panose="020B0503020204020204" pitchFamily="34" charset="-122"/>
                      </a:endParaRPr>
                    </a:p>
                  </a:txBody>
                  <a:tcPr anchor="ctr"/>
                </a:tc>
                <a:tc>
                  <a:txBody>
                    <a:bodyPr/>
                    <a:lstStyle/>
                    <a:p>
                      <a:pPr lvl="0" algn="ctr">
                        <a:buClrTx/>
                        <a:buSzTx/>
                        <a:buFontTx/>
                      </a:pPr>
                      <a:r>
                        <a:rPr lang="en-US" altLang="zh-CN" sz="1200" dirty="0">
                          <a:latin typeface="Calibri" panose="020F0502020204030204" charset="0"/>
                          <a:ea typeface="微软雅黑" panose="020B0503020204020204" pitchFamily="34" charset="-122"/>
                          <a:cs typeface="Calibri" panose="020F0502020204030204" charset="0"/>
                          <a:sym typeface="+mn-ea"/>
                        </a:rPr>
                        <a:t>Into the PCBA conveyor line(feed)</a:t>
                      </a:r>
                      <a:endParaRPr lang="en-US" altLang="zh-CN"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1"/>
                  </a:ext>
                </a:extLst>
              </a:tr>
              <a:tr h="274320">
                <a:tc>
                  <a:txBody>
                    <a:bodyPr/>
                    <a:lstStyle/>
                    <a:p>
                      <a:pPr algn="ctr">
                        <a:buNone/>
                      </a:pPr>
                      <a:r>
                        <a:rPr lang="en-US" altLang="zh-CN" sz="1200" dirty="0">
                          <a:latin typeface="微软雅黑" panose="020B0503020204020204" pitchFamily="34" charset="-122"/>
                          <a:ea typeface="微软雅黑" panose="020B0503020204020204" pitchFamily="34" charset="-122"/>
                        </a:rPr>
                        <a:t>2</a:t>
                      </a:r>
                    </a:p>
                  </a:txBody>
                  <a:tcPr anchor="ctr"/>
                </a:tc>
                <a:tc>
                  <a:txBody>
                    <a:bodyPr/>
                    <a:lstStyle/>
                    <a:p>
                      <a:pPr lvl="0" algn="ctr">
                        <a:buClrTx/>
                        <a:buSzTx/>
                        <a:buFontTx/>
                      </a:pPr>
                      <a:r>
                        <a:rPr lang="en-US" altLang="zh-CN" sz="1200" dirty="0">
                          <a:latin typeface="Calibri" panose="020F0502020204030204" charset="0"/>
                          <a:ea typeface="微软雅黑" panose="020B0503020204020204" pitchFamily="34" charset="-122"/>
                          <a:cs typeface="Calibri" panose="020F0502020204030204" charset="0"/>
                          <a:sym typeface="Gill Sans"/>
                        </a:rPr>
                        <a:t>Positioning PCBA </a:t>
                      </a:r>
                      <a:r>
                        <a:rPr lang="en-US" altLang="zh-CN" sz="1200" dirty="0">
                          <a:latin typeface="Calibri" panose="020F0502020204030204" charset="0"/>
                          <a:cs typeface="Calibri" panose="020F0502020204030204" charset="0"/>
                          <a:sym typeface="+mn-ea"/>
                        </a:rPr>
                        <a:t>(Clamping PCBA</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2"/>
                  </a:ext>
                </a:extLst>
              </a:tr>
              <a:tr h="274320">
                <a:tc>
                  <a:txBody>
                    <a:bodyPr/>
                    <a:lstStyle/>
                    <a:p>
                      <a:pPr algn="ct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3</a:t>
                      </a:r>
                    </a:p>
                  </a:txBody>
                  <a:tcPr anchor="ctr"/>
                </a:tc>
                <a:tc>
                  <a:txBody>
                    <a:bodyPr/>
                    <a:lstStyle/>
                    <a:p>
                      <a:pPr lvl="0" algn="ctr">
                        <a:buClrTx/>
                        <a:buSzTx/>
                        <a:buFontTx/>
                      </a:pPr>
                      <a:r>
                        <a:rPr lang="en-US" altLang="zh-CN" sz="1200" dirty="0">
                          <a:latin typeface="Calibri" panose="020F0502020204030204" charset="0"/>
                          <a:ea typeface="微软雅黑" panose="020B0503020204020204" pitchFamily="34" charset="-122"/>
                          <a:cs typeface="Calibri" panose="020F0502020204030204" charset="0"/>
                          <a:sym typeface="Gill Sans"/>
                        </a:rPr>
                        <a:t>X/Y TABLE Load transfer component</a:t>
                      </a:r>
                    </a:p>
                    <a:p>
                      <a:pPr lvl="0" algn="ctr">
                        <a:buClrTx/>
                        <a:buSzTx/>
                        <a:buFontTx/>
                      </a:pPr>
                      <a:r>
                        <a:rPr lang="en-US" altLang="zh-CN" sz="1200" dirty="0">
                          <a:latin typeface="Calibri" panose="020F0502020204030204" charset="0"/>
                          <a:ea typeface="微软雅黑" panose="020B0503020204020204" pitchFamily="34" charset="-122"/>
                          <a:cs typeface="Calibri" panose="020F0502020204030204" charset="0"/>
                          <a:sym typeface="Gill Sans"/>
                        </a:rPr>
                        <a:t> (material fetching)</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274320">
                <a:tc>
                  <a:txBody>
                    <a:bodyPr/>
                    <a:lstStyle/>
                    <a:p>
                      <a:pPr algn="ctr">
                        <a:buNone/>
                      </a:pPr>
                      <a:r>
                        <a:rPr lang="en-US" altLang="zh-CN" sz="1200" dirty="0">
                          <a:solidFill>
                            <a:schemeClr val="tx1"/>
                          </a:solidFill>
                          <a:latin typeface="微软雅黑" panose="020B0503020204020204" pitchFamily="34" charset="-122"/>
                          <a:ea typeface="微软雅黑" panose="020B0503020204020204" pitchFamily="34" charset="-122"/>
                          <a:cs typeface="+mn-cs"/>
                          <a:sym typeface="Gill Sans"/>
                        </a:rPr>
                        <a:t>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latin typeface="Calibri" panose="020F0502020204030204" charset="0"/>
                          <a:ea typeface="微软雅黑" panose="020B0503020204020204" pitchFamily="34" charset="-122"/>
                          <a:cs typeface="Calibri" panose="020F0502020204030204" charset="0"/>
                          <a:sym typeface="+mn-ea"/>
                        </a:rPr>
                        <a:t>Feeder（Feeding）</a:t>
                      </a:r>
                      <a:endParaRPr lang="en-US" altLang="zh-CN" sz="1200" kern="1200" dirty="0">
                        <a:solidFill>
                          <a:schemeClr val="tx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131509">
                <a:tc>
                  <a:txBody>
                    <a:bodyPr/>
                    <a:lstStyle/>
                    <a:p>
                      <a:pPr algn="ctr"/>
                      <a:r>
                        <a:rPr lang="en-US" sz="1200" dirty="0">
                          <a:solidFill>
                            <a:schemeClr val="tx1"/>
                          </a:solidFill>
                          <a:latin typeface="微软雅黑" panose="020B0503020204020204" pitchFamily="34" charset="-122"/>
                          <a:ea typeface="微软雅黑" panose="020B0503020204020204" pitchFamily="34" charset="-122"/>
                          <a:cs typeface="+mn-cs"/>
                          <a:sym typeface="Gill Sans"/>
                        </a:rPr>
                        <a:t>5</a:t>
                      </a:r>
                    </a:p>
                  </a:txBody>
                  <a:tcPr anchor="ctr"/>
                </a:tc>
                <a:tc>
                  <a:txBody>
                    <a:bodyPr/>
                    <a:lstStyle/>
                    <a:p>
                      <a:pPr lvl="0" algn="ctr">
                        <a:buClrTx/>
                        <a:buSzTx/>
                        <a:buFontTx/>
                      </a:pPr>
                      <a:r>
                        <a:rPr sz="1200" dirty="0">
                          <a:latin typeface="Calibri" panose="020F0502020204030204" charset="0"/>
                          <a:ea typeface="微软雅黑" panose="020B0503020204020204" pitchFamily="34" charset="-122"/>
                          <a:cs typeface="Calibri" panose="020F0502020204030204" charset="0"/>
                          <a:sym typeface="+mn-ea"/>
                        </a:rPr>
                        <a:t>Lower CCD</a:t>
                      </a:r>
                      <a:r>
                        <a:rPr lang="en-US" sz="1200" dirty="0">
                          <a:latin typeface="Calibri" panose="020F0502020204030204" charset="0"/>
                          <a:ea typeface="微软雅黑" panose="020B0503020204020204" pitchFamily="34" charset="-122"/>
                          <a:cs typeface="Calibri" panose="020F0502020204030204" charset="0"/>
                          <a:sym typeface="+mn-ea"/>
                        </a:rPr>
                        <a:t> </a:t>
                      </a:r>
                      <a:r>
                        <a:rPr sz="1200" dirty="0">
                          <a:latin typeface="Calibri" panose="020F0502020204030204" charset="0"/>
                          <a:ea typeface="微软雅黑" panose="020B0503020204020204" pitchFamily="34" charset="-122"/>
                          <a:cs typeface="Calibri" panose="020F0502020204030204" charset="0"/>
                          <a:sym typeface="+mn-ea"/>
                        </a:rPr>
                        <a:t>(</a:t>
                      </a:r>
                      <a:r>
                        <a:rPr lang="en-US" sz="1200" dirty="0">
                          <a:latin typeface="Calibri" panose="020F0502020204030204" charset="0"/>
                          <a:ea typeface="微软雅黑" panose="020B0503020204020204" pitchFamily="34" charset="-122"/>
                          <a:cs typeface="Calibri" panose="020F0502020204030204" charset="0"/>
                          <a:sym typeface="+mn-ea"/>
                        </a:rPr>
                        <a:t>Label</a:t>
                      </a:r>
                      <a:r>
                        <a:rPr sz="1200" dirty="0">
                          <a:latin typeface="Calibri" panose="020F0502020204030204" charset="0"/>
                          <a:ea typeface="微软雅黑" panose="020B0503020204020204" pitchFamily="34" charset="-122"/>
                          <a:cs typeface="Calibri" panose="020F0502020204030204" charset="0"/>
                          <a:sym typeface="+mn-ea"/>
                        </a:rPr>
                        <a:t> compensation position）</a:t>
                      </a:r>
                      <a:endParaRPr lang="zh-CN" altLang="en-US" sz="1200" kern="1200" dirty="0">
                        <a:solidFill>
                          <a:schemeClr val="tx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274320">
                <a:tc>
                  <a:txBody>
                    <a:bodyPr/>
                    <a:lstStyle/>
                    <a:p>
                      <a:pPr algn="ctr">
                        <a:buNone/>
                      </a:pPr>
                      <a:r>
                        <a:rPr lang="en-US" altLang="en-US" sz="1200" dirty="0">
                          <a:solidFill>
                            <a:schemeClr val="tx1"/>
                          </a:solidFill>
                          <a:latin typeface="微软雅黑" panose="020B0503020204020204" pitchFamily="34" charset="-122"/>
                          <a:ea typeface="微软雅黑" panose="020B0503020204020204" pitchFamily="34" charset="-122"/>
                          <a:cs typeface="+mn-cs"/>
                          <a:sym typeface="Gill Sans"/>
                        </a:rPr>
                        <a:t>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sz="1200" dirty="0">
                          <a:latin typeface="Calibri" panose="020F0502020204030204" charset="0"/>
                          <a:ea typeface="微软雅黑" panose="020B0503020204020204" pitchFamily="34" charset="-122"/>
                          <a:cs typeface="Calibri" panose="020F0502020204030204" charset="0"/>
                          <a:sym typeface="+mn-ea"/>
                        </a:rPr>
                        <a:t>Upper </a:t>
                      </a:r>
                      <a:r>
                        <a:rPr lang="en-US" sz="1200" dirty="0">
                          <a:latin typeface="Calibri" panose="020F0502020204030204" charset="0"/>
                          <a:ea typeface="微软雅黑" panose="020B0503020204020204" pitchFamily="34" charset="-122"/>
                          <a:cs typeface="Calibri" panose="020F0502020204030204" charset="0"/>
                          <a:sym typeface="+mn-ea"/>
                        </a:rPr>
                        <a:t>CCD</a:t>
                      </a:r>
                      <a:r>
                        <a:rPr sz="1200" dirty="0">
                          <a:latin typeface="Calibri" panose="020F0502020204030204" charset="0"/>
                          <a:ea typeface="微软雅黑" panose="020B0503020204020204" pitchFamily="34" charset="-122"/>
                          <a:cs typeface="Calibri" panose="020F0502020204030204" charset="0"/>
                          <a:sym typeface="+mn-ea"/>
                        </a:rPr>
                        <a:t> (product positioning)</a:t>
                      </a:r>
                      <a:endParaRPr lang="en-US" altLang="zh-CN" sz="1200" kern="1200" dirty="0">
                        <a:solidFill>
                          <a:schemeClr val="tx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293370">
                <a:tc>
                  <a:txBody>
                    <a:bodyPr/>
                    <a:lstStyle/>
                    <a:p>
                      <a:pPr algn="ctr">
                        <a:buNone/>
                      </a:pPr>
                      <a:r>
                        <a:rPr lang="en-US" altLang="en-US" sz="1200" dirty="0">
                          <a:solidFill>
                            <a:schemeClr val="tx1"/>
                          </a:solidFill>
                          <a:latin typeface="微软雅黑" panose="020B0503020204020204" pitchFamily="34" charset="-122"/>
                          <a:ea typeface="微软雅黑" panose="020B0503020204020204" pitchFamily="34" charset="-122"/>
                          <a:cs typeface="+mn-cs"/>
                          <a:sym typeface="Gill Sans"/>
                        </a:rPr>
                        <a:t>7</a:t>
                      </a:r>
                    </a:p>
                  </a:txBody>
                  <a:tcPr anchor="ctr"/>
                </a:tc>
                <a:tc>
                  <a:txBody>
                    <a:bodyPr/>
                    <a:lstStyle/>
                    <a:p>
                      <a:pPr lvl="0" algn="ctr">
                        <a:buClrTx/>
                        <a:buSzTx/>
                        <a:buFontTx/>
                      </a:pPr>
                      <a:r>
                        <a:rPr lang="en-US" altLang="zh-CN" sz="1200" dirty="0">
                          <a:latin typeface="Calibri" panose="020F0502020204030204" charset="0"/>
                          <a:ea typeface="微软雅黑" panose="020B0503020204020204" pitchFamily="34" charset="-122"/>
                          <a:cs typeface="Calibri" panose="020F0502020204030204" charset="0"/>
                          <a:sym typeface="+mn-ea"/>
                        </a:rPr>
                        <a:t>Conveyor line outflowPCBA</a:t>
                      </a:r>
                      <a:endParaRPr lang="en-US" altLang="zh-CN" sz="1200" kern="1200" dirty="0">
                        <a:solidFill>
                          <a:schemeClr val="tx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cxnSp>
        <p:nvCxnSpPr>
          <p:cNvPr id="21" name="直接箭头连接符 20"/>
          <p:cNvCxnSpPr/>
          <p:nvPr>
            <p:custDataLst>
              <p:tags r:id="rId5"/>
            </p:custDataLst>
          </p:nvPr>
        </p:nvCxnSpPr>
        <p:spPr>
          <a:xfrm>
            <a:off x="2270760" y="3863792"/>
            <a:ext cx="2281362" cy="510327"/>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custDataLst>
              <p:tags r:id="rId6"/>
            </p:custDataLst>
          </p:nvPr>
        </p:nvCxnSpPr>
        <p:spPr>
          <a:xfrm flipV="1">
            <a:off x="2270760" y="4827288"/>
            <a:ext cx="3243033" cy="307239"/>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custDataLst>
              <p:tags r:id="rId7"/>
            </p:custDataLst>
          </p:nvPr>
        </p:nvCxnSpPr>
        <p:spPr>
          <a:xfrm>
            <a:off x="2753139" y="3378947"/>
            <a:ext cx="2270956" cy="418148"/>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custDataLst>
              <p:tags r:id="rId8"/>
            </p:custDataLst>
          </p:nvPr>
        </p:nvCxnSpPr>
        <p:spPr>
          <a:xfrm>
            <a:off x="3024283" y="2047933"/>
            <a:ext cx="1109567" cy="718392"/>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49" idx="3"/>
          </p:cNvCxnSpPr>
          <p:nvPr>
            <p:custDataLst>
              <p:tags r:id="rId9"/>
            </p:custDataLst>
          </p:nvPr>
        </p:nvCxnSpPr>
        <p:spPr>
          <a:xfrm>
            <a:off x="2243299" y="1661115"/>
            <a:ext cx="2308823" cy="137470"/>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47" idx="3"/>
          </p:cNvCxnSpPr>
          <p:nvPr>
            <p:custDataLst>
              <p:tags r:id="rId10"/>
            </p:custDataLst>
          </p:nvPr>
        </p:nvCxnSpPr>
        <p:spPr>
          <a:xfrm>
            <a:off x="2392738" y="2655124"/>
            <a:ext cx="1535482" cy="650051"/>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200982" y="1548949"/>
            <a:ext cx="3224306" cy="3784352"/>
            <a:chOff x="466361" y="1459471"/>
            <a:chExt cx="2726474" cy="3784352"/>
          </a:xfrm>
        </p:grpSpPr>
        <p:grpSp>
          <p:nvGrpSpPr>
            <p:cNvPr id="29" name="组合 28"/>
            <p:cNvGrpSpPr/>
            <p:nvPr/>
          </p:nvGrpSpPr>
          <p:grpSpPr>
            <a:xfrm>
              <a:off x="504245" y="5016797"/>
              <a:ext cx="2688590" cy="227026"/>
              <a:chOff x="1240" y="6721"/>
              <a:chExt cx="4234" cy="337"/>
            </a:xfrm>
          </p:grpSpPr>
          <p:sp>
            <p:nvSpPr>
              <p:cNvPr id="52" name="椭圆 51"/>
              <p:cNvSpPr/>
              <p:nvPr>
                <p:custDataLst>
                  <p:tags r:id="rId20"/>
                </p:custDataLst>
              </p:nvPr>
            </p:nvSpPr>
            <p:spPr>
              <a:xfrm>
                <a:off x="1240" y="6721"/>
                <a:ext cx="300" cy="301"/>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7</a:t>
                </a:r>
              </a:p>
            </p:txBody>
          </p:sp>
          <p:sp>
            <p:nvSpPr>
              <p:cNvPr id="53" name="圆角矩形 12"/>
              <p:cNvSpPr/>
              <p:nvPr>
                <p:custDataLst>
                  <p:tags r:id="rId21"/>
                </p:custDataLst>
              </p:nvPr>
            </p:nvSpPr>
            <p:spPr>
              <a:xfrm>
                <a:off x="1665" y="6779"/>
                <a:ext cx="3809" cy="279"/>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rPr>
                  <a:t>Conveyor line </a:t>
                </a:r>
                <a:r>
                  <a:rPr lang="en-US" altLang="zh-CN" sz="1300" dirty="0" err="1">
                    <a:solidFill>
                      <a:schemeClr val="tx1"/>
                    </a:solidFill>
                    <a:latin typeface="Calibri" panose="020F0502020204030204" charset="0"/>
                    <a:ea typeface="微软雅黑" panose="020B0503020204020204" pitchFamily="34" charset="-122"/>
                    <a:cs typeface="Calibri" panose="020F0502020204030204" charset="0"/>
                    <a:sym typeface="+mn-ea"/>
                  </a:rPr>
                  <a:t>outflowPCBA</a:t>
                </a:r>
                <a:endParaRPr lang="en-US" altLang="zh-CN" sz="13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30" name="组合 29"/>
            <p:cNvGrpSpPr/>
            <p:nvPr/>
          </p:nvGrpSpPr>
          <p:grpSpPr>
            <a:xfrm>
              <a:off x="466780" y="1951718"/>
              <a:ext cx="2386965" cy="230394"/>
              <a:chOff x="413" y="2757"/>
              <a:chExt cx="3759" cy="342"/>
            </a:xfrm>
          </p:grpSpPr>
          <p:sp>
            <p:nvSpPr>
              <p:cNvPr id="50" name="椭圆 49"/>
              <p:cNvSpPr/>
              <p:nvPr/>
            </p:nvSpPr>
            <p:spPr>
              <a:xfrm>
                <a:off x="413" y="2767"/>
                <a:ext cx="300" cy="294"/>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3</a:t>
                </a:r>
              </a:p>
            </p:txBody>
          </p:sp>
          <p:sp>
            <p:nvSpPr>
              <p:cNvPr id="51" name="圆角矩形 12"/>
              <p:cNvSpPr/>
              <p:nvPr>
                <p:custDataLst>
                  <p:tags r:id="rId19"/>
                </p:custDataLst>
              </p:nvPr>
            </p:nvSpPr>
            <p:spPr>
              <a:xfrm>
                <a:off x="640" y="2757"/>
                <a:ext cx="3532" cy="342"/>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Gill Sans"/>
                  </a:rPr>
                  <a:t>X/Y TABLE Load transfer component</a:t>
                </a:r>
              </a:p>
              <a:p>
                <a:pPr lvl="0" algn="ctr">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Gill Sans"/>
                  </a:rPr>
                  <a:t>(material fetching</a:t>
                </a:r>
                <a:endParaRPr lang="en-US" altLang="zh-CN" sz="1300" dirty="0">
                  <a:solidFill>
                    <a:schemeClr val="tx1"/>
                  </a:solidFill>
                  <a:latin typeface="微软雅黑" panose="020B0503020204020204" pitchFamily="34" charset="-122"/>
                  <a:ea typeface="微软雅黑" panose="020B0503020204020204" pitchFamily="34" charset="-122"/>
                  <a:sym typeface="Gill Sans"/>
                </a:endParaRPr>
              </a:p>
            </p:txBody>
          </p:sp>
        </p:grpSp>
        <p:grpSp>
          <p:nvGrpSpPr>
            <p:cNvPr id="31" name="组合 30"/>
            <p:cNvGrpSpPr/>
            <p:nvPr/>
          </p:nvGrpSpPr>
          <p:grpSpPr>
            <a:xfrm>
              <a:off x="479480" y="1459471"/>
              <a:ext cx="1713865" cy="212879"/>
              <a:chOff x="190" y="2187"/>
              <a:chExt cx="2699" cy="316"/>
            </a:xfrm>
          </p:grpSpPr>
          <p:sp>
            <p:nvSpPr>
              <p:cNvPr id="48" name="椭圆 47"/>
              <p:cNvSpPr/>
              <p:nvPr/>
            </p:nvSpPr>
            <p:spPr>
              <a:xfrm>
                <a:off x="190" y="2187"/>
                <a:ext cx="300" cy="316"/>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4</a:t>
                </a:r>
              </a:p>
            </p:txBody>
          </p:sp>
          <p:sp>
            <p:nvSpPr>
              <p:cNvPr id="49" name="圆角矩形 12"/>
              <p:cNvSpPr/>
              <p:nvPr>
                <p:custDataLst>
                  <p:tags r:id="rId18"/>
                </p:custDataLst>
              </p:nvPr>
            </p:nvSpPr>
            <p:spPr>
              <a:xfrm>
                <a:off x="397" y="2236"/>
                <a:ext cx="2492" cy="235"/>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300" dirty="0" err="1">
                    <a:solidFill>
                      <a:schemeClr val="tx1"/>
                    </a:solidFill>
                    <a:latin typeface="Calibri" panose="020F0502020204030204" charset="0"/>
                    <a:ea typeface="微软雅黑" panose="020B0503020204020204" pitchFamily="34" charset="-122"/>
                    <a:cs typeface="Calibri" panose="020F0502020204030204" charset="0"/>
                    <a:sym typeface="+mn-ea"/>
                  </a:rPr>
                  <a:t>Feeder（Feeding</a:t>
                </a: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rPr>
                  <a:t>）</a:t>
                </a:r>
                <a:endParaRPr lang="zh-CN" altLang="en-US" sz="13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32" name="组合 31"/>
            <p:cNvGrpSpPr/>
            <p:nvPr/>
          </p:nvGrpSpPr>
          <p:grpSpPr>
            <a:xfrm>
              <a:off x="466780" y="2366577"/>
              <a:ext cx="1852930" cy="398138"/>
              <a:chOff x="413" y="3192"/>
              <a:chExt cx="2918" cy="591"/>
            </a:xfrm>
          </p:grpSpPr>
          <p:sp>
            <p:nvSpPr>
              <p:cNvPr id="46" name="椭圆 45"/>
              <p:cNvSpPr/>
              <p:nvPr/>
            </p:nvSpPr>
            <p:spPr>
              <a:xfrm>
                <a:off x="413" y="3396"/>
                <a:ext cx="300" cy="297"/>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lang="en-US" sz="1000" dirty="0">
                    <a:solidFill>
                      <a:srgbClr val="000000"/>
                    </a:solidFill>
                    <a:latin typeface="微软雅黑" panose="020B0503020204020204" pitchFamily="34" charset="-122"/>
                    <a:ea typeface="微软雅黑" panose="020B0503020204020204" pitchFamily="34" charset="-122"/>
                    <a:sym typeface="Helvetica Neue Light"/>
                  </a:rPr>
                  <a:t>6</a:t>
                </a:r>
                <a:endPar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47" name="圆角矩形 12"/>
              <p:cNvSpPr/>
              <p:nvPr>
                <p:custDataLst>
                  <p:tags r:id="rId17"/>
                </p:custDataLst>
              </p:nvPr>
            </p:nvSpPr>
            <p:spPr>
              <a:xfrm>
                <a:off x="563" y="3192"/>
                <a:ext cx="2768" cy="591"/>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rPr>
                  <a:t>Upper CCD</a:t>
                </a:r>
              </a:p>
              <a:p>
                <a:pPr lvl="0" algn="ctr">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rPr>
                  <a:t> (product positioning)</a:t>
                </a:r>
                <a:endParaRPr lang="en-US" altLang="zh-CN" sz="13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33" name="组合 32"/>
            <p:cNvGrpSpPr/>
            <p:nvPr/>
          </p:nvGrpSpPr>
          <p:grpSpPr>
            <a:xfrm>
              <a:off x="466361" y="3044928"/>
              <a:ext cx="2418715" cy="261383"/>
              <a:chOff x="394" y="4029"/>
              <a:chExt cx="3809" cy="388"/>
            </a:xfrm>
          </p:grpSpPr>
          <p:sp>
            <p:nvSpPr>
              <p:cNvPr id="44" name="椭圆 43"/>
              <p:cNvSpPr/>
              <p:nvPr>
                <p:custDataLst>
                  <p:tags r:id="rId15"/>
                </p:custDataLst>
              </p:nvPr>
            </p:nvSpPr>
            <p:spPr>
              <a:xfrm>
                <a:off x="403" y="4114"/>
                <a:ext cx="300" cy="303"/>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5</a:t>
                </a:r>
              </a:p>
            </p:txBody>
          </p:sp>
          <p:sp>
            <p:nvSpPr>
              <p:cNvPr id="45" name="圆角矩形 12"/>
              <p:cNvSpPr/>
              <p:nvPr>
                <p:custDataLst>
                  <p:tags r:id="rId16"/>
                </p:custDataLst>
              </p:nvPr>
            </p:nvSpPr>
            <p:spPr>
              <a:xfrm>
                <a:off x="394" y="4029"/>
                <a:ext cx="3809" cy="363"/>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rPr>
                  <a:t>Lower CCD</a:t>
                </a:r>
              </a:p>
              <a:p>
                <a:pPr lvl="0" algn="ctr">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rPr>
                  <a:t>(Label compensation position</a:t>
                </a:r>
                <a:r>
                  <a:rPr lang="zh-CN" altLang="en-US" sz="1300" dirty="0">
                    <a:solidFill>
                      <a:schemeClr val="tx1"/>
                    </a:solidFill>
                    <a:latin typeface="Calibri" panose="020F0502020204030204" charset="0"/>
                    <a:ea typeface="微软雅黑" panose="020B0503020204020204" pitchFamily="34" charset="-122"/>
                    <a:cs typeface="Calibri" panose="020F0502020204030204" charset="0"/>
                    <a:sym typeface="+mn-ea"/>
                  </a:rPr>
                  <a:t>）</a:t>
                </a:r>
                <a:endPar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endParaRPr>
              </a:p>
            </p:txBody>
          </p:sp>
        </p:grpSp>
        <p:grpSp>
          <p:nvGrpSpPr>
            <p:cNvPr id="37" name="组合 36"/>
            <p:cNvGrpSpPr/>
            <p:nvPr/>
          </p:nvGrpSpPr>
          <p:grpSpPr>
            <a:xfrm>
              <a:off x="479374" y="4355520"/>
              <a:ext cx="2242185" cy="212879"/>
              <a:chOff x="400" y="5158"/>
              <a:chExt cx="3531" cy="316"/>
            </a:xfrm>
          </p:grpSpPr>
          <p:sp>
            <p:nvSpPr>
              <p:cNvPr id="42" name="椭圆 41"/>
              <p:cNvSpPr/>
              <p:nvPr/>
            </p:nvSpPr>
            <p:spPr>
              <a:xfrm>
                <a:off x="400" y="5158"/>
                <a:ext cx="300" cy="316"/>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1</a:t>
                </a:r>
                <a:endParaRPr kumimoji="0" lang="zh-CN" altLang="en-US"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endParaRPr>
              </a:p>
            </p:txBody>
          </p:sp>
          <p:sp>
            <p:nvSpPr>
              <p:cNvPr id="43" name="圆角矩形 12"/>
              <p:cNvSpPr/>
              <p:nvPr>
                <p:custDataLst>
                  <p:tags r:id="rId14"/>
                </p:custDataLst>
              </p:nvPr>
            </p:nvSpPr>
            <p:spPr>
              <a:xfrm>
                <a:off x="1091" y="5190"/>
                <a:ext cx="2840" cy="279"/>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rPr>
                  <a:t>Into the PCBA </a:t>
                </a:r>
              </a:p>
              <a:p>
                <a:pPr lvl="0" algn="l">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mn-ea"/>
                  </a:rPr>
                  <a:t>conveyor line(feed)</a:t>
                </a:r>
                <a:endParaRPr lang="en-US" altLang="zh-CN" sz="1300" dirty="0">
                  <a:solidFill>
                    <a:schemeClr val="tx1"/>
                  </a:solidFill>
                  <a:latin typeface="微软雅黑" panose="020B0503020204020204" pitchFamily="34" charset="-122"/>
                  <a:ea typeface="微软雅黑" panose="020B0503020204020204" pitchFamily="34" charset="-122"/>
                  <a:sym typeface="+mn-ea"/>
                </a:endParaRPr>
              </a:p>
            </p:txBody>
          </p:sp>
        </p:grpSp>
        <p:grpSp>
          <p:nvGrpSpPr>
            <p:cNvPr id="38" name="组合 37"/>
            <p:cNvGrpSpPr/>
            <p:nvPr/>
          </p:nvGrpSpPr>
          <p:grpSpPr>
            <a:xfrm>
              <a:off x="501599" y="3727339"/>
              <a:ext cx="2257848" cy="247635"/>
              <a:chOff x="480750" y="4007972"/>
              <a:chExt cx="2257848" cy="247635"/>
            </a:xfrm>
          </p:grpSpPr>
          <p:sp>
            <p:nvSpPr>
              <p:cNvPr id="40" name="圆角矩形 12"/>
              <p:cNvSpPr/>
              <p:nvPr>
                <p:custDataLst>
                  <p:tags r:id="rId12"/>
                </p:custDataLst>
              </p:nvPr>
            </p:nvSpPr>
            <p:spPr>
              <a:xfrm>
                <a:off x="935198" y="4007972"/>
                <a:ext cx="1803400" cy="177165"/>
              </a:xfrm>
              <a:prstGeom prst="round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Gill Sans"/>
                  </a:rPr>
                  <a:t>Positioning PCBA</a:t>
                </a:r>
              </a:p>
              <a:p>
                <a:pPr lvl="0" algn="l">
                  <a:buClrTx/>
                  <a:buSzTx/>
                  <a:buFontTx/>
                </a:pPr>
                <a:r>
                  <a:rPr lang="en-US" altLang="zh-CN" sz="1300" dirty="0">
                    <a:solidFill>
                      <a:schemeClr val="tx1"/>
                    </a:solidFill>
                    <a:latin typeface="Calibri" panose="020F0502020204030204" charset="0"/>
                    <a:ea typeface="微软雅黑" panose="020B0503020204020204" pitchFamily="34" charset="-122"/>
                    <a:cs typeface="Calibri" panose="020F0502020204030204" charset="0"/>
                    <a:sym typeface="Gill Sans"/>
                  </a:rPr>
                  <a:t> </a:t>
                </a:r>
                <a:r>
                  <a:rPr lang="en-US" altLang="zh-CN" sz="1300" dirty="0">
                    <a:solidFill>
                      <a:schemeClr val="tx1"/>
                    </a:solidFill>
                    <a:latin typeface="Calibri" panose="020F0502020204030204" charset="0"/>
                    <a:cs typeface="Calibri" panose="020F0502020204030204" charset="0"/>
                    <a:sym typeface="+mn-ea"/>
                  </a:rPr>
                  <a:t>(Clamping PCBA</a:t>
                </a:r>
                <a:r>
                  <a:rPr lang="zh-CN" altLang="en-US" sz="1300" dirty="0">
                    <a:solidFill>
                      <a:schemeClr val="tx1"/>
                    </a:solidFill>
                    <a:latin typeface="微软雅黑" panose="020B0503020204020204" pitchFamily="34" charset="-122"/>
                    <a:ea typeface="微软雅黑" panose="020B0503020204020204" pitchFamily="34" charset="-122"/>
                    <a:sym typeface="+mn-ea"/>
                  </a:rPr>
                  <a:t>）</a:t>
                </a:r>
              </a:p>
            </p:txBody>
          </p:sp>
          <p:sp>
            <p:nvSpPr>
              <p:cNvPr id="41" name="椭圆 40"/>
              <p:cNvSpPr/>
              <p:nvPr>
                <p:custDataLst>
                  <p:tags r:id="rId13"/>
                </p:custDataLst>
              </p:nvPr>
            </p:nvSpPr>
            <p:spPr>
              <a:xfrm>
                <a:off x="480750" y="4054947"/>
                <a:ext cx="190500" cy="200660"/>
              </a:xfrm>
              <a:prstGeom prst="ellipse">
                <a:avLst/>
              </a:prstGeom>
              <a:solidFill>
                <a:srgbClr val="00FF00"/>
              </a:solidFill>
              <a:ln w="3175" cap="flat">
                <a:solidFill>
                  <a:srgbClr val="005C4F"/>
                </a:solidFill>
                <a:prstDash val="solid"/>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4604" tIns="44604" rIns="44604" bIns="44604" numCol="1" spcCol="38100" rtlCol="0" anchor="ctr">
                <a:noAutofit/>
              </a:bodyPr>
              <a:lstStyle/>
              <a:p>
                <a:pPr marL="0" marR="0" indent="0" algn="ctr" defTabSz="825500" rtl="0" fontAlgn="auto" latinLnBrk="1"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Helvetica Neue Light"/>
                  </a:rPr>
                  <a:t>2</a:t>
                </a:r>
              </a:p>
            </p:txBody>
          </p:sp>
        </p:grpSp>
      </p:grpSp>
      <p:cxnSp>
        <p:nvCxnSpPr>
          <p:cNvPr id="54" name="直接箭头连接符 53"/>
          <p:cNvCxnSpPr/>
          <p:nvPr>
            <p:custDataLst>
              <p:tags r:id="rId11"/>
            </p:custDataLst>
          </p:nvPr>
        </p:nvCxnSpPr>
        <p:spPr>
          <a:xfrm>
            <a:off x="2194615" y="4539181"/>
            <a:ext cx="1733605" cy="106683"/>
          </a:xfrm>
          <a:prstGeom prst="straightConnector1">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图片 56"/>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40000" contrast="-20000"/>
                    </a14:imgEffect>
                  </a14:imgLayer>
                </a14:imgProps>
              </a:ext>
              <a:ext uri="{28A0092B-C50C-407E-A947-70E740481C1C}">
                <a14:useLocalDpi xmlns:a14="http://schemas.microsoft.com/office/drawing/2010/main" val="0"/>
              </a:ext>
            </a:extLst>
          </a:blip>
          <a:srcRect l="5117" t="7476"/>
          <a:stretch>
            <a:fillRect/>
          </a:stretch>
        </p:blipFill>
        <p:spPr>
          <a:xfrm>
            <a:off x="2503590" y="844489"/>
            <a:ext cx="6825213" cy="4984599"/>
          </a:xfrm>
          <a:prstGeom prst="rect">
            <a:avLst/>
          </a:prstGeom>
        </p:spPr>
      </p:pic>
      <p:sp>
        <p:nvSpPr>
          <p:cNvPr id="2" name="TextBox 29"/>
          <p:cNvSpPr txBox="1">
            <a:spLocks noChangeArrowheads="1"/>
          </p:cNvSpPr>
          <p:nvPr/>
        </p:nvSpPr>
        <p:spPr bwMode="auto">
          <a:xfrm>
            <a:off x="10915291" y="782112"/>
            <a:ext cx="1078053"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300">
                <a:cs typeface="Calibri" panose="020F0502020204030204" charset="0"/>
              </a:rPr>
              <a:t>unit</a:t>
            </a:r>
            <a:r>
              <a:rPr lang="zh-CN" altLang="en-US" sz="1300">
                <a:cs typeface="Calibri" panose="020F0502020204030204" charset="0"/>
              </a:rPr>
              <a:t>：</a:t>
            </a:r>
            <a:r>
              <a:rPr lang="en-US" altLang="zh-CN" sz="1300">
                <a:cs typeface="Calibri" panose="020F0502020204030204" charset="0"/>
              </a:rPr>
              <a:t>mm</a:t>
            </a:r>
            <a:endParaRPr lang="zh-CN" altLang="en-US" sz="1300">
              <a:cs typeface="Calibri" panose="020F0502020204030204" charset="0"/>
            </a:endParaRPr>
          </a:p>
        </p:txBody>
      </p:sp>
      <p:sp>
        <p:nvSpPr>
          <p:cNvPr id="9" name="標題 1"/>
          <p:cNvSpPr txBox="1"/>
          <p:nvPr>
            <p:custDataLst>
              <p:tags r:id="rId1"/>
            </p:custDataLst>
          </p:nvPr>
        </p:nvSpPr>
        <p:spPr>
          <a:xfrm>
            <a:off x="692458" y="135368"/>
            <a:ext cx="9543610" cy="582295"/>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marL="0" marR="0" algn="l" defTabSz="914400" rtl="0" eaLnBrk="1" fontAlgn="b" latinLnBrk="0" hangingPunct="1">
              <a:lnSpc>
                <a:spcPct val="100000"/>
              </a:lnSpc>
              <a:spcBef>
                <a:spcPts val="0"/>
              </a:spcBef>
              <a:buClrTx/>
              <a:buSzTx/>
              <a:buFontTx/>
              <a:buNone/>
            </a:pPr>
            <a:r>
              <a:rPr lang="en-US" altLang="zh-CN" sz="3000" kern="0" noProof="0" dirty="0">
                <a:ln>
                  <a:noFill/>
                </a:ln>
                <a:effectLst/>
                <a:uLnTx/>
                <a:uFillTx/>
                <a:sym typeface="+mn-ea"/>
              </a:rPr>
              <a:t>4.</a:t>
            </a:r>
            <a:r>
              <a:rPr lang="en-US" altLang="zh-CN" sz="3000" dirty="0">
                <a:effectLst/>
                <a:latin typeface="+mn-lt"/>
                <a:sym typeface="+mn-ea"/>
              </a:rPr>
              <a:t>Equipment Layout</a:t>
            </a:r>
            <a:endParaRPr lang="en-US" altLang="zh-CN" sz="3000" kern="0" noProof="0" dirty="0">
              <a:ln>
                <a:noFill/>
              </a:ln>
              <a:effectLst/>
              <a:uLnTx/>
              <a:uFillTx/>
              <a:sym typeface="+mn-ea"/>
            </a:endParaRPr>
          </a:p>
        </p:txBody>
      </p:sp>
      <p:pic>
        <p:nvPicPr>
          <p:cNvPr id="83" name="图片 82" descr="图示, 工程绘图&#10;&#10;描述已自动生成"/>
          <p:cNvPicPr>
            <a:picLocks noChangeAspect="1"/>
          </p:cNvPicPr>
          <p:nvPr/>
        </p:nvPicPr>
        <p:blipFill>
          <a:blip r:embed="rId8" cstate="print">
            <a:extLst>
              <a:ext uri="{BEBA8EAE-BF5A-486C-A8C5-ECC9F3942E4B}">
                <a14:imgProps xmlns:a14="http://schemas.microsoft.com/office/drawing/2010/main">
                  <a14:imgLayer r:embed="rId9">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416674" y="2924908"/>
            <a:ext cx="1547957" cy="1923013"/>
          </a:xfrm>
          <a:prstGeom prst="rect">
            <a:avLst/>
          </a:prstGeom>
        </p:spPr>
      </p:pic>
      <p:sp>
        <p:nvSpPr>
          <p:cNvPr id="85"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9</a:t>
            </a:fld>
            <a:endParaRPr lang="zh-TW" altLang="en-US" sz="1400" dirty="0">
              <a:solidFill>
                <a:srgbClr val="898989"/>
              </a:solidFill>
              <a:latin typeface="Arial" panose="020B0604020202020204" pitchFamily="34" charset="0"/>
              <a:ea typeface="微软雅黑" panose="020B0503020204020204" pitchFamily="34" charset="-122"/>
            </a:endParaRPr>
          </a:p>
        </p:txBody>
      </p:sp>
      <p:grpSp>
        <p:nvGrpSpPr>
          <p:cNvPr id="87" name="组合 39"/>
          <p:cNvGrpSpPr/>
          <p:nvPr/>
        </p:nvGrpSpPr>
        <p:grpSpPr>
          <a:xfrm rot="10800000">
            <a:off x="6052754" y="2924908"/>
            <a:ext cx="3266025" cy="917298"/>
            <a:chOff x="4995" y="4051"/>
            <a:chExt cx="5701" cy="1539"/>
          </a:xfrm>
        </p:grpSpPr>
        <p:sp>
          <p:nvSpPr>
            <p:cNvPr id="88" name="椭圆 40"/>
            <p:cNvSpPr>
              <a:spLocks noChangeAspect="1"/>
            </p:cNvSpPr>
            <p:nvPr/>
          </p:nvSpPr>
          <p:spPr>
            <a:xfrm>
              <a:off x="10545" y="5439"/>
              <a:ext cx="151" cy="15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9" name="肘形连接符 42"/>
            <p:cNvCxnSpPr/>
            <p:nvPr/>
          </p:nvCxnSpPr>
          <p:spPr>
            <a:xfrm>
              <a:off x="4995" y="4051"/>
              <a:ext cx="5550" cy="1458"/>
            </a:xfrm>
            <a:prstGeom prst="bentConnector3">
              <a:avLst>
                <a:gd name="adj1" fmla="val 50000"/>
              </a:avLst>
            </a:prstGeom>
            <a:solidFill>
              <a:srgbClr val="FF0000"/>
            </a:solidFill>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grpSp>
      <p:grpSp>
        <p:nvGrpSpPr>
          <p:cNvPr id="90" name="组合 43"/>
          <p:cNvGrpSpPr/>
          <p:nvPr/>
        </p:nvGrpSpPr>
        <p:grpSpPr>
          <a:xfrm rot="10800000">
            <a:off x="7054791" y="1814708"/>
            <a:ext cx="1665380" cy="848755"/>
            <a:chOff x="7839" y="2546"/>
            <a:chExt cx="2907" cy="1424"/>
          </a:xfrm>
        </p:grpSpPr>
        <p:sp>
          <p:nvSpPr>
            <p:cNvPr id="91" name="椭圆 44"/>
            <p:cNvSpPr>
              <a:spLocks noChangeAspect="1"/>
            </p:cNvSpPr>
            <p:nvPr/>
          </p:nvSpPr>
          <p:spPr>
            <a:xfrm>
              <a:off x="10595" y="2546"/>
              <a:ext cx="151" cy="15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2" name="肘形连接符 45"/>
            <p:cNvCxnSpPr>
              <a:stCxn id="127" idx="1"/>
              <a:endCxn id="91" idx="2"/>
            </p:cNvCxnSpPr>
            <p:nvPr/>
          </p:nvCxnSpPr>
          <p:spPr>
            <a:xfrm flipV="1">
              <a:off x="7839" y="2622"/>
              <a:ext cx="2756" cy="1348"/>
            </a:xfrm>
            <a:prstGeom prst="bentConnector3">
              <a:avLst>
                <a:gd name="adj1" fmla="val 50000"/>
              </a:avLst>
            </a:prstGeom>
            <a:solidFill>
              <a:srgbClr val="FF0000"/>
            </a:solidFill>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grpSp>
      <p:grpSp>
        <p:nvGrpSpPr>
          <p:cNvPr id="93" name="组合 46"/>
          <p:cNvGrpSpPr/>
          <p:nvPr/>
        </p:nvGrpSpPr>
        <p:grpSpPr>
          <a:xfrm rot="16200000">
            <a:off x="6679131" y="3629834"/>
            <a:ext cx="1734461" cy="2561948"/>
            <a:chOff x="5877" y="3059"/>
            <a:chExt cx="2910" cy="4472"/>
          </a:xfrm>
        </p:grpSpPr>
        <p:sp>
          <p:nvSpPr>
            <p:cNvPr id="94" name="椭圆 47"/>
            <p:cNvSpPr>
              <a:spLocks noChangeAspect="1"/>
            </p:cNvSpPr>
            <p:nvPr/>
          </p:nvSpPr>
          <p:spPr>
            <a:xfrm>
              <a:off x="8636" y="3059"/>
              <a:ext cx="151" cy="15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肘形连接符 48"/>
            <p:cNvCxnSpPr>
              <a:stCxn id="128" idx="1"/>
              <a:endCxn id="94" idx="2"/>
            </p:cNvCxnSpPr>
            <p:nvPr/>
          </p:nvCxnSpPr>
          <p:spPr>
            <a:xfrm rot="16200000">
              <a:off x="5059" y="3953"/>
              <a:ext cx="4396" cy="2759"/>
            </a:xfrm>
            <a:prstGeom prst="bentConnector2">
              <a:avLst/>
            </a:prstGeom>
            <a:solidFill>
              <a:srgbClr val="FF0000"/>
            </a:solidFill>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grpSp>
      <p:grpSp>
        <p:nvGrpSpPr>
          <p:cNvPr id="96" name="组合 95"/>
          <p:cNvGrpSpPr/>
          <p:nvPr/>
        </p:nvGrpSpPr>
        <p:grpSpPr>
          <a:xfrm>
            <a:off x="365669" y="910507"/>
            <a:ext cx="11267529" cy="5612213"/>
            <a:chOff x="112395" y="451923"/>
            <a:chExt cx="12489180" cy="5979103"/>
          </a:xfrm>
        </p:grpSpPr>
        <p:grpSp>
          <p:nvGrpSpPr>
            <p:cNvPr id="97" name="组合 96"/>
            <p:cNvGrpSpPr/>
            <p:nvPr/>
          </p:nvGrpSpPr>
          <p:grpSpPr>
            <a:xfrm>
              <a:off x="9358451" y="498856"/>
              <a:ext cx="3243124" cy="5829459"/>
              <a:chOff x="9358451" y="498856"/>
              <a:chExt cx="3243124" cy="5829459"/>
            </a:xfrm>
          </p:grpSpPr>
          <p:pic>
            <p:nvPicPr>
              <p:cNvPr id="125" name="图片 124"/>
              <p:cNvPicPr>
                <a:picLocks noChangeAspect="1"/>
              </p:cNvPicPr>
              <p:nvPr/>
            </p:nvPicPr>
            <p:blipFill rotWithShape="1">
              <a:blip r:embed="rId10"/>
              <a:srcRect l="7858" t="17913" r="11441" b="8348"/>
              <a:stretch>
                <a:fillRect/>
              </a:stretch>
            </p:blipFill>
            <p:spPr>
              <a:xfrm>
                <a:off x="9739278" y="576778"/>
                <a:ext cx="2045941" cy="1612415"/>
              </a:xfrm>
              <a:prstGeom prst="rect">
                <a:avLst/>
              </a:prstGeom>
            </p:spPr>
          </p:pic>
          <p:pic>
            <p:nvPicPr>
              <p:cNvPr id="126" name="图片 125"/>
              <p:cNvPicPr>
                <a:picLocks noChangeAspect="1"/>
              </p:cNvPicPr>
              <p:nvPr/>
            </p:nvPicPr>
            <p:blipFill rotWithShape="1">
              <a:blip r:embed="rId11"/>
              <a:srcRect l="18551" t="5594" r="7230" b="2155"/>
              <a:stretch>
                <a:fillRect/>
              </a:stretch>
            </p:blipFill>
            <p:spPr>
              <a:xfrm>
                <a:off x="9539130" y="5020089"/>
                <a:ext cx="1019470" cy="1182084"/>
              </a:xfrm>
              <a:prstGeom prst="rect">
                <a:avLst/>
              </a:prstGeom>
            </p:spPr>
          </p:pic>
          <p:sp>
            <p:nvSpPr>
              <p:cNvPr id="127" name="圆角矩形 22"/>
              <p:cNvSpPr/>
              <p:nvPr/>
            </p:nvSpPr>
            <p:spPr>
              <a:xfrm>
                <a:off x="9372600" y="498856"/>
                <a:ext cx="2550795" cy="1833880"/>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圆角矩形 28"/>
              <p:cNvSpPr/>
              <p:nvPr/>
            </p:nvSpPr>
            <p:spPr>
              <a:xfrm>
                <a:off x="9491345" y="4946397"/>
                <a:ext cx="1830007" cy="138191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56"/>
              <p:cNvSpPr>
                <a:spLocks noChangeAspect="1"/>
              </p:cNvSpPr>
              <p:nvPr/>
            </p:nvSpPr>
            <p:spPr>
              <a:xfrm>
                <a:off x="10691350" y="5695330"/>
                <a:ext cx="282607" cy="2826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5</a:t>
                </a:r>
              </a:p>
            </p:txBody>
          </p:sp>
          <p:sp>
            <p:nvSpPr>
              <p:cNvPr id="130" name="椭圆 60"/>
              <p:cNvSpPr>
                <a:spLocks noChangeAspect="1"/>
              </p:cNvSpPr>
              <p:nvPr/>
            </p:nvSpPr>
            <p:spPr>
              <a:xfrm>
                <a:off x="11211877" y="765840"/>
                <a:ext cx="282607" cy="282607"/>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4</a:t>
                </a:r>
              </a:p>
            </p:txBody>
          </p:sp>
          <p:grpSp>
            <p:nvGrpSpPr>
              <p:cNvPr id="131" name="组合 74"/>
              <p:cNvGrpSpPr/>
              <p:nvPr/>
            </p:nvGrpSpPr>
            <p:grpSpPr>
              <a:xfrm>
                <a:off x="10045065" y="2598039"/>
                <a:ext cx="2556510" cy="2024380"/>
                <a:chOff x="2293" y="596"/>
                <a:chExt cx="4026" cy="3188"/>
              </a:xfrm>
            </p:grpSpPr>
            <p:sp>
              <p:nvSpPr>
                <p:cNvPr id="134" name="圆角矩形 32"/>
                <p:cNvSpPr/>
                <p:nvPr/>
              </p:nvSpPr>
              <p:spPr>
                <a:xfrm>
                  <a:off x="2293" y="596"/>
                  <a:ext cx="3968" cy="318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59"/>
                <p:cNvSpPr>
                  <a:spLocks noChangeAspect="1"/>
                </p:cNvSpPr>
                <p:nvPr/>
              </p:nvSpPr>
              <p:spPr>
                <a:xfrm>
                  <a:off x="4918" y="935"/>
                  <a:ext cx="445" cy="44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2</a:t>
                  </a:r>
                </a:p>
              </p:txBody>
            </p:sp>
            <p:sp>
              <p:nvSpPr>
                <p:cNvPr id="136" name="文本框 64"/>
                <p:cNvSpPr txBox="1"/>
                <p:nvPr/>
              </p:nvSpPr>
              <p:spPr>
                <a:xfrm>
                  <a:off x="4054" y="3111"/>
                  <a:ext cx="2265" cy="413"/>
                </a:xfrm>
                <a:prstGeom prst="rect">
                  <a:avLst/>
                </a:prstGeom>
                <a:noFill/>
              </p:spPr>
              <p:txBody>
                <a:bodyPr wrap="square" rtlCol="0" anchor="t">
                  <a:spAutoFit/>
                </a:bodyPr>
                <a:lstStyle/>
                <a:p>
                  <a:pPr algn="ctr"/>
                  <a:r>
                    <a:rPr lang="en-US" altLang="zh-CN" sz="1000" b="0" dirty="0">
                      <a:solidFill>
                        <a:schemeClr val="tx1"/>
                      </a:solidFill>
                      <a:latin typeface="等线" panose="02010600030101010101" charset="-122"/>
                      <a:ea typeface="等线" panose="02010600030101010101" charset="-122"/>
                      <a:cs typeface="等线" panose="02010600030101010101" charset="-122"/>
                    </a:rPr>
                    <a:t>Placement head</a:t>
                  </a:r>
                  <a:endParaRPr lang="zh-CN" altLang="en-US" sz="1000" b="0" dirty="0">
                    <a:solidFill>
                      <a:schemeClr val="tx1"/>
                    </a:solidFill>
                    <a:latin typeface="等线" panose="02010600030101010101" charset="-122"/>
                    <a:ea typeface="等线" panose="02010600030101010101" charset="-122"/>
                    <a:cs typeface="等线" panose="02010600030101010101" charset="-122"/>
                  </a:endParaRPr>
                </a:p>
              </p:txBody>
            </p:sp>
          </p:grpSp>
          <p:sp>
            <p:nvSpPr>
              <p:cNvPr id="132" name="文本框 68"/>
              <p:cNvSpPr txBox="1"/>
              <p:nvPr/>
            </p:nvSpPr>
            <p:spPr>
              <a:xfrm>
                <a:off x="10166026" y="5173309"/>
                <a:ext cx="1200150" cy="295107"/>
              </a:xfrm>
              <a:prstGeom prst="rect">
                <a:avLst/>
              </a:prstGeom>
              <a:noFill/>
            </p:spPr>
            <p:txBody>
              <a:bodyPr wrap="square" rtlCol="0" anchor="t">
                <a:spAutoFit/>
              </a:bodyPr>
              <a:lstStyle/>
              <a:p>
                <a:pPr algn="ctr">
                  <a:buNone/>
                </a:pPr>
                <a:r>
                  <a:rPr lang="zh-CN" altLang="en-US" sz="1200" dirty="0">
                    <a:latin typeface="等线" panose="02010600030101010101" charset="-122"/>
                    <a:ea typeface="等线" panose="02010600030101010101" charset="-122"/>
                    <a:cs typeface="等线" panose="02010600030101010101" charset="-122"/>
                    <a:sym typeface="+mn-ea"/>
                  </a:rPr>
                  <a:t> </a:t>
                </a:r>
                <a:r>
                  <a:rPr lang="en-US" altLang="zh-CN" sz="1200" dirty="0">
                    <a:latin typeface="等线" panose="02010600030101010101" charset="-122"/>
                    <a:ea typeface="等线" panose="02010600030101010101" charset="-122"/>
                    <a:cs typeface="等线" panose="02010600030101010101" charset="-122"/>
                    <a:sym typeface="+mn-ea"/>
                  </a:rPr>
                  <a:t>Lower CCD</a:t>
                </a:r>
              </a:p>
            </p:txBody>
          </p:sp>
          <p:sp>
            <p:nvSpPr>
              <p:cNvPr id="133" name="文本框 69"/>
              <p:cNvSpPr txBox="1"/>
              <p:nvPr/>
            </p:nvSpPr>
            <p:spPr>
              <a:xfrm>
                <a:off x="9358451" y="1828496"/>
                <a:ext cx="1200150" cy="295107"/>
              </a:xfrm>
              <a:prstGeom prst="rect">
                <a:avLst/>
              </a:prstGeom>
              <a:noFill/>
            </p:spPr>
            <p:txBody>
              <a:bodyPr wrap="square" rtlCol="0" anchor="t">
                <a:spAutoFit/>
              </a:bodyPr>
              <a:lstStyle/>
              <a:p>
                <a:pPr algn="ctr">
                  <a:buNone/>
                </a:pPr>
                <a:r>
                  <a:rPr lang="en-US" altLang="zh-CN" sz="1200" dirty="0">
                    <a:latin typeface="等线" panose="02010600030101010101" charset="-122"/>
                    <a:ea typeface="等线" panose="02010600030101010101" charset="-122"/>
                    <a:cs typeface="等线" panose="02010600030101010101" charset="-122"/>
                    <a:sym typeface="+mn-ea"/>
                  </a:rPr>
                  <a:t>Y-axis</a:t>
                </a:r>
                <a:endParaRPr lang="zh-CN" altLang="en-US" sz="1200" dirty="0"/>
              </a:p>
            </p:txBody>
          </p:sp>
        </p:grpSp>
        <p:grpSp>
          <p:nvGrpSpPr>
            <p:cNvPr id="98" name="组合 97"/>
            <p:cNvGrpSpPr/>
            <p:nvPr/>
          </p:nvGrpSpPr>
          <p:grpSpPr>
            <a:xfrm>
              <a:off x="112395" y="451923"/>
              <a:ext cx="5783637" cy="5979103"/>
              <a:chOff x="112395" y="451923"/>
              <a:chExt cx="5783637" cy="5979103"/>
            </a:xfrm>
          </p:grpSpPr>
          <p:pic>
            <p:nvPicPr>
              <p:cNvPr id="104" name="图片 103" descr="卡通人物&#10;&#10;中度可信度描述已自动生成"/>
              <p:cNvPicPr>
                <a:picLocks noChangeAspect="1"/>
              </p:cNvPicPr>
              <p:nvPr/>
            </p:nvPicPr>
            <p:blipFill>
              <a:blip r:embed="rId12" cstate="print">
                <a:extLst>
                  <a:ext uri="{BEBA8EAE-BF5A-486C-A8C5-ECC9F3942E4B}">
                    <a14:imgProps xmlns:a14="http://schemas.microsoft.com/office/drawing/2010/main">
                      <a14:imgLayer r:embed="rId13">
                        <a14:imgEffect>
                          <a14:backgroundRemoval t="9936" b="89904" l="9102" r="89965">
                            <a14:foregroundMark x1="9102" y1="27724" x2="9102" y2="27724"/>
                            <a14:foregroundMark x1="39090" y1="30449" x2="39090" y2="30449"/>
                            <a14:foregroundMark x1="66394" y1="46154" x2="66394" y2="46154"/>
                            <a14:foregroundMark x1="60560" y1="55449" x2="60560" y2="55449"/>
                          </a14:backgroundRemoval>
                        </a14:imgEffect>
                        <a14:imgEffect>
                          <a14:brightnessContrast bright="20000"/>
                        </a14:imgEffect>
                      </a14:imgLayer>
                    </a14:imgProps>
                  </a:ext>
                  <a:ext uri="{28A0092B-C50C-407E-A947-70E740481C1C}">
                    <a14:useLocalDpi xmlns:a14="http://schemas.microsoft.com/office/drawing/2010/main" val="0"/>
                  </a:ext>
                </a:extLst>
              </a:blip>
              <a:stretch>
                <a:fillRect/>
              </a:stretch>
            </p:blipFill>
            <p:spPr>
              <a:xfrm>
                <a:off x="327593" y="451923"/>
                <a:ext cx="2279014" cy="1659399"/>
              </a:xfrm>
              <a:prstGeom prst="rect">
                <a:avLst/>
              </a:prstGeom>
            </p:spPr>
          </p:pic>
          <p:grpSp>
            <p:nvGrpSpPr>
              <p:cNvPr id="99" name="组合 98"/>
              <p:cNvGrpSpPr/>
              <p:nvPr/>
            </p:nvGrpSpPr>
            <p:grpSpPr>
              <a:xfrm>
                <a:off x="339567" y="485489"/>
                <a:ext cx="2205355" cy="1833880"/>
                <a:chOff x="525508" y="1159256"/>
                <a:chExt cx="2205355" cy="1833880"/>
              </a:xfrm>
            </p:grpSpPr>
            <p:grpSp>
              <p:nvGrpSpPr>
                <p:cNvPr id="121" name="组合 17"/>
                <p:cNvGrpSpPr/>
                <p:nvPr/>
              </p:nvGrpSpPr>
              <p:grpSpPr>
                <a:xfrm>
                  <a:off x="525508" y="1159256"/>
                  <a:ext cx="2205355" cy="1833880"/>
                  <a:chOff x="14958" y="6712"/>
                  <a:chExt cx="3473" cy="2888"/>
                </a:xfrm>
              </p:grpSpPr>
              <p:sp>
                <p:nvSpPr>
                  <p:cNvPr id="123" name="圆角矩形 27"/>
                  <p:cNvSpPr/>
                  <p:nvPr/>
                </p:nvSpPr>
                <p:spPr>
                  <a:xfrm>
                    <a:off x="14958" y="6712"/>
                    <a:ext cx="3473" cy="288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55"/>
                  <p:cNvSpPr>
                    <a:spLocks noChangeAspect="1"/>
                  </p:cNvSpPr>
                  <p:nvPr/>
                </p:nvSpPr>
                <p:spPr>
                  <a:xfrm>
                    <a:off x="17514" y="7053"/>
                    <a:ext cx="445" cy="44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1</a:t>
                    </a:r>
                  </a:p>
                </p:txBody>
              </p:sp>
            </p:grpSp>
            <p:sp>
              <p:nvSpPr>
                <p:cNvPr id="122" name="文本框 62"/>
                <p:cNvSpPr txBox="1"/>
                <p:nvPr/>
              </p:nvSpPr>
              <p:spPr>
                <a:xfrm>
                  <a:off x="893305" y="2498096"/>
                  <a:ext cx="1718945" cy="304944"/>
                </a:xfrm>
                <a:prstGeom prst="rect">
                  <a:avLst/>
                </a:prstGeom>
                <a:noFill/>
              </p:spPr>
              <p:txBody>
                <a:bodyPr wrap="square" rtlCol="0" anchor="t">
                  <a:spAutoFit/>
                </a:bodyPr>
                <a:lstStyle/>
                <a:p>
                  <a:pPr algn="l">
                    <a:lnSpc>
                      <a:spcPct val="90000"/>
                    </a:lnSpc>
                  </a:pPr>
                  <a:r>
                    <a:rPr lang="en-US" altLang="zh-CN" sz="1400" dirty="0">
                      <a:solidFill>
                        <a:schemeClr val="tx1"/>
                      </a:solidFill>
                      <a:latin typeface="Calibri" panose="020F0502020204030204" charset="0"/>
                      <a:cs typeface="Calibri" panose="020F0502020204030204" charset="0"/>
                    </a:rPr>
                    <a:t>Feeder</a:t>
                  </a:r>
                </a:p>
              </p:txBody>
            </p:sp>
          </p:grpSp>
          <p:grpSp>
            <p:nvGrpSpPr>
              <p:cNvPr id="100" name="组合 35"/>
              <p:cNvGrpSpPr/>
              <p:nvPr/>
            </p:nvGrpSpPr>
            <p:grpSpPr>
              <a:xfrm>
                <a:off x="2445010" y="2357501"/>
                <a:ext cx="2377440" cy="1624330"/>
                <a:chOff x="4513" y="3655"/>
                <a:chExt cx="3744" cy="2558"/>
              </a:xfrm>
            </p:grpSpPr>
            <p:sp>
              <p:nvSpPr>
                <p:cNvPr id="119" name="椭圆 33"/>
                <p:cNvSpPr>
                  <a:spLocks noChangeAspect="1"/>
                </p:cNvSpPr>
                <p:nvPr/>
              </p:nvSpPr>
              <p:spPr>
                <a:xfrm>
                  <a:off x="8106" y="3655"/>
                  <a:ext cx="151" cy="15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0" name="肘形连接符 34"/>
                <p:cNvCxnSpPr>
                  <a:stCxn id="112" idx="3"/>
                  <a:endCxn id="119" idx="4"/>
                </p:cNvCxnSpPr>
                <p:nvPr>
                  <p:custDataLst>
                    <p:tags r:id="rId3"/>
                  </p:custDataLst>
                </p:nvPr>
              </p:nvCxnSpPr>
              <p:spPr>
                <a:xfrm flipV="1">
                  <a:off x="4513" y="3806"/>
                  <a:ext cx="3669" cy="2407"/>
                </a:xfrm>
                <a:prstGeom prst="bentConnector2">
                  <a:avLst/>
                </a:prstGeom>
                <a:solidFill>
                  <a:srgbClr val="FF0000"/>
                </a:solidFill>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01" name="组合 36"/>
              <p:cNvGrpSpPr/>
              <p:nvPr/>
            </p:nvGrpSpPr>
            <p:grpSpPr>
              <a:xfrm>
                <a:off x="2547250" y="1374521"/>
                <a:ext cx="1839595" cy="2054225"/>
                <a:chOff x="4312" y="2959"/>
                <a:chExt cx="2897" cy="3235"/>
              </a:xfrm>
            </p:grpSpPr>
            <p:sp>
              <p:nvSpPr>
                <p:cNvPr id="117" name="椭圆 37"/>
                <p:cNvSpPr>
                  <a:spLocks noChangeAspect="1"/>
                </p:cNvSpPr>
                <p:nvPr/>
              </p:nvSpPr>
              <p:spPr>
                <a:xfrm>
                  <a:off x="7058" y="6043"/>
                  <a:ext cx="151" cy="15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8" name="肘形连接符 38"/>
                <p:cNvCxnSpPr>
                  <a:endCxn id="117" idx="2"/>
                </p:cNvCxnSpPr>
                <p:nvPr/>
              </p:nvCxnSpPr>
              <p:spPr>
                <a:xfrm>
                  <a:off x="4312" y="2959"/>
                  <a:ext cx="2746" cy="3160"/>
                </a:xfrm>
                <a:prstGeom prst="bentConnector3">
                  <a:avLst>
                    <a:gd name="adj1" fmla="val 50000"/>
                  </a:avLst>
                </a:prstGeom>
                <a:solidFill>
                  <a:srgbClr val="FF0000"/>
                </a:solidFill>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02" name="组合 49"/>
              <p:cNvGrpSpPr/>
              <p:nvPr/>
            </p:nvGrpSpPr>
            <p:grpSpPr>
              <a:xfrm>
                <a:off x="4659052" y="4803203"/>
                <a:ext cx="1236980" cy="834390"/>
                <a:chOff x="6713" y="5935"/>
                <a:chExt cx="1948" cy="1314"/>
              </a:xfrm>
            </p:grpSpPr>
            <p:sp>
              <p:nvSpPr>
                <p:cNvPr id="115" name="椭圆 50"/>
                <p:cNvSpPr>
                  <a:spLocks noChangeAspect="1"/>
                </p:cNvSpPr>
                <p:nvPr/>
              </p:nvSpPr>
              <p:spPr>
                <a:xfrm>
                  <a:off x="8510" y="5935"/>
                  <a:ext cx="151" cy="15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6" name="肘形连接符 51"/>
                <p:cNvCxnSpPr>
                  <a:endCxn id="115" idx="2"/>
                </p:cNvCxnSpPr>
                <p:nvPr/>
              </p:nvCxnSpPr>
              <p:spPr>
                <a:xfrm flipV="1">
                  <a:off x="6713" y="6011"/>
                  <a:ext cx="1797" cy="1238"/>
                </a:xfrm>
                <a:prstGeom prst="bentConnector3">
                  <a:avLst>
                    <a:gd name="adj1" fmla="val 50000"/>
                  </a:avLst>
                </a:prstGeom>
                <a:solidFill>
                  <a:srgbClr val="FF0000"/>
                </a:solidFill>
                <a:ln w="28575">
                  <a:solidFill>
                    <a:srgbClr val="00B050"/>
                  </a:solidFill>
                  <a:prstDash val="sysDash"/>
                </a:ln>
              </p:spPr>
              <p:style>
                <a:lnRef idx="1">
                  <a:schemeClr val="accent1"/>
                </a:lnRef>
                <a:fillRef idx="0">
                  <a:schemeClr val="accent1"/>
                </a:fillRef>
                <a:effectRef idx="0">
                  <a:schemeClr val="accent1"/>
                </a:effectRef>
                <a:fontRef idx="minor">
                  <a:schemeClr val="tx1"/>
                </a:fontRef>
              </p:style>
            </p:cxnSp>
          </p:grpSp>
          <p:grpSp>
            <p:nvGrpSpPr>
              <p:cNvPr id="103" name="组合 102"/>
              <p:cNvGrpSpPr/>
              <p:nvPr/>
            </p:nvGrpSpPr>
            <p:grpSpPr>
              <a:xfrm>
                <a:off x="112395" y="3064891"/>
                <a:ext cx="4614239" cy="3366135"/>
                <a:chOff x="112395" y="3064891"/>
                <a:chExt cx="4614239" cy="3366135"/>
              </a:xfrm>
            </p:grpSpPr>
            <p:pic>
              <p:nvPicPr>
                <p:cNvPr id="105" name="图片 104"/>
                <p:cNvPicPr>
                  <a:picLocks noChangeAspect="1"/>
                </p:cNvPicPr>
                <p:nvPr/>
              </p:nvPicPr>
              <p:blipFill rotWithShape="1">
                <a:blip r:embed="rId14"/>
                <a:srcRect l="8031" t="7355" r="7080" b="4564"/>
                <a:stretch>
                  <a:fillRect/>
                </a:stretch>
              </p:blipFill>
              <p:spPr>
                <a:xfrm>
                  <a:off x="214902" y="3086392"/>
                  <a:ext cx="2153319" cy="1790879"/>
                </a:xfrm>
                <a:prstGeom prst="rect">
                  <a:avLst/>
                </a:prstGeom>
              </p:spPr>
            </p:pic>
            <p:grpSp>
              <p:nvGrpSpPr>
                <p:cNvPr id="106" name="组合 73"/>
                <p:cNvGrpSpPr/>
                <p:nvPr/>
              </p:nvGrpSpPr>
              <p:grpSpPr>
                <a:xfrm>
                  <a:off x="112395" y="3064891"/>
                  <a:ext cx="2332355" cy="1833880"/>
                  <a:chOff x="537" y="4068"/>
                  <a:chExt cx="3673" cy="2888"/>
                </a:xfrm>
              </p:grpSpPr>
              <p:sp>
                <p:nvSpPr>
                  <p:cNvPr id="112" name="圆角矩形 19"/>
                  <p:cNvSpPr/>
                  <p:nvPr/>
                </p:nvSpPr>
                <p:spPr>
                  <a:xfrm>
                    <a:off x="537" y="4068"/>
                    <a:ext cx="3673" cy="288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58"/>
                  <p:cNvSpPr>
                    <a:spLocks noChangeAspect="1"/>
                  </p:cNvSpPr>
                  <p:nvPr/>
                </p:nvSpPr>
                <p:spPr>
                  <a:xfrm>
                    <a:off x="1141" y="4352"/>
                    <a:ext cx="445" cy="44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3</a:t>
                    </a:r>
                  </a:p>
                </p:txBody>
              </p:sp>
              <p:sp>
                <p:nvSpPr>
                  <p:cNvPr id="114" name="文本框 66"/>
                  <p:cNvSpPr txBox="1"/>
                  <p:nvPr/>
                </p:nvSpPr>
                <p:spPr>
                  <a:xfrm>
                    <a:off x="2318" y="6114"/>
                    <a:ext cx="1890" cy="465"/>
                  </a:xfrm>
                  <a:prstGeom prst="rect">
                    <a:avLst/>
                  </a:prstGeom>
                  <a:noFill/>
                </p:spPr>
                <p:txBody>
                  <a:bodyPr wrap="square" rtlCol="0" anchor="t">
                    <a:spAutoFit/>
                  </a:bodyPr>
                  <a:lstStyle/>
                  <a:p>
                    <a:pPr algn="ctr">
                      <a:buNone/>
                    </a:pPr>
                    <a:r>
                      <a:rPr lang="en-US" altLang="zh-CN" sz="1200" b="0" dirty="0">
                        <a:solidFill>
                          <a:schemeClr val="tx1"/>
                        </a:solidFill>
                        <a:latin typeface="等线" panose="02010600030101010101" charset="-122"/>
                        <a:ea typeface="等线" panose="02010600030101010101" charset="-122"/>
                        <a:cs typeface="等线" panose="02010600030101010101" charset="-122"/>
                      </a:rPr>
                      <a:t>X-axis</a:t>
                    </a:r>
                    <a:endParaRPr lang="zh-CN" altLang="en-US" sz="1200" b="0" dirty="0">
                      <a:solidFill>
                        <a:schemeClr val="tx1"/>
                      </a:solidFill>
                      <a:latin typeface="等线" panose="02010600030101010101" charset="-122"/>
                      <a:ea typeface="等线" panose="02010600030101010101" charset="-122"/>
                      <a:cs typeface="等线" panose="02010600030101010101" charset="-122"/>
                    </a:endParaRPr>
                  </a:p>
                </p:txBody>
              </p:sp>
            </p:grpSp>
            <p:grpSp>
              <p:nvGrpSpPr>
                <p:cNvPr id="107" name="组合 71"/>
                <p:cNvGrpSpPr/>
                <p:nvPr/>
              </p:nvGrpSpPr>
              <p:grpSpPr>
                <a:xfrm>
                  <a:off x="2444750" y="4622546"/>
                  <a:ext cx="2226945" cy="1808480"/>
                  <a:chOff x="1983" y="7665"/>
                  <a:chExt cx="3507" cy="2848"/>
                </a:xfrm>
              </p:grpSpPr>
              <p:sp>
                <p:nvSpPr>
                  <p:cNvPr id="109" name="圆角矩形 25"/>
                  <p:cNvSpPr/>
                  <p:nvPr/>
                </p:nvSpPr>
                <p:spPr>
                  <a:xfrm>
                    <a:off x="1983" y="7665"/>
                    <a:ext cx="3473" cy="2848"/>
                  </a:xfrm>
                  <a:prstGeom prst="round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57"/>
                  <p:cNvSpPr>
                    <a:spLocks noChangeAspect="1"/>
                  </p:cNvSpPr>
                  <p:nvPr/>
                </p:nvSpPr>
                <p:spPr>
                  <a:xfrm>
                    <a:off x="2434" y="7984"/>
                    <a:ext cx="445" cy="445"/>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t>6</a:t>
                    </a:r>
                  </a:p>
                </p:txBody>
              </p:sp>
              <p:sp>
                <p:nvSpPr>
                  <p:cNvPr id="111" name="文本框 67"/>
                  <p:cNvSpPr txBox="1"/>
                  <p:nvPr/>
                </p:nvSpPr>
                <p:spPr>
                  <a:xfrm>
                    <a:off x="2998" y="9907"/>
                    <a:ext cx="2492" cy="465"/>
                  </a:xfrm>
                  <a:prstGeom prst="rect">
                    <a:avLst/>
                  </a:prstGeom>
                  <a:noFill/>
                </p:spPr>
                <p:txBody>
                  <a:bodyPr wrap="square" rtlCol="0" anchor="t">
                    <a:spAutoFit/>
                  </a:bodyPr>
                  <a:lstStyle/>
                  <a:p>
                    <a:pPr algn="ctr">
                      <a:buNone/>
                    </a:pPr>
                    <a:r>
                      <a:rPr lang="zh-CN" altLang="en-US" sz="1200" dirty="0">
                        <a:latin typeface="等线" panose="02010600030101010101" charset="-122"/>
                        <a:ea typeface="等线" panose="02010600030101010101" charset="-122"/>
                        <a:cs typeface="等线" panose="02010600030101010101" charset="-122"/>
                        <a:sym typeface="+mn-ea"/>
                      </a:rPr>
                      <a:t>Transport module</a:t>
                    </a:r>
                    <a:endParaRPr lang="zh-CN" altLang="en-US" sz="1200" dirty="0"/>
                  </a:p>
                </p:txBody>
              </p:sp>
            </p:grpSp>
            <p:pic>
              <p:nvPicPr>
                <p:cNvPr id="108" name="图片 107" descr="图示&#10;&#10;描述已自动生成"/>
                <p:cNvPicPr>
                  <a:picLocks noChangeAspect="1"/>
                </p:cNvPicPr>
                <p:nvPr/>
              </p:nvPicPr>
              <p:blipFill>
                <a:blip r:embed="rId15" cstate="print">
                  <a:extLst>
                    <a:ext uri="{BEBA8EAE-BF5A-486C-A8C5-ECC9F3942E4B}">
                      <a14:imgProps xmlns:a14="http://schemas.microsoft.com/office/drawing/2010/main">
                        <a14:imgLayer r:embed="rId16">
                          <a14:imgEffect>
                            <a14:backgroundRemoval t="5949" b="96302" l="3676" r="91706">
                              <a14:foregroundMark x1="7540" y1="59164" x2="7540" y2="59164"/>
                              <a14:foregroundMark x1="3864" y1="65273" x2="3864" y2="65273"/>
                              <a14:foregroundMark x1="59095" y1="6109" x2="59095" y2="6109"/>
                              <a14:foregroundMark x1="91800" y1="25241" x2="91800" y2="25241"/>
                              <a14:foregroundMark x1="37983" y1="87781" x2="37983" y2="87781"/>
                              <a14:foregroundMark x1="36287" y1="96302" x2="36287" y2="96302"/>
                            </a14:backgroundRemoval>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439406" y="4701096"/>
                  <a:ext cx="2287228" cy="1340863"/>
                </a:xfrm>
                <a:prstGeom prst="rect">
                  <a:avLst/>
                </a:prstGeom>
              </p:spPr>
            </p:pic>
          </p:gr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4"/>
          <a:stretch>
            <a:fillRect/>
          </a:stretch>
        </p:blipFill>
        <p:spPr>
          <a:xfrm>
            <a:off x="186055" y="1183005"/>
            <a:ext cx="5537200" cy="3879215"/>
          </a:xfrm>
          <a:prstGeom prst="rect">
            <a:avLst/>
          </a:prstGeom>
        </p:spPr>
      </p:pic>
      <p:pic>
        <p:nvPicPr>
          <p:cNvPr id="3" name="图片 2"/>
          <p:cNvPicPr>
            <a:picLocks noChangeAspect="1"/>
          </p:cNvPicPr>
          <p:nvPr>
            <p:custDataLst>
              <p:tags r:id="rId2"/>
            </p:custDataLst>
          </p:nvPr>
        </p:nvPicPr>
        <p:blipFill>
          <a:blip r:embed="rId25"/>
          <a:stretch>
            <a:fillRect/>
          </a:stretch>
        </p:blipFill>
        <p:spPr>
          <a:xfrm>
            <a:off x="6111240" y="1700530"/>
            <a:ext cx="5902960" cy="3160395"/>
          </a:xfrm>
          <a:prstGeom prst="rect">
            <a:avLst/>
          </a:prstGeom>
        </p:spPr>
      </p:pic>
      <p:sp>
        <p:nvSpPr>
          <p:cNvPr id="36" name="椭圆 35"/>
          <p:cNvSpPr/>
          <p:nvPr>
            <p:custDataLst>
              <p:tags r:id="rId3"/>
            </p:custDataLst>
          </p:nvPr>
        </p:nvSpPr>
        <p:spPr>
          <a:xfrm>
            <a:off x="9089342" y="2760263"/>
            <a:ext cx="645584" cy="1524162"/>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Calibri" panose="020F0502020204030204" charset="0"/>
              <a:cs typeface="Calibri" panose="020F0502020204030204" charset="0"/>
            </a:endParaRPr>
          </a:p>
        </p:txBody>
      </p:sp>
      <p:sp>
        <p:nvSpPr>
          <p:cNvPr id="37" name="圆角矩形标注 6"/>
          <p:cNvSpPr/>
          <p:nvPr/>
        </p:nvSpPr>
        <p:spPr>
          <a:xfrm>
            <a:off x="8127204" y="1000125"/>
            <a:ext cx="2575001" cy="994887"/>
          </a:xfrm>
          <a:prstGeom prst="wedgeRoundRectCallout">
            <a:avLst>
              <a:gd name="adj1" fmla="val 2098"/>
              <a:gd name="adj2" fmla="val 127514"/>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Due</a:t>
            </a:r>
            <a:r>
              <a:rPr lang="zh-CN" altLang="en-US" sz="1200" dirty="0">
                <a:sym typeface="+mn-ea"/>
              </a:rPr>
              <a:t> </a:t>
            </a:r>
            <a:r>
              <a:rPr lang="en-US" altLang="zh-CN" sz="1200" dirty="0">
                <a:sym typeface="+mn-ea"/>
              </a:rPr>
              <a:t>to</a:t>
            </a:r>
            <a:r>
              <a:rPr lang="zh-CN" altLang="en-US" sz="1200" dirty="0">
                <a:sym typeface="+mn-ea"/>
              </a:rPr>
              <a:t> </a:t>
            </a:r>
            <a:r>
              <a:rPr lang="en-US" altLang="zh-CN" sz="1200" dirty="0">
                <a:sym typeface="+mn-ea"/>
              </a:rPr>
              <a:t>changes</a:t>
            </a:r>
            <a:r>
              <a:rPr lang="zh-CN" altLang="en-US" sz="1200" dirty="0">
                <a:sym typeface="+mn-ea"/>
              </a:rPr>
              <a:t> </a:t>
            </a:r>
            <a:r>
              <a:rPr lang="en-US" altLang="zh-CN" sz="1200" dirty="0">
                <a:sym typeface="+mn-ea"/>
              </a:rPr>
              <a:t>in</a:t>
            </a:r>
            <a:r>
              <a:rPr lang="zh-CN" altLang="en-US" sz="1200" dirty="0">
                <a:sym typeface="+mn-ea"/>
              </a:rPr>
              <a:t> </a:t>
            </a:r>
            <a:r>
              <a:rPr lang="en-US" altLang="zh-CN" sz="1200" dirty="0">
                <a:sym typeface="+mn-ea"/>
              </a:rPr>
              <a:t>the</a:t>
            </a:r>
            <a:r>
              <a:rPr lang="zh-CN" altLang="en-US" sz="1200" dirty="0">
                <a:sym typeface="+mn-ea"/>
              </a:rPr>
              <a:t> </a:t>
            </a:r>
            <a:r>
              <a:rPr lang="en-US" altLang="zh-CN" sz="1200" dirty="0">
                <a:sym typeface="+mn-ea"/>
              </a:rPr>
              <a:t>length </a:t>
            </a:r>
          </a:p>
          <a:p>
            <a:pPr algn="ctr"/>
            <a:r>
              <a:rPr lang="en-US" altLang="zh-CN" sz="1200" dirty="0">
                <a:sym typeface="+mn-ea"/>
              </a:rPr>
              <a:t>of  the PCBA, need to </a:t>
            </a:r>
          </a:p>
          <a:p>
            <a:pPr algn="ctr"/>
            <a:r>
              <a:rPr lang="en-US" altLang="zh-CN" sz="1200" dirty="0">
                <a:sym typeface="+mn-ea"/>
              </a:rPr>
              <a:t>change the blocking block of</a:t>
            </a:r>
          </a:p>
          <a:p>
            <a:pPr algn="ctr"/>
            <a:r>
              <a:rPr lang="en-US" altLang="zh-CN" sz="1200" dirty="0">
                <a:sym typeface="+mn-ea"/>
              </a:rPr>
              <a:t> the blocking cylinder</a:t>
            </a:r>
          </a:p>
        </p:txBody>
      </p:sp>
      <p:sp>
        <p:nvSpPr>
          <p:cNvPr id="13" name="灯片编号占位符 3"/>
          <p:cNvSpPr>
            <a:spLocks noGrp="1" noChangeArrowheads="1"/>
          </p:cNvSpPr>
          <p:nvPr>
            <p:custDataLst>
              <p:tags r:id="rId4"/>
            </p:custDataLst>
          </p:nvPr>
        </p:nvSpPr>
        <p:spPr bwMode="auto">
          <a:xfrm>
            <a:off x="11490234" y="5976703"/>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10</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97" name="文本框 96"/>
          <p:cNvSpPr txBox="1"/>
          <p:nvPr>
            <p:custDataLst>
              <p:tags r:id="rId5"/>
            </p:custDataLst>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5.1 </a:t>
            </a:r>
            <a:r>
              <a:rPr lang="en-US" altLang="zh-CN" sz="1800" b="1" noProof="0" dirty="0">
                <a:ln>
                  <a:noFill/>
                </a:ln>
                <a:solidFill>
                  <a:prstClr val="black"/>
                </a:solidFill>
                <a:effectLst/>
                <a:uLnTx/>
                <a:uFillTx/>
                <a:latin typeface="Calibri" panose="020F0502020204030204" charset="0"/>
                <a:cs typeface="Calibri" panose="020F0502020204030204" charset="0"/>
                <a:sym typeface="+mn-ea"/>
              </a:rPr>
              <a:t>Feed conveyor line</a:t>
            </a:r>
            <a:endParaRPr lang="zh-CN" altLang="en-US" sz="1800" b="1" dirty="0">
              <a:latin typeface="Calibri" panose="020F0502020204030204" charset="0"/>
              <a:cs typeface="Calibri" panose="020F0502020204030204" charset="0"/>
            </a:endParaRPr>
          </a:p>
        </p:txBody>
      </p:sp>
      <p:sp>
        <p:nvSpPr>
          <p:cNvPr id="99" name="文本框 27"/>
          <p:cNvSpPr txBox="1"/>
          <p:nvPr>
            <p:custDataLst>
              <p:tags r:id="rId6"/>
            </p:custDataLst>
          </p:nvPr>
        </p:nvSpPr>
        <p:spPr bwMode="auto">
          <a:xfrm>
            <a:off x="34926" y="5484739"/>
            <a:ext cx="6934200" cy="117094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pPr lvl="0" algn="l">
              <a:buClrTx/>
              <a:buSzTx/>
              <a:buFontTx/>
            </a:pPr>
            <a:r>
              <a:rPr sz="1300" dirty="0">
                <a:latin typeface="Calibri" panose="020F0502020204030204" charset="0"/>
                <a:ea typeface="+mj-ea"/>
                <a:cs typeface="Calibri" panose="020F0502020204030204" charset="0"/>
                <a:sym typeface="+mn-ea"/>
              </a:rPr>
              <a:t>PCBA board positioning process:</a:t>
            </a:r>
          </a:p>
          <a:p>
            <a:pPr lvl="0" algn="l">
              <a:buClrTx/>
              <a:buSzTx/>
              <a:buFontTx/>
            </a:pPr>
            <a:r>
              <a:rPr sz="1300" dirty="0">
                <a:latin typeface="Calibri" panose="020F0502020204030204" charset="0"/>
                <a:ea typeface="+mj-ea"/>
                <a:cs typeface="Calibri" panose="020F0502020204030204" charset="0"/>
                <a:sym typeface="+mn-ea"/>
              </a:rPr>
              <a:t>1.The PCBA board flows into the conveyor line, and the CX-461A senses that the conveyor line </a:t>
            </a:r>
          </a:p>
          <a:p>
            <a:pPr lvl="0" algn="l">
              <a:buClrTx/>
              <a:buSzTx/>
              <a:buFontTx/>
            </a:pPr>
            <a:r>
              <a:rPr sz="1300" dirty="0">
                <a:latin typeface="Calibri" panose="020F0502020204030204" charset="0"/>
                <a:ea typeface="+mj-ea"/>
                <a:cs typeface="Calibri" panose="020F0502020204030204" charset="0"/>
                <a:sym typeface="+mn-ea"/>
              </a:rPr>
              <a:t>slows down and blocks the PCBA board from the blocking cylinder.</a:t>
            </a:r>
          </a:p>
          <a:p>
            <a:pPr lvl="0" algn="l">
              <a:buClrTx/>
              <a:buSzTx/>
              <a:buFontTx/>
            </a:pPr>
            <a:r>
              <a:rPr sz="1300" dirty="0">
                <a:latin typeface="Calibri" panose="020F0502020204030204" charset="0"/>
                <a:ea typeface="+mj-ea"/>
                <a:cs typeface="Calibri" panose="020F0502020204030204" charset="0"/>
                <a:sym typeface="+mn-ea"/>
              </a:rPr>
              <a:t>2.The lifting cylinder is pushed out to position the PCBA board.</a:t>
            </a:r>
          </a:p>
          <a:p>
            <a:pPr lvl="0" algn="l">
              <a:buClrTx/>
              <a:buSzTx/>
              <a:buFontTx/>
            </a:pPr>
            <a:endParaRPr sz="1300" dirty="0">
              <a:latin typeface="Calibri" panose="020F0502020204030204" charset="0"/>
              <a:ea typeface="+mj-ea"/>
              <a:cs typeface="Calibri" panose="020F0502020204030204" charset="0"/>
              <a:sym typeface="+mn-ea"/>
            </a:endParaRPr>
          </a:p>
        </p:txBody>
      </p:sp>
      <p:sp>
        <p:nvSpPr>
          <p:cNvPr id="100" name="標題 1"/>
          <p:cNvSpPr txBox="1"/>
          <p:nvPr>
            <p:custDataLst>
              <p:tags r:id="rId7"/>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grpSp>
        <p:nvGrpSpPr>
          <p:cNvPr id="12" name="组合 11"/>
          <p:cNvGrpSpPr/>
          <p:nvPr/>
        </p:nvGrpSpPr>
        <p:grpSpPr>
          <a:xfrm>
            <a:off x="260565" y="1341199"/>
            <a:ext cx="5365112" cy="3915220"/>
            <a:chOff x="393150" y="1022876"/>
            <a:chExt cx="6057464" cy="4224471"/>
          </a:xfrm>
        </p:grpSpPr>
        <p:grpSp>
          <p:nvGrpSpPr>
            <p:cNvPr id="14" name="组合 13"/>
            <p:cNvGrpSpPr/>
            <p:nvPr/>
          </p:nvGrpSpPr>
          <p:grpSpPr>
            <a:xfrm>
              <a:off x="526363" y="1022876"/>
              <a:ext cx="4737100" cy="3667760"/>
              <a:chOff x="1782" y="422"/>
              <a:chExt cx="7460" cy="5776"/>
            </a:xfrm>
          </p:grpSpPr>
          <p:sp>
            <p:nvSpPr>
              <p:cNvPr id="41" name="TextBox 216"/>
              <p:cNvSpPr txBox="1">
                <a:spLocks noChangeArrowheads="1"/>
              </p:cNvSpPr>
              <p:nvPr/>
            </p:nvSpPr>
            <p:spPr bwMode="auto">
              <a:xfrm>
                <a:off x="1782" y="1336"/>
                <a:ext cx="2857"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in place deceleration sensor</a:t>
                </a:r>
              </a:p>
            </p:txBody>
          </p:sp>
          <p:sp>
            <p:nvSpPr>
              <p:cNvPr id="42" name="TextBox 216"/>
              <p:cNvSpPr txBox="1">
                <a:spLocks noChangeArrowheads="1"/>
              </p:cNvSpPr>
              <p:nvPr>
                <p:custDataLst>
                  <p:tags r:id="rId18"/>
                </p:custDataLst>
              </p:nvPr>
            </p:nvSpPr>
            <p:spPr bwMode="auto">
              <a:xfrm>
                <a:off x="4161" y="422"/>
                <a:ext cx="2450"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blocking cylinder</a:t>
                </a:r>
              </a:p>
            </p:txBody>
          </p:sp>
          <p:sp>
            <p:nvSpPr>
              <p:cNvPr id="43" name="Shape 78"/>
              <p:cNvSpPr/>
              <p:nvPr>
                <p:custDataLst>
                  <p:tags r:id="rId19"/>
                </p:custDataLst>
              </p:nvPr>
            </p:nvSpPr>
            <p:spPr>
              <a:xfrm rot="10800000">
                <a:off x="6379" y="4721"/>
                <a:ext cx="868" cy="851"/>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44" name="TextBox 216"/>
              <p:cNvSpPr txBox="1">
                <a:spLocks noChangeArrowheads="1"/>
              </p:cNvSpPr>
              <p:nvPr>
                <p:custDataLst>
                  <p:tags r:id="rId20"/>
                </p:custDataLst>
              </p:nvPr>
            </p:nvSpPr>
            <p:spPr bwMode="auto">
              <a:xfrm>
                <a:off x="7121" y="5361"/>
                <a:ext cx="2121" cy="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jacking cylinder</a:t>
                </a:r>
              </a:p>
            </p:txBody>
          </p:sp>
          <p:sp>
            <p:nvSpPr>
              <p:cNvPr id="45" name="Shape 78"/>
              <p:cNvSpPr/>
              <p:nvPr>
                <p:custDataLst>
                  <p:tags r:id="rId21"/>
                </p:custDataLst>
              </p:nvPr>
            </p:nvSpPr>
            <p:spPr>
              <a:xfrm rot="10800000" flipH="1" flipV="1">
                <a:off x="4161" y="2106"/>
                <a:ext cx="2302" cy="140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grpSp>
        <p:sp>
          <p:nvSpPr>
            <p:cNvPr id="16" name="TextBox 216"/>
            <p:cNvSpPr txBox="1">
              <a:spLocks noChangeArrowheads="1"/>
            </p:cNvSpPr>
            <p:nvPr/>
          </p:nvSpPr>
          <p:spPr bwMode="auto">
            <a:xfrm>
              <a:off x="393150" y="2501320"/>
              <a:ext cx="756285" cy="296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Motor</a:t>
              </a:r>
            </a:p>
          </p:txBody>
        </p:sp>
        <p:sp>
          <p:nvSpPr>
            <p:cNvPr id="21" name="Shape 78"/>
            <p:cNvSpPr/>
            <p:nvPr>
              <p:custDataLst>
                <p:tags r:id="rId12"/>
              </p:custDataLst>
            </p:nvPr>
          </p:nvSpPr>
          <p:spPr>
            <a:xfrm rot="9480000" flipV="1">
              <a:off x="654791" y="2899298"/>
              <a:ext cx="223538" cy="684466"/>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25" name="Shape 78"/>
            <p:cNvSpPr/>
            <p:nvPr>
              <p:custDataLst>
                <p:tags r:id="rId13"/>
              </p:custDataLst>
            </p:nvPr>
          </p:nvSpPr>
          <p:spPr>
            <a:xfrm rot="10800000" flipH="1" flipV="1">
              <a:off x="3160643" y="1574359"/>
              <a:ext cx="549253" cy="1106425"/>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26" name="Shape 78"/>
            <p:cNvSpPr/>
            <p:nvPr>
              <p:custDataLst>
                <p:tags r:id="rId14"/>
              </p:custDataLst>
            </p:nvPr>
          </p:nvSpPr>
          <p:spPr>
            <a:xfrm rot="10800000">
              <a:off x="3861179" y="3166047"/>
              <a:ext cx="917432" cy="586824"/>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dirty="0"/>
            </a:p>
          </p:txBody>
        </p:sp>
        <p:sp>
          <p:nvSpPr>
            <p:cNvPr id="29" name="TextBox 216"/>
            <p:cNvSpPr txBox="1">
              <a:spLocks noChangeArrowheads="1"/>
            </p:cNvSpPr>
            <p:nvPr>
              <p:custDataLst>
                <p:tags r:id="rId15"/>
              </p:custDataLst>
            </p:nvPr>
          </p:nvSpPr>
          <p:spPr bwMode="auto">
            <a:xfrm>
              <a:off x="3001857" y="4716007"/>
              <a:ext cx="1346835" cy="53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ea typeface="+mj-ea"/>
                  <a:cs typeface="Calibri" panose="020F0502020204030204" charset="0"/>
                  <a:sym typeface="+mn-ea"/>
                </a:rPr>
                <a:t>PCBA support board</a:t>
              </a:r>
              <a:endParaRPr lang="en-US" altLang="zh-CN" sz="1300" dirty="0">
                <a:latin typeface="+mn-lt"/>
              </a:endParaRPr>
            </a:p>
          </p:txBody>
        </p:sp>
        <p:sp>
          <p:nvSpPr>
            <p:cNvPr id="34" name="Shape 78"/>
            <p:cNvSpPr/>
            <p:nvPr>
              <p:custDataLst>
                <p:tags r:id="rId16"/>
              </p:custDataLst>
            </p:nvPr>
          </p:nvSpPr>
          <p:spPr>
            <a:xfrm rot="10800000">
              <a:off x="2958894" y="3600713"/>
              <a:ext cx="380766" cy="1115293"/>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40" name="TextBox 216"/>
            <p:cNvSpPr txBox="1">
              <a:spLocks noChangeArrowheads="1"/>
            </p:cNvSpPr>
            <p:nvPr>
              <p:custDataLst>
                <p:tags r:id="rId17"/>
              </p:custDataLst>
            </p:nvPr>
          </p:nvSpPr>
          <p:spPr bwMode="auto">
            <a:xfrm>
              <a:off x="4682656" y="3665689"/>
              <a:ext cx="1767958" cy="53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PCBA lifting limit component</a:t>
              </a:r>
            </a:p>
          </p:txBody>
        </p:sp>
      </p:grpSp>
      <p:sp>
        <p:nvSpPr>
          <p:cNvPr id="48" name="Shape 78"/>
          <p:cNvSpPr/>
          <p:nvPr>
            <p:custDataLst>
              <p:tags r:id="rId8"/>
            </p:custDataLst>
          </p:nvPr>
        </p:nvSpPr>
        <p:spPr>
          <a:xfrm rot="10800000">
            <a:off x="10915582" y="3835343"/>
            <a:ext cx="0" cy="89274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grpSp>
        <p:nvGrpSpPr>
          <p:cNvPr id="50" name="组合 49"/>
          <p:cNvGrpSpPr/>
          <p:nvPr/>
        </p:nvGrpSpPr>
        <p:grpSpPr>
          <a:xfrm>
            <a:off x="5445859" y="3140765"/>
            <a:ext cx="1322686" cy="882775"/>
            <a:chOff x="5715024" y="3267157"/>
            <a:chExt cx="1009362" cy="852713"/>
          </a:xfrm>
        </p:grpSpPr>
        <p:cxnSp>
          <p:nvCxnSpPr>
            <p:cNvPr id="51" name="直接连接符 50"/>
            <p:cNvCxnSpPr/>
            <p:nvPr/>
          </p:nvCxnSpPr>
          <p:spPr>
            <a:xfrm flipH="1">
              <a:off x="6024505" y="3269241"/>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6014777" y="4119870"/>
              <a:ext cx="699881" cy="0"/>
            </a:xfrm>
            <a:prstGeom prst="line">
              <a:avLst/>
            </a:prstGeom>
            <a:ln w="190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6213188" y="3267157"/>
              <a:ext cx="0" cy="820353"/>
            </a:xfrm>
            <a:prstGeom prst="straightConnector1">
              <a:avLst/>
            </a:prstGeom>
            <a:ln w="1905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4" name="TextBox 45"/>
            <p:cNvSpPr txBox="1"/>
            <p:nvPr/>
          </p:nvSpPr>
          <p:spPr>
            <a:xfrm>
              <a:off x="5715024" y="3532796"/>
              <a:ext cx="705784" cy="297296"/>
            </a:xfrm>
            <a:prstGeom prst="rect">
              <a:avLst/>
            </a:prstGeom>
            <a:noFill/>
          </p:spPr>
          <p:txBody>
            <a:bodyPr wrap="square" rtlCol="0">
              <a:spAutoFit/>
            </a:bodyPr>
            <a:lstStyle/>
            <a:p>
              <a:r>
                <a:rPr lang="en-US" altLang="zh-CN" sz="1400" dirty="0"/>
                <a:t>138.6mm</a:t>
              </a:r>
            </a:p>
          </p:txBody>
        </p:sp>
      </p:grpSp>
      <p:grpSp>
        <p:nvGrpSpPr>
          <p:cNvPr id="55" name="组合 54"/>
          <p:cNvGrpSpPr/>
          <p:nvPr/>
        </p:nvGrpSpPr>
        <p:grpSpPr>
          <a:xfrm>
            <a:off x="6635925" y="3790546"/>
            <a:ext cx="1803564" cy="2258379"/>
            <a:chOff x="10434867" y="3871225"/>
            <a:chExt cx="1803564" cy="2258379"/>
          </a:xfrm>
        </p:grpSpPr>
        <p:sp>
          <p:nvSpPr>
            <p:cNvPr id="56" name="Shape 78"/>
            <p:cNvSpPr/>
            <p:nvPr>
              <p:custDataLst>
                <p:tags r:id="rId10"/>
              </p:custDataLst>
            </p:nvPr>
          </p:nvSpPr>
          <p:spPr>
            <a:xfrm rot="10800000">
              <a:off x="11018848" y="3871225"/>
              <a:ext cx="0" cy="892748"/>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sp>
          <p:nvSpPr>
            <p:cNvPr id="57" name="TextBox 216"/>
            <p:cNvSpPr txBox="1">
              <a:spLocks noChangeArrowheads="1"/>
            </p:cNvSpPr>
            <p:nvPr>
              <p:custDataLst>
                <p:tags r:id="rId11"/>
              </p:custDataLst>
            </p:nvPr>
          </p:nvSpPr>
          <p:spPr bwMode="auto">
            <a:xfrm>
              <a:off x="10434867" y="4763974"/>
              <a:ext cx="1803564" cy="136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Sensor CX-461A</a:t>
              </a:r>
            </a:p>
            <a:p>
              <a:pPr eaLnBrk="1" hangingPunct="1">
                <a:lnSpc>
                  <a:spcPct val="130000"/>
                </a:lnSpc>
              </a:pPr>
              <a:r>
                <a:rPr lang="en-US" altLang="zh-CN" sz="1300" dirty="0">
                  <a:latin typeface="+mn-lt"/>
                </a:rPr>
                <a:t>Detect whether the PCBA drives into the conveyor line</a:t>
              </a:r>
            </a:p>
            <a:p>
              <a:pPr eaLnBrk="1" hangingPunct="1">
                <a:lnSpc>
                  <a:spcPct val="130000"/>
                </a:lnSpc>
              </a:pPr>
              <a:endParaRPr lang="zh-CN" sz="1300" dirty="0">
                <a:latin typeface="+mn-lt"/>
              </a:endParaRPr>
            </a:p>
          </p:txBody>
        </p:sp>
      </p:grpSp>
      <p:sp>
        <p:nvSpPr>
          <p:cNvPr id="58" name="TextBox 216"/>
          <p:cNvSpPr txBox="1">
            <a:spLocks noChangeArrowheads="1"/>
          </p:cNvSpPr>
          <p:nvPr>
            <p:custDataLst>
              <p:tags r:id="rId9"/>
            </p:custDataLst>
          </p:nvPr>
        </p:nvSpPr>
        <p:spPr bwMode="auto">
          <a:xfrm>
            <a:off x="9620896" y="4702418"/>
            <a:ext cx="1803564" cy="136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latin typeface="+mn-lt"/>
              </a:rPr>
              <a:t>Sensor CX-461A</a:t>
            </a:r>
          </a:p>
          <a:p>
            <a:pPr eaLnBrk="1" hangingPunct="1">
              <a:lnSpc>
                <a:spcPct val="130000"/>
              </a:lnSpc>
            </a:pPr>
            <a:r>
              <a:rPr lang="en-US" altLang="zh-CN" sz="1300" dirty="0">
                <a:latin typeface="+mn-lt"/>
              </a:rPr>
              <a:t>Detect whether the PCBA drives into the conveyor line</a:t>
            </a:r>
          </a:p>
          <a:p>
            <a:pPr eaLnBrk="1" hangingPunct="1">
              <a:lnSpc>
                <a:spcPct val="130000"/>
              </a:lnSpc>
            </a:pPr>
            <a:endParaRPr lang="zh-CN" sz="1300"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18"/>
          <a:stretch>
            <a:fillRect/>
          </a:stretch>
        </p:blipFill>
        <p:spPr>
          <a:xfrm>
            <a:off x="8380730" y="2152015"/>
            <a:ext cx="2850515" cy="3208655"/>
          </a:xfrm>
          <a:prstGeom prst="rect">
            <a:avLst/>
          </a:prstGeom>
        </p:spPr>
      </p:pic>
      <p:sp>
        <p:nvSpPr>
          <p:cNvPr id="97" name="文本框 96"/>
          <p:cNvSpPr txBox="1"/>
          <p:nvPr>
            <p:custDataLst>
              <p:tags r:id="rId2"/>
            </p:custDataLst>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latin typeface="Calibri" panose="020F0502020204030204" charset="0"/>
                <a:cs typeface="Calibri" panose="020F0502020204030204" charset="0"/>
              </a:rPr>
              <a:t>5.1 </a:t>
            </a:r>
            <a:r>
              <a:rPr lang="en-US" altLang="zh-CN" sz="1800" b="1" noProof="0" dirty="0">
                <a:ln>
                  <a:noFill/>
                </a:ln>
                <a:solidFill>
                  <a:prstClr val="black"/>
                </a:solidFill>
                <a:effectLst/>
                <a:uLnTx/>
                <a:uFillTx/>
                <a:latin typeface="Calibri" panose="020F0502020204030204" charset="0"/>
                <a:cs typeface="Calibri" panose="020F0502020204030204" charset="0"/>
                <a:sym typeface="+mn-ea"/>
              </a:rPr>
              <a:t>Feed conveyor line</a:t>
            </a:r>
            <a:endParaRPr lang="zh-CN" altLang="en-US" sz="1800" b="1" dirty="0">
              <a:latin typeface="Calibri" panose="020F0502020204030204" charset="0"/>
              <a:cs typeface="Calibri" panose="020F0502020204030204" charset="0"/>
            </a:endParaRPr>
          </a:p>
        </p:txBody>
      </p:sp>
      <p:sp>
        <p:nvSpPr>
          <p:cNvPr id="10" name="標題 1"/>
          <p:cNvSpPr txBox="1"/>
          <p:nvPr>
            <p:custDataLst>
              <p:tags r:id="rId3"/>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sp>
        <p:nvSpPr>
          <p:cNvPr id="21" name="文本框 40"/>
          <p:cNvSpPr txBox="1"/>
          <p:nvPr>
            <p:custDataLst>
              <p:tags r:id="rId4"/>
            </p:custDataLst>
          </p:nvPr>
        </p:nvSpPr>
        <p:spPr>
          <a:xfrm>
            <a:off x="298610" y="5321480"/>
            <a:ext cx="4605020" cy="954107"/>
          </a:xfrm>
          <a:prstGeom prst="rect">
            <a:avLst/>
          </a:prstGeom>
          <a:noFill/>
        </p:spPr>
        <p:txBody>
          <a:bodyPr wrap="square" rtlCol="0">
            <a:spAutoFit/>
          </a:bodyPr>
          <a:lstStyle/>
          <a:p>
            <a:pPr algn="l"/>
            <a:r>
              <a:rPr lang="en-US" altLang="zh-CN" sz="1400" dirty="0">
                <a:latin typeface="Calibri" panose="020F0502020204030204" charset="0"/>
                <a:cs typeface="Calibri" panose="020F0502020204030204" charset="0"/>
                <a:sym typeface="+mn-ea"/>
              </a:rPr>
              <a:t>PCBA board clamping:</a:t>
            </a:r>
          </a:p>
          <a:p>
            <a:pPr algn="l"/>
            <a:r>
              <a:rPr lang="en-US" altLang="zh-CN" sz="1400" dirty="0">
                <a:latin typeface="Calibri" panose="020F0502020204030204" charset="0"/>
                <a:cs typeface="Calibri" panose="020F0502020204030204" charset="0"/>
                <a:sym typeface="+mn-ea"/>
              </a:rPr>
              <a:t>1. PCBA board arrives at the assembly position;</a:t>
            </a:r>
          </a:p>
          <a:p>
            <a:pPr algn="l"/>
            <a:r>
              <a:rPr lang="en-US" altLang="zh-CN" sz="1400" dirty="0">
                <a:latin typeface="Calibri" panose="020F0502020204030204" charset="0"/>
                <a:cs typeface="Calibri" panose="020F0502020204030204" charset="0"/>
                <a:sym typeface="+mn-ea"/>
              </a:rPr>
              <a:t>2, the block cylinder is blocked out3. At the same time, the support plate rises to support the PCBA board.</a:t>
            </a:r>
            <a:endParaRPr lang="zh-CN" altLang="en-US" sz="1400" dirty="0">
              <a:latin typeface="Calibri" panose="020F0502020204030204" charset="0"/>
              <a:cs typeface="Calibri" panose="020F0502020204030204" charset="0"/>
            </a:endParaRPr>
          </a:p>
        </p:txBody>
      </p:sp>
      <p:sp>
        <p:nvSpPr>
          <p:cNvPr id="22" name="灯片编号占位符 3"/>
          <p:cNvSpPr>
            <a:spLocks noGrp="1" noChangeArrowheads="1"/>
          </p:cNvSpPr>
          <p:nvPr>
            <p:custDataLst>
              <p:tags r:id="rId5"/>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11</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2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pic>
        <p:nvPicPr>
          <p:cNvPr id="24" name="图片 23" descr="图片包含 游戏机, 乐高&#10;&#10;描述已自动生成"/>
          <p:cNvPicPr>
            <a:picLocks noChangeAspect="1"/>
          </p:cNvPicPr>
          <p:nvPr/>
        </p:nvPicPr>
        <p:blipFill>
          <a:blip r:embed="rId19">
            <a:extLst>
              <a:ext uri="{BEBA8EAE-BF5A-486C-A8C5-ECC9F3942E4B}">
                <a14:imgProps xmlns:a14="http://schemas.microsoft.com/office/drawing/2010/main">
                  <a14:imgLayer r:embed="rId20">
                    <a14:imgEffect>
                      <a14:backgroundRemoval t="9868" b="89967" l="9981" r="92345">
                        <a14:foregroundMark x1="73159" y1="39145" x2="73159" y2="39145"/>
                        <a14:foregroundMark x1="30136" y1="38487" x2="30523" y2="38487"/>
                        <a14:foregroundMark x1="39050" y1="38158" x2="39050" y2="38158"/>
                        <a14:foregroundMark x1="39147" y1="30428" x2="39147" y2="41283"/>
                        <a14:foregroundMark x1="39147" y1="41283" x2="39341" y2="35362"/>
                        <a14:foregroundMark x1="47771" y1="32237" x2="49128" y2="38816"/>
                        <a14:foregroundMark x1="53779" y1="33059" x2="53973" y2="43586"/>
                        <a14:foregroundMark x1="63081" y1="33388" x2="63857" y2="45395"/>
                        <a14:foregroundMark x1="61531" y1="50164" x2="65504" y2="57730"/>
                        <a14:foregroundMark x1="28876" y1="35691" x2="31008" y2="45230"/>
                        <a14:foregroundMark x1="91473" y1="81908" x2="92345" y2="81414"/>
                      </a14:backgroundRemoval>
                    </a14:imgEffect>
                    <a14:imgEffect>
                      <a14:brightnessContrast bright="20000" contrast="-20000"/>
                    </a14:imgEffect>
                  </a14:imgLayer>
                </a14:imgProps>
              </a:ext>
              <a:ext uri="{28A0092B-C50C-407E-A947-70E740481C1C}">
                <a14:useLocalDpi xmlns:a14="http://schemas.microsoft.com/office/drawing/2010/main" val="0"/>
              </a:ext>
            </a:extLst>
          </a:blip>
          <a:srcRect l="23321" t="14950" r="20019" b="11394"/>
          <a:stretch>
            <a:fillRect/>
          </a:stretch>
        </p:blipFill>
        <p:spPr>
          <a:xfrm>
            <a:off x="729343" y="2495616"/>
            <a:ext cx="3367104" cy="2759485"/>
          </a:xfrm>
          <a:prstGeom prst="rect">
            <a:avLst/>
          </a:prstGeom>
        </p:spPr>
      </p:pic>
      <p:grpSp>
        <p:nvGrpSpPr>
          <p:cNvPr id="25" name="组合 24"/>
          <p:cNvGrpSpPr/>
          <p:nvPr/>
        </p:nvGrpSpPr>
        <p:grpSpPr>
          <a:xfrm>
            <a:off x="1488036" y="1607457"/>
            <a:ext cx="1829948" cy="1141866"/>
            <a:chOff x="1179921" y="1563945"/>
            <a:chExt cx="1829948" cy="1141866"/>
          </a:xfrm>
        </p:grpSpPr>
        <p:cxnSp>
          <p:nvCxnSpPr>
            <p:cNvPr id="30" name="直接箭头连接符 29"/>
            <p:cNvCxnSpPr/>
            <p:nvPr>
              <p:custDataLst>
                <p:tags r:id="rId13"/>
              </p:custDataLst>
            </p:nvPr>
          </p:nvCxnSpPr>
          <p:spPr>
            <a:xfrm flipH="1">
              <a:off x="1179921" y="1900279"/>
              <a:ext cx="721250" cy="780464"/>
            </a:xfrm>
            <a:prstGeom prst="straightConnector1">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本框 30"/>
            <p:cNvSpPr txBox="1"/>
            <p:nvPr>
              <p:custDataLst>
                <p:tags r:id="rId14"/>
              </p:custDataLst>
            </p:nvPr>
          </p:nvSpPr>
          <p:spPr>
            <a:xfrm>
              <a:off x="1180434" y="1563945"/>
              <a:ext cx="1829435" cy="350520"/>
            </a:xfrm>
            <a:prstGeom prst="rect">
              <a:avLst/>
            </a:prstGeom>
            <a:noFill/>
          </p:spPr>
          <p:txBody>
            <a:bodyPr wrap="square" rtlCol="0">
              <a:noAutofit/>
            </a:bodyPr>
            <a:lstStyle/>
            <a:p>
              <a:pPr lvl="0" algn="ctr">
                <a:buClrTx/>
                <a:buSzTx/>
                <a:buFontTx/>
              </a:pPr>
              <a:r>
                <a:rPr lang="en-US" altLang="zh-CN" sz="1400" dirty="0">
                  <a:latin typeface="Calibri" panose="020F0502020204030204" charset="0"/>
                  <a:ea typeface="+mj-ea"/>
                  <a:cs typeface="Calibri" panose="020F0502020204030204" charset="0"/>
                  <a:sym typeface="+mn-ea"/>
                </a:rPr>
                <a:t>clamping position</a:t>
              </a:r>
              <a:endParaRPr lang="en-US" altLang="zh-CN" sz="1400" dirty="0">
                <a:latin typeface="Calibri" panose="020F0502020204030204" charset="0"/>
              </a:endParaRPr>
            </a:p>
          </p:txBody>
        </p:sp>
        <p:cxnSp>
          <p:nvCxnSpPr>
            <p:cNvPr id="32" name="直接箭头连接符 31"/>
            <p:cNvCxnSpPr/>
            <p:nvPr>
              <p:custDataLst>
                <p:tags r:id="rId15"/>
              </p:custDataLst>
            </p:nvPr>
          </p:nvCxnSpPr>
          <p:spPr>
            <a:xfrm>
              <a:off x="2316306" y="1914465"/>
              <a:ext cx="693563" cy="791346"/>
            </a:xfrm>
            <a:prstGeom prst="straightConnector1">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34" name="直接连接符 33"/>
          <p:cNvCxnSpPr/>
          <p:nvPr/>
        </p:nvCxnSpPr>
        <p:spPr>
          <a:xfrm>
            <a:off x="844826" y="2823297"/>
            <a:ext cx="2880000" cy="0"/>
          </a:xfrm>
          <a:prstGeom prst="line">
            <a:avLst/>
          </a:prstGeom>
          <a:ln w="3810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37" name="组合 36"/>
          <p:cNvGrpSpPr/>
          <p:nvPr/>
        </p:nvGrpSpPr>
        <p:grpSpPr>
          <a:xfrm rot="10800000">
            <a:off x="9990012" y="5028559"/>
            <a:ext cx="2207283" cy="1451679"/>
            <a:chOff x="9537397" y="-760053"/>
            <a:chExt cx="871022" cy="4085276"/>
          </a:xfrm>
        </p:grpSpPr>
        <p:cxnSp>
          <p:nvCxnSpPr>
            <p:cNvPr id="38" name="直接箭头连接符 37"/>
            <p:cNvCxnSpPr/>
            <p:nvPr/>
          </p:nvCxnSpPr>
          <p:spPr>
            <a:xfrm rot="10800000" flipH="1">
              <a:off x="10180966" y="1479623"/>
              <a:ext cx="104886"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9537397" y="-760053"/>
              <a:ext cx="871022" cy="4085276"/>
              <a:chOff x="9537397" y="-760053"/>
              <a:chExt cx="871022" cy="4085276"/>
            </a:xfrm>
          </p:grpSpPr>
          <p:grpSp>
            <p:nvGrpSpPr>
              <p:cNvPr id="40" name="组合 39"/>
              <p:cNvGrpSpPr/>
              <p:nvPr/>
            </p:nvGrpSpPr>
            <p:grpSpPr>
              <a:xfrm>
                <a:off x="9537397" y="-760053"/>
                <a:ext cx="761402" cy="4085276"/>
                <a:chOff x="9341258" y="-1421120"/>
                <a:chExt cx="761402" cy="4085276"/>
              </a:xfrm>
            </p:grpSpPr>
            <p:grpSp>
              <p:nvGrpSpPr>
                <p:cNvPr id="42" name="组合 41"/>
                <p:cNvGrpSpPr/>
                <p:nvPr/>
              </p:nvGrpSpPr>
              <p:grpSpPr>
                <a:xfrm flipV="1">
                  <a:off x="10089714" y="665859"/>
                  <a:ext cx="12946" cy="1972685"/>
                  <a:chOff x="11160" y="3028"/>
                  <a:chExt cx="59" cy="2946"/>
                </a:xfrm>
              </p:grpSpPr>
              <p:cxnSp>
                <p:nvCxnSpPr>
                  <p:cNvPr id="44" name="直接连接符 43"/>
                  <p:cNvCxnSpPr/>
                  <p:nvPr>
                    <p:custDataLst>
                      <p:tags r:id="rId11"/>
                    </p:custDataLst>
                  </p:nvPr>
                </p:nvCxnSpPr>
                <p:spPr>
                  <a:xfrm flipV="1">
                    <a:off x="11160" y="3047"/>
                    <a:ext cx="0" cy="2927"/>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custDataLst>
                      <p:tags r:id="rId12"/>
                    </p:custDataLst>
                  </p:nvPr>
                </p:nvCxnSpPr>
                <p:spPr>
                  <a:xfrm flipV="1">
                    <a:off x="11219" y="3028"/>
                    <a:ext cx="0" cy="29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3" name="TextBox 216"/>
                <p:cNvSpPr txBox="1">
                  <a:spLocks noChangeArrowheads="1"/>
                </p:cNvSpPr>
                <p:nvPr>
                  <p:custDataLst>
                    <p:tags r:id="rId10"/>
                  </p:custDataLst>
                </p:nvPr>
              </p:nvSpPr>
              <p:spPr bwMode="auto">
                <a:xfrm rot="10800000">
                  <a:off x="9341258" y="-1421120"/>
                  <a:ext cx="754380" cy="4085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hangingPunct="1">
                    <a:lnSpc>
                      <a:spcPct val="130000"/>
                    </a:lnSpc>
                  </a:pPr>
                  <a:r>
                    <a:rPr lang="en-US" altLang="zh-CN" sz="1400" dirty="0">
                      <a:solidFill>
                        <a:srgbClr val="FF0000"/>
                      </a:solidFill>
                      <a:ea typeface="+mn-ea"/>
                      <a:cs typeface="Calibri" panose="020F0502020204030204" charset="0"/>
                      <a:sym typeface="+mn-ea"/>
                    </a:rPr>
                    <a:t>The distance between the connecting plate and the edge of the conveyor line is 0.5mm</a:t>
                  </a:r>
                </a:p>
                <a:p>
                  <a:pPr algn="ctr" eaLnBrk="1" hangingPunct="1">
                    <a:lnSpc>
                      <a:spcPct val="130000"/>
                    </a:lnSpc>
                  </a:pPr>
                  <a:endParaRPr lang="en-US" altLang="zh-CN" sz="1300" dirty="0">
                    <a:solidFill>
                      <a:srgbClr val="FF0000"/>
                    </a:solidFill>
                    <a:cs typeface="Calibri" panose="020F0502020204030204" charset="0"/>
                    <a:sym typeface="+mn-ea"/>
                  </a:endParaRPr>
                </a:p>
              </p:txBody>
            </p:sp>
          </p:grpSp>
          <p:cxnSp>
            <p:nvCxnSpPr>
              <p:cNvPr id="41" name="直接箭头连接符 40"/>
              <p:cNvCxnSpPr/>
              <p:nvPr/>
            </p:nvCxnSpPr>
            <p:spPr>
              <a:xfrm rot="10800000">
                <a:off x="10298740" y="1472281"/>
                <a:ext cx="109679" cy="7342"/>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grpSp>
        <p:nvGrpSpPr>
          <p:cNvPr id="46" name="组合 45"/>
          <p:cNvGrpSpPr/>
          <p:nvPr/>
        </p:nvGrpSpPr>
        <p:grpSpPr>
          <a:xfrm>
            <a:off x="9481026" y="1347211"/>
            <a:ext cx="2460187" cy="2315387"/>
            <a:chOff x="9965841" y="992260"/>
            <a:chExt cx="2460187" cy="2315387"/>
          </a:xfrm>
        </p:grpSpPr>
        <p:cxnSp>
          <p:nvCxnSpPr>
            <p:cNvPr id="48" name="直接箭头连接符 47"/>
            <p:cNvCxnSpPr/>
            <p:nvPr/>
          </p:nvCxnSpPr>
          <p:spPr>
            <a:xfrm>
              <a:off x="9965841" y="1472280"/>
              <a:ext cx="300187"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9" name="组合 48"/>
            <p:cNvGrpSpPr/>
            <p:nvPr/>
          </p:nvGrpSpPr>
          <p:grpSpPr>
            <a:xfrm>
              <a:off x="10267799" y="992260"/>
              <a:ext cx="2158229" cy="2315387"/>
              <a:chOff x="10267799" y="992260"/>
              <a:chExt cx="2158229" cy="2315387"/>
            </a:xfrm>
          </p:grpSpPr>
          <p:grpSp>
            <p:nvGrpSpPr>
              <p:cNvPr id="52" name="组合 51"/>
              <p:cNvGrpSpPr/>
              <p:nvPr/>
            </p:nvGrpSpPr>
            <p:grpSpPr>
              <a:xfrm>
                <a:off x="10267799" y="992260"/>
                <a:ext cx="2158229" cy="2315387"/>
                <a:chOff x="10071660" y="331193"/>
                <a:chExt cx="2158229" cy="2315387"/>
              </a:xfrm>
            </p:grpSpPr>
            <p:grpSp>
              <p:nvGrpSpPr>
                <p:cNvPr id="54" name="组合 53"/>
                <p:cNvGrpSpPr/>
                <p:nvPr/>
              </p:nvGrpSpPr>
              <p:grpSpPr>
                <a:xfrm flipV="1">
                  <a:off x="10071660" y="679922"/>
                  <a:ext cx="72408" cy="1966658"/>
                  <a:chOff x="11078" y="3016"/>
                  <a:chExt cx="330" cy="2937"/>
                </a:xfrm>
              </p:grpSpPr>
              <p:cxnSp>
                <p:nvCxnSpPr>
                  <p:cNvPr id="56" name="直接连接符 55"/>
                  <p:cNvCxnSpPr/>
                  <p:nvPr>
                    <p:custDataLst>
                      <p:tags r:id="rId8"/>
                    </p:custDataLst>
                  </p:nvPr>
                </p:nvCxnSpPr>
                <p:spPr>
                  <a:xfrm flipV="1">
                    <a:off x="11078" y="3026"/>
                    <a:ext cx="0" cy="2927"/>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custDataLst>
                      <p:tags r:id="rId9"/>
                    </p:custDataLst>
                  </p:nvPr>
                </p:nvCxnSpPr>
                <p:spPr>
                  <a:xfrm flipV="1">
                    <a:off x="11408" y="3016"/>
                    <a:ext cx="0" cy="2925"/>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5" name="TextBox 216"/>
                <p:cNvSpPr txBox="1">
                  <a:spLocks noChangeArrowheads="1"/>
                </p:cNvSpPr>
                <p:nvPr>
                  <p:custDataLst>
                    <p:tags r:id="rId7"/>
                  </p:custDataLst>
                </p:nvPr>
              </p:nvSpPr>
              <p:spPr bwMode="auto">
                <a:xfrm>
                  <a:off x="10214838" y="331193"/>
                  <a:ext cx="2015051" cy="1153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lang="en-US" altLang="zh-CN" sz="1400" dirty="0">
                      <a:solidFill>
                        <a:srgbClr val="FF0000"/>
                      </a:solidFill>
                      <a:ea typeface="+mn-ea"/>
                      <a:cs typeface="Calibri" panose="020F0502020204030204" charset="0"/>
                    </a:rPr>
                    <a:t>The clamp block is in contact with the edge strip of the connecting plate 3.8mm</a:t>
                  </a:r>
                </a:p>
                <a:p>
                  <a:pPr algn="ctr"/>
                  <a:endParaRPr lang="en-US" altLang="zh-CN" sz="1300" dirty="0">
                    <a:solidFill>
                      <a:srgbClr val="FF0000"/>
                    </a:solidFill>
                    <a:latin typeface="宋体" panose="02010600030101010101" pitchFamily="2" charset="-122"/>
                    <a:cs typeface="Calibri" panose="020F0502020204030204" charset="0"/>
                  </a:endParaRPr>
                </a:p>
              </p:txBody>
            </p:sp>
          </p:grpSp>
          <p:cxnSp>
            <p:nvCxnSpPr>
              <p:cNvPr id="53" name="直接箭头连接符 52"/>
              <p:cNvCxnSpPr/>
              <p:nvPr/>
            </p:nvCxnSpPr>
            <p:spPr>
              <a:xfrm flipH="1">
                <a:off x="10337188" y="1472280"/>
                <a:ext cx="277362" cy="0"/>
              </a:xfrm>
              <a:prstGeom prst="straightConnector1">
                <a:avLst/>
              </a:prstGeom>
              <a:ln w="19050">
                <a:solidFill>
                  <a:srgbClr val="FF0000"/>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pic>
        <p:nvPicPr>
          <p:cNvPr id="2" name="图片 1"/>
          <p:cNvPicPr>
            <a:picLocks noChangeAspect="1"/>
          </p:cNvPicPr>
          <p:nvPr>
            <p:custDataLst>
              <p:tags r:id="rId6"/>
            </p:custDataLst>
          </p:nvPr>
        </p:nvPicPr>
        <p:blipFill>
          <a:blip r:embed="rId21"/>
          <a:srcRect l="12021" t="1523" r="9833" b="4166"/>
          <a:stretch>
            <a:fillRect/>
          </a:stretch>
        </p:blipFill>
        <p:spPr>
          <a:xfrm>
            <a:off x="4422140" y="1703705"/>
            <a:ext cx="3632835" cy="372808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4"/>
          <a:stretch>
            <a:fillRect/>
          </a:stretch>
        </p:blipFill>
        <p:spPr>
          <a:xfrm>
            <a:off x="6108065" y="1042670"/>
            <a:ext cx="4647565" cy="2800350"/>
          </a:xfrm>
          <a:prstGeom prst="rect">
            <a:avLst/>
          </a:prstGeom>
        </p:spPr>
      </p:pic>
      <p:pic>
        <p:nvPicPr>
          <p:cNvPr id="2" name="图片 1"/>
          <p:cNvPicPr>
            <a:picLocks noChangeAspect="1"/>
          </p:cNvPicPr>
          <p:nvPr/>
        </p:nvPicPr>
        <p:blipFill>
          <a:blip r:embed="rId5"/>
          <a:stretch>
            <a:fillRect/>
          </a:stretch>
        </p:blipFill>
        <p:spPr>
          <a:xfrm>
            <a:off x="511810" y="1294765"/>
            <a:ext cx="4170045" cy="3932555"/>
          </a:xfrm>
          <a:prstGeom prst="rect">
            <a:avLst/>
          </a:prstGeom>
        </p:spPr>
      </p:pic>
      <p:sp>
        <p:nvSpPr>
          <p:cNvPr id="4" name="標題 1"/>
          <p:cNvSpPr txBox="1"/>
          <p:nvPr/>
        </p:nvSpPr>
        <p:spPr>
          <a:xfrm>
            <a:off x="741988" y="126478"/>
            <a:ext cx="9543610" cy="584701"/>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lvl="0">
              <a:defRPr/>
            </a:pPr>
            <a:r>
              <a:rPr lang="en-US" altLang="zh-CN" noProof="0" dirty="0">
                <a:sym typeface="+mn-ea"/>
              </a:rPr>
              <a:t>5.</a:t>
            </a:r>
            <a:r>
              <a:rPr lang="en-US" altLang="zh-CN" sz="2800" dirty="0">
                <a:sym typeface="+mn-ea"/>
              </a:rPr>
              <a:t> The key components</a:t>
            </a:r>
            <a:endParaRPr lang="en-US" altLang="zh-CN" dirty="0">
              <a:latin typeface="+mn-lt"/>
            </a:endParaRPr>
          </a:p>
        </p:txBody>
      </p:sp>
      <p:sp>
        <p:nvSpPr>
          <p:cNvPr id="21" name="文本框 20"/>
          <p:cNvSpPr txBox="1"/>
          <p:nvPr/>
        </p:nvSpPr>
        <p:spPr>
          <a:xfrm>
            <a:off x="301059" y="768252"/>
            <a:ext cx="3566091"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5.1 </a:t>
            </a:r>
            <a:r>
              <a:rPr lang="en-US" altLang="zh-CN" sz="1800" b="1" dirty="0">
                <a:solidFill>
                  <a:prstClr val="black"/>
                </a:solidFill>
                <a:latin typeface="Calibri" panose="020F0502020204030204" charset="0"/>
                <a:cs typeface="Calibri" panose="020F0502020204030204" charset="0"/>
                <a:sym typeface="+mn-ea"/>
              </a:rPr>
              <a:t>Feed conveyor line </a:t>
            </a:r>
            <a:endParaRPr lang="zh-CN" altLang="en-US" sz="1800" b="1" dirty="0"/>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12</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12289"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6" name="圆角矩形标注 6"/>
          <p:cNvSpPr/>
          <p:nvPr/>
        </p:nvSpPr>
        <p:spPr>
          <a:xfrm>
            <a:off x="1297300" y="5451204"/>
            <a:ext cx="2341288" cy="640552"/>
          </a:xfrm>
          <a:prstGeom prst="wedgeRoundRectCallout">
            <a:avLst>
              <a:gd name="adj1" fmla="val 11543"/>
              <a:gd name="adj2" fmla="val -127761"/>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B-side jacking plate(A6061)</a:t>
            </a:r>
          </a:p>
        </p:txBody>
      </p:sp>
      <p:cxnSp>
        <p:nvCxnSpPr>
          <p:cNvPr id="9" name="直接箭头连接符 8"/>
          <p:cNvCxnSpPr/>
          <p:nvPr/>
        </p:nvCxnSpPr>
        <p:spPr>
          <a:xfrm flipH="1">
            <a:off x="2566955" y="2952349"/>
            <a:ext cx="279400" cy="110934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5914667" y="907510"/>
            <a:ext cx="5000625" cy="5316202"/>
            <a:chOff x="9787" y="1415"/>
            <a:chExt cx="7875" cy="8372"/>
          </a:xfrm>
        </p:grpSpPr>
        <p:pic>
          <p:nvPicPr>
            <p:cNvPr id="7" name="图片 6"/>
            <p:cNvPicPr>
              <a:picLocks noChangeAspect="1"/>
            </p:cNvPicPr>
            <p:nvPr/>
          </p:nvPicPr>
          <p:blipFill>
            <a:blip r:embed="rId6"/>
            <a:srcRect t="19145"/>
            <a:stretch>
              <a:fillRect/>
            </a:stretch>
          </p:blipFill>
          <p:spPr>
            <a:xfrm>
              <a:off x="10092" y="6396"/>
              <a:ext cx="7320" cy="977"/>
            </a:xfrm>
            <a:prstGeom prst="rect">
              <a:avLst/>
            </a:prstGeom>
          </p:spPr>
        </p:pic>
        <p:grpSp>
          <p:nvGrpSpPr>
            <p:cNvPr id="38" name="组合 37"/>
            <p:cNvGrpSpPr/>
            <p:nvPr/>
          </p:nvGrpSpPr>
          <p:grpSpPr>
            <a:xfrm>
              <a:off x="9787" y="1415"/>
              <a:ext cx="7875" cy="8372"/>
              <a:chOff x="5499404" y="822470"/>
              <a:chExt cx="5000625" cy="5316202"/>
            </a:xfrm>
          </p:grpSpPr>
          <p:sp>
            <p:nvSpPr>
              <p:cNvPr id="112" name="矩形 111"/>
              <p:cNvSpPr/>
              <p:nvPr/>
            </p:nvSpPr>
            <p:spPr>
              <a:xfrm>
                <a:off x="5499404" y="822470"/>
                <a:ext cx="5000625" cy="4335145"/>
              </a:xfrm>
              <a:prstGeom prst="rect">
                <a:avLst/>
              </a:prstGeom>
              <a:noFill/>
              <a:ln w="19050">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3" name="圆角矩形标注 6"/>
              <p:cNvSpPr/>
              <p:nvPr/>
            </p:nvSpPr>
            <p:spPr>
              <a:xfrm>
                <a:off x="5762946" y="5344978"/>
                <a:ext cx="1703411" cy="793694"/>
              </a:xfrm>
              <a:prstGeom prst="wedgeRoundRectCallout">
                <a:avLst>
                  <a:gd name="adj1" fmla="val 13533"/>
                  <a:gd name="adj2" fmla="val -116016"/>
                  <a:gd name="adj3" fmla="val 16667"/>
                </a:avLst>
              </a:prstGeom>
              <a:solidFill>
                <a:schemeClr val="bg1"/>
              </a:solidFill>
              <a:ln w="22225" cap="flat" cmpd="sng">
                <a:solidFill>
                  <a:srgbClr val="FF0000"/>
                </a:solidFill>
                <a:prstDash val="solid"/>
                <a:round/>
                <a:headEnd type="none" w="med" len="med"/>
                <a:tailEnd type="none" w="med" len="med"/>
              </a:ln>
            </p:spPr>
            <p:txBody>
              <a:bodyPr wrap="none" anchor="ctr" anchorCtr="0"/>
              <a:lstStyle/>
              <a:p>
                <a:pPr algn="ctr"/>
                <a:r>
                  <a:rPr lang="en-US" altLang="zh-CN" sz="1200" dirty="0">
                    <a:sym typeface="+mn-ea"/>
                  </a:rPr>
                  <a:t>The TPYE-C port is </a:t>
                </a:r>
              </a:p>
              <a:p>
                <a:pPr algn="ctr"/>
                <a:r>
                  <a:rPr lang="en-US" altLang="zh-CN" sz="1200" dirty="0">
                    <a:sym typeface="+mn-ea"/>
                  </a:rPr>
                  <a:t>5.5mm from the front</a:t>
                </a:r>
              </a:p>
              <a:p>
                <a:pPr algn="ctr"/>
                <a:r>
                  <a:rPr lang="en-US" altLang="zh-CN" sz="1200" dirty="0">
                    <a:sym typeface="+mn-ea"/>
                  </a:rPr>
                  <a:t> of the avoidance slot</a:t>
                </a:r>
              </a:p>
            </p:txBody>
          </p:sp>
          <p:grpSp>
            <p:nvGrpSpPr>
              <p:cNvPr id="33" name="组合 32"/>
              <p:cNvGrpSpPr/>
              <p:nvPr/>
            </p:nvGrpSpPr>
            <p:grpSpPr>
              <a:xfrm>
                <a:off x="7108930" y="2954477"/>
                <a:ext cx="148023" cy="1860840"/>
                <a:chOff x="7502904" y="3279894"/>
                <a:chExt cx="148023" cy="1860840"/>
              </a:xfrm>
            </p:grpSpPr>
            <p:cxnSp>
              <p:nvCxnSpPr>
                <p:cNvPr id="34" name="直接连接符 28"/>
                <p:cNvCxnSpPr/>
                <p:nvPr/>
              </p:nvCxnSpPr>
              <p:spPr>
                <a:xfrm>
                  <a:off x="7502904" y="3279894"/>
                  <a:ext cx="0" cy="1835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27"/>
                <p:cNvCxnSpPr/>
                <p:nvPr/>
              </p:nvCxnSpPr>
              <p:spPr>
                <a:xfrm flipH="1" flipV="1">
                  <a:off x="7646866" y="3305294"/>
                  <a:ext cx="4061" cy="183544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36" name="直接箭头连接符 35"/>
              <p:cNvCxnSpPr/>
              <p:nvPr/>
            </p:nvCxnSpPr>
            <p:spPr>
              <a:xfrm flipH="1">
                <a:off x="6802769" y="4761304"/>
                <a:ext cx="305978" cy="0"/>
              </a:xfrm>
              <a:prstGeom prst="straightConnector1">
                <a:avLst/>
              </a:prstGeom>
              <a:ln>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7" name="文本框 35"/>
              <p:cNvSpPr txBox="1"/>
              <p:nvPr/>
            </p:nvSpPr>
            <p:spPr>
              <a:xfrm>
                <a:off x="6494695" y="4543647"/>
                <a:ext cx="571500" cy="245110"/>
              </a:xfrm>
              <a:prstGeom prst="rect">
                <a:avLst/>
              </a:prstGeom>
              <a:noFill/>
            </p:spPr>
            <p:txBody>
              <a:bodyPr wrap="none" rtlCol="0">
                <a:spAutoFit/>
              </a:bodyPr>
              <a:lstStyle/>
              <a:p>
                <a:r>
                  <a:rPr lang="en-US" altLang="zh-CN" sz="1000" dirty="0">
                    <a:solidFill>
                      <a:srgbClr val="FF0000"/>
                    </a:solidFill>
                  </a:rPr>
                  <a:t>5.5mm</a:t>
                </a:r>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9">
            <a:extLst>
              <a:ext uri="{BEBA8EAE-BF5A-486C-A8C5-ECC9F3942E4B}">
                <a14:imgProps xmlns:a14="http://schemas.microsoft.com/office/drawing/2010/main">
                  <a14:imgLayer r:embed="rId10">
                    <a14:imgEffect>
                      <a14:brightnessContrast bright="20000" contrast="40000"/>
                    </a14:imgEffect>
                  </a14:imgLayer>
                </a14:imgProps>
              </a:ext>
            </a:extLst>
          </a:blip>
          <a:stretch>
            <a:fillRect/>
          </a:stretch>
        </p:blipFill>
        <p:spPr>
          <a:xfrm>
            <a:off x="355311" y="1261110"/>
            <a:ext cx="5126972" cy="2724008"/>
          </a:xfrm>
          <a:prstGeom prst="rect">
            <a:avLst/>
          </a:prstGeom>
        </p:spPr>
      </p:pic>
      <p:sp>
        <p:nvSpPr>
          <p:cNvPr id="43" name="文字方塊 21"/>
          <p:cNvSpPr txBox="1"/>
          <p:nvPr/>
        </p:nvSpPr>
        <p:spPr bwMode="auto">
          <a:xfrm>
            <a:off x="210185" y="5932169"/>
            <a:ext cx="2946853" cy="460375"/>
          </a:xfrm>
          <a:prstGeom prst="rect">
            <a:avLst/>
          </a:prstGeom>
          <a:noFill/>
          <a:ln>
            <a:noFill/>
          </a:ln>
        </p:spPr>
        <p:txBody>
          <a:bodyPr wrap="square" rtlCol="0">
            <a:spAutoFit/>
          </a:bodyPr>
          <a:lstStyle/>
          <a:p>
            <a:pPr>
              <a:spcBef>
                <a:spcPct val="0"/>
              </a:spcBef>
            </a:pPr>
            <a:r>
              <a:rPr sz="1200" dirty="0">
                <a:latin typeface="Calibri" panose="020F0502020204030204" charset="0"/>
                <a:ea typeface="+mj-ea"/>
                <a:cs typeface="Calibri" panose="020F0502020204030204" charset="0"/>
                <a:sym typeface="+mn-ea"/>
              </a:rPr>
              <a:t>Main structure: sliding table, servo actuator, CCD, suction nozzle</a:t>
            </a:r>
            <a:endParaRPr lang="zh-CN" altLang="en-US" sz="1200" dirty="0">
              <a:latin typeface="Arial" panose="020B0604020202020204" pitchFamily="34" charset="0"/>
              <a:ea typeface="微软雅黑" panose="020B0503020204020204" pitchFamily="34" charset="-122"/>
            </a:endParaRPr>
          </a:p>
        </p:txBody>
      </p:sp>
      <p:graphicFrame>
        <p:nvGraphicFramePr>
          <p:cNvPr id="7" name="表格 6"/>
          <p:cNvGraphicFramePr>
            <a:graphicFrameLocks noGrp="1"/>
          </p:cNvGraphicFramePr>
          <p:nvPr>
            <p:custDataLst>
              <p:tags r:id="rId1"/>
            </p:custDataLst>
          </p:nvPr>
        </p:nvGraphicFramePr>
        <p:xfrm>
          <a:off x="7630160" y="3800793"/>
          <a:ext cx="3910115" cy="2743200"/>
        </p:xfrm>
        <a:graphic>
          <a:graphicData uri="http://schemas.openxmlformats.org/drawingml/2006/table">
            <a:tbl>
              <a:tblPr firstRow="1" bandRow="1">
                <a:tableStyleId>{5C22544A-7EE6-4342-B048-85BDC9FD1C3A}</a:tableStyleId>
              </a:tblPr>
              <a:tblGrid>
                <a:gridCol w="1482725">
                  <a:extLst>
                    <a:ext uri="{9D8B030D-6E8A-4147-A177-3AD203B41FA5}">
                      <a16:colId xmlns:a16="http://schemas.microsoft.com/office/drawing/2014/main" val="20000"/>
                    </a:ext>
                  </a:extLst>
                </a:gridCol>
                <a:gridCol w="2427390">
                  <a:extLst>
                    <a:ext uri="{9D8B030D-6E8A-4147-A177-3AD203B41FA5}">
                      <a16:colId xmlns:a16="http://schemas.microsoft.com/office/drawing/2014/main" val="20001"/>
                    </a:ext>
                  </a:extLst>
                </a:gridCol>
              </a:tblGrid>
              <a:tr h="27360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a:solidFill>
                            <a:schemeClr val="tx1"/>
                          </a:solidFill>
                          <a:latin typeface="微软雅黑" panose="020B0503020204020204" pitchFamily="34" charset="-122"/>
                          <a:ea typeface="微软雅黑" panose="020B0503020204020204" pitchFamily="34" charset="-122"/>
                        </a:rPr>
                        <a:t>Y-axis transfer</a:t>
                      </a:r>
                      <a:endParaRPr lang="zh-CN" altLang="en-US" sz="120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en-US"/>
                    </a:p>
                  </a:txBody>
                  <a:tcPr/>
                </a:tc>
                <a:extLst>
                  <a:ext uri="{0D108BD9-81ED-4DB2-BD59-A6C34878D82A}">
                    <a16:rowId xmlns:a16="http://schemas.microsoft.com/office/drawing/2014/main" val="10000"/>
                  </a:ext>
                </a:extLst>
              </a:tr>
              <a:tr h="273600">
                <a:tc>
                  <a:txBody>
                    <a:bodyPr/>
                    <a:lstStyle/>
                    <a:p>
                      <a:pPr algn="l"/>
                      <a:r>
                        <a:rPr lang="en-US" altLang="zh-CN" sz="1200">
                          <a:latin typeface="微软雅黑" panose="020B0503020204020204" pitchFamily="34" charset="-122"/>
                          <a:ea typeface="微软雅黑" panose="020B0503020204020204" pitchFamily="34" charset="-122"/>
                        </a:rPr>
                        <a:t>Type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kern="1200" cap="none" dirty="0">
                          <a:solidFill>
                            <a:schemeClr val="dk1"/>
                          </a:solidFill>
                          <a:latin typeface="微软雅黑" panose="020B0503020204020204" pitchFamily="34" charset="-122"/>
                          <a:ea typeface="微软雅黑" panose="020B0503020204020204" pitchFamily="34" charset="-122"/>
                          <a:cs typeface="+mn-cs"/>
                          <a:sym typeface="+mn-ea"/>
                        </a:rPr>
                        <a:t>ETH14-L32-500-BC-S40-A2</a:t>
                      </a:r>
                      <a:endParaRPr lang="en-US" altLang="zh-CN" sz="1200" b="0" i="0" u="none" strike="noStrike" kern="1200" cap="none"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274320">
                <a:tc>
                  <a:txBody>
                    <a:bodyPr/>
                    <a:lstStyle/>
                    <a:p>
                      <a:pPr algn="l"/>
                      <a:r>
                        <a:rPr lang="en-US" altLang="zh-CN" sz="1200">
                          <a:latin typeface="微软雅黑" panose="020B0503020204020204" pitchFamily="34" charset="-122"/>
                          <a:ea typeface="微软雅黑" panose="020B0503020204020204" pitchFamily="34" charset="-122"/>
                        </a:rPr>
                        <a:t>Brand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3600">
                <a:tc>
                  <a:txBody>
                    <a:bodyPr/>
                    <a:lstStyle/>
                    <a:p>
                      <a:pPr algn="l"/>
                      <a:r>
                        <a:rPr lang="en-US" altLang="zh-CN" sz="1200">
                          <a:latin typeface="微软雅黑" panose="020B0503020204020204" pitchFamily="34" charset="-122"/>
                          <a:ea typeface="微软雅黑" panose="020B0503020204020204" pitchFamily="34" charset="-122"/>
                        </a:rPr>
                        <a:t>repeatability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360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dirty="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latin typeface="微软雅黑" panose="020B0503020204020204" pitchFamily="34" charset="-122"/>
                          <a:ea typeface="微软雅黑" panose="020B0503020204020204" pitchFamily="34" charset="-122"/>
                        </a:rPr>
                        <a:t>Travel</a:t>
                      </a:r>
                      <a:r>
                        <a:rPr lang="en-US" altLang="zh-CN" sz="1200" baseline="0">
                          <a:latin typeface="微软雅黑" panose="020B0503020204020204" pitchFamily="34" charset="-122"/>
                          <a:ea typeface="微软雅黑" panose="020B0503020204020204" pitchFamily="34" charset="-122"/>
                        </a:rPr>
                        <a:t> distance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500mm</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3600">
                <a:tc>
                  <a:txBody>
                    <a:bodyPr/>
                    <a:lstStyle/>
                    <a:p>
                      <a:pPr algn="l"/>
                      <a:r>
                        <a:rPr lang="en-US" altLang="zh-CN" sz="1200">
                          <a:latin typeface="微软雅黑" panose="020B0503020204020204" pitchFamily="34" charset="-122"/>
                          <a:ea typeface="微软雅黑" panose="020B0503020204020204" pitchFamily="34" charset="-122"/>
                        </a:rPr>
                        <a:t>Max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1600mm/s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a:latin typeface="微软雅黑" panose="020B0503020204020204" pitchFamily="34" charset="-122"/>
                          <a:ea typeface="微软雅黑" panose="020B0503020204020204" pitchFamily="34" charset="-122"/>
                        </a:rPr>
                        <a:t>Work</a:t>
                      </a:r>
                      <a:r>
                        <a:rPr lang="en-US" altLang="zh-CN" sz="1200" baseline="0">
                          <a:latin typeface="微软雅黑" panose="020B0503020204020204" pitchFamily="34" charset="-122"/>
                          <a:ea typeface="微软雅黑" panose="020B0503020204020204" pitchFamily="34" charset="-122"/>
                        </a:rPr>
                        <a:t>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1280mm/s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Maximum load</a:t>
                      </a: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15kg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r h="273600">
                <a:tc>
                  <a:txBody>
                    <a:bodyPr/>
                    <a:lstStyle/>
                    <a:p>
                      <a:pPr algn="l"/>
                      <a:r>
                        <a:rPr lang="en-US" altLang="zh-CN" sz="1200">
                          <a:latin typeface="微软雅黑" panose="020B0503020204020204" pitchFamily="34" charset="-122"/>
                          <a:ea typeface="微软雅黑" panose="020B0503020204020204" pitchFamily="34" charset="-122"/>
                        </a:rPr>
                        <a:t>Work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10.5kg</a:t>
                      </a:r>
                    </a:p>
                  </a:txBody>
                  <a:tcPr anchor="ctr"/>
                </a:tc>
                <a:extLst>
                  <a:ext uri="{0D108BD9-81ED-4DB2-BD59-A6C34878D82A}">
                    <a16:rowId xmlns:a16="http://schemas.microsoft.com/office/drawing/2014/main" val="10009"/>
                  </a:ext>
                </a:extLst>
              </a:tr>
            </a:tbl>
          </a:graphicData>
        </a:graphic>
      </p:graphicFrame>
      <p:graphicFrame>
        <p:nvGraphicFramePr>
          <p:cNvPr id="12" name="表格 11"/>
          <p:cNvGraphicFramePr>
            <a:graphicFrameLocks noGrp="1"/>
          </p:cNvGraphicFramePr>
          <p:nvPr>
            <p:custDataLst>
              <p:tags r:id="rId2"/>
            </p:custDataLst>
          </p:nvPr>
        </p:nvGraphicFramePr>
        <p:xfrm>
          <a:off x="7629843" y="849630"/>
          <a:ext cx="3910399" cy="2743200"/>
        </p:xfrm>
        <a:graphic>
          <a:graphicData uri="http://schemas.openxmlformats.org/drawingml/2006/table">
            <a:tbl>
              <a:tblPr firstRow="1" bandRow="1">
                <a:tableStyleId>{5C22544A-7EE6-4342-B048-85BDC9FD1C3A}</a:tableStyleId>
              </a:tblPr>
              <a:tblGrid>
                <a:gridCol w="1501775">
                  <a:extLst>
                    <a:ext uri="{9D8B030D-6E8A-4147-A177-3AD203B41FA5}">
                      <a16:colId xmlns:a16="http://schemas.microsoft.com/office/drawing/2014/main" val="20000"/>
                    </a:ext>
                  </a:extLst>
                </a:gridCol>
                <a:gridCol w="2408624">
                  <a:extLst>
                    <a:ext uri="{9D8B030D-6E8A-4147-A177-3AD203B41FA5}">
                      <a16:colId xmlns:a16="http://schemas.microsoft.com/office/drawing/2014/main" val="20001"/>
                    </a:ext>
                  </a:extLst>
                </a:gridCol>
              </a:tblGrid>
              <a:tr h="27360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a:solidFill>
                            <a:schemeClr val="tx1"/>
                          </a:solidFill>
                          <a:latin typeface="微软雅黑" panose="020B0503020204020204" pitchFamily="34" charset="-122"/>
                          <a:ea typeface="微软雅黑" panose="020B0503020204020204" pitchFamily="34" charset="-122"/>
                          <a:sym typeface="+mn-ea"/>
                        </a:rPr>
                        <a:t>X-axis transfer</a:t>
                      </a:r>
                      <a:endParaRPr lang="en-US" altLang="zh-CN" sz="120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en-US"/>
                    </a:p>
                  </a:txBody>
                  <a:tcPr/>
                </a:tc>
                <a:extLst>
                  <a:ext uri="{0D108BD9-81ED-4DB2-BD59-A6C34878D82A}">
                    <a16:rowId xmlns:a16="http://schemas.microsoft.com/office/drawing/2014/main" val="10000"/>
                  </a:ext>
                </a:extLst>
              </a:tr>
              <a:tr h="273600">
                <a:tc>
                  <a:txBody>
                    <a:bodyPr/>
                    <a:lstStyle/>
                    <a:p>
                      <a:pPr algn="l"/>
                      <a:r>
                        <a:rPr lang="en-US" altLang="zh-CN" sz="1200">
                          <a:latin typeface="微软雅黑" panose="020B0503020204020204" pitchFamily="34" charset="-122"/>
                          <a:ea typeface="微软雅黑" panose="020B0503020204020204" pitchFamily="34" charset="-122"/>
                        </a:rPr>
                        <a:t>Type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kern="1200" cap="none" dirty="0">
                          <a:solidFill>
                            <a:schemeClr val="dk1"/>
                          </a:solidFill>
                          <a:latin typeface="微软雅黑" panose="020B0503020204020204" pitchFamily="34" charset="-122"/>
                          <a:ea typeface="微软雅黑" panose="020B0503020204020204" pitchFamily="34" charset="-122"/>
                          <a:cs typeface="+mn-cs"/>
                          <a:sym typeface="+mn-ea"/>
                        </a:rPr>
                        <a:t>GTH8-L20-400-BC-S20-C4</a:t>
                      </a:r>
                      <a:endParaRPr lang="en-US" altLang="zh-CN" sz="1200" b="0" i="0" u="none" strike="noStrike" kern="1200" cap="none" dirty="0">
                        <a:solidFill>
                          <a:schemeClr val="dk1"/>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273600">
                <a:tc>
                  <a:txBody>
                    <a:bodyPr/>
                    <a:lstStyle/>
                    <a:p>
                      <a:pPr algn="l"/>
                      <a:r>
                        <a:rPr lang="en-US" altLang="zh-CN" sz="1200">
                          <a:latin typeface="微软雅黑" panose="020B0503020204020204" pitchFamily="34" charset="-122"/>
                          <a:ea typeface="微软雅黑" panose="020B0503020204020204" pitchFamily="34" charset="-122"/>
                        </a:rPr>
                        <a:t>Brand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rPr>
                        <a:t>TOYO</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4320">
                <a:tc>
                  <a:txBody>
                    <a:bodyPr/>
                    <a:lstStyle/>
                    <a:p>
                      <a:pPr algn="l"/>
                      <a:r>
                        <a:rPr lang="en-US" altLang="zh-CN" sz="1200">
                          <a:latin typeface="微软雅黑" panose="020B0503020204020204" pitchFamily="34" charset="-122"/>
                          <a:ea typeface="微软雅黑" panose="020B0503020204020204" pitchFamily="34" charset="-122"/>
                        </a:rPr>
                        <a:t>repeatability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±0.005mm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4320">
                <a:tc>
                  <a:txBody>
                    <a:bodyPr/>
                    <a:lstStyle/>
                    <a:p>
                      <a:pPr algn="l">
                        <a:buNone/>
                      </a:pPr>
                      <a:r>
                        <a:rPr lang="en-US" altLang="zh-CN" sz="1200" dirty="0">
                          <a:ln>
                            <a:noFill/>
                          </a:ln>
                          <a:solidFill>
                            <a:srgbClr val="000000"/>
                          </a:solidFill>
                          <a:effectLst/>
                          <a:latin typeface="微软雅黑" panose="020B0503020204020204" pitchFamily="34" charset="-122"/>
                          <a:ea typeface="微软雅黑" panose="020B0503020204020204" pitchFamily="34" charset="-122"/>
                          <a:sym typeface="+mn-ea"/>
                        </a:rPr>
                        <a:t>Position accuracy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buNone/>
                      </a:pPr>
                      <a:r>
                        <a:rPr lang="en-US" altLang="zh-CN" sz="1200" dirty="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dirty="0">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latin typeface="微软雅黑" panose="020B0503020204020204" pitchFamily="34" charset="-122"/>
                          <a:ea typeface="微软雅黑" panose="020B0503020204020204" pitchFamily="34" charset="-122"/>
                        </a:rPr>
                        <a:t>Travel</a:t>
                      </a:r>
                      <a:r>
                        <a:rPr lang="en-US" altLang="zh-CN" sz="1200" baseline="0">
                          <a:latin typeface="微软雅黑" panose="020B0503020204020204" pitchFamily="34" charset="-122"/>
                          <a:ea typeface="微软雅黑" panose="020B0503020204020204" pitchFamily="34" charset="-122"/>
                        </a:rPr>
                        <a:t> distance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rPr>
                        <a:t>250mm</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4320">
                <a:tc>
                  <a:txBody>
                    <a:bodyPr/>
                    <a:lstStyle/>
                    <a:p>
                      <a:pPr algn="l"/>
                      <a:r>
                        <a:rPr lang="en-US" altLang="zh-CN" sz="1200">
                          <a:latin typeface="微软雅黑" panose="020B0503020204020204" pitchFamily="34" charset="-122"/>
                          <a:ea typeface="微软雅黑" panose="020B0503020204020204" pitchFamily="34" charset="-122"/>
                        </a:rPr>
                        <a:t>Max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1000mm/s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a:latin typeface="微软雅黑" panose="020B0503020204020204" pitchFamily="34" charset="-122"/>
                          <a:ea typeface="微软雅黑" panose="020B0503020204020204" pitchFamily="34" charset="-122"/>
                        </a:rPr>
                        <a:t>Work</a:t>
                      </a:r>
                      <a:r>
                        <a:rPr lang="en-US" altLang="zh-CN" sz="1200" baseline="0">
                          <a:latin typeface="微软雅黑" panose="020B0503020204020204" pitchFamily="34" charset="-122"/>
                          <a:ea typeface="微软雅黑" panose="020B0503020204020204" pitchFamily="34" charset="-122"/>
                        </a:rPr>
                        <a:t>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800mm/s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Maximum load</a:t>
                      </a: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18kg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8"/>
                  </a:ext>
                </a:extLst>
              </a:tr>
              <a:tr h="273600">
                <a:tc>
                  <a:txBody>
                    <a:bodyPr/>
                    <a:lstStyle/>
                    <a:p>
                      <a:pPr algn="l"/>
                      <a:r>
                        <a:rPr lang="en-US" altLang="zh-CN" sz="1200">
                          <a:latin typeface="微软雅黑" panose="020B0503020204020204" pitchFamily="34" charset="-122"/>
                          <a:ea typeface="微软雅黑" panose="020B0503020204020204" pitchFamily="34" charset="-122"/>
                        </a:rPr>
                        <a:t>Work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rPr>
                        <a:t>5kg</a:t>
                      </a:r>
                    </a:p>
                  </a:txBody>
                  <a:tcPr anchor="ctr"/>
                </a:tc>
                <a:extLst>
                  <a:ext uri="{0D108BD9-81ED-4DB2-BD59-A6C34878D82A}">
                    <a16:rowId xmlns:a16="http://schemas.microsoft.com/office/drawing/2014/main" val="10009"/>
                  </a:ext>
                </a:extLst>
              </a:tr>
            </a:tbl>
          </a:graphicData>
        </a:graphic>
      </p:graphicFrame>
      <p:sp>
        <p:nvSpPr>
          <p:cNvPr id="14" name="灯片编号占位符 3"/>
          <p:cNvSpPr>
            <a:spLocks noGrp="1" noChangeArrowheads="1"/>
          </p:cNvSpPr>
          <p:nvPr>
            <p:custDataLst>
              <p:tags r:id="rId3"/>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13</a:t>
            </a:fld>
            <a:endParaRPr lang="zh-TW" altLang="en-US" sz="1400">
              <a:solidFill>
                <a:srgbClr val="898989"/>
              </a:solidFill>
              <a:latin typeface="Arial" panose="020B0604020202020204" pitchFamily="34" charset="0"/>
              <a:ea typeface="微软雅黑" panose="020B0503020204020204" pitchFamily="34" charset="-122"/>
            </a:endParaRPr>
          </a:p>
        </p:txBody>
      </p:sp>
      <p:graphicFrame>
        <p:nvGraphicFramePr>
          <p:cNvPr id="17" name="表格 16"/>
          <p:cNvGraphicFramePr>
            <a:graphicFrameLocks noGrp="1"/>
          </p:cNvGraphicFramePr>
          <p:nvPr>
            <p:custDataLst>
              <p:tags r:id="rId4"/>
            </p:custDataLst>
          </p:nvPr>
        </p:nvGraphicFramePr>
        <p:xfrm>
          <a:off x="3557905" y="3800793"/>
          <a:ext cx="3910115" cy="2743200"/>
        </p:xfrm>
        <a:graphic>
          <a:graphicData uri="http://schemas.openxmlformats.org/drawingml/2006/table">
            <a:tbl>
              <a:tblPr firstRow="1" bandRow="1">
                <a:tableStyleId>{5C22544A-7EE6-4342-B048-85BDC9FD1C3A}</a:tableStyleId>
              </a:tblPr>
              <a:tblGrid>
                <a:gridCol w="1482725">
                  <a:extLst>
                    <a:ext uri="{9D8B030D-6E8A-4147-A177-3AD203B41FA5}">
                      <a16:colId xmlns:a16="http://schemas.microsoft.com/office/drawing/2014/main" val="20000"/>
                    </a:ext>
                  </a:extLst>
                </a:gridCol>
                <a:gridCol w="2427390">
                  <a:extLst>
                    <a:ext uri="{9D8B030D-6E8A-4147-A177-3AD203B41FA5}">
                      <a16:colId xmlns:a16="http://schemas.microsoft.com/office/drawing/2014/main" val="20001"/>
                    </a:ext>
                  </a:extLst>
                </a:gridCol>
              </a:tblGrid>
              <a:tr h="27360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a:solidFill>
                            <a:schemeClr val="tx1"/>
                          </a:solidFill>
                          <a:latin typeface="微软雅黑" panose="020B0503020204020204" pitchFamily="34" charset="-122"/>
                          <a:ea typeface="微软雅黑" panose="020B0503020204020204" pitchFamily="34" charset="-122"/>
                        </a:rPr>
                        <a:t>Z-axis transfer</a:t>
                      </a:r>
                      <a:endParaRPr lang="zh-CN" altLang="en-US" sz="120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en-US"/>
                    </a:p>
                  </a:txBody>
                  <a:tcPr/>
                </a:tc>
                <a:extLst>
                  <a:ext uri="{0D108BD9-81ED-4DB2-BD59-A6C34878D82A}">
                    <a16:rowId xmlns:a16="http://schemas.microsoft.com/office/drawing/2014/main" val="10000"/>
                  </a:ext>
                </a:extLst>
              </a:tr>
              <a:tr h="273600">
                <a:tc>
                  <a:txBody>
                    <a:bodyPr/>
                    <a:lstStyle/>
                    <a:p>
                      <a:pPr algn="l"/>
                      <a:r>
                        <a:rPr lang="en-US" altLang="zh-CN" sz="1200">
                          <a:latin typeface="微软雅黑" panose="020B0503020204020204" pitchFamily="34" charset="-122"/>
                          <a:ea typeface="微软雅黑" panose="020B0503020204020204" pitchFamily="34" charset="-122"/>
                        </a:rPr>
                        <a:t>Type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sz="1200" dirty="0">
                          <a:sym typeface="+mn-ea"/>
                        </a:rPr>
                        <a:t>ZRB-MM8-P10-S50-M28-EC</a:t>
                      </a:r>
                      <a:endParaRPr lang="en-US" altLang="zh-CN"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1"/>
                  </a:ext>
                </a:extLst>
              </a:tr>
              <a:tr h="273600">
                <a:tc>
                  <a:txBody>
                    <a:bodyPr/>
                    <a:lstStyle/>
                    <a:p>
                      <a:pPr algn="l"/>
                      <a:r>
                        <a:rPr lang="en-US" altLang="zh-CN" sz="1200">
                          <a:latin typeface="微软雅黑" panose="020B0503020204020204" pitchFamily="34" charset="-122"/>
                          <a:ea typeface="微软雅黑" panose="020B0503020204020204" pitchFamily="34" charset="-122"/>
                        </a:rPr>
                        <a:t>Brand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sym typeface="Arial" panose="020B0604020202020204"/>
                        </a:rPr>
                        <a:t>SCAUTO</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273600">
                <a:tc>
                  <a:txBody>
                    <a:bodyPr/>
                    <a:lstStyle/>
                    <a:p>
                      <a:pPr algn="l"/>
                      <a:r>
                        <a:rPr lang="en-US" altLang="zh-CN" sz="1200">
                          <a:latin typeface="微软雅黑" panose="020B0503020204020204" pitchFamily="34" charset="-122"/>
                          <a:ea typeface="微软雅黑" panose="020B0503020204020204" pitchFamily="34" charset="-122"/>
                        </a:rPr>
                        <a:t>repeatability</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sym typeface="Arial" panose="020B0604020202020204"/>
                        </a:rPr>
                        <a:t>±0.01mm</a:t>
                      </a:r>
                      <a:endParaRPr lang="zh-CN" alt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3"/>
                  </a:ext>
                </a:extLst>
              </a:tr>
              <a:tr h="273600">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rPr>
                        <a:t>Position accuracy</a:t>
                      </a:r>
                      <a:endParaRPr kumimoji="0" lang="zh-CN" altLang="en-US"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endParaRPr>
                    </a:p>
                  </a:txBody>
                  <a:tcPr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rPr>
                        <a:t>±0.02mm</a:t>
                      </a:r>
                      <a:endParaRPr kumimoji="0" lang="zh-CN" altLang="en-US" sz="12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Arial" panose="020B0604020202020204" pitchFamily="34" charset="0"/>
                      </a:endParaRPr>
                    </a:p>
                  </a:txBody>
                  <a:tcPr anchor="ctr" horzOverflow="overflow"/>
                </a:tc>
                <a:extLst>
                  <a:ext uri="{0D108BD9-81ED-4DB2-BD59-A6C34878D82A}">
                    <a16:rowId xmlns:a16="http://schemas.microsoft.com/office/drawing/2014/main" val="10004"/>
                  </a:ext>
                </a:extLst>
              </a:tr>
              <a:tr h="2736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a:latin typeface="微软雅黑" panose="020B0503020204020204" pitchFamily="34" charset="-122"/>
                          <a:ea typeface="微软雅黑" panose="020B0503020204020204" pitchFamily="34" charset="-122"/>
                        </a:rPr>
                        <a:t>Travel</a:t>
                      </a:r>
                      <a:r>
                        <a:rPr lang="en-US" altLang="zh-CN" sz="1200" baseline="0">
                          <a:latin typeface="微软雅黑" panose="020B0503020204020204" pitchFamily="34" charset="-122"/>
                          <a:ea typeface="微软雅黑" panose="020B0503020204020204" pitchFamily="34" charset="-122"/>
                        </a:rPr>
                        <a:t> distance</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a:latin typeface="微软雅黑" panose="020B0503020204020204" pitchFamily="34" charset="-122"/>
                          <a:ea typeface="微软雅黑" panose="020B0503020204020204" pitchFamily="34" charset="-122"/>
                          <a:sym typeface="+mn-ea"/>
                        </a:rPr>
                        <a:t>50mm</a:t>
                      </a:r>
                      <a:endParaRPr lang="zh-CN" altLang="en-US" sz="120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r h="273600">
                <a:tc>
                  <a:txBody>
                    <a:bodyPr/>
                    <a:lstStyle/>
                    <a:p>
                      <a:pPr algn="l"/>
                      <a:r>
                        <a:rPr lang="en-US" altLang="zh-CN" sz="1200">
                          <a:latin typeface="微软雅黑" panose="020B0503020204020204" pitchFamily="34" charset="-122"/>
                          <a:ea typeface="微软雅黑" panose="020B0503020204020204" pitchFamily="34" charset="-122"/>
                        </a:rPr>
                        <a:t>Max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sym typeface="+mn-ea"/>
                        </a:rPr>
                        <a:t>200mm/s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6"/>
                  </a:ext>
                </a:extLst>
              </a:tr>
              <a:tr h="273600">
                <a:tc>
                  <a:txBody>
                    <a:bodyPr/>
                    <a:lstStyle/>
                    <a:p>
                      <a:pPr algn="l"/>
                      <a:r>
                        <a:rPr lang="en-US" altLang="zh-CN" sz="1200">
                          <a:latin typeface="微软雅黑" panose="020B0503020204020204" pitchFamily="34" charset="-122"/>
                          <a:ea typeface="微软雅黑" panose="020B0503020204020204" pitchFamily="34" charset="-122"/>
                        </a:rPr>
                        <a:t>Work</a:t>
                      </a:r>
                      <a:r>
                        <a:rPr lang="en-US" altLang="zh-CN" sz="1200" baseline="0">
                          <a:latin typeface="微软雅黑" panose="020B0503020204020204" pitchFamily="34" charset="-122"/>
                          <a:ea typeface="微软雅黑" panose="020B0503020204020204" pitchFamily="34" charset="-122"/>
                        </a:rPr>
                        <a:t> speed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sym typeface="+mn-ea"/>
                        </a:rPr>
                        <a:t>150mm/s</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7"/>
                  </a:ext>
                </a:extLst>
              </a:tr>
              <a:tr h="273600">
                <a:tc>
                  <a:txBody>
                    <a:bodyPr/>
                    <a:lstStyle/>
                    <a:p>
                      <a:pPr algn="l"/>
                      <a:r>
                        <a:rPr lang="en-US" altLang="zh-CN" sz="1200" dirty="0">
                          <a:latin typeface="微软雅黑" panose="020B0503020204020204" pitchFamily="34" charset="-122"/>
                          <a:ea typeface="微软雅黑" panose="020B0503020204020204" pitchFamily="34" charset="-122"/>
                        </a:rPr>
                        <a:t>Maximum load</a:t>
                      </a: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300g</a:t>
                      </a:r>
                    </a:p>
                  </a:txBody>
                  <a:tcPr anchor="ctr"/>
                </a:tc>
                <a:extLst>
                  <a:ext uri="{0D108BD9-81ED-4DB2-BD59-A6C34878D82A}">
                    <a16:rowId xmlns:a16="http://schemas.microsoft.com/office/drawing/2014/main" val="10008"/>
                  </a:ext>
                </a:extLst>
              </a:tr>
              <a:tr h="273600">
                <a:tc>
                  <a:txBody>
                    <a:bodyPr/>
                    <a:lstStyle/>
                    <a:p>
                      <a:pPr algn="l"/>
                      <a:r>
                        <a:rPr lang="en-US" altLang="zh-CN" sz="1200">
                          <a:latin typeface="微软雅黑" panose="020B0503020204020204" pitchFamily="34" charset="-122"/>
                          <a:ea typeface="微软雅黑" panose="020B0503020204020204" pitchFamily="34" charset="-122"/>
                        </a:rPr>
                        <a:t>Work load</a:t>
                      </a:r>
                      <a:endParaRPr lang="zh-CN" altLang="en-US" sz="1200">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zh-CN" sz="1200" dirty="0">
                          <a:latin typeface="微软雅黑" panose="020B0503020204020204" pitchFamily="34" charset="-122"/>
                          <a:ea typeface="微软雅黑" panose="020B0503020204020204" pitchFamily="34" charset="-122"/>
                          <a:sym typeface="+mn-ea"/>
                        </a:rPr>
                        <a:t>50g</a:t>
                      </a:r>
                      <a:endParaRPr lang="zh-CN" altLang="en-US" sz="12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9"/>
                  </a:ext>
                </a:extLst>
              </a:tr>
            </a:tbl>
          </a:graphicData>
        </a:graphic>
      </p:graphicFrame>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4" name="標題 1"/>
          <p:cNvSpPr txBox="1"/>
          <p:nvPr>
            <p:custDataLst>
              <p:tags r:id="rId5"/>
            </p:custDataLst>
          </p:nvPr>
        </p:nvSpPr>
        <p:spPr>
          <a:xfrm>
            <a:off x="113030" y="749300"/>
            <a:ext cx="3658235" cy="375920"/>
          </a:xfrm>
          <a:prstGeom prst="rect">
            <a:avLst/>
          </a:prstGeom>
          <a:noFill/>
        </p:spPr>
        <p:txBody>
          <a:bodyPr wrap="square" lIns="121847" tIns="60923" rIns="121847" bIns="60923" rtlCol="0">
            <a:no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sz="1800" dirty="0">
                <a:solidFill>
                  <a:schemeClr val="tx1"/>
                </a:solidFill>
                <a:sym typeface="+mn-ea"/>
              </a:rPr>
              <a:t>5.2 </a:t>
            </a:r>
            <a:r>
              <a:rPr lang="en-US" altLang="zh-CN" sz="1800" dirty="0">
                <a:solidFill>
                  <a:schemeClr val="tx1"/>
                </a:solidFill>
                <a:latin typeface="Calibri" panose="020F0502020204030204" charset="0"/>
                <a:ea typeface="微软雅黑" panose="020B0503020204020204" pitchFamily="34" charset="-122"/>
                <a:cs typeface="Calibri" panose="020F0502020204030204" charset="0"/>
                <a:sym typeface="Gill Sans"/>
              </a:rPr>
              <a:t>TABLE Load transfer component</a:t>
            </a:r>
          </a:p>
        </p:txBody>
      </p:sp>
      <p:sp>
        <p:nvSpPr>
          <p:cNvPr id="26" name="標題 1"/>
          <p:cNvSpPr txBox="1"/>
          <p:nvPr>
            <p:custDataLst>
              <p:tags r:id="rId6"/>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sp>
        <p:nvSpPr>
          <p:cNvPr id="6" name="TextBox 216"/>
          <p:cNvSpPr txBox="1">
            <a:spLocks noChangeArrowheads="1"/>
          </p:cNvSpPr>
          <p:nvPr/>
        </p:nvSpPr>
        <p:spPr bwMode="auto">
          <a:xfrm>
            <a:off x="173042" y="1281532"/>
            <a:ext cx="113789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ea typeface="+mj-ea"/>
                <a:cs typeface="Calibri" panose="020F0502020204030204" charset="0"/>
                <a:sym typeface="+mn-ea"/>
              </a:rPr>
              <a:t>X-axis slide table</a:t>
            </a:r>
            <a:endParaRPr lang="en-US" altLang="zh-CN" sz="1300" dirty="0">
              <a:latin typeface="+mn-lt"/>
            </a:endParaRPr>
          </a:p>
        </p:txBody>
      </p:sp>
      <p:sp>
        <p:nvSpPr>
          <p:cNvPr id="8" name="TextBox 216"/>
          <p:cNvSpPr txBox="1">
            <a:spLocks noChangeArrowheads="1"/>
          </p:cNvSpPr>
          <p:nvPr/>
        </p:nvSpPr>
        <p:spPr bwMode="auto">
          <a:xfrm>
            <a:off x="1607951" y="3895667"/>
            <a:ext cx="1039933"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ea typeface="+mj-ea"/>
                <a:cs typeface="Calibri" panose="020F0502020204030204" charset="0"/>
                <a:sym typeface="+mn-ea"/>
              </a:rPr>
              <a:t>Servo actuator</a:t>
            </a:r>
            <a:endParaRPr lang="en-US" altLang="zh-CN" sz="1300" dirty="0">
              <a:latin typeface="+mn-lt"/>
            </a:endParaRPr>
          </a:p>
        </p:txBody>
      </p:sp>
      <p:sp>
        <p:nvSpPr>
          <p:cNvPr id="19" name="TextBox 216"/>
          <p:cNvSpPr txBox="1">
            <a:spLocks noChangeArrowheads="1"/>
          </p:cNvSpPr>
          <p:nvPr/>
        </p:nvSpPr>
        <p:spPr bwMode="auto">
          <a:xfrm>
            <a:off x="5223048" y="1853742"/>
            <a:ext cx="1382395"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ea typeface="+mj-ea"/>
                <a:cs typeface="Calibri" panose="020F0502020204030204" charset="0"/>
                <a:sym typeface="+mn-ea"/>
              </a:rPr>
              <a:t>Y-axis slide table</a:t>
            </a:r>
            <a:endParaRPr lang="en-US" altLang="zh-CN" sz="1300" i="1" dirty="0">
              <a:solidFill>
                <a:schemeClr val="tx1"/>
              </a:solidFill>
              <a:latin typeface="+mn-lt"/>
              <a:sym typeface="Arial" panose="020B0604020202020204" pitchFamily="34" charset="0"/>
            </a:endParaRPr>
          </a:p>
        </p:txBody>
      </p:sp>
      <p:sp>
        <p:nvSpPr>
          <p:cNvPr id="20" name="TextBox 216"/>
          <p:cNvSpPr>
            <a:spLocks noChangeArrowheads="1"/>
          </p:cNvSpPr>
          <p:nvPr/>
        </p:nvSpPr>
        <p:spPr bwMode="auto">
          <a:xfrm>
            <a:off x="4618356" y="1071425"/>
            <a:ext cx="1458595" cy="492443"/>
          </a:xfrm>
          <a:prstGeom prst="rect">
            <a:avLst/>
          </a:prstGeom>
          <a:ln w="28575">
            <a:no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ea typeface="+mj-ea"/>
                <a:cs typeface="Calibri" panose="020F0502020204030204" charset="0"/>
                <a:sym typeface="+mn-ea"/>
              </a:rPr>
              <a:t>Vacuum negative pressure gauge</a:t>
            </a:r>
            <a:endParaRPr lang="en-US" altLang="zh-CN" sz="1300" dirty="0">
              <a:latin typeface="+mn-lt"/>
            </a:endParaRPr>
          </a:p>
        </p:txBody>
      </p:sp>
      <p:sp>
        <p:nvSpPr>
          <p:cNvPr id="21" name="TextBox 216"/>
          <p:cNvSpPr txBox="1">
            <a:spLocks noChangeArrowheads="1"/>
          </p:cNvSpPr>
          <p:nvPr/>
        </p:nvSpPr>
        <p:spPr bwMode="auto">
          <a:xfrm>
            <a:off x="2616731" y="3911710"/>
            <a:ext cx="708025"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ea typeface="+mj-ea"/>
                <a:cs typeface="Calibri" panose="020F0502020204030204" charset="0"/>
                <a:sym typeface="+mn-ea"/>
              </a:rPr>
              <a:t>Suction nozzle</a:t>
            </a:r>
            <a:endParaRPr lang="en-US" altLang="zh-CN" sz="1300" dirty="0">
              <a:latin typeface="+mn-lt"/>
            </a:endParaRPr>
          </a:p>
        </p:txBody>
      </p:sp>
      <p:sp>
        <p:nvSpPr>
          <p:cNvPr id="29" name="TextBox 216"/>
          <p:cNvSpPr txBox="1">
            <a:spLocks noChangeArrowheads="1"/>
          </p:cNvSpPr>
          <p:nvPr/>
        </p:nvSpPr>
        <p:spPr bwMode="auto">
          <a:xfrm>
            <a:off x="484791" y="3915451"/>
            <a:ext cx="1043919" cy="331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hangingPunct="1">
              <a:lnSpc>
                <a:spcPct val="130000"/>
              </a:lnSpc>
            </a:pPr>
            <a:r>
              <a:rPr lang="en-US" altLang="zh-CN" sz="1300" dirty="0">
                <a:cs typeface="Calibri" panose="020F0502020204030204" charset="0"/>
                <a:sym typeface="+mn-ea"/>
              </a:rPr>
              <a:t>Upper CCD</a:t>
            </a:r>
            <a:endParaRPr lang="zh-CN" altLang="en-US" sz="1300" dirty="0">
              <a:cs typeface="Calibri" panose="020F0502020204030204" charset="0"/>
            </a:endParaRPr>
          </a:p>
        </p:txBody>
      </p:sp>
      <p:sp>
        <p:nvSpPr>
          <p:cNvPr id="30" name="Shape 78"/>
          <p:cNvSpPr/>
          <p:nvPr/>
        </p:nvSpPr>
        <p:spPr>
          <a:xfrm rot="10800000" flipV="1">
            <a:off x="4145279" y="2118361"/>
            <a:ext cx="1047031" cy="609916"/>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cxnSp>
        <p:nvCxnSpPr>
          <p:cNvPr id="31" name="肘形连接符 148"/>
          <p:cNvCxnSpPr/>
          <p:nvPr/>
        </p:nvCxnSpPr>
        <p:spPr>
          <a:xfrm rot="5400000" flipH="1" flipV="1">
            <a:off x="2483407" y="3457946"/>
            <a:ext cx="905911" cy="1617"/>
          </a:xfrm>
          <a:prstGeom prst="bentConnector3">
            <a:avLst>
              <a:gd name="adj1" fmla="val 5000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32" name="肘形连接符 12"/>
          <p:cNvCxnSpPr>
            <a:stCxn id="29" idx="0"/>
          </p:cNvCxnSpPr>
          <p:nvPr/>
        </p:nvCxnSpPr>
        <p:spPr>
          <a:xfrm rot="5400000" flipH="1" flipV="1">
            <a:off x="1107691" y="2627339"/>
            <a:ext cx="1187172" cy="1389052"/>
          </a:xfrm>
          <a:prstGeom prst="bentConnector2">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
        <p:nvSpPr>
          <p:cNvPr id="33" name="Shape 78"/>
          <p:cNvSpPr/>
          <p:nvPr/>
        </p:nvSpPr>
        <p:spPr>
          <a:xfrm flipH="1">
            <a:off x="651758" y="1808019"/>
            <a:ext cx="0" cy="1343613"/>
          </a:xfrm>
          <a:prstGeom prst="line">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cxnSp>
        <p:nvCxnSpPr>
          <p:cNvPr id="34" name="肘形连接符 15"/>
          <p:cNvCxnSpPr/>
          <p:nvPr/>
        </p:nvCxnSpPr>
        <p:spPr>
          <a:xfrm rot="10800000" flipV="1">
            <a:off x="2518570" y="1245024"/>
            <a:ext cx="2099788" cy="663684"/>
          </a:xfrm>
          <a:prstGeom prst="bentConnector3">
            <a:avLst>
              <a:gd name="adj1" fmla="val 5000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cxnSp>
        <p:nvCxnSpPr>
          <p:cNvPr id="35" name="肘形连接符 4"/>
          <p:cNvCxnSpPr>
            <a:stCxn id="8" idx="0"/>
          </p:cNvCxnSpPr>
          <p:nvPr/>
        </p:nvCxnSpPr>
        <p:spPr>
          <a:xfrm rot="5400000" flipH="1" flipV="1">
            <a:off x="1939733" y="3134476"/>
            <a:ext cx="949376" cy="573006"/>
          </a:xfrm>
          <a:prstGeom prst="bentConnector3">
            <a:avLst>
              <a:gd name="adj1" fmla="val 50000"/>
            </a:avLst>
          </a:prstGeom>
          <a:ln w="28575">
            <a:solidFill>
              <a:srgbClr val="00B050"/>
            </a:solidFill>
            <a:prstDash val="sysDash"/>
            <a:headEnd type="none"/>
            <a:tailEnd type="oval"/>
          </a:ln>
          <a:effectLst/>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表格&#10;&#10;描述已自动生成"/>
          <p:cNvPicPr>
            <a:picLocks noGrp="1" noRot="1" noMove="1" noResize="1" noEditPoints="1" noAdjustHandles="1" noChangeArrowheads="1" noChangeShapeType="1" noCrop="1"/>
          </p:cNvPicPr>
          <p:nvPr/>
        </p:nvPicPr>
        <p:blipFill>
          <a:blip r:embed="rId11">
            <a:extLst>
              <a:ext uri="{28A0092B-C50C-407E-A947-70E740481C1C}">
                <a14:useLocalDpi xmlns:a14="http://schemas.microsoft.com/office/drawing/2010/main" val="0"/>
              </a:ext>
            </a:extLst>
          </a:blip>
          <a:stretch>
            <a:fillRect/>
          </a:stretch>
        </p:blipFill>
        <p:spPr>
          <a:xfrm>
            <a:off x="467098" y="1723787"/>
            <a:ext cx="5716090" cy="4110948"/>
          </a:xfrm>
          <a:prstGeom prst="rect">
            <a:avLst/>
          </a:prstGeom>
        </p:spPr>
      </p:pic>
      <p:pic>
        <p:nvPicPr>
          <p:cNvPr id="7" name="图片 6"/>
          <p:cNvPicPr>
            <a:picLocks noGrp="1" noRot="1" noMove="1" noResize="1" noEditPoints="1" noAdjustHandles="1" noChangeArrowheads="1" noChangeShapeType="1" noCrop="1"/>
          </p:cNvPicPr>
          <p:nvPr/>
        </p:nvPicPr>
        <p:blipFill>
          <a:blip r:embed="rId12"/>
          <a:srcRect l="2869" t="3891"/>
          <a:stretch>
            <a:fillRect/>
          </a:stretch>
        </p:blipFill>
        <p:spPr>
          <a:xfrm>
            <a:off x="6279619" y="1783341"/>
            <a:ext cx="5737050" cy="3991839"/>
          </a:xfrm>
          <a:prstGeom prst="rect">
            <a:avLst/>
          </a:prstGeom>
        </p:spPr>
      </p:pic>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14</a:t>
            </a:fld>
            <a:endParaRPr lang="zh-TW" altLang="en-US" sz="1400">
              <a:solidFill>
                <a:srgbClr val="898989"/>
              </a:solidFill>
              <a:latin typeface="Arial" panose="020B0604020202020204" pitchFamily="34" charset="0"/>
              <a:ea typeface="微软雅黑" panose="020B0503020204020204" pitchFamily="34" charset="-122"/>
            </a:endParaRPr>
          </a:p>
        </p:txBody>
      </p:sp>
      <p:sp>
        <p:nvSpPr>
          <p:cNvPr id="11268" name="矩形 5"/>
          <p:cNvSpPr/>
          <p:nvPr>
            <p:custDataLst>
              <p:tags r:id="rId2"/>
            </p:custDataLst>
          </p:nvPr>
        </p:nvSpPr>
        <p:spPr>
          <a:xfrm>
            <a:off x="7478713" y="1354455"/>
            <a:ext cx="3338863" cy="369332"/>
          </a:xfrm>
          <a:prstGeom prst="rect">
            <a:avLst/>
          </a:prstGeom>
          <a:noFill/>
          <a:ln w="9525">
            <a:noFill/>
          </a:ln>
        </p:spPr>
        <p:txBody>
          <a:bodyPr wrap="none">
            <a:spAutoFit/>
          </a:bodyPr>
          <a:lstStyle/>
          <a:p>
            <a:pPr marL="0" indent="0" algn="l">
              <a:buNone/>
            </a:pPr>
            <a:r>
              <a:rPr lang="en-US" altLang="zh-CN" sz="1800" dirty="0">
                <a:solidFill>
                  <a:srgbClr val="000000"/>
                </a:solidFill>
                <a:latin typeface="Calibri" panose="020F0502020204030204" charset="0"/>
                <a:ea typeface="微软雅黑" panose="020B0503020204020204" pitchFamily="34" charset="-122"/>
                <a:cs typeface="Calibri" panose="020F0502020204030204" charset="0"/>
              </a:rPr>
              <a:t>Y-axis </a:t>
            </a:r>
            <a:r>
              <a:rPr lang="en-US" altLang="zh-CN" sz="1800" dirty="0">
                <a:latin typeface="Calibri" panose="020F0502020204030204" charset="0"/>
                <a:ea typeface="微软雅黑" panose="020B0503020204020204" pitchFamily="34" charset="-122"/>
                <a:cs typeface="Calibri" panose="020F0502020204030204" charset="0"/>
                <a:sym typeface="+mn-ea"/>
              </a:rPr>
              <a:t>ETH14-L32-500-BC-S40-A2</a:t>
            </a:r>
            <a:endParaRPr lang="en-US" altLang="zh-CN" sz="1800" dirty="0">
              <a:solidFill>
                <a:srgbClr val="000000"/>
              </a:solidFill>
              <a:latin typeface="Calibri" panose="020F0502020204030204" charset="0"/>
              <a:ea typeface="微软雅黑" panose="020B0503020204020204" pitchFamily="34" charset="-122"/>
              <a:cs typeface="Calibri" panose="020F0502020204030204" charset="0"/>
            </a:endParaRPr>
          </a:p>
        </p:txBody>
      </p:sp>
      <p:sp>
        <p:nvSpPr>
          <p:cNvPr id="11269" name="矩形 6"/>
          <p:cNvSpPr/>
          <p:nvPr>
            <p:custDataLst>
              <p:tags r:id="rId3"/>
            </p:custDataLst>
          </p:nvPr>
        </p:nvSpPr>
        <p:spPr>
          <a:xfrm>
            <a:off x="1430655" y="1340168"/>
            <a:ext cx="3702685" cy="368300"/>
          </a:xfrm>
          <a:prstGeom prst="rect">
            <a:avLst/>
          </a:prstGeom>
          <a:noFill/>
          <a:ln w="9525">
            <a:noFill/>
          </a:ln>
        </p:spPr>
        <p:txBody>
          <a:bodyPr wrap="square">
            <a:spAutoFit/>
          </a:bodyPr>
          <a:lstStyle/>
          <a:p>
            <a:pPr algn="l">
              <a:buClrTx/>
              <a:buSzTx/>
              <a:buFontTx/>
            </a:pPr>
            <a:r>
              <a:rPr lang="en-US" altLang="zh-CN" sz="1800" dirty="0">
                <a:solidFill>
                  <a:srgbClr val="000000"/>
                </a:solidFill>
                <a:latin typeface="Calibri" panose="020F0502020204030204" charset="0"/>
                <a:ea typeface="微软雅黑" panose="020B0503020204020204" pitchFamily="34" charset="-122"/>
                <a:cs typeface="Calibri" panose="020F0502020204030204" charset="0"/>
              </a:rPr>
              <a:t>X-axis </a:t>
            </a:r>
            <a:r>
              <a:rPr lang="en-US" altLang="zh-CN" dirty="0">
                <a:solidFill>
                  <a:srgbClr val="000000"/>
                </a:solidFill>
                <a:latin typeface="Calibri" panose="020F0502020204030204" charset="0"/>
                <a:ea typeface="微软雅黑" panose="020B0503020204020204" pitchFamily="34" charset="-122"/>
                <a:cs typeface="Calibri" panose="020F0502020204030204" charset="0"/>
                <a:sym typeface="+mn-ea"/>
              </a:rPr>
              <a:t>GTH8-L20-400-BC-S20-C4</a:t>
            </a:r>
            <a:endParaRPr lang="en-US" altLang="zh-CN" sz="1800" dirty="0">
              <a:solidFill>
                <a:srgbClr val="000000"/>
              </a:solidFill>
              <a:latin typeface="Calibri" panose="020F0502020204030204" charset="0"/>
              <a:ea typeface="微软雅黑" panose="020B0503020204020204" pitchFamily="34" charset="-122"/>
              <a:cs typeface="Calibri" panose="020F0502020204030204" charset="0"/>
              <a:sym typeface="+mn-ea"/>
            </a:endParaRPr>
          </a:p>
        </p:txBody>
      </p:sp>
      <p:sp>
        <p:nvSpPr>
          <p:cNvPr id="6" name="椭圆 5"/>
          <p:cNvSpPr/>
          <p:nvPr>
            <p:custDataLst>
              <p:tags r:id="rId4"/>
            </p:custDataLst>
          </p:nvPr>
        </p:nvSpPr>
        <p:spPr>
          <a:xfrm>
            <a:off x="5274310" y="2176007"/>
            <a:ext cx="821690" cy="2129790"/>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cs typeface="Calibri" panose="020F0502020204030204" charset="0"/>
            </a:endParaRPr>
          </a:p>
        </p:txBody>
      </p:sp>
      <p:sp>
        <p:nvSpPr>
          <p:cNvPr id="18" name="椭圆 17"/>
          <p:cNvSpPr/>
          <p:nvPr>
            <p:custDataLst>
              <p:tags r:id="rId5"/>
            </p:custDataLst>
          </p:nvPr>
        </p:nvSpPr>
        <p:spPr>
          <a:xfrm>
            <a:off x="11171654" y="2095912"/>
            <a:ext cx="821690" cy="2129790"/>
          </a:xfrm>
          <a:prstGeom prst="ellipse">
            <a:avLst/>
          </a:prstGeom>
          <a:noFill/>
          <a:ln w="28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panose="020F0502020204030204" charset="0"/>
              <a:cs typeface="Calibri" panose="020F0502020204030204" charset="0"/>
            </a:endParaRPr>
          </a:p>
        </p:txBody>
      </p:sp>
      <p:sp>
        <p:nvSpPr>
          <p:cNvPr id="3" name="標題 1"/>
          <p:cNvSpPr txBox="1"/>
          <p:nvPr>
            <p:custDataLst>
              <p:tags r:id="rId6"/>
            </p:custDataLst>
          </p:nvPr>
        </p:nvSpPr>
        <p:spPr>
          <a:xfrm>
            <a:off x="113030" y="749300"/>
            <a:ext cx="3658235" cy="375920"/>
          </a:xfrm>
          <a:prstGeom prst="rect">
            <a:avLst/>
          </a:prstGeom>
          <a:noFill/>
        </p:spPr>
        <p:txBody>
          <a:bodyPr wrap="square" lIns="121847" tIns="60923" rIns="121847" bIns="60923" rtlCol="0">
            <a:no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sz="1800" dirty="0">
                <a:solidFill>
                  <a:schemeClr val="tx1"/>
                </a:solidFill>
                <a:sym typeface="+mn-ea"/>
              </a:rPr>
              <a:t>5.2 </a:t>
            </a:r>
            <a:r>
              <a:rPr lang="en-US" altLang="zh-CN" sz="1800" dirty="0">
                <a:solidFill>
                  <a:schemeClr val="tx1"/>
                </a:solidFill>
                <a:latin typeface="Calibri" panose="020F0502020204030204" charset="0"/>
                <a:ea typeface="微软雅黑" panose="020B0503020204020204" pitchFamily="34" charset="-122"/>
                <a:cs typeface="Calibri" panose="020F0502020204030204" charset="0"/>
                <a:sym typeface="Gill Sans"/>
              </a:rPr>
              <a:t>TABLE Load transfer component</a:t>
            </a:r>
          </a:p>
        </p:txBody>
      </p:sp>
      <p:sp>
        <p:nvSpPr>
          <p:cNvPr id="26" name="標題 1"/>
          <p:cNvSpPr txBox="1"/>
          <p:nvPr>
            <p:custDataLst>
              <p:tags r:id="rId7"/>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sp>
        <p:nvSpPr>
          <p:cNvPr id="2" name="TextBox 29"/>
          <p:cNvSpPr txBox="1">
            <a:spLocks noChangeArrowheads="1"/>
          </p:cNvSpPr>
          <p:nvPr>
            <p:custDataLst>
              <p:tags r:id="rId8"/>
            </p:custDataLst>
          </p:nvPr>
        </p:nvSpPr>
        <p:spPr bwMode="auto">
          <a:xfrm>
            <a:off x="10915291" y="782112"/>
            <a:ext cx="1078053"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300">
                <a:cs typeface="Calibri" panose="020F0502020204030204" charset="0"/>
              </a:rPr>
              <a:t>unit</a:t>
            </a:r>
            <a:r>
              <a:rPr lang="zh-CN" altLang="en-US" sz="1300">
                <a:cs typeface="Calibri" panose="020F0502020204030204" charset="0"/>
              </a:rPr>
              <a:t>：</a:t>
            </a:r>
            <a:r>
              <a:rPr lang="en-US" altLang="zh-CN" sz="1300">
                <a:cs typeface="Calibri" panose="020F0502020204030204" charset="0"/>
              </a:rPr>
              <a:t>mm</a:t>
            </a:r>
            <a:endParaRPr lang="zh-CN" altLang="en-US" sz="1300">
              <a:cs typeface="Calibri" panose="020F0502020204030204"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0"/>
          <a:stretch>
            <a:fillRect/>
          </a:stretch>
        </p:blipFill>
        <p:spPr>
          <a:xfrm>
            <a:off x="5902325" y="3453765"/>
            <a:ext cx="4947285" cy="2821305"/>
          </a:xfrm>
          <a:prstGeom prst="rect">
            <a:avLst/>
          </a:prstGeom>
        </p:spPr>
      </p:pic>
      <p:sp>
        <p:nvSpPr>
          <p:cNvPr id="26"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5.3 Feeder</a:t>
            </a:r>
            <a:endParaRPr lang="zh-CN" altLang="en-US" sz="1800" b="1" dirty="0">
              <a:sym typeface="+mn-ea"/>
            </a:endParaRPr>
          </a:p>
        </p:txBody>
      </p:sp>
      <p:graphicFrame>
        <p:nvGraphicFramePr>
          <p:cNvPr id="80" name="表格 79"/>
          <p:cNvGraphicFramePr>
            <a:graphicFrameLocks noGrp="1"/>
          </p:cNvGraphicFramePr>
          <p:nvPr>
            <p:custDataLst>
              <p:tags r:id="rId1"/>
            </p:custDataLst>
          </p:nvPr>
        </p:nvGraphicFramePr>
        <p:xfrm>
          <a:off x="6807200" y="1042670"/>
          <a:ext cx="3604895" cy="2109470"/>
        </p:xfrm>
        <a:graphic>
          <a:graphicData uri="http://schemas.openxmlformats.org/drawingml/2006/table">
            <a:tbl>
              <a:tblPr firstRow="1" bandRow="1">
                <a:tableStyleId>{5C22544A-7EE6-4342-B048-85BDC9FD1C3A}</a:tableStyleId>
              </a:tblPr>
              <a:tblGrid>
                <a:gridCol w="1290320">
                  <a:extLst>
                    <a:ext uri="{9D8B030D-6E8A-4147-A177-3AD203B41FA5}">
                      <a16:colId xmlns:a16="http://schemas.microsoft.com/office/drawing/2014/main" val="20000"/>
                    </a:ext>
                  </a:extLst>
                </a:gridCol>
                <a:gridCol w="2314575">
                  <a:extLst>
                    <a:ext uri="{9D8B030D-6E8A-4147-A177-3AD203B41FA5}">
                      <a16:colId xmlns:a16="http://schemas.microsoft.com/office/drawing/2014/main" val="20001"/>
                    </a:ext>
                  </a:extLst>
                </a:gridCol>
              </a:tblGrid>
              <a:tr h="335280">
                <a:tc gridSpan="2">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Calibri" panose="020F0502020204030204" charset="0"/>
                          <a:cs typeface="Calibri" panose="020F0502020204030204" charset="0"/>
                          <a:sym typeface="+mn-ea"/>
                        </a:rPr>
                        <a:t>Feeder</a:t>
                      </a:r>
                      <a:endParaRPr lang="zh-CN" altLang="en-US" sz="1200">
                        <a:solidFill>
                          <a:schemeClr val="tx1"/>
                        </a:solidFill>
                        <a:latin typeface="微软雅黑" panose="020B0503020204020204" pitchFamily="34" charset="-122"/>
                        <a:ea typeface="微软雅黑" panose="020B0503020204020204" pitchFamily="34" charset="-122"/>
                      </a:endParaRPr>
                    </a:p>
                  </a:txBody>
                  <a:tcPr anchor="ctr">
                    <a:solidFill>
                      <a:srgbClr val="00FF00"/>
                    </a:solidFill>
                  </a:tcPr>
                </a:tc>
                <a:tc hMerge="1">
                  <a:txBody>
                    <a:bodyPr/>
                    <a:lstStyle/>
                    <a:p>
                      <a:endParaRPr lang="en-US"/>
                    </a:p>
                  </a:txBody>
                  <a:tcPr/>
                </a:tc>
                <a:extLst>
                  <a:ext uri="{0D108BD9-81ED-4DB2-BD59-A6C34878D82A}">
                    <a16:rowId xmlns:a16="http://schemas.microsoft.com/office/drawing/2014/main" val="10000"/>
                  </a:ext>
                </a:extLst>
              </a:tr>
              <a:tr h="487680">
                <a:tc>
                  <a:txBody>
                    <a:bodyPr/>
                    <a:lstStyle/>
                    <a:p>
                      <a:pPr algn="l">
                        <a:spcBef>
                          <a:spcPts val="0"/>
                        </a:spcBef>
                        <a:spcAft>
                          <a:spcPts val="0"/>
                        </a:spcAft>
                        <a:buClrTx/>
                        <a:buSzTx/>
                        <a:buFontTx/>
                        <a:defRPr/>
                      </a:pPr>
                      <a:r>
                        <a:rPr lang="en-US" altLang="zh-CN" sz="1300" b="0" dirty="0">
                          <a:solidFill>
                            <a:schemeClr val="tx1"/>
                          </a:solidFill>
                          <a:latin typeface="Calibri" panose="020F0502020204030204" charset="0"/>
                          <a:cs typeface="Calibri" panose="020F0502020204030204" charset="0"/>
                          <a:sym typeface="+mn-ea"/>
                        </a:rPr>
                        <a:t>category</a:t>
                      </a:r>
                    </a:p>
                  </a:txBody>
                  <a:tcPr anchor="ctr"/>
                </a:tc>
                <a:tc>
                  <a:txBody>
                    <a:bodyPr/>
                    <a:lstStyle/>
                    <a:p>
                      <a:pPr algn="l">
                        <a:spcBef>
                          <a:spcPts val="0"/>
                        </a:spcBef>
                        <a:spcAft>
                          <a:spcPts val="0"/>
                        </a:spcAft>
                        <a:buClrTx/>
                        <a:buSzTx/>
                        <a:buFontTx/>
                        <a:defRPr/>
                      </a:pPr>
                      <a:r>
                        <a:rPr lang="en-US" altLang="zh-CN" sz="1300" b="0" dirty="0">
                          <a:solidFill>
                            <a:schemeClr val="tx1"/>
                          </a:solidFill>
                          <a:latin typeface="Calibri" panose="020F0502020204030204" charset="0"/>
                          <a:cs typeface="Calibri" panose="020F0502020204030204" charset="0"/>
                        </a:rPr>
                        <a:t>120- Pullback marking machine (standard machine)</a:t>
                      </a:r>
                    </a:p>
                  </a:txBody>
                  <a:tcPr anchor="ctr"/>
                </a:tc>
                <a:extLst>
                  <a:ext uri="{0D108BD9-81ED-4DB2-BD59-A6C34878D82A}">
                    <a16:rowId xmlns:a16="http://schemas.microsoft.com/office/drawing/2014/main" val="10001"/>
                  </a:ext>
                </a:extLst>
              </a:tr>
              <a:tr h="278765">
                <a:tc>
                  <a:txBody>
                    <a:bodyPr/>
                    <a:lstStyle/>
                    <a:p>
                      <a:pPr algn="l"/>
                      <a:r>
                        <a:rPr lang="en-US" altLang="zh-CN" sz="1200">
                          <a:latin typeface="微软雅黑" panose="020B0503020204020204" pitchFamily="34" charset="-122"/>
                          <a:ea typeface="微软雅黑" panose="020B0503020204020204" pitchFamily="34" charset="-122"/>
                        </a:rPr>
                        <a:t>UPH</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1s</a:t>
                      </a:r>
                      <a:r>
                        <a:rPr lang="en-US" altLang="zh-CN"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rPr>
                        <a:t>/pcs</a:t>
                      </a:r>
                      <a:endParaRPr lang="en-US" sz="1200" b="0" i="0" u="none" strike="noStrike" cap="none">
                        <a:solidFill>
                          <a:schemeClr val="dk1"/>
                        </a:solidFill>
                        <a:latin typeface="微软雅黑" panose="020B0503020204020204" pitchFamily="34" charset="-122"/>
                        <a:ea typeface="微软雅黑" panose="020B0503020204020204" pitchFamily="34" charset="-122"/>
                        <a:cs typeface="+mn-cs"/>
                        <a:sym typeface="Arial" panose="020B0604020202020204"/>
                      </a:endParaRPr>
                    </a:p>
                  </a:txBody>
                  <a:tcPr anchor="ctr"/>
                </a:tc>
                <a:extLst>
                  <a:ext uri="{0D108BD9-81ED-4DB2-BD59-A6C34878D82A}">
                    <a16:rowId xmlns:a16="http://schemas.microsoft.com/office/drawing/2014/main" val="10002"/>
                  </a:ext>
                </a:extLst>
              </a:tr>
              <a:tr h="326390">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1300" dirty="0">
                          <a:solidFill>
                            <a:schemeClr val="tx1"/>
                          </a:solidFill>
                          <a:latin typeface="Calibri" panose="020F0502020204030204" charset="0"/>
                          <a:cs typeface="Calibri" panose="020F0502020204030204" charset="0"/>
                          <a:sym typeface="+mn-ea"/>
                        </a:rPr>
                        <a:t>Diameter of roll</a:t>
                      </a:r>
                      <a:endParaRPr lang="en-US" altLang="zh-CN" sz="1300" dirty="0">
                        <a:solidFill>
                          <a:schemeClr val="tx1"/>
                        </a:solidFill>
                        <a:latin typeface="Calibri" panose="020F0502020204030204" charset="0"/>
                        <a:cs typeface="Calibri" panose="020F0502020204030204" charset="0"/>
                      </a:endParaRPr>
                    </a:p>
                  </a:txBody>
                  <a:tcPr anchor="ctr"/>
                </a:tc>
                <a:tc>
                  <a:txBody>
                    <a:bodyPr/>
                    <a:lstStyle/>
                    <a:p>
                      <a:pPr algn="l"/>
                      <a:r>
                        <a:rPr lang="en-US" altLang="zh-CN" sz="1200" dirty="0">
                          <a:latin typeface="微软雅黑" panose="020B0503020204020204" pitchFamily="34" charset="-122"/>
                          <a:ea typeface="微软雅黑" panose="020B0503020204020204" pitchFamily="34" charset="-122"/>
                        </a:rPr>
                        <a:t>180mm</a:t>
                      </a:r>
                    </a:p>
                  </a:txBody>
                  <a:tcPr anchor="ctr"/>
                </a:tc>
                <a:extLst>
                  <a:ext uri="{0D108BD9-81ED-4DB2-BD59-A6C34878D82A}">
                    <a16:rowId xmlns:a16="http://schemas.microsoft.com/office/drawing/2014/main" val="10003"/>
                  </a:ext>
                </a:extLst>
              </a:tr>
              <a:tr h="341630">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1300" dirty="0">
                          <a:solidFill>
                            <a:schemeClr val="tx1"/>
                          </a:solidFill>
                          <a:latin typeface="Calibri" panose="020F0502020204030204" charset="0"/>
                          <a:cs typeface="Calibri" panose="020F0502020204030204" charset="0"/>
                          <a:sym typeface="+mn-ea"/>
                        </a:rPr>
                        <a:t>Strip width</a:t>
                      </a:r>
                      <a:endParaRPr lang="en-US" altLang="zh-CN" sz="1300" dirty="0">
                        <a:solidFill>
                          <a:schemeClr val="tx1"/>
                        </a:solidFill>
                        <a:latin typeface="Calibri" panose="020F0502020204030204" charset="0"/>
                        <a:cs typeface="Calibri" panose="020F0502020204030204" charset="0"/>
                      </a:endParaRPr>
                    </a:p>
                  </a:txBody>
                  <a:tcPr anchor="ctr"/>
                </a:tc>
                <a:tc>
                  <a:txBody>
                    <a:bodyPr/>
                    <a:lstStyle/>
                    <a:p>
                      <a:pPr algn="l">
                        <a:buNone/>
                      </a:pPr>
                      <a:r>
                        <a:rPr lang="en-US" altLang="zh-CN" sz="1200" dirty="0">
                          <a:latin typeface="微软雅黑" panose="020B0503020204020204" pitchFamily="34" charset="-122"/>
                          <a:ea typeface="微软雅黑" panose="020B0503020204020204" pitchFamily="34" charset="-122"/>
                        </a:rPr>
                        <a:t>44mm</a:t>
                      </a:r>
                    </a:p>
                  </a:txBody>
                  <a:tcPr anchor="ctr"/>
                </a:tc>
                <a:extLst>
                  <a:ext uri="{0D108BD9-81ED-4DB2-BD59-A6C34878D82A}">
                    <a16:rowId xmlns:a16="http://schemas.microsoft.com/office/drawing/2014/main" val="10004"/>
                  </a:ext>
                </a:extLst>
              </a:tr>
              <a:tr h="339725">
                <a:tc>
                  <a:txBody>
                    <a:bodyPr/>
                    <a:lstStyle/>
                    <a:p>
                      <a:pPr marL="0" marR="0" lvl="0" algn="l" defTabSz="914400" rtl="0" eaLnBrk="1" fontAlgn="auto" latinLnBrk="0" hangingPunct="1">
                        <a:lnSpc>
                          <a:spcPct val="100000"/>
                        </a:lnSpc>
                        <a:spcBef>
                          <a:spcPts val="0"/>
                        </a:spcBef>
                        <a:spcAft>
                          <a:spcPts val="0"/>
                        </a:spcAft>
                        <a:buClrTx/>
                        <a:buSzTx/>
                        <a:buFontTx/>
                        <a:buNone/>
                        <a:defRPr/>
                      </a:pPr>
                      <a:r>
                        <a:rPr lang="en-US" altLang="zh-CN" sz="1300" dirty="0">
                          <a:solidFill>
                            <a:schemeClr val="tx1"/>
                          </a:solidFill>
                          <a:latin typeface="Calibri" panose="020F0502020204030204" charset="0"/>
                          <a:cs typeface="Calibri" panose="020F0502020204030204" charset="0"/>
                          <a:sym typeface="+mn-ea"/>
                        </a:rPr>
                        <a:t>Quantity </a:t>
                      </a:r>
                      <a:endParaRPr lang="en-US" altLang="zh-CN" sz="1300" dirty="0">
                        <a:solidFill>
                          <a:schemeClr val="tx1"/>
                        </a:solidFill>
                        <a:latin typeface="Calibri" panose="020F0502020204030204" charset="0"/>
                        <a:cs typeface="Calibri" panose="020F0502020204030204" charset="0"/>
                      </a:endParaRPr>
                    </a:p>
                  </a:txBody>
                  <a:tcPr anchor="ctr"/>
                </a:tc>
                <a:tc>
                  <a:txBody>
                    <a:bodyPr/>
                    <a:lstStyle/>
                    <a:p>
                      <a:pPr algn="l">
                        <a:buNone/>
                      </a:pPr>
                      <a:r>
                        <a:rPr lang="en-US" altLang="zh-CN" sz="1200" dirty="0">
                          <a:solidFill>
                            <a:schemeClr val="tx1"/>
                          </a:solidFill>
                          <a:latin typeface="Calibri" panose="020F0502020204030204" charset="0"/>
                          <a:cs typeface="Calibri" panose="020F0502020204030204" charset="0"/>
                          <a:sym typeface="+mn-ea"/>
                        </a:rPr>
                        <a:t>Estimated </a:t>
                      </a:r>
                      <a:r>
                        <a:rPr lang="en-US" altLang="zh-CN" sz="1200" dirty="0">
                          <a:latin typeface="微软雅黑" panose="020B0503020204020204" pitchFamily="34" charset="-122"/>
                          <a:ea typeface="微软雅黑" panose="020B0503020204020204" pitchFamily="34" charset="-122"/>
                        </a:rPr>
                        <a:t>10K</a:t>
                      </a:r>
                    </a:p>
                  </a:txBody>
                  <a:tcPr anchor="ctr"/>
                </a:tc>
                <a:extLst>
                  <a:ext uri="{0D108BD9-81ED-4DB2-BD59-A6C34878D82A}">
                    <a16:rowId xmlns:a16="http://schemas.microsoft.com/office/drawing/2014/main" val="10005"/>
                  </a:ext>
                </a:extLst>
              </a:tr>
            </a:tbl>
          </a:graphicData>
        </a:graphic>
      </p:graphicFrame>
      <p:sp>
        <p:nvSpPr>
          <p:cNvPr id="12291" name="灯片编号占位符 3"/>
          <p:cNvSpPr>
            <a:spLocks noGrp="1" noChangeArrowheads="1"/>
          </p:cNvSpPr>
          <p:nvPr>
            <p:custDataLst>
              <p:tags r:id="rId2"/>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15</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8"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9" name="標題 1"/>
          <p:cNvSpPr txBox="1"/>
          <p:nvPr>
            <p:custDataLst>
              <p:tags r:id="rId3"/>
            </p:custDataLst>
          </p:nvPr>
        </p:nvSpPr>
        <p:spPr>
          <a:xfrm>
            <a:off x="741988" y="145528"/>
            <a:ext cx="9543610" cy="615478"/>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3200" dirty="0">
                <a:sym typeface="+mn-ea"/>
              </a:rPr>
              <a:t>The key components</a:t>
            </a:r>
            <a:endParaRPr lang="zh-CN" altLang="en-US" sz="3200" dirty="0"/>
          </a:p>
        </p:txBody>
      </p:sp>
      <p:sp>
        <p:nvSpPr>
          <p:cNvPr id="13" name="TextBox 216"/>
          <p:cNvSpPr txBox="1">
            <a:spLocks noChangeArrowheads="1"/>
          </p:cNvSpPr>
          <p:nvPr>
            <p:custDataLst>
              <p:tags r:id="rId4"/>
            </p:custDataLst>
          </p:nvPr>
        </p:nvSpPr>
        <p:spPr bwMode="auto">
          <a:xfrm>
            <a:off x="325120" y="6024880"/>
            <a:ext cx="4476115" cy="49149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rtlCol="0">
            <a:spAutoFit/>
          </a:bodyPr>
          <a:lstStyle>
            <a:defPPr>
              <a:defRPr lang="zh-TW"/>
            </a:defPPr>
            <a:lvl1pPr>
              <a:spcBef>
                <a:spcPct val="0"/>
              </a:spcBef>
              <a:defRPr sz="1200">
                <a:latin typeface="Arial" panose="020B0604020202020204" pitchFamily="34" charset="0"/>
                <a:ea typeface="微软雅黑" panose="020B0503020204020204" pitchFamily="34" charset="-122"/>
              </a:defRPr>
            </a:lvl1pPr>
          </a:lstStyle>
          <a:p>
            <a:pPr lvl="0" algn="l">
              <a:buClrTx/>
              <a:buSzTx/>
              <a:buFontTx/>
            </a:pPr>
            <a:r>
              <a:rPr sz="1300" dirty="0">
                <a:latin typeface="Calibri" panose="020F0502020204030204" charset="0"/>
                <a:ea typeface="+mj-ea"/>
                <a:cs typeface="Calibri" panose="020F0502020204030204" charset="0"/>
                <a:sym typeface="+mn-ea"/>
              </a:rPr>
              <a:t>Note: It is recommended that the bidding platform be manually wiped and cleaned with a dust-free cloth once per shift.</a:t>
            </a:r>
          </a:p>
        </p:txBody>
      </p:sp>
      <p:pic>
        <p:nvPicPr>
          <p:cNvPr id="35" name="图片 34"/>
          <p:cNvPicPr>
            <a:picLocks noChangeAspect="1"/>
          </p:cNvPicPr>
          <p:nvPr/>
        </p:nvPicPr>
        <p:blipFill>
          <a:blip r:embed="rId11"/>
          <a:stretch>
            <a:fillRect/>
          </a:stretch>
        </p:blipFill>
        <p:spPr>
          <a:xfrm>
            <a:off x="94865" y="1855768"/>
            <a:ext cx="5040700" cy="3588801"/>
          </a:xfrm>
          <a:prstGeom prst="rect">
            <a:avLst/>
          </a:prstGeom>
        </p:spPr>
      </p:pic>
      <p:grpSp>
        <p:nvGrpSpPr>
          <p:cNvPr id="36" name="组合 35"/>
          <p:cNvGrpSpPr/>
          <p:nvPr/>
        </p:nvGrpSpPr>
        <p:grpSpPr>
          <a:xfrm>
            <a:off x="1876825" y="1442866"/>
            <a:ext cx="3665906" cy="3930476"/>
            <a:chOff x="1876825" y="1442866"/>
            <a:chExt cx="3665906" cy="3930476"/>
          </a:xfrm>
        </p:grpSpPr>
        <p:sp>
          <p:nvSpPr>
            <p:cNvPr id="37" name="TextBox 216"/>
            <p:cNvSpPr txBox="1">
              <a:spLocks noChangeArrowheads="1"/>
            </p:cNvSpPr>
            <p:nvPr/>
          </p:nvSpPr>
          <p:spPr bwMode="auto">
            <a:xfrm>
              <a:off x="2077279" y="5080954"/>
              <a:ext cx="114114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Retrieval area</a:t>
              </a:r>
            </a:p>
          </p:txBody>
        </p:sp>
        <p:sp>
          <p:nvSpPr>
            <p:cNvPr id="38" name="TextBox 216"/>
            <p:cNvSpPr txBox="1">
              <a:spLocks noChangeArrowheads="1"/>
            </p:cNvSpPr>
            <p:nvPr/>
          </p:nvSpPr>
          <p:spPr bwMode="auto">
            <a:xfrm>
              <a:off x="2590890" y="1442866"/>
              <a:ext cx="18717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Roll material indication</a:t>
              </a:r>
            </a:p>
          </p:txBody>
        </p:sp>
        <p:sp>
          <p:nvSpPr>
            <p:cNvPr id="39" name="Shape 78"/>
            <p:cNvSpPr/>
            <p:nvPr/>
          </p:nvSpPr>
          <p:spPr>
            <a:xfrm rot="5400000">
              <a:off x="1969017" y="1696912"/>
              <a:ext cx="787254" cy="971638"/>
            </a:xfrm>
            <a:prstGeom prst="line">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a:p>
          </p:txBody>
        </p:sp>
        <p:cxnSp>
          <p:nvCxnSpPr>
            <p:cNvPr id="40" name="肘形连接符 77"/>
            <p:cNvCxnSpPr>
              <a:stCxn id="41" idx="2"/>
            </p:cNvCxnSpPr>
            <p:nvPr>
              <p:custDataLst>
                <p:tags r:id="rId5"/>
              </p:custDataLst>
            </p:nvPr>
          </p:nvCxnSpPr>
          <p:spPr>
            <a:xfrm rot="5400000">
              <a:off x="4075064" y="2908186"/>
              <a:ext cx="1122313" cy="510002"/>
            </a:xfrm>
            <a:prstGeom prst="bentConnector3">
              <a:avLst>
                <a:gd name="adj1" fmla="val 50000"/>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1" name="TextBox 216"/>
            <p:cNvSpPr txBox="1">
              <a:spLocks noChangeArrowheads="1"/>
            </p:cNvSpPr>
            <p:nvPr>
              <p:custDataLst>
                <p:tags r:id="rId6"/>
              </p:custDataLst>
            </p:nvPr>
          </p:nvSpPr>
          <p:spPr bwMode="auto">
            <a:xfrm>
              <a:off x="4239711" y="2309643"/>
              <a:ext cx="130302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300" dirty="0">
                  <a:latin typeface="Calibri" panose="020F0502020204030204" charset="0"/>
                  <a:ea typeface="+mj-ea"/>
                  <a:cs typeface="Calibri" panose="020F0502020204030204" charset="0"/>
                  <a:sym typeface="+mn-ea"/>
                </a:rPr>
                <a:t>sensing fiber</a:t>
              </a:r>
            </a:p>
          </p:txBody>
        </p:sp>
        <p:cxnSp>
          <p:nvCxnSpPr>
            <p:cNvPr id="42" name="肘形连接符 85"/>
            <p:cNvCxnSpPr>
              <a:stCxn id="37" idx="3"/>
            </p:cNvCxnSpPr>
            <p:nvPr>
              <p:custDataLst>
                <p:tags r:id="rId7"/>
              </p:custDataLst>
            </p:nvPr>
          </p:nvCxnSpPr>
          <p:spPr>
            <a:xfrm flipV="1">
              <a:off x="3218423" y="3890027"/>
              <a:ext cx="1058140" cy="1337121"/>
            </a:xfrm>
            <a:prstGeom prst="bentConnector2">
              <a:avLst/>
            </a:prstGeom>
            <a:ln w="28575" cmpd="sng">
              <a:solidFill>
                <a:srgbClr val="FF0000"/>
              </a:solidFill>
              <a:prstDash val="sys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示&#10;&#10;描述已自动生成"/>
          <p:cNvPicPr>
            <a:picLocks noGrp="1" noRot="1" noChangeAspect="1" noMove="1" noResize="1" noEditPoints="1" noAdjustHandles="1" noChangeArrowheads="1" noChangeShapeType="1" noCrop="1"/>
          </p:cNvPicPr>
          <p:nvPr/>
        </p:nvPicPr>
        <p:blipFill>
          <a:blip r:embed="rId5">
            <a:extLst>
              <a:ext uri="{BEBA8EAE-BF5A-486C-A8C5-ECC9F3942E4B}">
                <a14:imgProps xmlns:a14="http://schemas.microsoft.com/office/drawing/2010/main">
                  <a14:imgLayer r:embed="rId6">
                    <a14:imgEffect>
                      <a14:brightnessContrast bright="20000" contrast="20000"/>
                    </a14:imgEffect>
                  </a14:imgLayer>
                </a14:imgProps>
              </a:ext>
              <a:ext uri="{28A0092B-C50C-407E-A947-70E740481C1C}">
                <a14:useLocalDpi xmlns:a14="http://schemas.microsoft.com/office/drawing/2010/main" val="0"/>
              </a:ext>
            </a:extLst>
          </a:blip>
          <a:srcRect l="19500" r="9484"/>
          <a:stretch>
            <a:fillRect/>
          </a:stretch>
        </p:blipFill>
        <p:spPr>
          <a:xfrm>
            <a:off x="7279669" y="1813712"/>
            <a:ext cx="3723161" cy="4695500"/>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2800" dirty="0">
                <a:sym typeface="+mn-ea"/>
              </a:rPr>
              <a:t>The key components</a:t>
            </a:r>
            <a:endParaRPr lang="zh-CN" altLang="en-US" sz="2800" dirty="0"/>
          </a:p>
        </p:txBody>
      </p:sp>
      <p:sp>
        <p:nvSpPr>
          <p:cNvPr id="21"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t>5.4 Upper CCD</a:t>
            </a:r>
            <a:endParaRPr lang="zh-CN" altLang="en-US" sz="1800" b="1" dirty="0">
              <a:sym typeface="+mn-ea"/>
            </a:endParaRPr>
          </a:p>
        </p:txBody>
      </p:sp>
      <p:sp>
        <p:nvSpPr>
          <p:cNvPr id="11267" name="灯片编号占位符 3"/>
          <p:cNvSpPr txBox="1">
            <a:spLocks noGrp="1"/>
          </p:cNvSpPr>
          <p:nvPr>
            <p:ph type="sldNum" sz="quarter" idx="4294967295"/>
          </p:nvPr>
        </p:nvSpPr>
        <p:spPr>
          <a:xfrm>
            <a:off x="9183673" y="6292768"/>
            <a:ext cx="2743200"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16</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2"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dirty="0">
                <a:latin typeface="宋体" panose="02010600030101010101" pitchFamily="2" charset="-122"/>
              </a:rPr>
              <a:t>unit</a:t>
            </a:r>
            <a:r>
              <a:rPr lang="zh-CN" altLang="en-US" sz="1100" dirty="0">
                <a:latin typeface="宋体" panose="02010600030101010101" pitchFamily="2" charset="-122"/>
              </a:rPr>
              <a:t>：</a:t>
            </a:r>
            <a:r>
              <a:rPr lang="en-US" altLang="zh-CN" sz="1100" dirty="0">
                <a:latin typeface="宋体" panose="02010600030101010101" pitchFamily="2" charset="-122"/>
              </a:rPr>
              <a:t>mm</a:t>
            </a:r>
            <a:endParaRPr lang="zh-CN" altLang="en-US" sz="1100" dirty="0">
              <a:latin typeface="宋体" panose="02010600030101010101" pitchFamily="2" charset="-122"/>
            </a:endParaRPr>
          </a:p>
        </p:txBody>
      </p:sp>
      <p:grpSp>
        <p:nvGrpSpPr>
          <p:cNvPr id="11" name="组合 10"/>
          <p:cNvGrpSpPr/>
          <p:nvPr/>
        </p:nvGrpSpPr>
        <p:grpSpPr>
          <a:xfrm>
            <a:off x="6685779" y="1042402"/>
            <a:ext cx="4684586" cy="5509453"/>
            <a:chOff x="6476122" y="657225"/>
            <a:chExt cx="5153903" cy="5716143"/>
          </a:xfrm>
        </p:grpSpPr>
        <p:sp>
          <p:nvSpPr>
            <p:cNvPr id="14" name="文本框 12"/>
            <p:cNvSpPr txBox="1"/>
            <p:nvPr/>
          </p:nvSpPr>
          <p:spPr>
            <a:xfrm>
              <a:off x="6790055" y="711200"/>
              <a:ext cx="1260337" cy="383188"/>
            </a:xfrm>
            <a:prstGeom prst="rect">
              <a:avLst/>
            </a:prstGeom>
            <a:noFill/>
          </p:spPr>
          <p:txBody>
            <a:bodyPr wrap="none" rtlCol="0" anchor="t">
              <a:spAutoFit/>
            </a:bodyPr>
            <a:lstStyle/>
            <a:p>
              <a:pPr algn="l"/>
              <a:r>
                <a:rPr lang="zh-CN" altLang="en-US" b="1" dirty="0">
                  <a:latin typeface="微软雅黑" panose="020B0503020204020204" pitchFamily="34" charset="-122"/>
                  <a:ea typeface="微软雅黑" panose="020B0503020204020204" pitchFamily="34" charset="-122"/>
                </a:rPr>
                <a:t>layout：</a:t>
              </a:r>
            </a:p>
          </p:txBody>
        </p:sp>
        <p:cxnSp>
          <p:nvCxnSpPr>
            <p:cNvPr id="15" name="直接连接符 24"/>
            <p:cNvCxnSpPr/>
            <p:nvPr/>
          </p:nvCxnSpPr>
          <p:spPr>
            <a:xfrm flipH="1">
              <a:off x="9755759" y="3888052"/>
              <a:ext cx="61341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25"/>
            <p:cNvCxnSpPr/>
            <p:nvPr/>
          </p:nvCxnSpPr>
          <p:spPr>
            <a:xfrm flipH="1">
              <a:off x="10029241" y="4626023"/>
              <a:ext cx="776174" cy="317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箭头连接符 28"/>
            <p:cNvCxnSpPr/>
            <p:nvPr/>
          </p:nvCxnSpPr>
          <p:spPr>
            <a:xfrm>
              <a:off x="10805415" y="3311024"/>
              <a:ext cx="0" cy="1306823"/>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8" name="文本框 19"/>
            <p:cNvSpPr txBox="1"/>
            <p:nvPr/>
          </p:nvSpPr>
          <p:spPr>
            <a:xfrm rot="5400000">
              <a:off x="10558844" y="3828991"/>
              <a:ext cx="913397" cy="270888"/>
            </a:xfrm>
            <a:prstGeom prst="rect">
              <a:avLst/>
            </a:prstGeom>
            <a:noFill/>
          </p:spPr>
          <p:txBody>
            <a:bodyPr wrap="none" rtlCol="0">
              <a:spAutoFit/>
            </a:bodyPr>
            <a:lstStyle/>
            <a:p>
              <a:r>
                <a:rPr lang="en-US" altLang="zh-CN" sz="1000" dirty="0">
                  <a:solidFill>
                    <a:srgbClr val="FF0000"/>
                  </a:solidFill>
                </a:rPr>
                <a:t>135</a:t>
              </a:r>
              <a:r>
                <a:rPr lang="zh-CN" altLang="en-US" sz="1000" dirty="0">
                  <a:solidFill>
                    <a:srgbClr val="FF0000"/>
                  </a:solidFill>
                </a:rPr>
                <a:t>±</a:t>
              </a:r>
              <a:r>
                <a:rPr lang="en-US" altLang="zh-CN" sz="1000" dirty="0">
                  <a:solidFill>
                    <a:srgbClr val="FF0000"/>
                  </a:solidFill>
                </a:rPr>
                <a:t>10mm</a:t>
              </a:r>
            </a:p>
          </p:txBody>
        </p:sp>
        <p:cxnSp>
          <p:nvCxnSpPr>
            <p:cNvPr id="19" name="直接连接符 20"/>
            <p:cNvCxnSpPr/>
            <p:nvPr/>
          </p:nvCxnSpPr>
          <p:spPr>
            <a:xfrm flipH="1">
              <a:off x="9675041" y="3311024"/>
              <a:ext cx="123328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箭头连接符 22"/>
            <p:cNvCxnSpPr/>
            <p:nvPr/>
          </p:nvCxnSpPr>
          <p:spPr>
            <a:xfrm>
              <a:off x="10291683" y="3311024"/>
              <a:ext cx="0" cy="542918"/>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2" name="文本框 23"/>
            <p:cNvSpPr txBox="1"/>
            <p:nvPr/>
          </p:nvSpPr>
          <p:spPr>
            <a:xfrm rot="5400000">
              <a:off x="10066839" y="3595689"/>
              <a:ext cx="840218" cy="270888"/>
            </a:xfrm>
            <a:prstGeom prst="rect">
              <a:avLst/>
            </a:prstGeom>
            <a:noFill/>
          </p:spPr>
          <p:txBody>
            <a:bodyPr wrap="none" rtlCol="0">
              <a:spAutoFit/>
            </a:bodyPr>
            <a:lstStyle/>
            <a:p>
              <a:r>
                <a:rPr lang="en-US" altLang="zh-CN" sz="1000" dirty="0">
                  <a:solidFill>
                    <a:srgbClr val="FF0000"/>
                  </a:solidFill>
                </a:rPr>
                <a:t>30</a:t>
              </a:r>
              <a:r>
                <a:rPr lang="zh-CN" altLang="en-US" sz="1000" dirty="0">
                  <a:solidFill>
                    <a:srgbClr val="FF0000"/>
                  </a:solidFill>
                </a:rPr>
                <a:t>±</a:t>
              </a:r>
              <a:r>
                <a:rPr lang="en-US" altLang="zh-CN" sz="1000" dirty="0">
                  <a:solidFill>
                    <a:srgbClr val="FF0000"/>
                  </a:solidFill>
                </a:rPr>
                <a:t>10mm</a:t>
              </a:r>
            </a:p>
          </p:txBody>
        </p:sp>
        <p:grpSp>
          <p:nvGrpSpPr>
            <p:cNvPr id="23" name="组合 35"/>
            <p:cNvGrpSpPr/>
            <p:nvPr/>
          </p:nvGrpSpPr>
          <p:grpSpPr>
            <a:xfrm>
              <a:off x="8681339" y="2984627"/>
              <a:ext cx="1043305" cy="532765"/>
              <a:chOff x="6821" y="3014"/>
              <a:chExt cx="1643" cy="839"/>
            </a:xfrm>
          </p:grpSpPr>
          <p:sp>
            <p:nvSpPr>
              <p:cNvPr id="40" name="椭圆 26"/>
              <p:cNvSpPr>
                <a:spLocks noChangeAspect="1"/>
              </p:cNvSpPr>
              <p:nvPr/>
            </p:nvSpPr>
            <p:spPr>
              <a:xfrm>
                <a:off x="8313" y="3702"/>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肘形连接符 27"/>
              <p:cNvCxnSpPr>
                <a:stCxn id="24" idx="3"/>
                <a:endCxn id="40" idx="2"/>
              </p:cNvCxnSpPr>
              <p:nvPr/>
            </p:nvCxnSpPr>
            <p:spPr>
              <a:xfrm>
                <a:off x="6821" y="3014"/>
                <a:ext cx="1492" cy="763"/>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4" name="文本框 30"/>
            <p:cNvSpPr txBox="1"/>
            <p:nvPr/>
          </p:nvSpPr>
          <p:spPr>
            <a:xfrm>
              <a:off x="6702043" y="2840943"/>
              <a:ext cx="1979108" cy="287391"/>
            </a:xfrm>
            <a:prstGeom prst="rect">
              <a:avLst/>
            </a:prstGeom>
            <a:noFill/>
          </p:spPr>
          <p:txBody>
            <a:bodyPr wrap="none" rtlCol="0">
              <a:spAutoFit/>
            </a:bodyPr>
            <a:lstStyle/>
            <a:p>
              <a:pPr algn="ctr"/>
              <a:r>
                <a:rPr lang="en-US" altLang="zh-CN" sz="1200" b="0" kern="100" dirty="0">
                  <a:solidFill>
                    <a:schemeClr val="tx1"/>
                  </a:solidFill>
                  <a:effectLst/>
                  <a:latin typeface="等线" panose="02010600030101010101" charset="-122"/>
                  <a:ea typeface="等线" panose="02010600030101010101" charset="-122"/>
                  <a:cs typeface="+mn-cs"/>
                </a:rPr>
                <a:t>lens</a:t>
              </a:r>
              <a:r>
                <a:rPr lang="zh-CN" altLang="en-US" sz="1200" kern="100" dirty="0">
                  <a:effectLst/>
                  <a:latin typeface="等线" panose="02010600030101010101" charset="-122"/>
                  <a:ea typeface="等线" panose="02010600030101010101" charset="-122"/>
                  <a:sym typeface="+mn-ea"/>
                </a:rPr>
                <a:t>：</a:t>
              </a:r>
              <a:r>
                <a:rPr lang="en-US" altLang="zh-CN" sz="1200" kern="100" dirty="0">
                  <a:latin typeface="等线" panose="02010600030101010101" charset="-122"/>
                  <a:sym typeface="+mn-ea"/>
                </a:rPr>
                <a:t>FL-CC1214A-2M</a:t>
              </a:r>
            </a:p>
          </p:txBody>
        </p:sp>
        <p:grpSp>
          <p:nvGrpSpPr>
            <p:cNvPr id="25" name="组合 31"/>
            <p:cNvGrpSpPr/>
            <p:nvPr/>
          </p:nvGrpSpPr>
          <p:grpSpPr>
            <a:xfrm>
              <a:off x="8629904" y="2278507"/>
              <a:ext cx="1125855" cy="697865"/>
              <a:chOff x="6853" y="2787"/>
              <a:chExt cx="1773" cy="1099"/>
            </a:xfrm>
          </p:grpSpPr>
          <p:sp>
            <p:nvSpPr>
              <p:cNvPr id="38" name="椭圆 37"/>
              <p:cNvSpPr>
                <a:spLocks noChangeAspect="1"/>
              </p:cNvSpPr>
              <p:nvPr/>
            </p:nvSpPr>
            <p:spPr>
              <a:xfrm>
                <a:off x="8475" y="3735"/>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肘形连接符 39"/>
              <p:cNvCxnSpPr>
                <a:stCxn id="26" idx="3"/>
                <a:endCxn id="38" idx="2"/>
              </p:cNvCxnSpPr>
              <p:nvPr/>
            </p:nvCxnSpPr>
            <p:spPr>
              <a:xfrm>
                <a:off x="6853" y="2787"/>
                <a:ext cx="1622" cy="1023"/>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6" name="文本框 40"/>
            <p:cNvSpPr txBox="1"/>
            <p:nvPr/>
          </p:nvSpPr>
          <p:spPr>
            <a:xfrm>
              <a:off x="6725154" y="2039137"/>
              <a:ext cx="1904914" cy="478985"/>
            </a:xfrm>
            <a:prstGeom prst="rect">
              <a:avLst/>
            </a:prstGeom>
            <a:noFill/>
          </p:spPr>
          <p:txBody>
            <a:bodyPr wrap="square" rtlCol="0">
              <a:spAutoFit/>
            </a:bodyPr>
            <a:lstStyle/>
            <a:p>
              <a:pPr algn="ctr"/>
              <a:r>
                <a:rPr lang="zh-CN" altLang="en-US" sz="1200" dirty="0">
                  <a:latin typeface="等线" panose="02010600030101010101" charset="-122"/>
                  <a:ea typeface="等线" panose="02010600030101010101" charset="-122"/>
                  <a:cs typeface="等线" panose="02010600030101010101" charset="-122"/>
                </a:rPr>
                <a:t>camera：</a:t>
              </a:r>
              <a:r>
                <a:rPr lang="en-US" altLang="zh-CN" sz="1200" dirty="0">
                  <a:latin typeface="等线" panose="02010600030101010101" charset="-122"/>
                  <a:sym typeface="+mn-ea"/>
                </a:rPr>
                <a:t>FM-GE500-22M</a:t>
              </a:r>
            </a:p>
          </p:txBody>
        </p:sp>
        <p:grpSp>
          <p:nvGrpSpPr>
            <p:cNvPr id="27" name="组合 50"/>
            <p:cNvGrpSpPr/>
            <p:nvPr/>
          </p:nvGrpSpPr>
          <p:grpSpPr>
            <a:xfrm>
              <a:off x="8700389" y="3722497"/>
              <a:ext cx="947420" cy="131445"/>
              <a:chOff x="7159" y="3076"/>
              <a:chExt cx="1492" cy="207"/>
            </a:xfrm>
          </p:grpSpPr>
          <p:sp>
            <p:nvSpPr>
              <p:cNvPr id="36" name="椭圆 51"/>
              <p:cNvSpPr>
                <a:spLocks noChangeAspect="1"/>
              </p:cNvSpPr>
              <p:nvPr/>
            </p:nvSpPr>
            <p:spPr>
              <a:xfrm>
                <a:off x="8500" y="3132"/>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肘形连接符 52"/>
              <p:cNvCxnSpPr>
                <a:stCxn id="28" idx="3"/>
                <a:endCxn id="36" idx="2"/>
              </p:cNvCxnSpPr>
              <p:nvPr/>
            </p:nvCxnSpPr>
            <p:spPr>
              <a:xfrm>
                <a:off x="7159" y="3076"/>
                <a:ext cx="1341" cy="132"/>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28" name="文本框 53"/>
            <p:cNvSpPr txBox="1"/>
            <p:nvPr/>
          </p:nvSpPr>
          <p:spPr>
            <a:xfrm>
              <a:off x="6476122" y="3578575"/>
              <a:ext cx="2224248" cy="287391"/>
            </a:xfrm>
            <a:prstGeom prst="rect">
              <a:avLst/>
            </a:prstGeom>
            <a:noFill/>
          </p:spPr>
          <p:txBody>
            <a:bodyPr wrap="none" rtlCol="0">
              <a:spAutoFit/>
            </a:bodyPr>
            <a:lstStyle/>
            <a:p>
              <a:pPr algn="ctr"/>
              <a:r>
                <a:rPr lang="zh-CN" altLang="en-US" sz="1200" dirty="0">
                  <a:latin typeface="等线" panose="02010600030101010101" charset="-122"/>
                  <a:ea typeface="等线" panose="02010600030101010101" charset="-122"/>
                </a:rPr>
                <a:t>optical source：</a:t>
              </a:r>
              <a:r>
                <a:rPr lang="en-US" altLang="zh-CN" sz="1200" kern="100" dirty="0">
                  <a:latin typeface="等线" panose="02010600030101010101" charset="-122"/>
                  <a:sym typeface="+mn-ea"/>
                </a:rPr>
                <a:t>HRS-70R60</a:t>
              </a:r>
            </a:p>
          </p:txBody>
        </p:sp>
        <p:grpSp>
          <p:nvGrpSpPr>
            <p:cNvPr id="29" name="组合 55"/>
            <p:cNvGrpSpPr/>
            <p:nvPr/>
          </p:nvGrpSpPr>
          <p:grpSpPr>
            <a:xfrm>
              <a:off x="7250684" y="4617847"/>
              <a:ext cx="1908175" cy="95885"/>
              <a:chOff x="4876" y="2667"/>
              <a:chExt cx="3005" cy="151"/>
            </a:xfrm>
          </p:grpSpPr>
          <p:sp>
            <p:nvSpPr>
              <p:cNvPr id="34" name="椭圆 56"/>
              <p:cNvSpPr>
                <a:spLocks noChangeAspect="1"/>
              </p:cNvSpPr>
              <p:nvPr/>
            </p:nvSpPr>
            <p:spPr>
              <a:xfrm>
                <a:off x="7730" y="2667"/>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肘形连接符 57"/>
              <p:cNvCxnSpPr>
                <a:stCxn id="32" idx="3"/>
                <a:endCxn id="34" idx="2"/>
              </p:cNvCxnSpPr>
              <p:nvPr/>
            </p:nvCxnSpPr>
            <p:spPr>
              <a:xfrm flipV="1">
                <a:off x="4876" y="2743"/>
                <a:ext cx="2854" cy="7"/>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32" name="文本框 58"/>
            <p:cNvSpPr txBox="1"/>
            <p:nvPr/>
          </p:nvSpPr>
          <p:spPr>
            <a:xfrm>
              <a:off x="6738524" y="4532918"/>
              <a:ext cx="512444" cy="275590"/>
            </a:xfrm>
            <a:prstGeom prst="rect">
              <a:avLst/>
            </a:prstGeom>
            <a:noFill/>
          </p:spPr>
          <p:txBody>
            <a:bodyPr wrap="none" rtlCol="0">
              <a:spAutoFit/>
            </a:bodyPr>
            <a:lstStyle/>
            <a:p>
              <a:pPr algn="ctr"/>
              <a:r>
                <a:rPr lang="en-US" altLang="zh-CN" sz="1200">
                  <a:latin typeface="等线" panose="02010600030101010101" charset="-122"/>
                  <a:ea typeface="等线" panose="02010600030101010101" charset="-122"/>
                </a:rPr>
                <a:t>PCBA</a:t>
              </a:r>
            </a:p>
          </p:txBody>
        </p:sp>
        <p:sp>
          <p:nvSpPr>
            <p:cNvPr id="33" name="圆角矩形 72"/>
            <p:cNvSpPr/>
            <p:nvPr/>
          </p:nvSpPr>
          <p:spPr>
            <a:xfrm>
              <a:off x="6534150" y="657225"/>
              <a:ext cx="5095875" cy="5716143"/>
            </a:xfrm>
            <a:prstGeom prst="roundRect">
              <a:avLst>
                <a:gd name="adj" fmla="val 6205"/>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3" name="表格 2"/>
          <p:cNvGraphicFramePr>
            <a:graphicFrameLocks noGrp="1"/>
          </p:cNvGraphicFramePr>
          <p:nvPr>
            <p:custDataLst>
              <p:tags r:id="rId1"/>
            </p:custDataLst>
          </p:nvPr>
        </p:nvGraphicFramePr>
        <p:xfrm>
          <a:off x="648023" y="1300087"/>
          <a:ext cx="5722965" cy="2477135"/>
        </p:xfrm>
        <a:graphic>
          <a:graphicData uri="http://schemas.openxmlformats.org/drawingml/2006/table">
            <a:tbl>
              <a:tblPr firstRow="1" firstCol="1" bandRow="1">
                <a:tableStyleId>{5C22544A-7EE6-4342-B048-85BDC9FD1C3A}</a:tableStyleId>
              </a:tblPr>
              <a:tblGrid>
                <a:gridCol w="2040835">
                  <a:extLst>
                    <a:ext uri="{9D8B030D-6E8A-4147-A177-3AD203B41FA5}">
                      <a16:colId xmlns:a16="http://schemas.microsoft.com/office/drawing/2014/main" val="20000"/>
                    </a:ext>
                  </a:extLst>
                </a:gridCol>
                <a:gridCol w="2640636">
                  <a:extLst>
                    <a:ext uri="{9D8B030D-6E8A-4147-A177-3AD203B41FA5}">
                      <a16:colId xmlns:a16="http://schemas.microsoft.com/office/drawing/2014/main" val="20001"/>
                    </a:ext>
                  </a:extLst>
                </a:gridCol>
                <a:gridCol w="1041494">
                  <a:extLst>
                    <a:ext uri="{9D8B030D-6E8A-4147-A177-3AD203B41FA5}">
                      <a16:colId xmlns:a16="http://schemas.microsoft.com/office/drawing/2014/main" val="20002"/>
                    </a:ext>
                  </a:extLst>
                </a:gridCol>
              </a:tblGrid>
              <a:tr h="385445">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Hardware name</a:t>
                      </a:r>
                      <a:endParaRPr 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Model</a:t>
                      </a: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quantity</a:t>
                      </a:r>
                    </a:p>
                  </a:txBody>
                  <a:tcPr marL="99060" marR="99060" marT="0" marB="0" anchor="ctr">
                    <a:solidFill>
                      <a:schemeClr val="bg2">
                        <a:lumMod val="25000"/>
                      </a:schemeClr>
                    </a:solidFill>
                  </a:tcPr>
                </a:tc>
                <a:extLst>
                  <a:ext uri="{0D108BD9-81ED-4DB2-BD59-A6C34878D82A}">
                    <a16:rowId xmlns:a16="http://schemas.microsoft.com/office/drawing/2014/main" val="10000"/>
                  </a:ext>
                </a:extLst>
              </a:tr>
              <a:tr h="40957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buClrTx/>
                        <a:buSzTx/>
                        <a:buFontTx/>
                      </a:pPr>
                      <a:r>
                        <a:rPr lang="en-US" altLang="zh-CN" sz="1200" dirty="0">
                          <a:solidFill>
                            <a:srgbClr val="0070C0"/>
                          </a:solidFill>
                          <a:sym typeface="Arial" panose="020B0604020202020204" pitchFamily="34" charset="0"/>
                        </a:rPr>
                        <a:t>FM-GE500-22M</a:t>
                      </a:r>
                      <a:endParaRPr lang="en-US" altLang="zh-CN" sz="1200" i="0" dirty="0">
                        <a:solidFill>
                          <a:srgbClr val="0070C0"/>
                        </a:solidFill>
                        <a:sym typeface="Arial" panose="020B0604020202020204" pitchFamily="34" charset="0"/>
                      </a:endParaRP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1"/>
                  </a:ext>
                </a:extLst>
              </a:tr>
              <a:tr h="38544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lens</a:t>
                      </a:r>
                    </a:p>
                  </a:txBody>
                  <a:tcPr marL="99060" marR="99060" marT="0" marB="0" anchor="ctr" anchorCtr="1">
                    <a:solidFill>
                      <a:srgbClr val="00FF00"/>
                    </a:solidFill>
                  </a:tcPr>
                </a:tc>
                <a:tc>
                  <a:txBody>
                    <a:bodyPr/>
                    <a:lstStyle/>
                    <a:p>
                      <a:pPr algn="ctr">
                        <a:lnSpc>
                          <a:spcPct val="150000"/>
                        </a:lnSpc>
                        <a:spcAft>
                          <a:spcPts val="0"/>
                        </a:spcAft>
                      </a:pPr>
                      <a:r>
                        <a:rPr lang="en-US" altLang="zh-CN" sz="1200" dirty="0">
                          <a:solidFill>
                            <a:srgbClr val="0070C0"/>
                          </a:solidFill>
                          <a:sym typeface="Arial" panose="020B0604020202020204" pitchFamily="34" charset="0"/>
                        </a:rPr>
                        <a:t>RICOH/</a:t>
                      </a:r>
                      <a:r>
                        <a:rPr lang="en-US" altLang="zh-CN" sz="1200" i="0" dirty="0">
                          <a:solidFill>
                            <a:srgbClr val="0070C0"/>
                          </a:solidFill>
                          <a:sym typeface="Arial" panose="020B0604020202020204" pitchFamily="34" charset="0"/>
                        </a:rPr>
                        <a:t>FL-CC1214A-2M</a:t>
                      </a:r>
                    </a:p>
                  </a:txBody>
                  <a:tcPr marL="99060" marR="99060" marT="0" marB="0" anchor="ctr" anchorCtr="1"/>
                </a:tc>
                <a:tc>
                  <a:txBody>
                    <a:bodyPr/>
                    <a:lstStyle/>
                    <a:p>
                      <a:pPr algn="ctr">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2"/>
                  </a:ext>
                </a:extLst>
              </a:tr>
              <a:tr h="385445">
                <a:tc>
                  <a:txBody>
                    <a:bodyPr/>
                    <a:lstStyle/>
                    <a:p>
                      <a:pPr algn="ctr">
                        <a:lnSpc>
                          <a:spcPct val="150000"/>
                        </a:lnSpc>
                        <a:spcAft>
                          <a:spcPts val="0"/>
                        </a:spcAft>
                        <a:buNone/>
                      </a:pPr>
                      <a:r>
                        <a:rPr lang="en-US" altLang="zh-CN" sz="1200" b="1" kern="100" dirty="0">
                          <a:solidFill>
                            <a:schemeClr val="tx1"/>
                          </a:solidFill>
                          <a:effectLst/>
                          <a:latin typeface="微软雅黑" panose="020B0503020204020204" pitchFamily="34" charset="-122"/>
                          <a:ea typeface="微软雅黑" panose="020B0503020204020204" pitchFamily="34" charset="-122"/>
                          <a:cs typeface="+mn-cs"/>
                        </a:rPr>
                        <a:t>Close up adaptor</a:t>
                      </a:r>
                      <a:endParaRPr lang="zh-CN" altLang="en-US" sz="1200" b="1" kern="100" dirty="0">
                        <a:solidFill>
                          <a:schemeClr val="tx1"/>
                        </a:solidFill>
                        <a:effectLst/>
                        <a:latin typeface="微软雅黑" panose="020B0503020204020204" pitchFamily="34" charset="-122"/>
                        <a:ea typeface="微软雅黑" panose="020B0503020204020204" pitchFamily="34" charset="-122"/>
                        <a:cs typeface="+mn-cs"/>
                      </a:endParaRPr>
                    </a:p>
                  </a:txBody>
                  <a:tcPr marL="99060" marR="99060" marT="0" marB="0" anchor="ctr" anchorCtr="1">
                    <a:solidFill>
                      <a:srgbClr val="00FF00"/>
                    </a:solidFill>
                  </a:tcPr>
                </a:tc>
                <a:tc>
                  <a:txBody>
                    <a:bodyPr/>
                    <a:lstStyle/>
                    <a:p>
                      <a:pPr algn="ctr">
                        <a:lnSpc>
                          <a:spcPct val="150000"/>
                        </a:lnSpc>
                        <a:spcAft>
                          <a:spcPts val="0"/>
                        </a:spcAft>
                        <a:buNone/>
                      </a:pPr>
                      <a:r>
                        <a:rPr lang="zh-CN" altLang="en-US" sz="1200" i="0" dirty="0">
                          <a:solidFill>
                            <a:srgbClr val="0070C0"/>
                          </a:solidFill>
                          <a:sym typeface="Arial" panose="020B0604020202020204" pitchFamily="34" charset="0"/>
                        </a:rPr>
                        <a:t>无</a:t>
                      </a:r>
                    </a:p>
                  </a:txBody>
                  <a:tcPr marL="99060" marR="99060" marT="0" marB="0" anchor="ctr" anchorCtr="1"/>
                </a:tc>
                <a:tc>
                  <a:txBody>
                    <a:bodyPr/>
                    <a:lstStyle/>
                    <a:p>
                      <a:pPr algn="ctr">
                        <a:lnSpc>
                          <a:spcPct val="150000"/>
                        </a:lnSpc>
                        <a:spcAft>
                          <a:spcPts val="0"/>
                        </a:spcAft>
                        <a:buNone/>
                      </a:pPr>
                      <a:r>
                        <a:rPr lang="en-US" altLang="zh-CN" sz="1200" b="0" kern="100" dirty="0">
                          <a:effectLst/>
                          <a:latin typeface="微软雅黑" panose="020B0503020204020204" pitchFamily="34" charset="-122"/>
                          <a:ea typeface="微软雅黑" panose="020B0503020204020204" pitchFamily="34" charset="-122"/>
                        </a:rPr>
                        <a:t>0</a:t>
                      </a:r>
                    </a:p>
                  </a:txBody>
                  <a:tcPr marL="99060" marR="99060" marT="0" marB="0" anchor="ctr" anchorCtr="1"/>
                </a:tc>
                <a:extLst>
                  <a:ext uri="{0D108BD9-81ED-4DB2-BD59-A6C34878D82A}">
                    <a16:rowId xmlns:a16="http://schemas.microsoft.com/office/drawing/2014/main" val="10003"/>
                  </a:ext>
                </a:extLst>
              </a:tr>
              <a:tr h="362585">
                <a:tc>
                  <a:txBody>
                    <a:bodyPr/>
                    <a:lstStyle/>
                    <a:p>
                      <a:pPr algn="ctr">
                        <a:lnSpc>
                          <a:spcPct val="150000"/>
                        </a:lnSpc>
                        <a:spcAft>
                          <a:spcPts val="0"/>
                        </a:spcAft>
                      </a:pP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rPr>
                        <a:t> source</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光源/華周/HRS-70R60</a:t>
                      </a:r>
                    </a:p>
                  </a:txBody>
                  <a:tcPr marL="99060" marR="99060" marT="0" marB="0" anchor="ctr" anchorCtr="1"/>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b="0" kern="100" dirty="0">
                          <a:effectLst/>
                          <a:latin typeface="微软雅黑" panose="020B0503020204020204" pitchFamily="34" charset="-122"/>
                          <a:ea typeface="微软雅黑" panose="020B0503020204020204" pitchFamily="34" charset="-122"/>
                        </a:rPr>
                        <a:t>1</a:t>
                      </a:r>
                      <a:endParaRPr lang="zh-CN" alt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4"/>
                  </a:ext>
                </a:extLst>
              </a:tr>
              <a:tr h="390525">
                <a:tc>
                  <a:txBody>
                    <a:bodyPr/>
                    <a:lstStyle/>
                    <a:p>
                      <a:pPr algn="ctr">
                        <a:lnSpc>
                          <a:spcPct val="150000"/>
                        </a:lnSpc>
                        <a:spcAft>
                          <a:spcPts val="0"/>
                        </a:spcAft>
                      </a:pP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cs typeface="+mn-cs"/>
                        </a:rPr>
                        <a:t> source </a:t>
                      </a:r>
                      <a:r>
                        <a:rPr lang="en-US" altLang="zh-CN" sz="1200" b="1" kern="100" dirty="0">
                          <a:solidFill>
                            <a:schemeClr val="tx1"/>
                          </a:solidFill>
                          <a:effectLst/>
                          <a:latin typeface="微软雅黑" panose="020B0503020204020204" pitchFamily="34" charset="-122"/>
                          <a:ea typeface="微软雅黑" panose="020B0503020204020204" pitchFamily="34" charset="-122"/>
                        </a:rPr>
                        <a:t>controller</a:t>
                      </a: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DKZ2-24V-2-AC </a:t>
                      </a:r>
                      <a:endParaRPr lang="zh-CN" altLang="zh-CN" sz="1200" b="0" i="0" kern="100" dirty="0">
                        <a:solidFill>
                          <a:schemeClr val="dk1"/>
                        </a:solidFill>
                        <a:effectLst/>
                        <a:latin typeface="微软雅黑" panose="020B0503020204020204" pitchFamily="34" charset="-122"/>
                        <a:ea typeface="微软雅黑" panose="020B0503020204020204" pitchFamily="34" charset="-122"/>
                        <a:cs typeface="+mn-cs"/>
                      </a:endParaRP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5"/>
                  </a:ext>
                </a:extLst>
              </a:tr>
            </a:tbl>
          </a:graphicData>
        </a:graphic>
      </p:graphicFrame>
      <p:graphicFrame>
        <p:nvGraphicFramePr>
          <p:cNvPr id="5" name="表格 4"/>
          <p:cNvGraphicFramePr>
            <a:graphicFrameLocks noGrp="1"/>
          </p:cNvGraphicFramePr>
          <p:nvPr>
            <p:custDataLst>
              <p:tags r:id="rId2"/>
            </p:custDataLst>
          </p:nvPr>
        </p:nvGraphicFramePr>
        <p:xfrm>
          <a:off x="613333" y="3989079"/>
          <a:ext cx="5904170" cy="2483485"/>
        </p:xfrm>
        <a:graphic>
          <a:graphicData uri="http://schemas.openxmlformats.org/drawingml/2006/table">
            <a:tbl>
              <a:tblPr firstRow="1" firstCol="1" bandRow="1">
                <a:tableStyleId>{5C22544A-7EE6-4342-B048-85BDC9FD1C3A}</a:tableStyleId>
              </a:tblPr>
              <a:tblGrid>
                <a:gridCol w="3215898">
                  <a:extLst>
                    <a:ext uri="{9D8B030D-6E8A-4147-A177-3AD203B41FA5}">
                      <a16:colId xmlns:a16="http://schemas.microsoft.com/office/drawing/2014/main" val="20000"/>
                    </a:ext>
                  </a:extLst>
                </a:gridCol>
                <a:gridCol w="2688272">
                  <a:extLst>
                    <a:ext uri="{9D8B030D-6E8A-4147-A177-3AD203B41FA5}">
                      <a16:colId xmlns:a16="http://schemas.microsoft.com/office/drawing/2014/main" val="20001"/>
                    </a:ext>
                  </a:extLst>
                </a:gridCol>
              </a:tblGrid>
              <a:tr h="359410">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mounting orientation</a:t>
                      </a: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buNone/>
                      </a:pPr>
                      <a:r>
                        <a:rPr lang="en-US" altLang="zh-CN" sz="1200" b="0" i="0" dirty="0">
                          <a:solidFill>
                            <a:srgbClr val="0070C0"/>
                          </a:solidFill>
                          <a:sym typeface="Arial" panose="020B0604020202020204" pitchFamily="34" charset="0"/>
                        </a:rPr>
                        <a:t>back to the human machine</a:t>
                      </a:r>
                      <a:r>
                        <a:rPr lang="zh-CN" altLang="en-US" sz="1200" b="0" i="0" dirty="0">
                          <a:solidFill>
                            <a:srgbClr val="0070C0"/>
                          </a:solidFill>
                          <a:sym typeface="Arial" panose="020B0604020202020204" pitchFamily="34" charset="0"/>
                        </a:rPr>
                        <a:t> </a:t>
                      </a:r>
                      <a:r>
                        <a:rPr lang="en-US" altLang="zh-CN" sz="1200" b="0" i="0" dirty="0">
                          <a:solidFill>
                            <a:srgbClr val="0070C0"/>
                          </a:solidFill>
                          <a:sym typeface="Arial" panose="020B0604020202020204" pitchFamily="34" charset="0"/>
                        </a:rPr>
                        <a:t>↑</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0"/>
                  </a:ext>
                </a:extLst>
              </a:tr>
              <a:tr h="35941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distance between </a:t>
                      </a:r>
                    </a:p>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camera surface → the product</a:t>
                      </a: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pPr>
                      <a:r>
                        <a:rPr lang="en-US" sz="1200" b="0" i="0" dirty="0">
                          <a:solidFill>
                            <a:srgbClr val="0070C0"/>
                          </a:solidFill>
                          <a:sym typeface="Arial" panose="020B0604020202020204" pitchFamily="34" charset="0"/>
                        </a:rPr>
                        <a:t>135±10 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1"/>
                  </a:ext>
                </a:extLst>
              </a:tr>
              <a:tr h="34036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distance between </a:t>
                      </a:r>
                    </a:p>
                    <a:p>
                      <a:pPr marL="0" marR="0" lvl="0" indent="0" algn="ctr" defTabSz="914400" rtl="0" eaLnBrk="1" fontAlgn="auto" latinLnBrk="0" hangingPunct="1">
                        <a:lnSpc>
                          <a:spcPct val="150000"/>
                        </a:lnSpc>
                        <a:spcBef>
                          <a:spcPts val="0"/>
                        </a:spcBef>
                        <a:spcAft>
                          <a:spcPts val="0"/>
                        </a:spcAft>
                        <a:buClrTx/>
                        <a:buSzTx/>
                        <a:buFontTx/>
                        <a:buNone/>
                        <a:defRPr/>
                      </a:pPr>
                      <a:r>
                        <a:rPr lang="en-US" altLang="zh-CN" sz="1200" b="1" kern="100" dirty="0">
                          <a:solidFill>
                            <a:schemeClr val="tx1"/>
                          </a:solidFill>
                          <a:effectLst/>
                          <a:latin typeface="微软雅黑" panose="020B0503020204020204" pitchFamily="34" charset="-122"/>
                          <a:ea typeface="微软雅黑" panose="020B0503020204020204" pitchFamily="34" charset="-122"/>
                        </a:rPr>
                        <a:t>the camera surface → </a:t>
                      </a: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rPr>
                        <a:t> source</a:t>
                      </a:r>
                      <a:endParaRPr lang="zh-CN" alt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pPr>
                      <a:r>
                        <a:rPr lang="en-US" sz="1200" i="0" dirty="0">
                          <a:solidFill>
                            <a:srgbClr val="0070C0"/>
                          </a:solidFill>
                          <a:sym typeface="Arial" panose="020B0604020202020204" pitchFamily="34" charset="0"/>
                        </a:rPr>
                        <a:t>30</a:t>
                      </a:r>
                      <a:r>
                        <a:rPr lang="zh-CN" altLang="en-US" sz="1200" i="0" dirty="0">
                          <a:solidFill>
                            <a:srgbClr val="0070C0"/>
                          </a:solidFill>
                          <a:sym typeface="Arial" panose="020B0604020202020204" pitchFamily="34" charset="0"/>
                        </a:rPr>
                        <a:t>±</a:t>
                      </a:r>
                      <a:r>
                        <a:rPr lang="en-US" altLang="zh-CN" sz="1200" i="0" dirty="0">
                          <a:solidFill>
                            <a:srgbClr val="0070C0"/>
                          </a:solidFill>
                          <a:sym typeface="Arial" panose="020B0604020202020204" pitchFamily="34" charset="0"/>
                        </a:rPr>
                        <a:t>10mm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2"/>
                  </a:ext>
                </a:extLst>
              </a:tr>
              <a:tr h="342265">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visual field</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56*42mm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3"/>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Image pixel size</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2592*1944</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4"/>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single-pixel accuracy</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0.021</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Grp="1" noRot="1" noChangeAspect="1" noMove="1" noResize="1" noEditPoints="1" noAdjustHandles="1" noChangeArrowheads="1" noChangeShapeType="1" noCrop="1"/>
          </p:cNvPicPr>
          <p:nvPr/>
        </p:nvPicPr>
        <p:blipFill>
          <a:blip r:embed="rId5">
            <a:extLst>
              <a:ext uri="{BEBA8EAE-BF5A-486C-A8C5-ECC9F3942E4B}">
                <a14:imgProps xmlns:a14="http://schemas.microsoft.com/office/drawing/2010/main">
                  <a14:imgLayer r:embed="rId6">
                    <a14:imgEffect>
                      <a14:brightnessContrast bright="20000"/>
                    </a14:imgEffect>
                  </a14:imgLayer>
                </a14:imgProps>
              </a:ext>
            </a:extLst>
          </a:blip>
          <a:stretch>
            <a:fillRect/>
          </a:stretch>
        </p:blipFill>
        <p:spPr>
          <a:xfrm>
            <a:off x="9009977" y="1548186"/>
            <a:ext cx="1851270" cy="4855789"/>
          </a:xfrm>
          <a:prstGeom prst="rect">
            <a:avLst/>
          </a:prstGeom>
        </p:spPr>
      </p:pic>
      <p:sp>
        <p:nvSpPr>
          <p:cNvPr id="66"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2800" dirty="0">
                <a:sym typeface="+mn-ea"/>
              </a:rPr>
              <a:t>The key components</a:t>
            </a:r>
            <a:endParaRPr lang="zh-CN" altLang="en-US" sz="2800" dirty="0"/>
          </a:p>
        </p:txBody>
      </p:sp>
      <p:sp>
        <p:nvSpPr>
          <p:cNvPr id="21" name="文本框 20"/>
          <p:cNvSpPr txBox="1"/>
          <p:nvPr/>
        </p:nvSpPr>
        <p:spPr>
          <a:xfrm>
            <a:off x="301059" y="768252"/>
            <a:ext cx="3337529" cy="368300"/>
          </a:xfrm>
          <a:prstGeom prst="rect">
            <a:avLst/>
          </a:prstGeom>
        </p:spPr>
        <p:txBody>
          <a:bodyPr wrap="square" rtlCol="0">
            <a:spAutoFit/>
          </a:bodyPr>
          <a:lstStyle>
            <a:defPPr>
              <a:defRPr lang="zh-CN"/>
            </a:defPPr>
            <a:lvl1pPr>
              <a:defRPr sz="1600">
                <a:ea typeface="微软雅黑" panose="020B0503020204020204" pitchFamily="34" charset="-122"/>
              </a:defRPr>
            </a:lvl1pPr>
          </a:lstStyle>
          <a:p>
            <a:r>
              <a:rPr lang="en-US" altLang="zh-CN" sz="1800" b="1" dirty="0">
                <a:sym typeface="+mn-ea"/>
              </a:rPr>
              <a:t>5</a:t>
            </a:r>
            <a:r>
              <a:rPr lang="zh-CN" altLang="en-US" sz="1800" b="1" dirty="0">
                <a:sym typeface="+mn-ea"/>
              </a:rPr>
              <a:t>.</a:t>
            </a:r>
            <a:r>
              <a:rPr lang="en-US" altLang="zh-CN" sz="1800" b="1" dirty="0">
                <a:sym typeface="+mn-ea"/>
              </a:rPr>
              <a:t>4</a:t>
            </a:r>
            <a:r>
              <a:rPr lang="zh-CN" altLang="en-US" sz="1800" b="1" dirty="0">
                <a:sym typeface="+mn-ea"/>
              </a:rPr>
              <a:t> Lower CCD </a:t>
            </a:r>
          </a:p>
        </p:txBody>
      </p:sp>
      <p:sp>
        <p:nvSpPr>
          <p:cNvPr id="11267" name="灯片编号占位符 3"/>
          <p:cNvSpPr txBox="1">
            <a:spLocks noGrp="1"/>
          </p:cNvSpPr>
          <p:nvPr>
            <p:ph type="sldNum" sz="quarter" idx="4294967295"/>
          </p:nvPr>
        </p:nvSpPr>
        <p:spPr>
          <a:xfrm>
            <a:off x="9250144" y="6205464"/>
            <a:ext cx="2743200" cy="365125"/>
          </a:xfrm>
          <a:noFill/>
          <a:ln>
            <a:noFill/>
          </a:ln>
        </p:spPr>
        <p:txBody>
          <a:bodyPr lIns="108850" tIns="54425" rIns="108850" bIns="54425" anchor="ctr"/>
          <a:lstStyle>
            <a:lvl1pPr marL="0" lvl="0" indent="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defRPr>
            </a:lvl1pPr>
            <a:lvl2pPr marL="542925" lvl="1" indent="-8572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2pPr>
            <a:lvl3pPr marL="1087755" lvl="2" indent="-173355"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3pPr>
            <a:lvl4pPr marL="1631950" lvl="3" indent="-26035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4pPr>
            <a:lvl5pPr marL="2176780" lvl="4" indent="-347980" algn="l" defTabSz="1087755" rtl="0" eaLnBrk="0" fontAlgn="base" latinLnBrk="0" hangingPunct="0">
              <a:lnSpc>
                <a:spcPct val="100000"/>
              </a:lnSpc>
              <a:spcBef>
                <a:spcPct val="0"/>
              </a:spcBef>
              <a:spcAft>
                <a:spcPct val="0"/>
              </a:spcAft>
              <a:buNone/>
              <a:defRPr sz="2100" b="0" i="0" u="none" kern="1200" baseline="0">
                <a:solidFill>
                  <a:schemeClr val="tx1"/>
                </a:solidFill>
                <a:latin typeface="Calibri" panose="020F0502020204030204" charset="0"/>
                <a:ea typeface="宋体" panose="02010600030101010101" pitchFamily="2" charset="-122"/>
                <a:cs typeface="+mn-cs"/>
              </a:defRPr>
            </a:lvl5pPr>
          </a:lstStyle>
          <a:p>
            <a:pPr lvl="0" algn="r" eaLnBrk="1" hangingPunct="1"/>
            <a:fld id="{9A0DB2DC-4C9A-4742-B13C-FB6460FD3503}" type="slidenum">
              <a:rPr lang="en-US" altLang="en-US" sz="1400" dirty="0">
                <a:solidFill>
                  <a:srgbClr val="898989"/>
                </a:solidFill>
                <a:latin typeface="Arial" panose="020B0604020202020204" pitchFamily="34" charset="0"/>
                <a:ea typeface="微软雅黑" panose="020B0503020204020204" pitchFamily="34" charset="-122"/>
              </a:rPr>
              <a:t>17</a:t>
            </a:fld>
            <a:endParaRPr lang="en-US" altLang="en-US" sz="1400" dirty="0">
              <a:solidFill>
                <a:srgbClr val="898989"/>
              </a:solidFill>
              <a:latin typeface="Arial" panose="020B0604020202020204" pitchFamily="34" charset="0"/>
              <a:ea typeface="微软雅黑" panose="020B0503020204020204" pitchFamily="34" charset="-122"/>
            </a:endParaRPr>
          </a:p>
        </p:txBody>
      </p:sp>
      <p:sp>
        <p:nvSpPr>
          <p:cNvPr id="6"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pSp>
        <p:nvGrpSpPr>
          <p:cNvPr id="12" name="组合 11"/>
          <p:cNvGrpSpPr/>
          <p:nvPr/>
        </p:nvGrpSpPr>
        <p:grpSpPr>
          <a:xfrm>
            <a:off x="6700715" y="1042402"/>
            <a:ext cx="4770981" cy="5509358"/>
            <a:chOff x="6506831" y="657225"/>
            <a:chExt cx="5123194" cy="5716143"/>
          </a:xfrm>
        </p:grpSpPr>
        <p:sp>
          <p:nvSpPr>
            <p:cNvPr id="15" name="文本框 12"/>
            <p:cNvSpPr txBox="1"/>
            <p:nvPr/>
          </p:nvSpPr>
          <p:spPr>
            <a:xfrm>
              <a:off x="6790055" y="711200"/>
              <a:ext cx="1230141" cy="383194"/>
            </a:xfrm>
            <a:prstGeom prst="rect">
              <a:avLst/>
            </a:prstGeom>
            <a:noFill/>
          </p:spPr>
          <p:txBody>
            <a:bodyPr wrap="none" rtlCol="0" anchor="t">
              <a:spAutoFit/>
            </a:bodyPr>
            <a:lstStyle/>
            <a:p>
              <a:pPr algn="l"/>
              <a:r>
                <a:rPr lang="zh-CN" altLang="en-US" b="1" dirty="0">
                  <a:latin typeface="微软雅黑" panose="020B0503020204020204" pitchFamily="34" charset="-122"/>
                  <a:ea typeface="微软雅黑" panose="020B0503020204020204" pitchFamily="34" charset="-122"/>
                </a:rPr>
                <a:t>layout：</a:t>
              </a:r>
            </a:p>
          </p:txBody>
        </p:sp>
        <p:cxnSp>
          <p:nvCxnSpPr>
            <p:cNvPr id="17" name="直接连接符 24"/>
            <p:cNvCxnSpPr/>
            <p:nvPr/>
          </p:nvCxnSpPr>
          <p:spPr>
            <a:xfrm flipH="1">
              <a:off x="9726181" y="4051295"/>
              <a:ext cx="96805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接连接符 25"/>
            <p:cNvCxnSpPr/>
            <p:nvPr/>
          </p:nvCxnSpPr>
          <p:spPr>
            <a:xfrm flipH="1">
              <a:off x="9729652" y="5102541"/>
              <a:ext cx="151117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箭头连接符 28"/>
            <p:cNvCxnSpPr/>
            <p:nvPr/>
          </p:nvCxnSpPr>
          <p:spPr>
            <a:xfrm>
              <a:off x="10959022" y="3695383"/>
              <a:ext cx="0" cy="1407158"/>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2" name="文本框 19"/>
            <p:cNvSpPr txBox="1"/>
            <p:nvPr/>
          </p:nvSpPr>
          <p:spPr>
            <a:xfrm rot="5400000">
              <a:off x="10650657" y="4326900"/>
              <a:ext cx="913412" cy="264398"/>
            </a:xfrm>
            <a:prstGeom prst="rect">
              <a:avLst/>
            </a:prstGeom>
            <a:noFill/>
          </p:spPr>
          <p:txBody>
            <a:bodyPr wrap="none" rtlCol="0">
              <a:spAutoFit/>
            </a:bodyPr>
            <a:lstStyle/>
            <a:p>
              <a:r>
                <a:rPr lang="en-US" altLang="zh-CN" sz="1000" dirty="0">
                  <a:solidFill>
                    <a:srgbClr val="FF0000"/>
                  </a:solidFill>
                </a:rPr>
                <a:t>195</a:t>
              </a:r>
              <a:r>
                <a:rPr lang="zh-CN" altLang="en-US" sz="1000" dirty="0">
                  <a:solidFill>
                    <a:srgbClr val="FF0000"/>
                  </a:solidFill>
                </a:rPr>
                <a:t>±</a:t>
              </a:r>
              <a:r>
                <a:rPr lang="en-US" altLang="zh-CN" sz="1000" dirty="0">
                  <a:solidFill>
                    <a:srgbClr val="FF0000"/>
                  </a:solidFill>
                </a:rPr>
                <a:t>10mm</a:t>
              </a:r>
            </a:p>
          </p:txBody>
        </p:sp>
        <p:cxnSp>
          <p:nvCxnSpPr>
            <p:cNvPr id="24" name="直接连接符 20"/>
            <p:cNvCxnSpPr/>
            <p:nvPr/>
          </p:nvCxnSpPr>
          <p:spPr>
            <a:xfrm flipH="1">
              <a:off x="9610794" y="3695889"/>
              <a:ext cx="152038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箭头连接符 22"/>
            <p:cNvCxnSpPr/>
            <p:nvPr/>
          </p:nvCxnSpPr>
          <p:spPr>
            <a:xfrm>
              <a:off x="10496700" y="4051295"/>
              <a:ext cx="0" cy="1051246"/>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9" name="文本框 23"/>
            <p:cNvSpPr txBox="1"/>
            <p:nvPr/>
          </p:nvSpPr>
          <p:spPr>
            <a:xfrm rot="5400000">
              <a:off x="10232088" y="4437337"/>
              <a:ext cx="840233" cy="264398"/>
            </a:xfrm>
            <a:prstGeom prst="rect">
              <a:avLst/>
            </a:prstGeom>
            <a:noFill/>
          </p:spPr>
          <p:txBody>
            <a:bodyPr wrap="none" rtlCol="0">
              <a:spAutoFit/>
            </a:bodyPr>
            <a:lstStyle/>
            <a:p>
              <a:r>
                <a:rPr lang="en-US" altLang="zh-CN" sz="1000" dirty="0">
                  <a:solidFill>
                    <a:srgbClr val="FF0000"/>
                  </a:solidFill>
                </a:rPr>
                <a:t>30</a:t>
              </a:r>
              <a:r>
                <a:rPr lang="zh-CN" altLang="en-US" sz="1000" dirty="0">
                  <a:solidFill>
                    <a:srgbClr val="FF0000"/>
                  </a:solidFill>
                </a:rPr>
                <a:t>±</a:t>
              </a:r>
              <a:r>
                <a:rPr lang="en-US" altLang="zh-CN" sz="1000" dirty="0">
                  <a:solidFill>
                    <a:srgbClr val="FF0000"/>
                  </a:solidFill>
                </a:rPr>
                <a:t>10mm</a:t>
              </a:r>
            </a:p>
          </p:txBody>
        </p:sp>
        <p:grpSp>
          <p:nvGrpSpPr>
            <p:cNvPr id="30" name="组合 35"/>
            <p:cNvGrpSpPr/>
            <p:nvPr/>
          </p:nvGrpSpPr>
          <p:grpSpPr>
            <a:xfrm>
              <a:off x="8568692" y="5240655"/>
              <a:ext cx="1102360" cy="95885"/>
              <a:chOff x="6775" y="3270"/>
              <a:chExt cx="1736" cy="151"/>
            </a:xfrm>
          </p:grpSpPr>
          <p:sp>
            <p:nvSpPr>
              <p:cNvPr id="50" name="椭圆 26"/>
              <p:cNvSpPr>
                <a:spLocks noChangeAspect="1"/>
              </p:cNvSpPr>
              <p:nvPr/>
            </p:nvSpPr>
            <p:spPr>
              <a:xfrm>
                <a:off x="8360"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肘形连接符 27"/>
              <p:cNvCxnSpPr>
                <a:stCxn id="32" idx="3"/>
              </p:cNvCxnSpPr>
              <p:nvPr/>
            </p:nvCxnSpPr>
            <p:spPr>
              <a:xfrm>
                <a:off x="6775" y="3352"/>
                <a:ext cx="1525" cy="16"/>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32" name="文本框 30"/>
            <p:cNvSpPr txBox="1"/>
            <p:nvPr/>
          </p:nvSpPr>
          <p:spPr>
            <a:xfrm>
              <a:off x="6815875" y="5148897"/>
              <a:ext cx="1752672" cy="287396"/>
            </a:xfrm>
            <a:prstGeom prst="rect">
              <a:avLst/>
            </a:prstGeom>
            <a:noFill/>
          </p:spPr>
          <p:txBody>
            <a:bodyPr wrap="none" rtlCol="0">
              <a:spAutoFit/>
            </a:bodyPr>
            <a:lstStyle/>
            <a:p>
              <a:pPr algn="ctr"/>
              <a:r>
                <a:rPr lang="en-US" altLang="zh-CN" sz="1200" kern="100" dirty="0">
                  <a:latin typeface="等线" panose="02010600030101010101" charset="-122"/>
                </a:rPr>
                <a:t>lens</a:t>
              </a:r>
              <a:r>
                <a:rPr lang="zh-CN" altLang="en-US" sz="1200" dirty="0">
                  <a:latin typeface="等线" panose="02010600030101010101" charset="-122"/>
                  <a:ea typeface="等线" panose="02010600030101010101" charset="-122"/>
                </a:rPr>
                <a:t>：</a:t>
              </a:r>
              <a:r>
                <a:rPr lang="en-US" altLang="zh-CN" sz="1200" kern="100" dirty="0">
                  <a:latin typeface="等线" panose="02010600030101010101" charset="-122"/>
                  <a:sym typeface="+mn-ea"/>
                </a:rPr>
                <a:t>FL-CC3516-2M</a:t>
              </a:r>
            </a:p>
          </p:txBody>
        </p:sp>
        <p:grpSp>
          <p:nvGrpSpPr>
            <p:cNvPr id="34" name="组合 15"/>
            <p:cNvGrpSpPr/>
            <p:nvPr/>
          </p:nvGrpSpPr>
          <p:grpSpPr>
            <a:xfrm>
              <a:off x="6606984" y="5644787"/>
              <a:ext cx="3105150" cy="287655"/>
              <a:chOff x="10760" y="4309"/>
              <a:chExt cx="4890" cy="453"/>
            </a:xfrm>
          </p:grpSpPr>
          <p:grpSp>
            <p:nvGrpSpPr>
              <p:cNvPr id="46" name="组合 31"/>
              <p:cNvGrpSpPr/>
              <p:nvPr/>
            </p:nvGrpSpPr>
            <p:grpSpPr>
              <a:xfrm>
                <a:off x="13984" y="4460"/>
                <a:ext cx="1666" cy="151"/>
                <a:chOff x="7189" y="3270"/>
                <a:chExt cx="1666" cy="151"/>
              </a:xfrm>
            </p:grpSpPr>
            <p:sp>
              <p:nvSpPr>
                <p:cNvPr id="48" name="椭圆 37"/>
                <p:cNvSpPr>
                  <a:spLocks noChangeAspect="1"/>
                </p:cNvSpPr>
                <p:nvPr/>
              </p:nvSpPr>
              <p:spPr>
                <a:xfrm>
                  <a:off x="8704" y="3270"/>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肘形连接符 39"/>
                <p:cNvCxnSpPr>
                  <a:stCxn id="47" idx="3"/>
                  <a:endCxn id="48" idx="2"/>
                </p:cNvCxnSpPr>
                <p:nvPr/>
              </p:nvCxnSpPr>
              <p:spPr>
                <a:xfrm flipV="1">
                  <a:off x="7189" y="3345"/>
                  <a:ext cx="1515" cy="0"/>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47" name="文本框 40"/>
              <p:cNvSpPr txBox="1"/>
              <p:nvPr/>
            </p:nvSpPr>
            <p:spPr>
              <a:xfrm>
                <a:off x="10760" y="4309"/>
                <a:ext cx="3224" cy="453"/>
              </a:xfrm>
              <a:prstGeom prst="rect">
                <a:avLst/>
              </a:prstGeom>
              <a:noFill/>
            </p:spPr>
            <p:txBody>
              <a:bodyPr wrap="none" rtlCol="0">
                <a:spAutoFit/>
              </a:bodyPr>
              <a:lstStyle/>
              <a:p>
                <a:pPr algn="ctr"/>
                <a:r>
                  <a:rPr lang="en-US" altLang="zh-CN" sz="1200" dirty="0">
                    <a:latin typeface="等线" panose="02010600030101010101" charset="-122"/>
                    <a:ea typeface="等线" panose="02010600030101010101" charset="-122"/>
                    <a:cs typeface="等线" panose="02010600030101010101" charset="-122"/>
                  </a:rPr>
                  <a:t>camera</a:t>
                </a:r>
                <a:r>
                  <a:rPr lang="zh-CN" altLang="en-US" sz="1200" dirty="0">
                    <a:latin typeface="等线" panose="02010600030101010101" charset="-122"/>
                    <a:ea typeface="等线" panose="02010600030101010101" charset="-122"/>
                    <a:cs typeface="等线" panose="02010600030101010101" charset="-122"/>
                  </a:rPr>
                  <a:t>：</a:t>
                </a:r>
                <a:r>
                  <a:rPr lang="en-US" altLang="zh-CN" sz="1200" dirty="0">
                    <a:latin typeface="等线" panose="02010600030101010101" charset="-122"/>
                    <a:cs typeface="等线" panose="02010600030101010101" charset="-122"/>
                    <a:sym typeface="+mn-ea"/>
                  </a:rPr>
                  <a:t>FM-GE500-22M</a:t>
                </a:r>
              </a:p>
            </p:txBody>
          </p:sp>
        </p:grpSp>
        <p:grpSp>
          <p:nvGrpSpPr>
            <p:cNvPr id="35" name="组合 50"/>
            <p:cNvGrpSpPr/>
            <p:nvPr/>
          </p:nvGrpSpPr>
          <p:grpSpPr>
            <a:xfrm>
              <a:off x="8640127" y="4126547"/>
              <a:ext cx="1012190" cy="95885"/>
              <a:chOff x="7104" y="3063"/>
              <a:chExt cx="1594" cy="151"/>
            </a:xfrm>
          </p:grpSpPr>
          <p:sp>
            <p:nvSpPr>
              <p:cNvPr id="44" name="椭圆 51"/>
              <p:cNvSpPr>
                <a:spLocks noChangeAspect="1"/>
              </p:cNvSpPr>
              <p:nvPr/>
            </p:nvSpPr>
            <p:spPr>
              <a:xfrm>
                <a:off x="8547" y="3063"/>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肘形连接符 52"/>
              <p:cNvCxnSpPr>
                <a:stCxn id="36" idx="3"/>
              </p:cNvCxnSpPr>
              <p:nvPr/>
            </p:nvCxnSpPr>
            <p:spPr>
              <a:xfrm flipV="1">
                <a:off x="7104" y="3144"/>
                <a:ext cx="1413" cy="0"/>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36" name="文本框 53"/>
            <p:cNvSpPr txBox="1"/>
            <p:nvPr/>
          </p:nvSpPr>
          <p:spPr>
            <a:xfrm>
              <a:off x="6506831" y="4034532"/>
              <a:ext cx="2133089" cy="287396"/>
            </a:xfrm>
            <a:prstGeom prst="rect">
              <a:avLst/>
            </a:prstGeom>
            <a:noFill/>
          </p:spPr>
          <p:txBody>
            <a:bodyPr wrap="none" rtlCol="0">
              <a:spAutoFit/>
            </a:bodyPr>
            <a:lstStyle/>
            <a:p>
              <a:pPr algn="ctr"/>
              <a:r>
                <a:rPr lang="zh-CN" altLang="en-US" sz="1200" dirty="0">
                  <a:latin typeface="等线" panose="02010600030101010101" charset="-122"/>
                  <a:ea typeface="等线" panose="02010600030101010101" charset="-122"/>
                </a:rPr>
                <a:t>optical source：</a:t>
              </a:r>
              <a:r>
                <a:rPr lang="en-US" altLang="zh-CN" sz="1200" kern="100" dirty="0">
                  <a:latin typeface="等线" panose="02010600030101010101" charset="-122"/>
                  <a:sym typeface="+mn-ea"/>
                </a:rPr>
                <a:t>LRS-90R30</a:t>
              </a:r>
            </a:p>
          </p:txBody>
        </p:sp>
        <p:grpSp>
          <p:nvGrpSpPr>
            <p:cNvPr id="37" name="组合 16"/>
            <p:cNvGrpSpPr/>
            <p:nvPr/>
          </p:nvGrpSpPr>
          <p:grpSpPr>
            <a:xfrm>
              <a:off x="7092950" y="3509010"/>
              <a:ext cx="2633345" cy="287655"/>
              <a:chOff x="11745" y="5903"/>
              <a:chExt cx="4147" cy="453"/>
            </a:xfrm>
          </p:grpSpPr>
          <p:grpSp>
            <p:nvGrpSpPr>
              <p:cNvPr id="39" name="组合 55"/>
              <p:cNvGrpSpPr/>
              <p:nvPr/>
            </p:nvGrpSpPr>
            <p:grpSpPr>
              <a:xfrm>
                <a:off x="13302" y="6054"/>
                <a:ext cx="2590" cy="151"/>
                <a:chOff x="6105" y="3203"/>
                <a:chExt cx="2590" cy="151"/>
              </a:xfrm>
            </p:grpSpPr>
            <p:sp>
              <p:nvSpPr>
                <p:cNvPr id="41" name="椭圆 56"/>
                <p:cNvSpPr>
                  <a:spLocks noChangeAspect="1"/>
                </p:cNvSpPr>
                <p:nvPr/>
              </p:nvSpPr>
              <p:spPr>
                <a:xfrm>
                  <a:off x="8544" y="3203"/>
                  <a:ext cx="151" cy="151"/>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肘形连接符 57"/>
                <p:cNvCxnSpPr>
                  <a:stCxn id="40" idx="3"/>
                </p:cNvCxnSpPr>
                <p:nvPr/>
              </p:nvCxnSpPr>
              <p:spPr>
                <a:xfrm flipV="1">
                  <a:off x="6105" y="3264"/>
                  <a:ext cx="2415" cy="15"/>
                </a:xfrm>
                <a:prstGeom prst="bentConnector3">
                  <a:avLst>
                    <a:gd name="adj1" fmla="val 50000"/>
                  </a:avLst>
                </a:prstGeom>
                <a:solidFill>
                  <a:srgbClr val="FF0000"/>
                </a:solidFill>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sp>
            <p:nvSpPr>
              <p:cNvPr id="40" name="文本框 58"/>
              <p:cNvSpPr txBox="1"/>
              <p:nvPr/>
            </p:nvSpPr>
            <p:spPr>
              <a:xfrm>
                <a:off x="11745" y="5903"/>
                <a:ext cx="1557" cy="453"/>
              </a:xfrm>
              <a:prstGeom prst="rect">
                <a:avLst/>
              </a:prstGeom>
              <a:noFill/>
            </p:spPr>
            <p:txBody>
              <a:bodyPr wrap="none" rtlCol="0">
                <a:spAutoFit/>
              </a:bodyPr>
              <a:lstStyle/>
              <a:p>
                <a:pPr algn="ctr"/>
                <a:r>
                  <a:rPr lang="zh-CN" altLang="en-US" sz="1200" dirty="0">
                    <a:latin typeface="等线" panose="02010600030101010101" charset="-122"/>
                    <a:ea typeface="等线" panose="02010600030101010101" charset="-122"/>
                  </a:rPr>
                  <a:t>ingredients</a:t>
                </a:r>
              </a:p>
            </p:txBody>
          </p:sp>
        </p:grpSp>
        <p:sp>
          <p:nvSpPr>
            <p:cNvPr id="38" name="圆角矩形 72"/>
            <p:cNvSpPr/>
            <p:nvPr/>
          </p:nvSpPr>
          <p:spPr>
            <a:xfrm>
              <a:off x="6534150" y="657225"/>
              <a:ext cx="5095875" cy="5716143"/>
            </a:xfrm>
            <a:prstGeom prst="roundRect">
              <a:avLst>
                <a:gd name="adj" fmla="val 6205"/>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5" name="表格 4"/>
          <p:cNvGraphicFramePr>
            <a:graphicFrameLocks noGrp="1"/>
          </p:cNvGraphicFramePr>
          <p:nvPr>
            <p:custDataLst>
              <p:tags r:id="rId1"/>
            </p:custDataLst>
          </p:nvPr>
        </p:nvGraphicFramePr>
        <p:xfrm>
          <a:off x="773806" y="1189878"/>
          <a:ext cx="5430702" cy="2477135"/>
        </p:xfrm>
        <a:graphic>
          <a:graphicData uri="http://schemas.openxmlformats.org/drawingml/2006/table">
            <a:tbl>
              <a:tblPr firstRow="1" firstCol="1" bandRow="1">
                <a:tableStyleId>{5C22544A-7EE6-4342-B048-85BDC9FD1C3A}</a:tableStyleId>
              </a:tblPr>
              <a:tblGrid>
                <a:gridCol w="1850124">
                  <a:extLst>
                    <a:ext uri="{9D8B030D-6E8A-4147-A177-3AD203B41FA5}">
                      <a16:colId xmlns:a16="http://schemas.microsoft.com/office/drawing/2014/main" val="20000"/>
                    </a:ext>
                  </a:extLst>
                </a:gridCol>
                <a:gridCol w="2097157">
                  <a:extLst>
                    <a:ext uri="{9D8B030D-6E8A-4147-A177-3AD203B41FA5}">
                      <a16:colId xmlns:a16="http://schemas.microsoft.com/office/drawing/2014/main" val="20001"/>
                    </a:ext>
                  </a:extLst>
                </a:gridCol>
                <a:gridCol w="1483421">
                  <a:extLst>
                    <a:ext uri="{9D8B030D-6E8A-4147-A177-3AD203B41FA5}">
                      <a16:colId xmlns:a16="http://schemas.microsoft.com/office/drawing/2014/main" val="20002"/>
                    </a:ext>
                  </a:extLst>
                </a:gridCol>
              </a:tblGrid>
              <a:tr h="385445">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Hardware name</a:t>
                      </a:r>
                      <a:endParaRPr lang="zh-CN" sz="1200" b="1" kern="100" dirty="0">
                        <a:effectLst/>
                        <a:latin typeface="微软雅黑" panose="020B0503020204020204" pitchFamily="34" charset="-122"/>
                        <a:ea typeface="微软雅黑" panose="020B0503020204020204" pitchFamily="34" charset="-122"/>
                      </a:endParaRP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Model</a:t>
                      </a:r>
                    </a:p>
                  </a:txBody>
                  <a:tcPr marL="99060" marR="99060" marT="0" marB="0" anchor="ctr">
                    <a:solidFill>
                      <a:schemeClr val="bg2">
                        <a:lumMod val="25000"/>
                      </a:schemeClr>
                    </a:solidFill>
                  </a:tcPr>
                </a:tc>
                <a:tc>
                  <a:txBody>
                    <a:bodyPr/>
                    <a:lstStyle/>
                    <a:p>
                      <a:pPr algn="ctr">
                        <a:lnSpc>
                          <a:spcPct val="150000"/>
                        </a:lnSpc>
                        <a:spcAft>
                          <a:spcPts val="0"/>
                        </a:spcAft>
                      </a:pPr>
                      <a:r>
                        <a:rPr lang="en-US" altLang="zh-CN" sz="1200" b="1" kern="100" dirty="0">
                          <a:effectLst/>
                          <a:latin typeface="微软雅黑" panose="020B0503020204020204" pitchFamily="34" charset="-122"/>
                          <a:ea typeface="微软雅黑" panose="020B0503020204020204" pitchFamily="34" charset="-122"/>
                        </a:rPr>
                        <a:t>quantity</a:t>
                      </a:r>
                    </a:p>
                  </a:txBody>
                  <a:tcPr marL="99060" marR="99060" marT="0" marB="0" anchor="ctr">
                    <a:solidFill>
                      <a:schemeClr val="bg2">
                        <a:lumMod val="25000"/>
                      </a:schemeClr>
                    </a:solidFill>
                  </a:tcPr>
                </a:tc>
                <a:extLst>
                  <a:ext uri="{0D108BD9-81ED-4DB2-BD59-A6C34878D82A}">
                    <a16:rowId xmlns:a16="http://schemas.microsoft.com/office/drawing/2014/main" val="10000"/>
                  </a:ext>
                </a:extLst>
              </a:tr>
              <a:tr h="40957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algn="ctr">
                        <a:lnSpc>
                          <a:spcPct val="150000"/>
                        </a:lnSpc>
                        <a:spcAft>
                          <a:spcPts val="0"/>
                        </a:spcAft>
                        <a:buClrTx/>
                        <a:buSzTx/>
                        <a:buFontTx/>
                      </a:pPr>
                      <a:r>
                        <a:rPr lang="en-US" altLang="zh-CN" sz="1200" dirty="0">
                          <a:solidFill>
                            <a:srgbClr val="0070C0"/>
                          </a:solidFill>
                          <a:sym typeface="Arial" panose="020B0604020202020204" pitchFamily="34" charset="0"/>
                        </a:rPr>
                        <a:t>FM-GE500-22M</a:t>
                      </a: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1"/>
                  </a:ext>
                </a:extLst>
              </a:tr>
              <a:tr h="385445">
                <a:tc>
                  <a:txBody>
                    <a:bodyPr/>
                    <a:lstStyle/>
                    <a:p>
                      <a:pPr algn="ctr">
                        <a:lnSpc>
                          <a:spcPct val="150000"/>
                        </a:lnSpc>
                        <a:spcAft>
                          <a:spcPts val="0"/>
                        </a:spcAft>
                      </a:pPr>
                      <a:r>
                        <a:rPr lang="en-US" altLang="zh-CN" sz="1200" b="1" kern="100" dirty="0">
                          <a:solidFill>
                            <a:schemeClr val="tx1"/>
                          </a:solidFill>
                          <a:effectLst/>
                          <a:latin typeface="微软雅黑" panose="020B0503020204020204" pitchFamily="34" charset="-122"/>
                          <a:ea typeface="微软雅黑" panose="020B0503020204020204" pitchFamily="34" charset="-122"/>
                        </a:rPr>
                        <a:t>lens</a:t>
                      </a:r>
                    </a:p>
                  </a:txBody>
                  <a:tcPr marL="99060" marR="99060" marT="0" marB="0" anchor="ctr" anchorCtr="1">
                    <a:solidFill>
                      <a:srgbClr val="00FF00"/>
                    </a:solidFill>
                  </a:tcPr>
                </a:tc>
                <a:tc>
                  <a:txBody>
                    <a:bodyPr/>
                    <a:lstStyle/>
                    <a:p>
                      <a:pPr algn="ctr">
                        <a:lnSpc>
                          <a:spcPct val="150000"/>
                        </a:lnSpc>
                        <a:spcAft>
                          <a:spcPts val="0"/>
                        </a:spcAft>
                      </a:pPr>
                      <a:r>
                        <a:rPr lang="en-US" altLang="zh-CN" sz="1200" dirty="0">
                          <a:solidFill>
                            <a:srgbClr val="0070C0"/>
                          </a:solidFill>
                          <a:sym typeface="Arial" panose="020B0604020202020204" pitchFamily="34" charset="0"/>
                        </a:rPr>
                        <a:t>RICOH/FL-CC3516-2M</a:t>
                      </a:r>
                      <a:endParaRPr lang="en-US" altLang="zh-CN" sz="1200" i="0" dirty="0">
                        <a:solidFill>
                          <a:srgbClr val="0070C0"/>
                        </a:solidFill>
                        <a:sym typeface="Arial" panose="020B0604020202020204" pitchFamily="34" charset="0"/>
                      </a:endParaRPr>
                    </a:p>
                  </a:txBody>
                  <a:tcPr marL="99060" marR="99060" marT="0" marB="0" anchor="ctr" anchorCtr="1"/>
                </a:tc>
                <a:tc>
                  <a:txBody>
                    <a:bodyPr/>
                    <a:lstStyle/>
                    <a:p>
                      <a:pPr algn="ctr">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2"/>
                  </a:ext>
                </a:extLst>
              </a:tr>
              <a:tr h="385445">
                <a:tc>
                  <a:txBody>
                    <a:bodyPr/>
                    <a:lstStyle/>
                    <a:p>
                      <a:pPr algn="ctr">
                        <a:lnSpc>
                          <a:spcPct val="150000"/>
                        </a:lnSpc>
                        <a:spcAft>
                          <a:spcPts val="0"/>
                        </a:spcAft>
                        <a:buNone/>
                      </a:pPr>
                      <a:r>
                        <a:rPr lang="en-US" altLang="zh-CN" sz="1200" b="1" kern="100" dirty="0">
                          <a:solidFill>
                            <a:schemeClr val="tx1"/>
                          </a:solidFill>
                          <a:effectLst/>
                          <a:latin typeface="微软雅黑" panose="020B0503020204020204" pitchFamily="34" charset="-122"/>
                          <a:ea typeface="微软雅黑" panose="020B0503020204020204" pitchFamily="34" charset="-122"/>
                          <a:cs typeface="+mn-cs"/>
                        </a:rPr>
                        <a:t>Close up adaptor</a:t>
                      </a:r>
                      <a:endParaRPr lang="zh-CN" altLang="en-US" sz="1200" b="1" kern="100" dirty="0">
                        <a:solidFill>
                          <a:schemeClr val="tx1"/>
                        </a:solidFill>
                        <a:effectLst/>
                        <a:latin typeface="微软雅黑" panose="020B0503020204020204" pitchFamily="34" charset="-122"/>
                        <a:ea typeface="微软雅黑" panose="020B0503020204020204" pitchFamily="34" charset="-122"/>
                        <a:cs typeface="+mn-cs"/>
                      </a:endParaRPr>
                    </a:p>
                  </a:txBody>
                  <a:tcPr marL="99060" marR="99060" marT="0" marB="0" anchor="ctr" anchorCtr="1">
                    <a:solidFill>
                      <a:srgbClr val="00FF00"/>
                    </a:solidFill>
                  </a:tcPr>
                </a:tc>
                <a:tc>
                  <a:txBody>
                    <a:bodyPr/>
                    <a:lstStyle/>
                    <a:p>
                      <a:pPr algn="ctr">
                        <a:lnSpc>
                          <a:spcPct val="150000"/>
                        </a:lnSpc>
                        <a:spcAft>
                          <a:spcPts val="0"/>
                        </a:spcAft>
                        <a:buNone/>
                      </a:pPr>
                      <a:r>
                        <a:rPr lang="en-US" altLang="zh-CN" sz="1200" i="0" dirty="0">
                          <a:solidFill>
                            <a:srgbClr val="0070C0"/>
                          </a:solidFill>
                          <a:sym typeface="Arial" panose="020B0604020202020204" pitchFamily="34" charset="0"/>
                        </a:rPr>
                        <a:t>5mm</a:t>
                      </a:r>
                    </a:p>
                  </a:txBody>
                  <a:tcPr marL="99060" marR="99060" marT="0" marB="0" anchor="ctr" anchorCtr="1"/>
                </a:tc>
                <a:tc>
                  <a:txBody>
                    <a:bodyPr/>
                    <a:lstStyle/>
                    <a:p>
                      <a:pPr algn="ctr">
                        <a:lnSpc>
                          <a:spcPct val="150000"/>
                        </a:lnSpc>
                        <a:spcAft>
                          <a:spcPts val="0"/>
                        </a:spcAft>
                        <a:buNone/>
                      </a:pPr>
                      <a:r>
                        <a:rPr lang="en-US" altLang="zh-CN" sz="1200" b="0" kern="100" dirty="0">
                          <a:effectLst/>
                          <a:latin typeface="微软雅黑" panose="020B0503020204020204" pitchFamily="34" charset="-122"/>
                          <a:ea typeface="微软雅黑" panose="020B0503020204020204" pitchFamily="34" charset="-122"/>
                        </a:rPr>
                        <a:t>1</a:t>
                      </a:r>
                    </a:p>
                  </a:txBody>
                  <a:tcPr marL="99060" marR="99060" marT="0" marB="0" anchor="ctr" anchorCtr="1"/>
                </a:tc>
                <a:extLst>
                  <a:ext uri="{0D108BD9-81ED-4DB2-BD59-A6C34878D82A}">
                    <a16:rowId xmlns:a16="http://schemas.microsoft.com/office/drawing/2014/main" val="10003"/>
                  </a:ext>
                </a:extLst>
              </a:tr>
              <a:tr h="362585">
                <a:tc>
                  <a:txBody>
                    <a:bodyPr/>
                    <a:lstStyle/>
                    <a:p>
                      <a:pPr algn="ctr">
                        <a:lnSpc>
                          <a:spcPct val="150000"/>
                        </a:lnSpc>
                        <a:spcAft>
                          <a:spcPts val="0"/>
                        </a:spcAft>
                      </a:pP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rPr>
                        <a:t> source</a:t>
                      </a:r>
                      <a:endParaRPr 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光源/華周LRS-90R30</a:t>
                      </a:r>
                    </a:p>
                  </a:txBody>
                  <a:tcPr marL="99060" marR="99060" marT="0" marB="0" anchor="ctr" anchorCtr="1"/>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zh-CN" sz="1200" b="0" kern="100" dirty="0">
                          <a:effectLst/>
                          <a:latin typeface="微软雅黑" panose="020B0503020204020204" pitchFamily="34" charset="-122"/>
                          <a:ea typeface="微软雅黑" panose="020B0503020204020204" pitchFamily="34" charset="-122"/>
                        </a:rPr>
                        <a:t>1</a:t>
                      </a:r>
                      <a:endParaRPr lang="zh-CN" alt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4"/>
                  </a:ext>
                </a:extLst>
              </a:tr>
              <a:tr h="390525">
                <a:tc>
                  <a:txBody>
                    <a:bodyPr/>
                    <a:lstStyle/>
                    <a:p>
                      <a:pPr algn="ctr">
                        <a:lnSpc>
                          <a:spcPct val="150000"/>
                        </a:lnSpc>
                        <a:spcAft>
                          <a:spcPts val="0"/>
                        </a:spcAft>
                      </a:pP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cs typeface="+mn-cs"/>
                        </a:rPr>
                        <a:t> source </a:t>
                      </a:r>
                      <a:r>
                        <a:rPr lang="en-US" altLang="zh-CN" sz="1200" b="1" kern="100" dirty="0">
                          <a:solidFill>
                            <a:schemeClr val="tx1"/>
                          </a:solidFill>
                          <a:effectLst/>
                          <a:latin typeface="微软雅黑" panose="020B0503020204020204" pitchFamily="34" charset="-122"/>
                          <a:ea typeface="微软雅黑" panose="020B0503020204020204" pitchFamily="34" charset="-122"/>
                        </a:rPr>
                        <a:t>controller</a:t>
                      </a:r>
                    </a:p>
                  </a:txBody>
                  <a:tcPr marL="99060" marR="99060" marT="0" marB="0" anchor="ctr" anchorCtr="1">
                    <a:solidFill>
                      <a:srgbClr val="00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0070C0"/>
                          </a:solidFill>
                          <a:sym typeface="Arial" panose="020B0604020202020204" pitchFamily="34" charset="0"/>
                        </a:rPr>
                        <a:t>DKZ2-24V-2-AC </a:t>
                      </a:r>
                      <a:endParaRPr lang="zh-CN" altLang="zh-CN" sz="1200" b="0" i="0" kern="100" dirty="0">
                        <a:solidFill>
                          <a:schemeClr val="dk1"/>
                        </a:solidFill>
                        <a:effectLst/>
                        <a:latin typeface="微软雅黑" panose="020B0503020204020204" pitchFamily="34" charset="-122"/>
                        <a:ea typeface="微软雅黑" panose="020B0503020204020204" pitchFamily="34" charset="-122"/>
                        <a:cs typeface="+mn-cs"/>
                      </a:endParaRPr>
                    </a:p>
                  </a:txBody>
                  <a:tcPr marL="99060" marR="99060" marT="0" marB="0" anchor="ctr" anchorCtr="1"/>
                </a:tc>
                <a:tc>
                  <a:txBody>
                    <a:bodyPr/>
                    <a:lstStyle/>
                    <a:p>
                      <a:pPr algn="l">
                        <a:lnSpc>
                          <a:spcPct val="150000"/>
                        </a:lnSpc>
                        <a:spcAft>
                          <a:spcPts val="0"/>
                        </a:spcAft>
                      </a:pPr>
                      <a:r>
                        <a:rPr lang="en-US" altLang="zh-CN" sz="1200" b="0" kern="100" dirty="0">
                          <a:effectLst/>
                          <a:latin typeface="微软雅黑" panose="020B0503020204020204" pitchFamily="34" charset="-122"/>
                          <a:ea typeface="微软雅黑" panose="020B0503020204020204" pitchFamily="34" charset="-122"/>
                        </a:rPr>
                        <a:t>1</a:t>
                      </a:r>
                      <a:endParaRPr lang="zh-CN" sz="1200" b="0" kern="100" dirty="0">
                        <a:effectLst/>
                        <a:latin typeface="微软雅黑" panose="020B0503020204020204" pitchFamily="34" charset="-122"/>
                        <a:ea typeface="微软雅黑" panose="020B0503020204020204" pitchFamily="34" charset="-122"/>
                      </a:endParaRPr>
                    </a:p>
                  </a:txBody>
                  <a:tcPr marL="99060" marR="99060" marT="0" marB="0" anchor="ctr" anchorCtr="1"/>
                </a:tc>
                <a:extLst>
                  <a:ext uri="{0D108BD9-81ED-4DB2-BD59-A6C34878D82A}">
                    <a16:rowId xmlns:a16="http://schemas.microsoft.com/office/drawing/2014/main" val="10005"/>
                  </a:ext>
                </a:extLst>
              </a:tr>
            </a:tbl>
          </a:graphicData>
        </a:graphic>
      </p:graphicFrame>
      <p:graphicFrame>
        <p:nvGraphicFramePr>
          <p:cNvPr id="7" name="表格 6"/>
          <p:cNvGraphicFramePr>
            <a:graphicFrameLocks noGrp="1"/>
          </p:cNvGraphicFramePr>
          <p:nvPr>
            <p:custDataLst>
              <p:tags r:id="rId2"/>
            </p:custDataLst>
          </p:nvPr>
        </p:nvGraphicFramePr>
        <p:xfrm>
          <a:off x="511772" y="3883438"/>
          <a:ext cx="5889156" cy="2491740"/>
        </p:xfrm>
        <a:graphic>
          <a:graphicData uri="http://schemas.openxmlformats.org/drawingml/2006/table">
            <a:tbl>
              <a:tblPr firstRow="1" firstCol="1" bandRow="1">
                <a:tableStyleId>{5C22544A-7EE6-4342-B048-85BDC9FD1C3A}</a:tableStyleId>
              </a:tblPr>
              <a:tblGrid>
                <a:gridCol w="3566693">
                  <a:extLst>
                    <a:ext uri="{9D8B030D-6E8A-4147-A177-3AD203B41FA5}">
                      <a16:colId xmlns:a16="http://schemas.microsoft.com/office/drawing/2014/main" val="20000"/>
                    </a:ext>
                  </a:extLst>
                </a:gridCol>
                <a:gridCol w="2322463">
                  <a:extLst>
                    <a:ext uri="{9D8B030D-6E8A-4147-A177-3AD203B41FA5}">
                      <a16:colId xmlns:a16="http://schemas.microsoft.com/office/drawing/2014/main" val="20001"/>
                    </a:ext>
                  </a:extLst>
                </a:gridCol>
              </a:tblGrid>
              <a:tr h="3676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mounting orientation</a:t>
                      </a: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buNone/>
                      </a:pPr>
                      <a:r>
                        <a:rPr lang="en-US" altLang="zh-CN" sz="1200" b="0" dirty="0">
                          <a:solidFill>
                            <a:srgbClr val="0070C0"/>
                          </a:solidFill>
                          <a:sym typeface="Arial" panose="020B0604020202020204" pitchFamily="34" charset="0"/>
                        </a:rPr>
                        <a:t>against sheet metal ↓</a:t>
                      </a:r>
                      <a:endParaRPr lang="en-US" sz="1200" b="0" i="0" dirty="0">
                        <a:solidFill>
                          <a:srgbClr val="0070C0"/>
                        </a:solidFill>
                        <a:sym typeface="Arial" panose="020B0604020202020204" pitchFamily="34" charset="0"/>
                      </a:endParaRP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0"/>
                  </a:ext>
                </a:extLst>
              </a:tr>
              <a:tr h="35941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distance between </a:t>
                      </a:r>
                    </a:p>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camera surface → the product</a:t>
                      </a:r>
                    </a:p>
                  </a:txBody>
                  <a:tcPr marL="99060" marR="99060" marT="0" marB="0" anchor="ctr" anchorCtr="1">
                    <a:solidFill>
                      <a:schemeClr val="accent2">
                        <a:lumMod val="40000"/>
                        <a:lumOff val="60000"/>
                      </a:schemeClr>
                    </a:solidFill>
                  </a:tcPr>
                </a:tc>
                <a:tc>
                  <a:txBody>
                    <a:bodyPr/>
                    <a:lstStyle/>
                    <a:p>
                      <a:pPr algn="ctr">
                        <a:lnSpc>
                          <a:spcPct val="150000"/>
                        </a:lnSpc>
                        <a:spcAft>
                          <a:spcPts val="0"/>
                        </a:spcAft>
                        <a:buClrTx/>
                        <a:buSzTx/>
                        <a:buFontTx/>
                      </a:pPr>
                      <a:r>
                        <a:rPr lang="en-US" sz="1200" b="0" i="0" dirty="0">
                          <a:solidFill>
                            <a:srgbClr val="0070C0"/>
                          </a:solidFill>
                          <a:sym typeface="Arial" panose="020B0604020202020204" pitchFamily="34" charset="0"/>
                        </a:rPr>
                        <a:t>195±10 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1"/>
                  </a:ext>
                </a:extLst>
              </a:tr>
              <a:tr h="340360">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The distance between </a:t>
                      </a:r>
                    </a:p>
                    <a:p>
                      <a:pPr marL="0" marR="0" lvl="0" indent="0" algn="ctr" defTabSz="914400" rtl="0" eaLnBrk="1" fontAlgn="auto" latinLnBrk="0" hangingPunct="1">
                        <a:lnSpc>
                          <a:spcPct val="150000"/>
                        </a:lnSpc>
                        <a:spcBef>
                          <a:spcPts val="0"/>
                        </a:spcBef>
                        <a:spcAft>
                          <a:spcPts val="0"/>
                        </a:spcAft>
                        <a:buClrTx/>
                        <a:buSzTx/>
                        <a:buFontTx/>
                        <a:buNone/>
                        <a:defRPr/>
                      </a:pPr>
                      <a:r>
                        <a:rPr lang="en-US" altLang="zh-CN" sz="1200" b="1" kern="100" dirty="0">
                          <a:solidFill>
                            <a:schemeClr val="tx1"/>
                          </a:solidFill>
                          <a:effectLst/>
                          <a:latin typeface="微软雅黑" panose="020B0503020204020204" pitchFamily="34" charset="-122"/>
                          <a:ea typeface="微软雅黑" panose="020B0503020204020204" pitchFamily="34" charset="-122"/>
                        </a:rPr>
                        <a:t>the camera surface → </a:t>
                      </a:r>
                      <a:r>
                        <a:rPr lang="zh-CN" altLang="en-US" sz="1200" b="1" kern="100" dirty="0">
                          <a:solidFill>
                            <a:schemeClr val="tx1"/>
                          </a:solidFill>
                          <a:effectLst/>
                          <a:latin typeface="微软雅黑" panose="020B0503020204020204" pitchFamily="34" charset="-122"/>
                          <a:ea typeface="微软雅黑" panose="020B0503020204020204" pitchFamily="34" charset="-122"/>
                          <a:cs typeface="+mn-cs"/>
                        </a:rPr>
                        <a:t>optical</a:t>
                      </a:r>
                      <a:r>
                        <a:rPr lang="en-US" altLang="zh-CN" sz="1200" b="1" kern="100" dirty="0">
                          <a:solidFill>
                            <a:schemeClr val="tx1"/>
                          </a:solidFill>
                          <a:effectLst/>
                          <a:latin typeface="微软雅黑" panose="020B0503020204020204" pitchFamily="34" charset="-122"/>
                          <a:ea typeface="微软雅黑" panose="020B0503020204020204" pitchFamily="34" charset="-122"/>
                        </a:rPr>
                        <a:t> source</a:t>
                      </a:r>
                      <a:endParaRPr lang="zh-CN" altLang="zh-CN" sz="1200" b="1" kern="100" dirty="0">
                        <a:solidFill>
                          <a:schemeClr val="tx1"/>
                        </a:solidFill>
                        <a:effectLst/>
                        <a:latin typeface="微软雅黑" panose="020B0503020204020204" pitchFamily="34" charset="-122"/>
                        <a:ea typeface="微软雅黑" panose="020B0503020204020204" pitchFamily="34" charset="-122"/>
                      </a:endParaRPr>
                    </a:p>
                  </a:txBody>
                  <a:tcPr marL="99060" marR="99060" marT="0" marB="0" anchor="ctr" anchorCtr="1">
                    <a:solidFill>
                      <a:schemeClr val="accent2">
                        <a:lumMod val="40000"/>
                        <a:lumOff val="60000"/>
                      </a:schemeClr>
                    </a:solidFill>
                  </a:tcPr>
                </a:tc>
                <a:tc>
                  <a:txBody>
                    <a:bodyPr/>
                    <a:lstStyle/>
                    <a:p>
                      <a:pPr algn="ctr">
                        <a:lnSpc>
                          <a:spcPct val="150000"/>
                        </a:lnSpc>
                        <a:spcAft>
                          <a:spcPts val="0"/>
                        </a:spcAft>
                      </a:pPr>
                      <a:r>
                        <a:rPr lang="en-US" sz="1200" i="0" dirty="0">
                          <a:solidFill>
                            <a:srgbClr val="0070C0"/>
                          </a:solidFill>
                          <a:sym typeface="Arial" panose="020B0604020202020204" pitchFamily="34" charset="0"/>
                        </a:rPr>
                        <a:t>30</a:t>
                      </a:r>
                      <a:r>
                        <a:rPr lang="zh-CN" altLang="en-US" sz="1200" i="0" dirty="0">
                          <a:solidFill>
                            <a:srgbClr val="0070C0"/>
                          </a:solidFill>
                          <a:sym typeface="Arial" panose="020B0604020202020204" pitchFamily="34" charset="0"/>
                        </a:rPr>
                        <a:t>±</a:t>
                      </a:r>
                      <a:r>
                        <a:rPr lang="en-US" altLang="zh-CN" sz="1200" i="0" dirty="0">
                          <a:solidFill>
                            <a:srgbClr val="0070C0"/>
                          </a:solidFill>
                          <a:sym typeface="Arial" panose="020B0604020202020204" pitchFamily="34" charset="0"/>
                        </a:rPr>
                        <a:t>10mm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2"/>
                  </a:ext>
                </a:extLst>
              </a:tr>
              <a:tr h="342265">
                <a:tc>
                  <a:txBody>
                    <a:bodyPr/>
                    <a:lstStyle/>
                    <a:p>
                      <a:pPr algn="ctr">
                        <a:lnSpc>
                          <a:spcPct val="150000"/>
                        </a:lnSpc>
                        <a:spcAft>
                          <a:spcPts val="0"/>
                        </a:spcAft>
                        <a:buClrTx/>
                        <a:buSzTx/>
                        <a:buFontTx/>
                      </a:pPr>
                      <a:r>
                        <a:rPr lang="en-US" altLang="zh-CN" sz="1200" b="1" kern="100" dirty="0">
                          <a:solidFill>
                            <a:schemeClr val="tx1"/>
                          </a:solidFill>
                          <a:effectLst/>
                          <a:latin typeface="微软雅黑" panose="020B0503020204020204" pitchFamily="34" charset="-122"/>
                          <a:ea typeface="微软雅黑" panose="020B0503020204020204" pitchFamily="34" charset="-122"/>
                        </a:rPr>
                        <a:t>visual field</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27*20mm</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3"/>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Image pixel size</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rgbClr val="0070C0"/>
                          </a:solidFill>
                          <a:sym typeface="Arial" panose="020B0604020202020204" pitchFamily="34" charset="0"/>
                        </a:rPr>
                        <a:t>2592*1944</a:t>
                      </a:r>
                      <a:endParaRPr lang="en-US" altLang="zh-CN" sz="1200" i="0" dirty="0">
                        <a:solidFill>
                          <a:srgbClr val="0070C0"/>
                        </a:solidFill>
                        <a:sym typeface="Arial" panose="020B0604020202020204" pitchFamily="34" charset="0"/>
                      </a:endParaRP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4"/>
                  </a:ext>
                </a:extLst>
              </a:tr>
              <a:tr h="342265">
                <a:tc>
                  <a:txBody>
                    <a:bodyPr/>
                    <a:lstStyle/>
                    <a:p>
                      <a:pPr algn="ctr">
                        <a:lnSpc>
                          <a:spcPct val="150000"/>
                        </a:lnSpc>
                        <a:spcAft>
                          <a:spcPts val="0"/>
                        </a:spcAft>
                        <a:buClrTx/>
                        <a:buSzTx/>
                        <a:buFontTx/>
                        <a:buNone/>
                      </a:pPr>
                      <a:r>
                        <a:rPr lang="en-US" altLang="zh-CN" sz="1200" b="1" kern="100" dirty="0">
                          <a:solidFill>
                            <a:schemeClr val="tx1"/>
                          </a:solidFill>
                          <a:effectLst/>
                          <a:latin typeface="微软雅黑" panose="020B0503020204020204" pitchFamily="34" charset="-122"/>
                          <a:ea typeface="微软雅黑" panose="020B0503020204020204" pitchFamily="34" charset="-122"/>
                        </a:rPr>
                        <a:t>Camera single-pixel accuracy</a:t>
                      </a:r>
                    </a:p>
                  </a:txBody>
                  <a:tcPr marL="99060" marR="99060" marT="0" marB="0" anchor="ctr" anchorCtr="1">
                    <a:solidFill>
                      <a:schemeClr val="accent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i="0" dirty="0">
                          <a:solidFill>
                            <a:srgbClr val="0070C0"/>
                          </a:solidFill>
                          <a:sym typeface="Arial" panose="020B0604020202020204" pitchFamily="34" charset="0"/>
                        </a:rPr>
                        <a:t>0.01</a:t>
                      </a:r>
                    </a:p>
                  </a:txBody>
                  <a:tcPr marL="99060" marR="99060" marT="0" marB="0" anchor="ctr" anchorCtr="1">
                    <a:solidFill>
                      <a:schemeClr val="accent2">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descr="卡通人物&#10;&#10;低可信度描述已自动生成"/>
          <p:cNvPicPr>
            <a:picLocks noGrp="1" noRot="1" noChangeAspect="1" noMove="1" noResize="1" noEditPoints="1" noAdjustHandles="1" noChangeArrowheads="1" noChangeShapeType="1" noCrop="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l="6209" t="8823"/>
          <a:stretch>
            <a:fillRect/>
          </a:stretch>
        </p:blipFill>
        <p:spPr>
          <a:xfrm>
            <a:off x="516330" y="1675613"/>
            <a:ext cx="5403555" cy="3756916"/>
          </a:xfrm>
          <a:prstGeom prst="rect">
            <a:avLst/>
          </a:prstGeom>
        </p:spPr>
      </p:pic>
      <p:sp>
        <p:nvSpPr>
          <p:cNvPr id="3" name="灯片编号占位符 2"/>
          <p:cNvSpPr>
            <a:spLocks noGrp="1"/>
          </p:cNvSpPr>
          <p:nvPr>
            <p:ph type="sldNum" sz="quarter" idx="4"/>
          </p:nvPr>
        </p:nvSpPr>
        <p:spPr/>
        <p:txBody>
          <a:bodyPr/>
          <a:lstStyle/>
          <a:p>
            <a:r>
              <a:rPr lang="en-US">
                <a:solidFill>
                  <a:prstClr val="black"/>
                </a:solidFill>
              </a:rPr>
              <a:t>-</a:t>
            </a:r>
            <a:fld id="{75A4F164-3A46-4CEE-A25C-CA523D5E42F3}" type="slidenum">
              <a:rPr lang="en-US" smtClean="0">
                <a:solidFill>
                  <a:prstClr val="black"/>
                </a:solidFill>
              </a:rPr>
              <a:t>18</a:t>
            </a:fld>
            <a:r>
              <a:rPr lang="en-US">
                <a:solidFill>
                  <a:prstClr val="black"/>
                </a:solidFill>
              </a:rPr>
              <a:t>-</a:t>
            </a:r>
            <a:endParaRPr lang="en-US" dirty="0">
              <a:solidFill>
                <a:prstClr val="black"/>
              </a:solidFill>
            </a:endParaRPr>
          </a:p>
        </p:txBody>
      </p:sp>
      <p:sp>
        <p:nvSpPr>
          <p:cNvPr id="16"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18</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17"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19" name="表格 18"/>
          <p:cNvGraphicFramePr/>
          <p:nvPr>
            <p:custDataLst>
              <p:tags r:id="rId2"/>
            </p:custDataLst>
          </p:nvPr>
        </p:nvGraphicFramePr>
        <p:xfrm>
          <a:off x="6410739" y="1510060"/>
          <a:ext cx="4928121" cy="2160000"/>
        </p:xfrm>
        <a:graphic>
          <a:graphicData uri="http://schemas.openxmlformats.org/drawingml/2006/table">
            <a:tbl>
              <a:tblPr firstRow="1" bandRow="1">
                <a:tableStyleId>{5C22544A-7EE6-4342-B048-85BDC9FD1C3A}</a:tableStyleId>
              </a:tblPr>
              <a:tblGrid>
                <a:gridCol w="2941983">
                  <a:extLst>
                    <a:ext uri="{9D8B030D-6E8A-4147-A177-3AD203B41FA5}">
                      <a16:colId xmlns:a16="http://schemas.microsoft.com/office/drawing/2014/main" val="20000"/>
                    </a:ext>
                  </a:extLst>
                </a:gridCol>
                <a:gridCol w="1986138">
                  <a:extLst>
                    <a:ext uri="{9D8B030D-6E8A-4147-A177-3AD203B41FA5}">
                      <a16:colId xmlns:a16="http://schemas.microsoft.com/office/drawing/2014/main" val="20001"/>
                    </a:ext>
                  </a:extLst>
                </a:gridCol>
              </a:tblGrid>
              <a:tr h="432000">
                <a:tc>
                  <a:txBody>
                    <a:bodyPr/>
                    <a:lstStyle/>
                    <a:p>
                      <a:pPr indent="0" algn="ctr">
                        <a:buNone/>
                      </a:pPr>
                      <a:r>
                        <a:rPr lang="en-US" altLang="en-US" sz="1200" b="0" dirty="0">
                          <a:solidFill>
                            <a:srgbClr val="000000"/>
                          </a:solidFill>
                          <a:latin typeface="微软雅黑" panose="020B0503020204020204" pitchFamily="34" charset="-122"/>
                        </a:rPr>
                        <a:t>X axis module accuracy</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0.01</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2000">
                <a:tc>
                  <a:txBody>
                    <a:bodyPr/>
                    <a:lstStyle/>
                    <a:p>
                      <a:pPr indent="0" algn="ctr">
                        <a:buNone/>
                      </a:pPr>
                      <a:r>
                        <a:rPr lang="en-US" altLang="en-US" sz="1200" b="0" dirty="0">
                          <a:solidFill>
                            <a:srgbClr val="000000"/>
                          </a:solidFill>
                          <a:latin typeface="微软雅黑" panose="020B0503020204020204" pitchFamily="34" charset="-122"/>
                        </a:rPr>
                        <a:t>Y axis module accuracy</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0.01</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000">
                <a:tc>
                  <a:txBody>
                    <a:bodyPr/>
                    <a:lstStyle/>
                    <a:p>
                      <a:pPr indent="0" algn="ctr">
                        <a:buNone/>
                      </a:pPr>
                      <a:r>
                        <a:rPr lang="en-US" altLang="en-US" sz="1200" b="0" dirty="0">
                          <a:solidFill>
                            <a:srgbClr val="000000"/>
                          </a:solidFill>
                          <a:latin typeface="微软雅黑" panose="020B0503020204020204" pitchFamily="34" charset="-122"/>
                        </a:rPr>
                        <a:t>Z axis module accuracy</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0.02</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lgn="ctr">
                      <a:solidFill>
                        <a:srgbClr val="000000"/>
                      </a:solidFill>
                      <a:prstDash val="solid"/>
                      <a:roun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2000">
                <a:tc>
                  <a:txBody>
                    <a:bodyPr/>
                    <a:lstStyle/>
                    <a:p>
                      <a:pPr indent="0" algn="ctr">
                        <a:buNone/>
                      </a:pPr>
                      <a:r>
                        <a:rPr lang="en-US" altLang="zh-CN" sz="1200" dirty="0"/>
                        <a:t> Upper CCD Recognition accuracy</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0.06</a:t>
                      </a: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2000">
                <a:tc>
                  <a:txBody>
                    <a:bodyPr/>
                    <a:lstStyle/>
                    <a:p>
                      <a:pPr indent="0" algn="ctr">
                        <a:buNone/>
                      </a:pPr>
                      <a:r>
                        <a:rPr lang="en-US" altLang="zh-CN" sz="1200" dirty="0"/>
                        <a:t>Lower CCD Recognition accuracy</a:t>
                      </a:r>
                      <a:endParaRPr lang="en-US" altLang="en-US" sz="1200" b="0" dirty="0">
                        <a:solidFill>
                          <a:srgbClr val="000000"/>
                        </a:solidFill>
                        <a:latin typeface="微软雅黑" panose="020B0503020204020204" pitchFamily="34" charset="-122"/>
                      </a:endParaRPr>
                    </a:p>
                  </a:txBody>
                  <a:tcPr marL="12700" marR="12700" marT="12700" anchor="ctr">
                    <a:lnL w="6350" cap="flat" cmpd="sng">
                      <a:solidFill>
                        <a:srgbClr val="000000"/>
                      </a:solidFill>
                      <a:prstDash val="solid"/>
                      <a:headEnd type="none" w="med" len="med"/>
                      <a:tailEnd type="none" w="med" len="med"/>
                    </a:lnL>
                    <a:lnR w="6350" cap="flat" cmpd="sng" algn="ctr">
                      <a:solidFill>
                        <a:srgbClr val="000000"/>
                      </a:solidFill>
                      <a:prstDash val="solid"/>
                      <a:roun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tc>
                  <a:txBody>
                    <a:bodyPr/>
                    <a:lstStyle/>
                    <a:p>
                      <a:pPr indent="0" algn="ctr">
                        <a:buNone/>
                      </a:pPr>
                      <a:r>
                        <a:rPr lang="zh-CN" altLang="en-US" sz="1200" b="0" dirty="0">
                          <a:solidFill>
                            <a:srgbClr val="000000"/>
                          </a:solidFill>
                          <a:latin typeface="微软雅黑" panose="020B0503020204020204" pitchFamily="34" charset="-122"/>
                        </a:rPr>
                        <a:t>±</a:t>
                      </a:r>
                      <a:r>
                        <a:rPr lang="en-US" altLang="zh-CN" sz="1200" b="0" dirty="0">
                          <a:solidFill>
                            <a:srgbClr val="000000"/>
                          </a:solidFill>
                          <a:latin typeface="微软雅黑" panose="020B0503020204020204" pitchFamily="34" charset="-122"/>
                        </a:rPr>
                        <a:t>0.03</a:t>
                      </a:r>
                    </a:p>
                  </a:txBody>
                  <a:tcPr marL="12700" marR="12700" marT="12700" anchor="ctr">
                    <a:lnL w="6350" cap="flat" cmpd="sng" algn="ctr">
                      <a:solidFill>
                        <a:srgbClr val="000000"/>
                      </a:solidFill>
                      <a:prstDash val="solid"/>
                      <a:roun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0" name="文本框 19"/>
          <p:cNvSpPr txBox="1"/>
          <p:nvPr/>
        </p:nvSpPr>
        <p:spPr>
          <a:xfrm>
            <a:off x="6852527" y="4137718"/>
            <a:ext cx="4199788" cy="2031325"/>
          </a:xfrm>
          <a:prstGeom prst="rect">
            <a:avLst/>
          </a:prstGeom>
          <a:noFill/>
        </p:spPr>
        <p:txBody>
          <a:bodyPr wrap="square" rtlCol="0">
            <a:spAutoFit/>
          </a:bodyPr>
          <a:lstStyle/>
          <a:p>
            <a:pPr indent="457200"/>
            <a:r>
              <a:rPr lang="en-US" altLang="zh-CN" sz="1400" dirty="0"/>
              <a:t>Positioning accuracy =</a:t>
            </a:r>
            <a:r>
              <a:rPr lang="en-US" altLang="en-US" sz="1400" b="0" dirty="0">
                <a:solidFill>
                  <a:srgbClr val="000000"/>
                </a:solidFill>
                <a:latin typeface="微软雅黑" panose="020B0503020204020204" pitchFamily="34" charset="-122"/>
              </a:rPr>
              <a:t> X axis module accuracy </a:t>
            </a:r>
            <a:r>
              <a:rPr lang="en-US" altLang="zh-CN" sz="1400" dirty="0"/>
              <a:t>+ </a:t>
            </a:r>
            <a:r>
              <a:rPr lang="en-US" altLang="zh-CN" sz="1400" dirty="0">
                <a:solidFill>
                  <a:srgbClr val="000000"/>
                </a:solidFill>
                <a:latin typeface="微软雅黑" panose="020B0503020204020204" pitchFamily="34" charset="-122"/>
              </a:rPr>
              <a:t>Y</a:t>
            </a:r>
            <a:r>
              <a:rPr lang="en-US" altLang="en-US" sz="1400" b="0" dirty="0">
                <a:solidFill>
                  <a:srgbClr val="000000"/>
                </a:solidFill>
                <a:latin typeface="微软雅黑" panose="020B0503020204020204" pitchFamily="34" charset="-122"/>
              </a:rPr>
              <a:t> axis module accuracy </a:t>
            </a:r>
            <a:r>
              <a:rPr lang="en-US" altLang="zh-CN" sz="1400" dirty="0"/>
              <a:t>+ </a:t>
            </a:r>
            <a:r>
              <a:rPr lang="en-US" altLang="zh-CN" sz="1400" dirty="0">
                <a:solidFill>
                  <a:srgbClr val="000000"/>
                </a:solidFill>
                <a:latin typeface="微软雅黑" panose="020B0503020204020204" pitchFamily="34" charset="-122"/>
              </a:rPr>
              <a:t>Z</a:t>
            </a:r>
            <a:r>
              <a:rPr lang="en-US" altLang="en-US" sz="1400" b="0" dirty="0">
                <a:solidFill>
                  <a:srgbClr val="000000"/>
                </a:solidFill>
                <a:latin typeface="微软雅黑" panose="020B0503020204020204" pitchFamily="34" charset="-122"/>
              </a:rPr>
              <a:t> axis module accuracy</a:t>
            </a:r>
            <a:r>
              <a:rPr lang="zh-CN" altLang="en-US" sz="1400" dirty="0"/>
              <a:t>：±（</a:t>
            </a:r>
            <a:r>
              <a:rPr lang="en-US" altLang="zh-CN" sz="1400" dirty="0"/>
              <a:t>0.01+0.01+0.02</a:t>
            </a:r>
            <a:r>
              <a:rPr lang="zh-CN" altLang="en-US" sz="1400" dirty="0"/>
              <a:t>）</a:t>
            </a:r>
            <a:r>
              <a:rPr lang="en-US" altLang="zh-CN" sz="1400" dirty="0"/>
              <a:t>= </a:t>
            </a:r>
            <a:r>
              <a:rPr lang="zh-CN" altLang="en-US" sz="1400" dirty="0"/>
              <a:t>±</a:t>
            </a:r>
            <a:r>
              <a:rPr lang="en-US" altLang="zh-CN" sz="1400" dirty="0"/>
              <a:t>0.04mm</a:t>
            </a:r>
            <a:r>
              <a:rPr lang="zh-CN" altLang="en-US" sz="1400" dirty="0"/>
              <a:t>；</a:t>
            </a:r>
          </a:p>
          <a:p>
            <a:pPr indent="457200"/>
            <a:endParaRPr lang="zh-CN" altLang="en-US" sz="1400" dirty="0"/>
          </a:p>
          <a:p>
            <a:pPr indent="457200"/>
            <a:r>
              <a:rPr lang="en-US" altLang="zh-CN" sz="1400" dirty="0"/>
              <a:t>Placement accuracy = Positioning accuracy + Upper CCD Recognition accuracy + Lower CCD Recognition accuracy</a:t>
            </a:r>
            <a:r>
              <a:rPr lang="en-US" altLang="zh-CN" sz="1400" dirty="0">
                <a:solidFill>
                  <a:srgbClr val="000000"/>
                </a:solidFill>
                <a:latin typeface="Arial" panose="020B0604020202020204" pitchFamily="34" charset="0"/>
                <a:ea typeface="微软雅黑" panose="020B0503020204020204" pitchFamily="34" charset="-122"/>
              </a:rPr>
              <a:t> </a:t>
            </a:r>
            <a:r>
              <a:rPr lang="zh-CN" altLang="en-US" sz="1400" dirty="0"/>
              <a:t>：±（</a:t>
            </a:r>
            <a:r>
              <a:rPr lang="en-US" altLang="zh-CN" sz="1400" dirty="0"/>
              <a:t>0.04+0.06+0.03</a:t>
            </a:r>
            <a:r>
              <a:rPr lang="zh-CN" altLang="en-US" sz="1400" dirty="0"/>
              <a:t>）</a:t>
            </a:r>
            <a:r>
              <a:rPr lang="en-US" altLang="zh-CN" sz="1400" dirty="0"/>
              <a:t>=</a:t>
            </a:r>
            <a:r>
              <a:rPr lang="zh-CN" altLang="en-US" sz="1400" dirty="0"/>
              <a:t> ± </a:t>
            </a:r>
            <a:r>
              <a:rPr lang="en-US" altLang="zh-CN" sz="1400" dirty="0"/>
              <a:t>0.13mm</a:t>
            </a:r>
            <a:r>
              <a:rPr lang="zh-CN" altLang="en-US" sz="1400" dirty="0"/>
              <a:t>。</a:t>
            </a:r>
          </a:p>
        </p:txBody>
      </p:sp>
      <p:sp>
        <p:nvSpPr>
          <p:cNvPr id="33" name="文本框 32"/>
          <p:cNvSpPr txBox="1"/>
          <p:nvPr/>
        </p:nvSpPr>
        <p:spPr>
          <a:xfrm>
            <a:off x="516330" y="857736"/>
            <a:ext cx="6097656" cy="369332"/>
          </a:xfrm>
          <a:prstGeom prst="rect">
            <a:avLst/>
          </a:prstGeom>
          <a:noFill/>
        </p:spPr>
        <p:txBody>
          <a:bodyPr wrap="square">
            <a:spAutoFit/>
          </a:bodyPr>
          <a:lstStyle/>
          <a:p>
            <a:r>
              <a:rPr lang="en-US" altLang="zh-CN" b="1" dirty="0">
                <a:sym typeface="+mn-ea"/>
              </a:rPr>
              <a:t>5</a:t>
            </a:r>
            <a:r>
              <a:rPr lang="zh-CN" altLang="en-US" sz="1800" b="1" dirty="0">
                <a:sym typeface="+mn-ea"/>
              </a:rPr>
              <a:t>.</a:t>
            </a:r>
            <a:r>
              <a:rPr lang="en-US" altLang="zh-CN" b="1" dirty="0">
                <a:sym typeface="+mn-ea"/>
              </a:rPr>
              <a:t>5</a:t>
            </a:r>
            <a:r>
              <a:rPr lang="zh-CN" altLang="en-US" sz="1800" b="1" dirty="0">
                <a:sym typeface="+mn-ea"/>
              </a:rPr>
              <a:t> </a:t>
            </a:r>
            <a:r>
              <a:rPr lang="en-US" altLang="zh-CN" sz="1800" b="1" dirty="0">
                <a:sym typeface="+mn-ea"/>
              </a:rPr>
              <a:t>Process requirements</a:t>
            </a:r>
          </a:p>
        </p:txBody>
      </p:sp>
      <p:sp>
        <p:nvSpPr>
          <p:cNvPr id="2" name="標題 1"/>
          <p:cNvSpPr txBox="1"/>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a:defRPr/>
            </a:pPr>
            <a:r>
              <a:rPr lang="en-US" altLang="zh-CN" dirty="0">
                <a:sym typeface="+mn-ea"/>
              </a:rPr>
              <a:t>5. </a:t>
            </a:r>
            <a:r>
              <a:rPr lang="en-US" altLang="zh-CN" sz="2800" dirty="0">
                <a:sym typeface="+mn-ea"/>
              </a:rPr>
              <a:t>The key components</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300" smtClean="0">
                <a:solidFill>
                  <a:srgbClr val="898989"/>
                </a:solidFill>
                <a:ea typeface="微软雅黑" panose="020B0503020204020204" pitchFamily="34" charset="-122"/>
                <a:cs typeface="Calibri" panose="020F0502020204030204" charset="0"/>
              </a:rPr>
              <a:t>19</a:t>
            </a:fld>
            <a:endParaRPr lang="zh-TW" altLang="en-US" sz="1300" dirty="0">
              <a:solidFill>
                <a:srgbClr val="898989"/>
              </a:solidFill>
              <a:ea typeface="微软雅黑" panose="020B0503020204020204" pitchFamily="34" charset="-122"/>
              <a:cs typeface="Calibri" panose="020F0502020204030204" charset="0"/>
            </a:endParaRPr>
          </a:p>
        </p:txBody>
      </p:sp>
      <p:sp>
        <p:nvSpPr>
          <p:cNvPr id="6" name="TextBox 29"/>
          <p:cNvSpPr txBox="1">
            <a:spLocks noChangeArrowheads="1"/>
          </p:cNvSpPr>
          <p:nvPr/>
        </p:nvSpPr>
        <p:spPr bwMode="auto">
          <a:xfrm>
            <a:off x="10915291" y="782112"/>
            <a:ext cx="1078053"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300">
                <a:cs typeface="Calibri" panose="020F0502020204030204" charset="0"/>
              </a:rPr>
              <a:t>unit</a:t>
            </a:r>
            <a:r>
              <a:rPr lang="zh-CN" altLang="en-US" sz="1300">
                <a:cs typeface="Calibri" panose="020F0502020204030204" charset="0"/>
              </a:rPr>
              <a:t>：</a:t>
            </a:r>
            <a:r>
              <a:rPr lang="en-US" altLang="zh-CN" sz="1300">
                <a:cs typeface="Calibri" panose="020F0502020204030204" charset="0"/>
              </a:rPr>
              <a:t>mm</a:t>
            </a:r>
            <a:endParaRPr lang="zh-CN" altLang="en-US" sz="1300">
              <a:cs typeface="Calibri" panose="020F0502020204030204" charset="0"/>
            </a:endParaRPr>
          </a:p>
        </p:txBody>
      </p:sp>
      <p:sp>
        <p:nvSpPr>
          <p:cNvPr id="3" name="標題 1"/>
          <p:cNvSpPr txBox="1"/>
          <p:nvPr>
            <p:custDataLst>
              <p:tags r:id="rId2"/>
            </p:custDataLst>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eaLnBrk="1" fontAlgn="b" hangingPunct="1"/>
            <a:r>
              <a:rPr lang="en-US" altLang="zh-CN" dirty="0">
                <a:sym typeface="+mn-ea"/>
              </a:rPr>
              <a:t>6.</a:t>
            </a:r>
            <a:r>
              <a:rPr lang="en-US" altLang="zh-CN" dirty="0">
                <a:sym typeface="宋体" panose="02010600030101010101" pitchFamily="2" charset="-122"/>
              </a:rPr>
              <a:t>Key fixture design</a:t>
            </a:r>
            <a:endParaRPr lang="en-US" altLang="zh-CN" dirty="0">
              <a:latin typeface="+mn-lt"/>
            </a:endParaRPr>
          </a:p>
        </p:txBody>
      </p:sp>
      <p:sp>
        <p:nvSpPr>
          <p:cNvPr id="2" name="文本框 1"/>
          <p:cNvSpPr txBox="1"/>
          <p:nvPr>
            <p:custDataLst>
              <p:tags r:id="rId3"/>
            </p:custDataLst>
          </p:nvPr>
        </p:nvSpPr>
        <p:spPr>
          <a:xfrm>
            <a:off x="300990" y="768350"/>
            <a:ext cx="4298950" cy="322580"/>
          </a:xfrm>
          <a:prstGeom prst="rect">
            <a:avLst/>
          </a:prstGeom>
          <a:noFill/>
        </p:spPr>
        <p:txBody>
          <a:bodyPr wrap="square" lIns="0" tIns="0" rtlCol="0">
            <a:spAutoFit/>
          </a:bodyPr>
          <a:lstStyle>
            <a:defPPr>
              <a:defRPr lang="zh-CN"/>
            </a:defPPr>
            <a:lvl1pPr>
              <a:defRPr sz="160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b="1" dirty="0">
                <a:solidFill>
                  <a:prstClr val="black"/>
                </a:solidFill>
                <a:latin typeface="Calibri" panose="020F0502020204030204" charset="0"/>
                <a:cs typeface="Calibri" panose="020F0502020204030204" charset="0"/>
                <a:sym typeface="+mn-ea"/>
              </a:rPr>
              <a:t>6</a:t>
            </a:r>
            <a:r>
              <a:rPr kumimoji="0" lang="en-US" altLang="zh-CN" sz="1800" b="1" i="0" u="none" strike="noStrike" kern="1200" cap="none" spc="0" normalizeH="0" baseline="0" noProof="0" dirty="0">
                <a:ln>
                  <a:noFill/>
                </a:ln>
                <a:solidFill>
                  <a:prstClr val="black"/>
                </a:solidFill>
                <a:effectLst/>
                <a:uLnTx/>
                <a:uFillTx/>
                <a:latin typeface="Calibri" panose="020F0502020204030204" charset="0"/>
                <a:ea typeface="微软雅黑" panose="020B0503020204020204" pitchFamily="34" charset="-122"/>
                <a:cs typeface="Calibri" panose="020F0502020204030204" charset="0"/>
                <a:sym typeface="+mn-ea"/>
              </a:rPr>
              <a:t>.1Material fetching mechanism</a:t>
            </a:r>
          </a:p>
        </p:txBody>
      </p:sp>
      <p:pic>
        <p:nvPicPr>
          <p:cNvPr id="4" name="图片 3" descr="图示&#10;&#10;描述已自动生成"/>
          <p:cNvPicPr/>
          <p:nvPr/>
        </p:nvPicPr>
        <p:blipFill>
          <a:blip r:embed="rId14">
            <a:extLst>
              <a:ext uri="{BEBA8EAE-BF5A-486C-A8C5-ECC9F3942E4B}">
                <a14:imgProps xmlns:a14="http://schemas.microsoft.com/office/drawing/2010/main">
                  <a14:imgLayer r:embed="rId1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155568" y="1202199"/>
            <a:ext cx="4045480" cy="5067725"/>
          </a:xfrm>
          <a:prstGeom prst="rect">
            <a:avLst/>
          </a:prstGeom>
        </p:spPr>
      </p:pic>
      <p:pic>
        <p:nvPicPr>
          <p:cNvPr id="5" name="图片 4" descr="图示&#10;&#10;描述已自动生成"/>
          <p:cNvPicPr>
            <a:picLocks noChangeAspect="1"/>
          </p:cNvPicPr>
          <p:nvPr/>
        </p:nvPicPr>
        <p:blipFill>
          <a:blip r:embed="rId16">
            <a:extLst>
              <a:ext uri="{BEBA8EAE-BF5A-486C-A8C5-ECC9F3942E4B}">
                <a14:imgProps xmlns:a14="http://schemas.microsoft.com/office/drawing/2010/main">
                  <a14:imgLayer r:embed="rId1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6542188" y="1736455"/>
            <a:ext cx="4670339" cy="3948182"/>
          </a:xfrm>
          <a:prstGeom prst="rect">
            <a:avLst/>
          </a:prstGeom>
        </p:spPr>
      </p:pic>
      <p:grpSp>
        <p:nvGrpSpPr>
          <p:cNvPr id="24" name="组合 23"/>
          <p:cNvGrpSpPr/>
          <p:nvPr/>
        </p:nvGrpSpPr>
        <p:grpSpPr>
          <a:xfrm>
            <a:off x="1339982" y="1620432"/>
            <a:ext cx="5286401" cy="4037738"/>
            <a:chOff x="1048541" y="1594071"/>
            <a:chExt cx="5286401" cy="4037738"/>
          </a:xfrm>
        </p:grpSpPr>
        <p:grpSp>
          <p:nvGrpSpPr>
            <p:cNvPr id="25" name="组合 24"/>
            <p:cNvGrpSpPr/>
            <p:nvPr/>
          </p:nvGrpSpPr>
          <p:grpSpPr>
            <a:xfrm>
              <a:off x="2819681" y="4369150"/>
              <a:ext cx="3079263" cy="1262659"/>
              <a:chOff x="15194" y="4143"/>
              <a:chExt cx="4499" cy="3170"/>
            </a:xfrm>
          </p:grpSpPr>
          <p:sp>
            <p:nvSpPr>
              <p:cNvPr id="51" name="TextBox 216"/>
              <p:cNvSpPr txBox="1">
                <a:spLocks noChangeArrowheads="1"/>
              </p:cNvSpPr>
              <p:nvPr>
                <p:custDataLst>
                  <p:tags r:id="rId10"/>
                </p:custDataLst>
              </p:nvPr>
            </p:nvSpPr>
            <p:spPr bwMode="auto">
              <a:xfrm>
                <a:off x="17018" y="4143"/>
                <a:ext cx="2675" cy="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lvl="0" algn="ctr">
                  <a:buClrTx/>
                  <a:buSzTx/>
                  <a:buFontTx/>
                </a:pPr>
                <a:r>
                  <a:rPr lang="en-US" altLang="zh-CN" sz="1600" dirty="0">
                    <a:ea typeface="+mj-ea"/>
                    <a:cs typeface="Calibri" panose="020F0502020204030204" charset="0"/>
                    <a:sym typeface="+mn-ea"/>
                  </a:rPr>
                  <a:t>Suction nozzle</a:t>
                </a:r>
                <a:endParaRPr lang="en-US" altLang="zh-CN" sz="1600" dirty="0">
                  <a:latin typeface="+mn-lt"/>
                </a:endParaRPr>
              </a:p>
            </p:txBody>
          </p:sp>
          <p:sp>
            <p:nvSpPr>
              <p:cNvPr id="52" name="Shape 78"/>
              <p:cNvSpPr/>
              <p:nvPr>
                <p:custDataLst>
                  <p:tags r:id="rId11"/>
                </p:custDataLst>
              </p:nvPr>
            </p:nvSpPr>
            <p:spPr>
              <a:xfrm rot="10800000" flipV="1">
                <a:off x="15194" y="4710"/>
                <a:ext cx="1986" cy="2603"/>
              </a:xfrm>
              <a:prstGeom prst="line">
                <a:avLst/>
              </a:prstGeom>
              <a:ln w="28575" cmpd="sng">
                <a:solidFill>
                  <a:srgbClr val="00B050"/>
                </a:solidFill>
                <a:prstDash val="sysDash"/>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grpSp>
        <p:grpSp>
          <p:nvGrpSpPr>
            <p:cNvPr id="27" name="组合 26"/>
            <p:cNvGrpSpPr/>
            <p:nvPr/>
          </p:nvGrpSpPr>
          <p:grpSpPr>
            <a:xfrm>
              <a:off x="1328710" y="3555170"/>
              <a:ext cx="4302760" cy="1656080"/>
              <a:chOff x="12957" y="3380"/>
              <a:chExt cx="6776" cy="2608"/>
            </a:xfrm>
          </p:grpSpPr>
          <p:sp>
            <p:nvSpPr>
              <p:cNvPr id="49" name="TextBox 216"/>
              <p:cNvSpPr txBox="1">
                <a:spLocks noChangeArrowheads="1"/>
              </p:cNvSpPr>
              <p:nvPr>
                <p:custDataLst>
                  <p:tags r:id="rId8"/>
                </p:custDataLst>
              </p:nvPr>
            </p:nvSpPr>
            <p:spPr bwMode="auto">
              <a:xfrm>
                <a:off x="17575" y="3380"/>
                <a:ext cx="2158" cy="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lnSpc>
                    <a:spcPct val="150000"/>
                  </a:lnSpc>
                  <a:spcAft>
                    <a:spcPts val="0"/>
                  </a:spcAft>
                </a:pPr>
                <a:r>
                  <a:rPr lang="zh-CN" altLang="en-US" sz="1600" dirty="0">
                    <a:ea typeface="+mj-ea"/>
                    <a:cs typeface="Calibri" panose="020F0502020204030204" charset="0"/>
                  </a:rPr>
                  <a:t>optical</a:t>
                </a:r>
                <a:r>
                  <a:rPr lang="en-US" altLang="zh-CN" sz="1300" dirty="0">
                    <a:cs typeface="Calibri" panose="020F0502020204030204" charset="0"/>
                  </a:rPr>
                  <a:t> source</a:t>
                </a:r>
                <a:endParaRPr lang="zh-CN" altLang="zh-CN" sz="1300" dirty="0">
                  <a:cs typeface="Calibri" panose="020F0502020204030204" charset="0"/>
                </a:endParaRPr>
              </a:p>
            </p:txBody>
          </p:sp>
          <p:sp>
            <p:nvSpPr>
              <p:cNvPr id="50" name="Shape 78"/>
              <p:cNvSpPr/>
              <p:nvPr>
                <p:custDataLst>
                  <p:tags r:id="rId9"/>
                </p:custDataLst>
              </p:nvPr>
            </p:nvSpPr>
            <p:spPr>
              <a:xfrm rot="10800000" flipV="1">
                <a:off x="12957" y="3847"/>
                <a:ext cx="4618" cy="2141"/>
              </a:xfrm>
              <a:prstGeom prst="line">
                <a:avLst/>
              </a:prstGeom>
              <a:ln w="28575" cmpd="sng">
                <a:solidFill>
                  <a:srgbClr val="00B050"/>
                </a:solidFill>
                <a:prstDash val="sysDash"/>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grpSp>
        <p:grpSp>
          <p:nvGrpSpPr>
            <p:cNvPr id="38" name="组合 37"/>
            <p:cNvGrpSpPr/>
            <p:nvPr/>
          </p:nvGrpSpPr>
          <p:grpSpPr>
            <a:xfrm>
              <a:off x="1048541" y="1594071"/>
              <a:ext cx="4220845" cy="2192655"/>
              <a:chOff x="12353" y="4608"/>
              <a:chExt cx="6647" cy="3453"/>
            </a:xfrm>
          </p:grpSpPr>
          <p:sp>
            <p:nvSpPr>
              <p:cNvPr id="47" name="TextBox 216"/>
              <p:cNvSpPr txBox="1">
                <a:spLocks noChangeArrowheads="1"/>
              </p:cNvSpPr>
              <p:nvPr>
                <p:custDataLst>
                  <p:tags r:id="rId6"/>
                </p:custDataLst>
              </p:nvPr>
            </p:nvSpPr>
            <p:spPr bwMode="auto">
              <a:xfrm>
                <a:off x="17283" y="4608"/>
                <a:ext cx="1717"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r>
                  <a:rPr lang="en-US" altLang="zh-CN" sz="1600" dirty="0">
                    <a:cs typeface="Calibri" panose="020F0502020204030204" charset="0"/>
                    <a:sym typeface="+mn-ea"/>
                  </a:rPr>
                  <a:t>Upper CCD</a:t>
                </a:r>
                <a:endParaRPr lang="zh-CN" altLang="en-US" sz="1600" dirty="0">
                  <a:cs typeface="Calibri" panose="020F0502020204030204" charset="0"/>
                </a:endParaRPr>
              </a:p>
            </p:txBody>
          </p:sp>
          <p:sp>
            <p:nvSpPr>
              <p:cNvPr id="48" name="Shape 78"/>
              <p:cNvSpPr/>
              <p:nvPr>
                <p:custDataLst>
                  <p:tags r:id="rId7"/>
                </p:custDataLst>
              </p:nvPr>
            </p:nvSpPr>
            <p:spPr>
              <a:xfrm rot="10800000" flipV="1">
                <a:off x="12353" y="4956"/>
                <a:ext cx="4782" cy="3105"/>
              </a:xfrm>
              <a:prstGeom prst="line">
                <a:avLst/>
              </a:prstGeom>
              <a:ln w="28575" cmpd="sng">
                <a:solidFill>
                  <a:srgbClr val="00B050"/>
                </a:solidFill>
                <a:prstDash val="sysDash"/>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grpSp>
        <p:grpSp>
          <p:nvGrpSpPr>
            <p:cNvPr id="39" name="组合 38"/>
            <p:cNvGrpSpPr/>
            <p:nvPr/>
          </p:nvGrpSpPr>
          <p:grpSpPr>
            <a:xfrm>
              <a:off x="3038022" y="2418296"/>
              <a:ext cx="3296920" cy="1368425"/>
              <a:chOff x="15209" y="4215"/>
              <a:chExt cx="5192" cy="2155"/>
            </a:xfrm>
          </p:grpSpPr>
          <p:sp>
            <p:nvSpPr>
              <p:cNvPr id="40" name="TextBox 216"/>
              <p:cNvSpPr txBox="1">
                <a:spLocks noChangeArrowheads="1"/>
              </p:cNvSpPr>
              <p:nvPr>
                <p:custDataLst>
                  <p:tags r:id="rId4"/>
                </p:custDataLst>
              </p:nvPr>
            </p:nvSpPr>
            <p:spPr bwMode="auto">
              <a:xfrm>
                <a:off x="16897" y="4215"/>
                <a:ext cx="3504" cy="1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l"/>
                <a:r>
                  <a:rPr lang="en-US" altLang="zh-CN" sz="1400" dirty="0">
                    <a:sym typeface="+mn-ea"/>
                  </a:rPr>
                  <a:t>ZRB-MM8-P10-S50-M28-EC</a:t>
                </a:r>
                <a:endParaRPr lang="en-US" sz="1300" dirty="0">
                  <a:cs typeface="Calibri" panose="020F0502020204030204" charset="0"/>
                  <a:sym typeface="+mn-ea"/>
                </a:endParaRPr>
              </a:p>
              <a:p>
                <a:pPr algn="l"/>
                <a:r>
                  <a:rPr lang="zh-CN" altLang="en-US" sz="1300" dirty="0">
                    <a:cs typeface="Calibri" panose="020F0502020204030204" charset="0"/>
                  </a:rPr>
                  <a:t>（ Rated thrust</a:t>
                </a:r>
                <a:r>
                  <a:rPr lang="en-US" altLang="zh-CN" sz="1300" dirty="0">
                    <a:cs typeface="Calibri" panose="020F0502020204030204" charset="0"/>
                  </a:rPr>
                  <a:t>20N </a:t>
                </a:r>
                <a:r>
                  <a:rPr lang="zh-CN" altLang="en-US" sz="1300" dirty="0">
                    <a:cs typeface="Calibri" panose="020F0502020204030204" charset="0"/>
                  </a:rPr>
                  <a:t>）</a:t>
                </a:r>
                <a:endParaRPr lang="en-US" altLang="zh-CN" sz="1200" dirty="0">
                  <a:latin typeface="微软雅黑" panose="020B0503020204020204" pitchFamily="34" charset="-122"/>
                  <a:ea typeface="微软雅黑" panose="020B0503020204020204" pitchFamily="34" charset="-122"/>
                </a:endParaRPr>
              </a:p>
              <a:p>
                <a:pPr algn="ctr"/>
                <a:endParaRPr lang="zh-CN" altLang="en-US" sz="1300" dirty="0">
                  <a:cs typeface="Calibri" panose="020F0502020204030204" charset="0"/>
                </a:endParaRPr>
              </a:p>
            </p:txBody>
          </p:sp>
          <p:sp>
            <p:nvSpPr>
              <p:cNvPr id="46" name="Shape 78"/>
              <p:cNvSpPr/>
              <p:nvPr>
                <p:custDataLst>
                  <p:tags r:id="rId5"/>
                </p:custDataLst>
              </p:nvPr>
            </p:nvSpPr>
            <p:spPr>
              <a:xfrm rot="10800000" flipV="1">
                <a:off x="15209" y="4956"/>
                <a:ext cx="1926" cy="1414"/>
              </a:xfrm>
              <a:prstGeom prst="line">
                <a:avLst/>
              </a:prstGeom>
              <a:ln w="28575" cmpd="sng">
                <a:solidFill>
                  <a:srgbClr val="00B050"/>
                </a:solidFill>
                <a:prstDash val="sysDash"/>
                <a:tailEnd type="triangle"/>
              </a:ln>
              <a:effectLst/>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gr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300" smtClean="0">
                <a:solidFill>
                  <a:srgbClr val="898989"/>
                </a:solidFill>
                <a:ea typeface="微软雅黑" panose="020B0503020204020204" pitchFamily="34" charset="-122"/>
                <a:cs typeface="Calibri" panose="020F0502020204030204" charset="0"/>
              </a:rPr>
              <a:t>20</a:t>
            </a:fld>
            <a:endParaRPr lang="zh-TW" altLang="en-US" sz="1300" dirty="0">
              <a:solidFill>
                <a:srgbClr val="898989"/>
              </a:solidFill>
              <a:ea typeface="微软雅黑" panose="020B0503020204020204" pitchFamily="34" charset="-122"/>
              <a:cs typeface="Calibri" panose="020F0502020204030204" charset="0"/>
            </a:endParaRPr>
          </a:p>
        </p:txBody>
      </p:sp>
      <p:sp>
        <p:nvSpPr>
          <p:cNvPr id="5" name="TextBox 29"/>
          <p:cNvSpPr txBox="1">
            <a:spLocks noChangeArrowheads="1"/>
          </p:cNvSpPr>
          <p:nvPr/>
        </p:nvSpPr>
        <p:spPr bwMode="auto">
          <a:xfrm>
            <a:off x="10915291" y="782112"/>
            <a:ext cx="1078053" cy="291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300">
                <a:cs typeface="Calibri" panose="020F0502020204030204" charset="0"/>
              </a:rPr>
              <a:t>unit</a:t>
            </a:r>
            <a:r>
              <a:rPr lang="zh-CN" altLang="en-US" sz="1300">
                <a:cs typeface="Calibri" panose="020F0502020204030204" charset="0"/>
              </a:rPr>
              <a:t>：</a:t>
            </a:r>
            <a:r>
              <a:rPr lang="en-US" altLang="zh-CN" sz="1300">
                <a:cs typeface="Calibri" panose="020F0502020204030204" charset="0"/>
              </a:rPr>
              <a:t>mm</a:t>
            </a:r>
            <a:endParaRPr lang="zh-CN" altLang="en-US" sz="1300">
              <a:cs typeface="Calibri" panose="020F0502020204030204" charset="0"/>
            </a:endParaRPr>
          </a:p>
        </p:txBody>
      </p:sp>
      <p:sp>
        <p:nvSpPr>
          <p:cNvPr id="2" name="標題 1"/>
          <p:cNvSpPr txBox="1"/>
          <p:nvPr>
            <p:custDataLst>
              <p:tags r:id="rId2"/>
            </p:custDataLst>
          </p:nvPr>
        </p:nvSpPr>
        <p:spPr>
          <a:xfrm>
            <a:off x="741988" y="135368"/>
            <a:ext cx="9543610"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eaLnBrk="1" fontAlgn="b" hangingPunct="1"/>
            <a:r>
              <a:rPr lang="en-US" altLang="zh-CN" dirty="0">
                <a:sym typeface="+mn-ea"/>
              </a:rPr>
              <a:t>6.</a:t>
            </a:r>
            <a:r>
              <a:rPr lang="en-US" altLang="zh-CN" dirty="0">
                <a:sym typeface="宋体" panose="02010600030101010101" pitchFamily="2" charset="-122"/>
              </a:rPr>
              <a:t>Key fixture design</a:t>
            </a:r>
            <a:endParaRPr lang="en-US" altLang="zh-CN" dirty="0">
              <a:latin typeface="+mn-lt"/>
            </a:endParaRPr>
          </a:p>
        </p:txBody>
      </p:sp>
      <p:sp>
        <p:nvSpPr>
          <p:cNvPr id="8" name="文本框 7"/>
          <p:cNvSpPr txBox="1"/>
          <p:nvPr>
            <p:custDataLst>
              <p:tags r:id="rId3"/>
            </p:custDataLst>
          </p:nvPr>
        </p:nvSpPr>
        <p:spPr>
          <a:xfrm>
            <a:off x="300990" y="768350"/>
            <a:ext cx="4298950" cy="322580"/>
          </a:xfrm>
          <a:prstGeom prst="rect">
            <a:avLst/>
          </a:prstGeom>
          <a:noFill/>
        </p:spPr>
        <p:txBody>
          <a:bodyPr wrap="square" lIns="0" tIns="0" rtlCol="0">
            <a:spAutoFit/>
          </a:bodyPr>
          <a:lstStyle>
            <a:defPPr>
              <a:defRPr lang="zh-CN"/>
            </a:defPPr>
            <a:lvl1pPr>
              <a:defRPr sz="1600">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b="1" dirty="0">
                <a:solidFill>
                  <a:prstClr val="black"/>
                </a:solidFill>
                <a:latin typeface="Calibri" panose="020F0502020204030204" charset="0"/>
                <a:cs typeface="Calibri" panose="020F0502020204030204" charset="0"/>
                <a:sym typeface="+mn-ea"/>
              </a:rPr>
              <a:t>6</a:t>
            </a:r>
            <a:r>
              <a:rPr kumimoji="0" lang="en-US" altLang="zh-CN" sz="1800" b="1" i="0" u="none" strike="noStrike" kern="1200" cap="none" spc="0" normalizeH="0" baseline="0" noProof="0" dirty="0">
                <a:ln>
                  <a:noFill/>
                </a:ln>
                <a:solidFill>
                  <a:prstClr val="black"/>
                </a:solidFill>
                <a:effectLst/>
                <a:uLnTx/>
                <a:uFillTx/>
                <a:latin typeface="Calibri" panose="020F0502020204030204" charset="0"/>
                <a:ea typeface="微软雅黑" panose="020B0503020204020204" pitchFamily="34" charset="-122"/>
                <a:cs typeface="Calibri" panose="020F0502020204030204" charset="0"/>
                <a:sym typeface="+mn-ea"/>
              </a:rPr>
              <a:t>.1Material fetching mechanism</a:t>
            </a:r>
          </a:p>
        </p:txBody>
      </p:sp>
      <p:pic>
        <p:nvPicPr>
          <p:cNvPr id="4" name="图片 3" descr="图示&#10;&#10;低可信度描述已自动生成"/>
          <p:cNvPicPr>
            <a:picLocks noChangeAspect="1"/>
          </p:cNvPicPr>
          <p:nvPr/>
        </p:nvPicPr>
        <p:blipFill>
          <a:blip r:embed="rId21" cstate="print">
            <a:extLst>
              <a:ext uri="{BEBA8EAE-BF5A-486C-A8C5-ECC9F3942E4B}">
                <a14:imgProps xmlns:a14="http://schemas.microsoft.com/office/drawing/2010/main">
                  <a14:imgLayer r:embed="rId22">
                    <a14:imgEffect>
                      <a14:brightnessContrast bright="20000"/>
                    </a14:imgEffect>
                  </a14:imgLayer>
                </a14:imgProps>
              </a:ext>
              <a:ext uri="{28A0092B-C50C-407E-A947-70E740481C1C}">
                <a14:useLocalDpi xmlns:a14="http://schemas.microsoft.com/office/drawing/2010/main" val="0"/>
              </a:ext>
            </a:extLst>
          </a:blip>
          <a:stretch>
            <a:fillRect/>
          </a:stretch>
        </p:blipFill>
        <p:spPr>
          <a:xfrm>
            <a:off x="3345924" y="4128839"/>
            <a:ext cx="2084642" cy="1957593"/>
          </a:xfrm>
          <a:prstGeom prst="rect">
            <a:avLst/>
          </a:prstGeom>
        </p:spPr>
      </p:pic>
      <p:grpSp>
        <p:nvGrpSpPr>
          <p:cNvPr id="9" name="组合 8"/>
          <p:cNvGrpSpPr/>
          <p:nvPr/>
        </p:nvGrpSpPr>
        <p:grpSpPr>
          <a:xfrm>
            <a:off x="260667" y="2657450"/>
            <a:ext cx="2751496" cy="2425993"/>
            <a:chOff x="72955" y="2058397"/>
            <a:chExt cx="3386071" cy="3298793"/>
          </a:xfrm>
        </p:grpSpPr>
        <p:grpSp>
          <p:nvGrpSpPr>
            <p:cNvPr id="10" name="组合 9"/>
            <p:cNvGrpSpPr/>
            <p:nvPr/>
          </p:nvGrpSpPr>
          <p:grpSpPr>
            <a:xfrm>
              <a:off x="72955" y="2442400"/>
              <a:ext cx="3386071" cy="2760397"/>
              <a:chOff x="2076130" y="3352587"/>
              <a:chExt cx="2136129" cy="1922389"/>
            </a:xfrm>
          </p:grpSpPr>
          <p:pic>
            <p:nvPicPr>
              <p:cNvPr id="37" name="图片 36"/>
              <p:cNvPicPr>
                <a:picLocks noChangeAspect="1"/>
              </p:cNvPicPr>
              <p:nvPr/>
            </p:nvPicPr>
            <p:blipFill>
              <a:blip r:embed="rId23"/>
              <a:stretch>
                <a:fillRect/>
              </a:stretch>
            </p:blipFill>
            <p:spPr>
              <a:xfrm>
                <a:off x="2853142" y="3352587"/>
                <a:ext cx="430074" cy="1039345"/>
              </a:xfrm>
              <a:prstGeom prst="rect">
                <a:avLst/>
              </a:prstGeom>
            </p:spPr>
          </p:pic>
          <p:grpSp>
            <p:nvGrpSpPr>
              <p:cNvPr id="40" name="组合 53"/>
              <p:cNvGrpSpPr>
                <a:grpSpLocks noChangeAspect="1"/>
              </p:cNvGrpSpPr>
              <p:nvPr/>
            </p:nvGrpSpPr>
            <p:grpSpPr>
              <a:xfrm>
                <a:off x="2076130" y="3763178"/>
                <a:ext cx="1321047" cy="1164852"/>
                <a:chOff x="11361" y="7316"/>
                <a:chExt cx="5877" cy="7739"/>
              </a:xfrm>
            </p:grpSpPr>
            <p:sp>
              <p:nvSpPr>
                <p:cNvPr id="43" name="文本框 54"/>
                <p:cNvSpPr txBox="1"/>
                <p:nvPr/>
              </p:nvSpPr>
              <p:spPr>
                <a:xfrm>
                  <a:off x="11361" y="7316"/>
                  <a:ext cx="2724" cy="1636"/>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algn="ctr"/>
                  <a:r>
                    <a:rPr lang="en-US" altLang="zh-CN" sz="1000" dirty="0">
                      <a:solidFill>
                        <a:srgbClr val="FF0000"/>
                      </a:solidFill>
                    </a:rPr>
                    <a:t>9mm</a:t>
                  </a:r>
                </a:p>
              </p:txBody>
            </p:sp>
            <p:sp>
              <p:nvSpPr>
                <p:cNvPr id="50" name="文本框 55"/>
                <p:cNvSpPr txBox="1"/>
                <p:nvPr/>
              </p:nvSpPr>
              <p:spPr>
                <a:xfrm>
                  <a:off x="14310" y="13426"/>
                  <a:ext cx="2928" cy="1629"/>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algn="ctr"/>
                  <a:r>
                    <a:rPr lang="en-US" altLang="zh-CN" sz="1000" dirty="0">
                      <a:solidFill>
                        <a:srgbClr val="FF0000"/>
                      </a:solidFill>
                    </a:rPr>
                    <a:t>2.48mm</a:t>
                  </a:r>
                </a:p>
              </p:txBody>
            </p:sp>
          </p:grpSp>
          <p:sp>
            <p:nvSpPr>
              <p:cNvPr id="41" name="文本框 58"/>
              <p:cNvSpPr txBox="1"/>
              <p:nvPr/>
            </p:nvSpPr>
            <p:spPr>
              <a:xfrm>
                <a:off x="3011559" y="5039201"/>
                <a:ext cx="347067" cy="235775"/>
              </a:xfrm>
              <a:prstGeom prst="rect">
                <a:avLst/>
              </a:prstGeom>
              <a:noFill/>
            </p:spPr>
            <p:txBody>
              <a:bodyPr wrap="none" rtlCol="0">
                <a:spAutoFit/>
              </a:bodyPr>
              <a:lstStyle/>
              <a:p>
                <a:pPr algn="ctr"/>
                <a:r>
                  <a:rPr lang="en-US" altLang="zh-CN" sz="1600" b="1" dirty="0"/>
                  <a:t>EMI</a:t>
                </a:r>
                <a:endParaRPr lang="zh-CN" altLang="en-US" sz="1600" b="1" dirty="0"/>
              </a:p>
            </p:txBody>
          </p:sp>
          <p:sp>
            <p:nvSpPr>
              <p:cNvPr id="42" name="文本框 41"/>
              <p:cNvSpPr txBox="1"/>
              <p:nvPr/>
            </p:nvSpPr>
            <p:spPr>
              <a:xfrm>
                <a:off x="3424038" y="3793451"/>
                <a:ext cx="788221" cy="246221"/>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algn="ctr"/>
                <a:r>
                  <a:rPr lang="en-US" altLang="zh-CN" sz="1000" dirty="0">
                    <a:solidFill>
                      <a:srgbClr val="FF0000"/>
                    </a:solidFill>
                  </a:rPr>
                  <a:t>10.07mm</a:t>
                </a:r>
              </a:p>
            </p:txBody>
          </p:sp>
        </p:grpSp>
        <p:grpSp>
          <p:nvGrpSpPr>
            <p:cNvPr id="12" name="组合 11"/>
            <p:cNvGrpSpPr/>
            <p:nvPr/>
          </p:nvGrpSpPr>
          <p:grpSpPr>
            <a:xfrm rot="10800000">
              <a:off x="1830821" y="2627698"/>
              <a:ext cx="783170" cy="1164559"/>
              <a:chOff x="5775" y="6589"/>
              <a:chExt cx="140" cy="531"/>
            </a:xfrm>
          </p:grpSpPr>
          <p:cxnSp>
            <p:nvCxnSpPr>
              <p:cNvPr id="32" name="直接连接符 31"/>
              <p:cNvCxnSpPr/>
              <p:nvPr>
                <p:custDataLst>
                  <p:tags r:id="rId16"/>
                </p:custDataLst>
              </p:nvPr>
            </p:nvCxnSpPr>
            <p:spPr>
              <a:xfrm>
                <a:off x="5780" y="7119"/>
                <a:ext cx="129"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custDataLst>
                  <p:tags r:id="rId17"/>
                </p:custDataLst>
              </p:nvPr>
            </p:nvCxnSpPr>
            <p:spPr>
              <a:xfrm rot="10800000" flipV="1">
                <a:off x="5800" y="6589"/>
                <a:ext cx="0" cy="513"/>
              </a:xfrm>
              <a:prstGeom prst="straightConnector1">
                <a:avLst/>
              </a:prstGeom>
              <a:ln w="127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custDataLst>
                  <p:tags r:id="rId18"/>
                </p:custDataLst>
              </p:nvPr>
            </p:nvCxnSpPr>
            <p:spPr>
              <a:xfrm flipV="1">
                <a:off x="5775" y="6602"/>
                <a:ext cx="140"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6200000">
              <a:off x="1372265" y="3924965"/>
              <a:ext cx="490571" cy="300578"/>
              <a:chOff x="5775" y="6602"/>
              <a:chExt cx="140" cy="518"/>
            </a:xfrm>
          </p:grpSpPr>
          <p:cxnSp>
            <p:nvCxnSpPr>
              <p:cNvPr id="29" name="直接连接符 28"/>
              <p:cNvCxnSpPr/>
              <p:nvPr>
                <p:custDataLst>
                  <p:tags r:id="rId13"/>
                </p:custDataLst>
              </p:nvPr>
            </p:nvCxnSpPr>
            <p:spPr>
              <a:xfrm>
                <a:off x="5780" y="7119"/>
                <a:ext cx="129"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custDataLst>
                  <p:tags r:id="rId14"/>
                </p:custDataLst>
              </p:nvPr>
            </p:nvCxnSpPr>
            <p:spPr>
              <a:xfrm rot="10800000" flipV="1">
                <a:off x="5800" y="6602"/>
                <a:ext cx="0" cy="513"/>
              </a:xfrm>
              <a:prstGeom prst="straightConnector1">
                <a:avLst/>
              </a:prstGeom>
              <a:ln w="127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15"/>
                </p:custDataLst>
              </p:nvPr>
            </p:nvCxnSpPr>
            <p:spPr>
              <a:xfrm flipV="1">
                <a:off x="5775" y="6602"/>
                <a:ext cx="140"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782727" y="2683129"/>
              <a:ext cx="681729" cy="1010066"/>
              <a:chOff x="5775" y="6602"/>
              <a:chExt cx="140" cy="518"/>
            </a:xfrm>
          </p:grpSpPr>
          <p:cxnSp>
            <p:nvCxnSpPr>
              <p:cNvPr id="16" name="直接连接符 15"/>
              <p:cNvCxnSpPr/>
              <p:nvPr>
                <p:custDataLst>
                  <p:tags r:id="rId10"/>
                </p:custDataLst>
              </p:nvPr>
            </p:nvCxnSpPr>
            <p:spPr>
              <a:xfrm>
                <a:off x="5780" y="7119"/>
                <a:ext cx="129"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custDataLst>
                  <p:tags r:id="rId11"/>
                </p:custDataLst>
              </p:nvPr>
            </p:nvCxnSpPr>
            <p:spPr>
              <a:xfrm rot="10800000" flipV="1">
                <a:off x="5800" y="6602"/>
                <a:ext cx="0" cy="513"/>
              </a:xfrm>
              <a:prstGeom prst="straightConnector1">
                <a:avLst/>
              </a:prstGeom>
              <a:ln w="127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2"/>
                </p:custDataLst>
              </p:nvPr>
            </p:nvCxnSpPr>
            <p:spPr>
              <a:xfrm flipV="1">
                <a:off x="5775" y="6602"/>
                <a:ext cx="140"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5" name="矩形 14"/>
            <p:cNvSpPr/>
            <p:nvPr/>
          </p:nvSpPr>
          <p:spPr>
            <a:xfrm>
              <a:off x="295296" y="2058397"/>
              <a:ext cx="2894948" cy="3298793"/>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3" name="组合 52"/>
          <p:cNvGrpSpPr/>
          <p:nvPr/>
        </p:nvGrpSpPr>
        <p:grpSpPr>
          <a:xfrm>
            <a:off x="3408530" y="1491253"/>
            <a:ext cx="2727235" cy="2340304"/>
            <a:chOff x="5979645" y="1187771"/>
            <a:chExt cx="5432199" cy="4959615"/>
          </a:xfrm>
        </p:grpSpPr>
        <p:pic>
          <p:nvPicPr>
            <p:cNvPr id="55" name="图片 54" descr="形状, 饼图, 圆圈&#10;&#10;描述已自动生成"/>
            <p:cNvPicPr>
              <a:picLocks noChangeAspect="1"/>
            </p:cNvPicPr>
            <p:nvPr/>
          </p:nvPicPr>
          <p:blipFill>
            <a:blip r:embed="rId24" cstate="print">
              <a:extLst>
                <a:ext uri="{BEBA8EAE-BF5A-486C-A8C5-ECC9F3942E4B}">
                  <a14:imgProps xmlns:a14="http://schemas.microsoft.com/office/drawing/2010/main">
                    <a14:imgLayer r:embed="rId25">
                      <a14:imgEffect>
                        <a14:backgroundRemoval t="8654" b="93750" l="690" r="95345">
                          <a14:foregroundMark x1="49483" y1="10417" x2="49483" y2="10417"/>
                          <a14:foregroundMark x1="44310" y1="10897" x2="50862" y2="10897"/>
                          <a14:foregroundMark x1="37586" y1="11218" x2="54483" y2="8814"/>
                          <a14:foregroundMark x1="10517" y1="32853" x2="1034" y2="56410"/>
                          <a14:foregroundMark x1="1034" y1="56410" x2="1034" y2="58494"/>
                          <a14:foregroundMark x1="91379" y1="42788" x2="90862" y2="59936"/>
                          <a14:foregroundMark x1="36379" y1="89904" x2="54828" y2="90545"/>
                          <a14:foregroundMark x1="44483" y1="93750" x2="53276" y2="93910"/>
                          <a14:foregroundMark x1="41897" y1="9455" x2="55345" y2="8814"/>
                          <a14:foregroundMark x1="93793" y1="47756" x2="93793" y2="63141"/>
                          <a14:foregroundMark x1="94483" y1="42468" x2="95345" y2="61378"/>
                        </a14:backgroundRemoval>
                      </a14:imgEffect>
                    </a14:imgLayer>
                  </a14:imgProps>
                </a:ext>
                <a:ext uri="{28A0092B-C50C-407E-A947-70E740481C1C}">
                  <a14:useLocalDpi xmlns:a14="http://schemas.microsoft.com/office/drawing/2010/main" val="0"/>
                </a:ext>
              </a:extLst>
            </a:blip>
            <a:stretch>
              <a:fillRect/>
            </a:stretch>
          </p:blipFill>
          <p:spPr>
            <a:xfrm>
              <a:off x="5979645" y="1187771"/>
              <a:ext cx="3933204" cy="4231588"/>
            </a:xfrm>
            <a:prstGeom prst="rect">
              <a:avLst/>
            </a:prstGeom>
          </p:spPr>
        </p:pic>
        <p:sp>
          <p:nvSpPr>
            <p:cNvPr id="57" name="文本框 48"/>
            <p:cNvSpPr txBox="1"/>
            <p:nvPr/>
          </p:nvSpPr>
          <p:spPr>
            <a:xfrm>
              <a:off x="7476871" y="5522808"/>
              <a:ext cx="1528508" cy="624578"/>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algn="ctr"/>
              <a:r>
                <a:rPr lang="en-US" altLang="zh-CN" sz="1200" dirty="0">
                  <a:solidFill>
                    <a:srgbClr val="FF0000"/>
                  </a:solidFill>
                </a:rPr>
                <a:t>2mm</a:t>
              </a:r>
            </a:p>
          </p:txBody>
        </p:sp>
        <p:sp>
          <p:nvSpPr>
            <p:cNvPr id="58" name="文本框 49"/>
            <p:cNvSpPr txBox="1"/>
            <p:nvPr/>
          </p:nvSpPr>
          <p:spPr>
            <a:xfrm>
              <a:off x="10101562" y="3182367"/>
              <a:ext cx="1310282" cy="624578"/>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lstStyle/>
            <a:p>
              <a:pPr algn="ctr"/>
              <a:r>
                <a:rPr lang="en-US" altLang="zh-CN" sz="1200" dirty="0">
                  <a:solidFill>
                    <a:srgbClr val="FF0000"/>
                  </a:solidFill>
                </a:rPr>
                <a:t>8mm</a:t>
              </a:r>
            </a:p>
          </p:txBody>
        </p:sp>
        <p:grpSp>
          <p:nvGrpSpPr>
            <p:cNvPr id="61" name="组合 60"/>
            <p:cNvGrpSpPr/>
            <p:nvPr/>
          </p:nvGrpSpPr>
          <p:grpSpPr>
            <a:xfrm rot="16200000">
              <a:off x="7196418" y="4736434"/>
              <a:ext cx="1359671" cy="507918"/>
              <a:chOff x="5775" y="6602"/>
              <a:chExt cx="140" cy="518"/>
            </a:xfrm>
          </p:grpSpPr>
          <p:cxnSp>
            <p:nvCxnSpPr>
              <p:cNvPr id="69" name="直接连接符 68"/>
              <p:cNvCxnSpPr/>
              <p:nvPr>
                <p:custDataLst>
                  <p:tags r:id="rId7"/>
                </p:custDataLst>
              </p:nvPr>
            </p:nvCxnSpPr>
            <p:spPr>
              <a:xfrm>
                <a:off x="5780" y="7119"/>
                <a:ext cx="129"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custDataLst>
                  <p:tags r:id="rId8"/>
                </p:custDataLst>
              </p:nvPr>
            </p:nvCxnSpPr>
            <p:spPr>
              <a:xfrm>
                <a:off x="5800" y="6602"/>
                <a:ext cx="1" cy="509"/>
              </a:xfrm>
              <a:prstGeom prst="straightConnector1">
                <a:avLst/>
              </a:prstGeom>
              <a:ln w="127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custDataLst>
                  <p:tags r:id="rId9"/>
                </p:custDataLst>
              </p:nvPr>
            </p:nvCxnSpPr>
            <p:spPr>
              <a:xfrm flipV="1">
                <a:off x="5775" y="6602"/>
                <a:ext cx="140"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rot="10800000">
              <a:off x="8159048" y="2311377"/>
              <a:ext cx="2259756" cy="2087823"/>
              <a:chOff x="5775" y="6602"/>
              <a:chExt cx="140" cy="518"/>
            </a:xfrm>
          </p:grpSpPr>
          <p:cxnSp>
            <p:nvCxnSpPr>
              <p:cNvPr id="66" name="直接连接符 65"/>
              <p:cNvCxnSpPr/>
              <p:nvPr>
                <p:custDataLst>
                  <p:tags r:id="rId4"/>
                </p:custDataLst>
              </p:nvPr>
            </p:nvCxnSpPr>
            <p:spPr>
              <a:xfrm>
                <a:off x="5780" y="7119"/>
                <a:ext cx="129"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custDataLst>
                  <p:tags r:id="rId5"/>
                </p:custDataLst>
              </p:nvPr>
            </p:nvCxnSpPr>
            <p:spPr>
              <a:xfrm>
                <a:off x="5800" y="6602"/>
                <a:ext cx="1" cy="509"/>
              </a:xfrm>
              <a:prstGeom prst="straightConnector1">
                <a:avLst/>
              </a:prstGeom>
              <a:ln w="12700">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custDataLst>
                  <p:tags r:id="rId6"/>
                </p:custDataLst>
              </p:nvPr>
            </p:nvCxnSpPr>
            <p:spPr>
              <a:xfrm flipV="1">
                <a:off x="5775" y="6602"/>
                <a:ext cx="140" cy="1"/>
              </a:xfrm>
              <a:prstGeom prst="line">
                <a:avLst/>
              </a:prstGeom>
              <a:ln w="127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3" name="组合 72"/>
          <p:cNvGrpSpPr/>
          <p:nvPr/>
        </p:nvGrpSpPr>
        <p:grpSpPr>
          <a:xfrm>
            <a:off x="6424663" y="1536028"/>
            <a:ext cx="5626032" cy="4633023"/>
            <a:chOff x="5828285" y="1177506"/>
            <a:chExt cx="5626032" cy="4633023"/>
          </a:xfrm>
        </p:grpSpPr>
        <p:pic>
          <p:nvPicPr>
            <p:cNvPr id="74" name="图片 73" descr="图示&#10;&#10;描述已自动生成"/>
            <p:cNvPicPr>
              <a:picLocks noChangeAspect="1"/>
            </p:cNvPicPr>
            <p:nvPr/>
          </p:nvPicPr>
          <p:blipFill>
            <a:blip r:embed="rId26">
              <a:extLst>
                <a:ext uri="{BEBA8EAE-BF5A-486C-A8C5-ECC9F3942E4B}">
                  <a14:imgProps xmlns:a14="http://schemas.microsoft.com/office/drawing/2010/main">
                    <a14:imgLayer r:embed="rId2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7677763" y="1177506"/>
              <a:ext cx="3776554" cy="4633023"/>
            </a:xfrm>
            <a:prstGeom prst="rect">
              <a:avLst/>
            </a:prstGeom>
          </p:spPr>
        </p:pic>
        <p:sp>
          <p:nvSpPr>
            <p:cNvPr id="75" name="圆角矩形标注 6"/>
            <p:cNvSpPr/>
            <p:nvPr/>
          </p:nvSpPr>
          <p:spPr>
            <a:xfrm>
              <a:off x="5828285" y="1536814"/>
              <a:ext cx="1715309" cy="1144905"/>
            </a:xfrm>
            <a:prstGeom prst="wedgeRoundRectCallout">
              <a:avLst>
                <a:gd name="adj1" fmla="val 78326"/>
                <a:gd name="adj2" fmla="val 89090"/>
                <a:gd name="adj3" fmla="val 16667"/>
              </a:avLst>
            </a:prstGeom>
            <a:solidFill>
              <a:schemeClr val="bg1"/>
            </a:solidFill>
            <a:ln w="22225" cap="flat" cmpd="sng">
              <a:solidFill>
                <a:srgbClr val="FF0000"/>
              </a:solidFill>
              <a:prstDash val="solid"/>
              <a:round/>
              <a:headEnd type="none" w="med" len="med"/>
              <a:tailEnd type="none" w="med" len="med"/>
            </a:ln>
          </p:spPr>
          <p:txBody>
            <a:bodyPr wrap="square" anchor="ctr" anchorCtr="0"/>
            <a:lstStyle/>
            <a:p>
              <a:pPr algn="l">
                <a:buNone/>
              </a:pPr>
              <a:r>
                <a:rPr lang="en-US" altLang="zh-CN" sz="1200" dirty="0">
                  <a:cs typeface="Cambria" panose="02040503050406030204" pitchFamily="18" charset="0"/>
                  <a:sym typeface="+mn-ea"/>
                </a:rPr>
                <a:t>Universal structure, built-in spring as placement buffer, placement pressure of 8-16N.</a:t>
              </a:r>
              <a:endParaRPr lang="zh-CN" altLang="en-US" sz="1200" dirty="0">
                <a:latin typeface="等线" panose="02010600030101010101" charset="-122"/>
                <a:ea typeface="等线" panose="02010600030101010101" charset="-122"/>
                <a:sym typeface="+mn-ea"/>
              </a:endParaRPr>
            </a:p>
          </p:txBody>
        </p:sp>
        <p:sp>
          <p:nvSpPr>
            <p:cNvPr id="78" name="圆角矩形标注 6"/>
            <p:cNvSpPr/>
            <p:nvPr/>
          </p:nvSpPr>
          <p:spPr>
            <a:xfrm>
              <a:off x="5828285" y="4246626"/>
              <a:ext cx="1745478" cy="1144905"/>
            </a:xfrm>
            <a:prstGeom prst="wedgeRoundRectCallout">
              <a:avLst>
                <a:gd name="adj1" fmla="val 72214"/>
                <a:gd name="adj2" fmla="val -5192"/>
                <a:gd name="adj3" fmla="val 16667"/>
              </a:avLst>
            </a:prstGeom>
            <a:solidFill>
              <a:schemeClr val="bg1"/>
            </a:solidFill>
            <a:ln w="22225" cap="flat" cmpd="sng">
              <a:solidFill>
                <a:srgbClr val="FF0000"/>
              </a:solidFill>
              <a:prstDash val="solid"/>
              <a:round/>
              <a:headEnd type="none" w="med" len="med"/>
              <a:tailEnd type="none" w="med" len="med"/>
            </a:ln>
          </p:spPr>
          <p:txBody>
            <a:bodyPr wrap="square" anchor="ctr" anchorCtr="0"/>
            <a:lstStyle/>
            <a:p>
              <a:pPr algn="l"/>
              <a:r>
                <a:rPr lang="en-US" altLang="zh-CN" sz="1200" dirty="0">
                  <a:latin typeface="等线" panose="02010600030101010101" charset="-122"/>
                  <a:ea typeface="等线" panose="02010600030101010101" charset="-122"/>
                  <a:sym typeface="+mn-ea"/>
                </a:rPr>
                <a:t>The adsorption surface is customized according to the shape of each excipient</a:t>
              </a:r>
            </a:p>
          </p:txBody>
        </p:sp>
      </p:grpSp>
      <p:sp>
        <p:nvSpPr>
          <p:cNvPr id="79" name="椭圆 78"/>
          <p:cNvSpPr/>
          <p:nvPr/>
        </p:nvSpPr>
        <p:spPr>
          <a:xfrm>
            <a:off x="10475630" y="5586756"/>
            <a:ext cx="656196" cy="39660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示, 工程绘图&#10;&#10;描述已自动生成"/>
          <p:cNvPicPr/>
          <p:nvPr/>
        </p:nvPicPr>
        <p:blipFill>
          <a:blip r:embed="rId10" cstate="print">
            <a:extLst>
              <a:ext uri="{BEBA8EAE-BF5A-486C-A8C5-ECC9F3942E4B}">
                <a14:imgProps xmlns:a14="http://schemas.microsoft.com/office/drawing/2010/main">
                  <a14:imgLayer r:embed="rId11">
                    <a14:imgEffect>
                      <a14:brightnessContrast bright="20000" contrast="20000"/>
                    </a14:imgEffect>
                  </a14:imgLayer>
                </a14:imgProps>
              </a:ext>
              <a:ext uri="{28A0092B-C50C-407E-A947-70E740481C1C}">
                <a14:useLocalDpi xmlns:a14="http://schemas.microsoft.com/office/drawing/2010/main" val="0"/>
              </a:ext>
            </a:extLst>
          </a:blip>
          <a:srcRect t="1757" b="1"/>
          <a:stretch>
            <a:fillRect/>
          </a:stretch>
        </p:blipFill>
        <p:spPr>
          <a:xfrm>
            <a:off x="4168992" y="825264"/>
            <a:ext cx="3378163" cy="2373442"/>
          </a:xfrm>
          <a:prstGeom prst="rect">
            <a:avLst/>
          </a:prstGeom>
        </p:spPr>
      </p:pic>
      <p:pic>
        <p:nvPicPr>
          <p:cNvPr id="8" name="图片 7" descr="图示, 工程绘图&#10;&#10;描述已自动生成"/>
          <p:cNvPicPr/>
          <p:nvPr/>
        </p:nvPicPr>
        <p:blipFill>
          <a:blip r:embed="rId12" cstate="print">
            <a:extLst>
              <a:ext uri="{BEBA8EAE-BF5A-486C-A8C5-ECC9F3942E4B}">
                <a14:imgProps xmlns:a14="http://schemas.microsoft.com/office/drawing/2010/main">
                  <a14:imgLayer r:embed="rId1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174768" y="3554406"/>
            <a:ext cx="3468776" cy="2593444"/>
          </a:xfrm>
          <a:prstGeom prst="rect">
            <a:avLst/>
          </a:prstGeom>
        </p:spPr>
      </p:pic>
      <p:pic>
        <p:nvPicPr>
          <p:cNvPr id="9" name="图片 8" descr="图示, 工程绘图&#10;&#10;描述已自动生成"/>
          <p:cNvPicPr/>
          <p:nvPr/>
        </p:nvPicPr>
        <p:blipFill>
          <a:blip r:embed="rId14" cstate="print">
            <a:extLst>
              <a:ext uri="{BEBA8EAE-BF5A-486C-A8C5-ECC9F3942E4B}">
                <a14:imgProps xmlns:a14="http://schemas.microsoft.com/office/drawing/2010/main">
                  <a14:imgLayer r:embed="rId1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038525" y="815531"/>
            <a:ext cx="3275217" cy="2373442"/>
          </a:xfrm>
          <a:prstGeom prst="rect">
            <a:avLst/>
          </a:prstGeom>
        </p:spPr>
      </p:pic>
      <p:pic>
        <p:nvPicPr>
          <p:cNvPr id="10" name="图片 9" descr="图示, 工程绘图&#10;&#10;描述已自动生成"/>
          <p:cNvPicPr/>
          <p:nvPr/>
        </p:nvPicPr>
        <p:blipFill>
          <a:blip r:embed="rId16" cstate="print">
            <a:extLst>
              <a:ext uri="{BEBA8EAE-BF5A-486C-A8C5-ECC9F3942E4B}">
                <a14:imgProps xmlns:a14="http://schemas.microsoft.com/office/drawing/2010/main">
                  <a14:imgLayer r:embed="rId17">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3911427" y="3448253"/>
            <a:ext cx="3868005" cy="2669038"/>
          </a:xfrm>
          <a:prstGeom prst="rect">
            <a:avLst/>
          </a:prstGeom>
        </p:spPr>
      </p:pic>
      <p:pic>
        <p:nvPicPr>
          <p:cNvPr id="15" name="图片 14" descr="图示&#10;&#10;描述已自动生成"/>
          <p:cNvPicPr/>
          <p:nvPr/>
        </p:nvPicPr>
        <p:blipFill>
          <a:blip r:embed="rId18" cstate="print">
            <a:extLst>
              <a:ext uri="{BEBA8EAE-BF5A-486C-A8C5-ECC9F3942E4B}">
                <a14:imgProps xmlns:a14="http://schemas.microsoft.com/office/drawing/2010/main">
                  <a14:imgLayer r:embed="rId19">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368159" y="3674502"/>
            <a:ext cx="3295332" cy="2422420"/>
          </a:xfrm>
          <a:prstGeom prst="rect">
            <a:avLst/>
          </a:prstGeom>
        </p:spPr>
      </p:pic>
      <p:pic>
        <p:nvPicPr>
          <p:cNvPr id="25" name="图片 24" descr="图示, 工程绘图&#10;&#10;描述已自动生成"/>
          <p:cNvPicPr/>
          <p:nvPr/>
        </p:nvPicPr>
        <p:blipFill>
          <a:blip r:embed="rId20" cstate="print">
            <a:extLst>
              <a:ext uri="{BEBA8EAE-BF5A-486C-A8C5-ECC9F3942E4B}">
                <a14:imgProps xmlns:a14="http://schemas.microsoft.com/office/drawing/2010/main">
                  <a14:imgLayer r:embed="rId21">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511648" y="825264"/>
            <a:ext cx="3197520" cy="2230975"/>
          </a:xfrm>
          <a:prstGeom prst="rect">
            <a:avLst/>
          </a:prstGeom>
        </p:spPr>
      </p:pic>
      <p:sp>
        <p:nvSpPr>
          <p:cNvPr id="30" name="Shape 78"/>
          <p:cNvSpPr/>
          <p:nvPr>
            <p:custDataLst>
              <p:tags r:id="rId1"/>
            </p:custDataLst>
          </p:nvPr>
        </p:nvSpPr>
        <p:spPr>
          <a:xfrm flipV="1">
            <a:off x="3654329" y="2266199"/>
            <a:ext cx="360000" cy="0"/>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lIns="0" tIns="0" rIns="0" bIns="0"/>
          <a:lstStyle/>
          <a:p>
            <a:pPr lvl="0" algn="ctr">
              <a:defRPr sz="3000"/>
            </a:pPr>
            <a:endParaRPr sz="1800"/>
          </a:p>
        </p:txBody>
      </p:sp>
      <p:sp>
        <p:nvSpPr>
          <p:cNvPr id="33" name="Shape 78"/>
          <p:cNvSpPr/>
          <p:nvPr>
            <p:custDataLst>
              <p:tags r:id="rId2"/>
            </p:custDataLst>
          </p:nvPr>
        </p:nvSpPr>
        <p:spPr>
          <a:xfrm flipV="1">
            <a:off x="7597486" y="2257673"/>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37" name="Shape 78"/>
          <p:cNvSpPr/>
          <p:nvPr>
            <p:custDataLst>
              <p:tags r:id="rId3"/>
            </p:custDataLst>
          </p:nvPr>
        </p:nvSpPr>
        <p:spPr>
          <a:xfrm rot="5400000" flipV="1">
            <a:off x="9823354" y="3550143"/>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38" name="Shape 78"/>
          <p:cNvSpPr/>
          <p:nvPr>
            <p:custDataLst>
              <p:tags r:id="rId4"/>
            </p:custDataLst>
          </p:nvPr>
        </p:nvSpPr>
        <p:spPr>
          <a:xfrm rot="10800000" flipV="1">
            <a:off x="7597486" y="5075858"/>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a:sym typeface="+mn-ea"/>
            </a:endParaRPr>
          </a:p>
        </p:txBody>
      </p:sp>
      <p:sp>
        <p:nvSpPr>
          <p:cNvPr id="39" name="Shape 78"/>
          <p:cNvSpPr/>
          <p:nvPr>
            <p:custDataLst>
              <p:tags r:id="rId5"/>
            </p:custDataLst>
          </p:nvPr>
        </p:nvSpPr>
        <p:spPr>
          <a:xfrm rot="10800000" flipV="1">
            <a:off x="3654329" y="5084384"/>
            <a:ext cx="360000" cy="8526"/>
          </a:xfrm>
          <a:prstGeom prst="line">
            <a:avLst/>
          </a:prstGeom>
          <a:ln w="38100" cmpd="sng">
            <a:solidFill>
              <a:srgbClr val="00B050"/>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lIns="0" tIns="0" rIns="0" bIns="0" numCol="1" spcCol="0" rtlCol="0" fromWordArt="0" anchor="ctr" anchorCtr="0" forceAA="0" compatLnSpc="1">
            <a:noAutofit/>
          </a:bodyPr>
          <a:lstStyle/>
          <a:p>
            <a:pPr lvl="0" algn="ctr">
              <a:buClrTx/>
              <a:buSzTx/>
              <a:buFontTx/>
              <a:defRPr sz="3000"/>
            </a:pPr>
            <a:endParaRPr sz="1800" dirty="0">
              <a:sym typeface="+mn-ea"/>
            </a:endParaRPr>
          </a:p>
        </p:txBody>
      </p:sp>
      <p:sp>
        <p:nvSpPr>
          <p:cNvPr id="40" name="灯片编号占位符 3"/>
          <p:cNvSpPr>
            <a:spLocks noGrp="1" noChangeArrowheads="1"/>
          </p:cNvSpPr>
          <p:nvPr>
            <p:custDataLst>
              <p:tags r:id="rId6"/>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21</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41"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sp>
        <p:nvSpPr>
          <p:cNvPr id="42" name="文本框 41"/>
          <p:cNvSpPr txBox="1"/>
          <p:nvPr/>
        </p:nvSpPr>
        <p:spPr>
          <a:xfrm>
            <a:off x="429671" y="2938211"/>
            <a:ext cx="3721047" cy="1015663"/>
          </a:xfrm>
          <a:prstGeom prst="rect">
            <a:avLst/>
          </a:prstGeom>
          <a:noFill/>
        </p:spPr>
        <p:txBody>
          <a:bodyPr wrap="square">
            <a:spAutoFit/>
          </a:bodyPr>
          <a:lstStyle/>
          <a:p>
            <a:pPr indent="0">
              <a:spcBef>
                <a:spcPct val="0"/>
              </a:spcBef>
              <a:buFont typeface="+mj-ea"/>
              <a:buNone/>
            </a:pPr>
            <a:r>
              <a:rPr lang="en-US" altLang="zh-CN" sz="1200" dirty="0">
                <a:latin typeface="宋体" panose="02010600030101010101" pitchFamily="2" charset="-122"/>
                <a:ea typeface="宋体" panose="02010600030101010101" pitchFamily="2" charset="-122"/>
              </a:rPr>
              <a:t>Step1: </a:t>
            </a:r>
            <a:r>
              <a:rPr lang="en-US" altLang="zh-CN" sz="1200" dirty="0">
                <a:latin typeface="宋体" panose="02010600030101010101" pitchFamily="2" charset="-122"/>
                <a:ea typeface="宋体" panose="02010600030101010101" pitchFamily="2" charset="-122"/>
                <a:sym typeface="+mn-ea"/>
              </a:rPr>
              <a:t>The PCBA board of the front conveyor line flows in, blocking the cylinder from rising, and the sensor responds in place, and the jacking cylinder rises and clamps the PCBA continuous wrench</a:t>
            </a:r>
          </a:p>
        </p:txBody>
      </p:sp>
      <p:sp>
        <p:nvSpPr>
          <p:cNvPr id="43" name="文本框 42"/>
          <p:cNvSpPr txBox="1"/>
          <p:nvPr/>
        </p:nvSpPr>
        <p:spPr>
          <a:xfrm>
            <a:off x="4546054" y="3058449"/>
            <a:ext cx="3062204" cy="646331"/>
          </a:xfrm>
          <a:prstGeom prst="rect">
            <a:avLst/>
          </a:prstGeom>
          <a:noFill/>
        </p:spPr>
        <p:txBody>
          <a:bodyPr wrap="square">
            <a:spAutoFit/>
          </a:bodyPr>
          <a:lstStyle/>
          <a:p>
            <a:pPr>
              <a:spcBef>
                <a:spcPct val="0"/>
              </a:spcBef>
            </a:pPr>
            <a:r>
              <a:rPr lang="en-US" altLang="zh-CN" sz="1200" dirty="0">
                <a:latin typeface="宋体" panose="02010600030101010101" pitchFamily="2" charset="-122"/>
                <a:ea typeface="宋体" panose="02010600030101010101" pitchFamily="2" charset="-122"/>
              </a:rPr>
              <a:t>Step2: Upper CCD identifies and locates the Mark point of the PCBA</a:t>
            </a:r>
            <a:endParaRPr lang="zh-CN" altLang="en-US" sz="1200" dirty="0">
              <a:latin typeface="宋体" panose="02010600030101010101" pitchFamily="2" charset="-122"/>
              <a:ea typeface="宋体" panose="02010600030101010101" pitchFamily="2" charset="-122"/>
            </a:endParaRPr>
          </a:p>
          <a:p>
            <a:pPr indent="0">
              <a:spcBef>
                <a:spcPct val="0"/>
              </a:spcBef>
              <a:buFont typeface="+mj-ea"/>
              <a:buNone/>
            </a:pPr>
            <a:endParaRPr lang="en-US" altLang="zh-CN" sz="1200" dirty="0">
              <a:latin typeface="宋体" panose="02010600030101010101" pitchFamily="2" charset="-122"/>
              <a:ea typeface="宋体" panose="02010600030101010101" pitchFamily="2" charset="-122"/>
              <a:sym typeface="+mn-ea"/>
            </a:endParaRPr>
          </a:p>
        </p:txBody>
      </p:sp>
      <p:sp>
        <p:nvSpPr>
          <p:cNvPr id="44" name="文本框 43"/>
          <p:cNvSpPr txBox="1"/>
          <p:nvPr/>
        </p:nvSpPr>
        <p:spPr>
          <a:xfrm>
            <a:off x="387360" y="5952596"/>
            <a:ext cx="3650790" cy="646331"/>
          </a:xfrm>
          <a:prstGeom prst="rect">
            <a:avLst/>
          </a:prstGeom>
          <a:noFill/>
        </p:spPr>
        <p:txBody>
          <a:bodyPr wrap="square">
            <a:spAutoFit/>
          </a:bodyPr>
          <a:lstStyle/>
          <a:p>
            <a:pPr indent="0">
              <a:spcBef>
                <a:spcPct val="0"/>
              </a:spcBef>
              <a:buFont typeface="+mj-ea"/>
              <a:buNone/>
            </a:pPr>
            <a:r>
              <a:rPr lang="en-US" altLang="zh-CN" sz="1200" dirty="0">
                <a:latin typeface="宋体" panose="02010600030101010101" pitchFamily="2" charset="-122"/>
                <a:ea typeface="宋体" panose="02010600030101010101" pitchFamily="2" charset="-122"/>
              </a:rPr>
              <a:t>Step6: Blocking the cylinder and jacking cylinder to descend, the PCBA board flows out of the equipment and enters the next process</a:t>
            </a:r>
            <a:endParaRPr lang="en-US" altLang="zh-CN" sz="1200" dirty="0">
              <a:latin typeface="宋体" panose="02010600030101010101" pitchFamily="2" charset="-122"/>
              <a:ea typeface="宋体" panose="02010600030101010101" pitchFamily="2" charset="-122"/>
              <a:sym typeface="+mn-ea"/>
            </a:endParaRPr>
          </a:p>
        </p:txBody>
      </p:sp>
      <p:sp>
        <p:nvSpPr>
          <p:cNvPr id="45" name="文本框 44"/>
          <p:cNvSpPr txBox="1"/>
          <p:nvPr/>
        </p:nvSpPr>
        <p:spPr>
          <a:xfrm>
            <a:off x="8549427" y="3074916"/>
            <a:ext cx="3062204" cy="646331"/>
          </a:xfrm>
          <a:prstGeom prst="rect">
            <a:avLst/>
          </a:prstGeom>
          <a:noFill/>
        </p:spPr>
        <p:txBody>
          <a:bodyPr wrap="square">
            <a:spAutoFit/>
          </a:bodyPr>
          <a:lstStyle/>
          <a:p>
            <a:pPr>
              <a:spcBef>
                <a:spcPct val="0"/>
              </a:spcBef>
            </a:pPr>
            <a:r>
              <a:rPr lang="en-US" altLang="zh-CN" sz="1200" dirty="0">
                <a:latin typeface="宋体" panose="02010600030101010101" pitchFamily="2" charset="-122"/>
                <a:ea typeface="宋体" panose="02010600030101010101" pitchFamily="2" charset="-122"/>
              </a:rPr>
              <a:t>Step3:</a:t>
            </a:r>
            <a:r>
              <a:rPr lang="en-US" altLang="zh-CN" sz="1200" dirty="0">
                <a:latin typeface="宋体" panose="02010600030101010101" pitchFamily="2" charset="-122"/>
                <a:ea typeface="宋体" panose="02010600030101010101" pitchFamily="2" charset="-122"/>
                <a:sym typeface="+mn-ea"/>
              </a:rPr>
              <a:t> The placement head moves to the reclaiming area to absorb EMI</a:t>
            </a:r>
            <a:endParaRPr lang="zh-CN" altLang="zh-CN" sz="1200" dirty="0">
              <a:latin typeface="宋体" panose="02010600030101010101" pitchFamily="2" charset="-122"/>
              <a:ea typeface="宋体" panose="02010600030101010101" pitchFamily="2" charset="-122"/>
              <a:sym typeface="+mn-ea"/>
            </a:endParaRPr>
          </a:p>
          <a:p>
            <a:pPr indent="0">
              <a:spcBef>
                <a:spcPct val="0"/>
              </a:spcBef>
              <a:buFont typeface="+mj-ea"/>
              <a:buNone/>
            </a:pPr>
            <a:endParaRPr lang="en-US" altLang="zh-CN" sz="1200" dirty="0">
              <a:latin typeface="宋体" panose="02010600030101010101" pitchFamily="2" charset="-122"/>
              <a:ea typeface="宋体" panose="02010600030101010101" pitchFamily="2" charset="-122"/>
              <a:sym typeface="+mn-ea"/>
            </a:endParaRPr>
          </a:p>
        </p:txBody>
      </p:sp>
      <p:sp>
        <p:nvSpPr>
          <p:cNvPr id="46" name="文本框 45"/>
          <p:cNvSpPr txBox="1"/>
          <p:nvPr/>
        </p:nvSpPr>
        <p:spPr>
          <a:xfrm>
            <a:off x="4535281" y="6057656"/>
            <a:ext cx="3062204" cy="830997"/>
          </a:xfrm>
          <a:prstGeom prst="rect">
            <a:avLst/>
          </a:prstGeom>
          <a:noFill/>
        </p:spPr>
        <p:txBody>
          <a:bodyPr wrap="square">
            <a:spAutoFit/>
          </a:bodyPr>
          <a:lstStyle/>
          <a:p>
            <a:pPr>
              <a:spcBef>
                <a:spcPct val="0"/>
              </a:spcBef>
            </a:pPr>
            <a:r>
              <a:rPr lang="en-US" altLang="zh-CN" sz="1200" dirty="0">
                <a:latin typeface="宋体" panose="02010600030101010101" pitchFamily="2" charset="-122"/>
                <a:ea typeface="宋体" panose="02010600030101010101" pitchFamily="2" charset="-122"/>
              </a:rPr>
              <a:t>Step5:</a:t>
            </a:r>
            <a:r>
              <a:rPr lang="en-US" altLang="zh-CN" sz="1200" dirty="0">
                <a:latin typeface="宋体" panose="02010600030101010101" pitchFamily="2" charset="-122"/>
                <a:ea typeface="宋体" panose="02010600030101010101" pitchFamily="2" charset="-122"/>
                <a:sym typeface="+mn-ea"/>
              </a:rPr>
              <a:t>The placement head is moved to the placement area for placement</a:t>
            </a:r>
          </a:p>
          <a:p>
            <a:pPr>
              <a:spcBef>
                <a:spcPct val="0"/>
              </a:spcBef>
            </a:pPr>
            <a:endParaRPr lang="zh-CN" altLang="zh-CN" sz="1200" dirty="0">
              <a:latin typeface="宋体" panose="02010600030101010101" pitchFamily="2" charset="-122"/>
              <a:ea typeface="宋体" panose="02010600030101010101" pitchFamily="2" charset="-122"/>
              <a:sym typeface="+mn-ea"/>
            </a:endParaRPr>
          </a:p>
          <a:p>
            <a:pPr indent="0">
              <a:spcBef>
                <a:spcPct val="0"/>
              </a:spcBef>
              <a:buFont typeface="+mj-ea"/>
              <a:buNone/>
            </a:pPr>
            <a:endParaRPr lang="en-US" altLang="zh-CN" sz="1200" dirty="0">
              <a:latin typeface="宋体" panose="02010600030101010101" pitchFamily="2" charset="-122"/>
              <a:ea typeface="宋体" panose="02010600030101010101" pitchFamily="2" charset="-122"/>
              <a:sym typeface="+mn-ea"/>
            </a:endParaRPr>
          </a:p>
        </p:txBody>
      </p:sp>
      <p:sp>
        <p:nvSpPr>
          <p:cNvPr id="47" name="文本框 46"/>
          <p:cNvSpPr txBox="1"/>
          <p:nvPr/>
        </p:nvSpPr>
        <p:spPr>
          <a:xfrm>
            <a:off x="8549427" y="6032736"/>
            <a:ext cx="3062204" cy="1015663"/>
          </a:xfrm>
          <a:prstGeom prst="rect">
            <a:avLst/>
          </a:prstGeom>
          <a:noFill/>
        </p:spPr>
        <p:txBody>
          <a:bodyPr wrap="square">
            <a:spAutoFit/>
          </a:bodyPr>
          <a:lstStyle/>
          <a:p>
            <a:pPr>
              <a:spcBef>
                <a:spcPct val="0"/>
              </a:spcBef>
            </a:pPr>
            <a:r>
              <a:rPr lang="en-US" altLang="zh-CN" sz="1200" dirty="0">
                <a:latin typeface="宋体" panose="02010600030101010101" pitchFamily="2" charset="-122"/>
                <a:ea typeface="宋体" panose="02010600030101010101" pitchFamily="2" charset="-122"/>
              </a:rPr>
              <a:t>Step4:</a:t>
            </a:r>
            <a:r>
              <a:rPr lang="en-US" altLang="zh-CN" sz="1200" dirty="0">
                <a:latin typeface="宋体" panose="02010600030101010101" pitchFamily="2" charset="-122"/>
                <a:ea typeface="宋体" panose="02010600030101010101" pitchFamily="2" charset="-122"/>
                <a:sym typeface="+mn-ea"/>
              </a:rPr>
              <a:t>The placement head is moved to the lower CCD to identify EMI</a:t>
            </a:r>
          </a:p>
          <a:p>
            <a:pPr>
              <a:spcBef>
                <a:spcPct val="0"/>
              </a:spcBef>
            </a:pPr>
            <a:endParaRPr lang="en-US" altLang="zh-CN" sz="1200" dirty="0">
              <a:latin typeface="宋体" panose="02010600030101010101" pitchFamily="2" charset="-122"/>
              <a:ea typeface="宋体" panose="02010600030101010101" pitchFamily="2" charset="-122"/>
              <a:sym typeface="+mn-ea"/>
            </a:endParaRPr>
          </a:p>
          <a:p>
            <a:pPr>
              <a:spcBef>
                <a:spcPct val="0"/>
              </a:spcBef>
            </a:pPr>
            <a:endParaRPr lang="zh-CN" altLang="zh-CN" sz="1200" dirty="0">
              <a:latin typeface="宋体" panose="02010600030101010101" pitchFamily="2" charset="-122"/>
              <a:ea typeface="宋体" panose="02010600030101010101" pitchFamily="2" charset="-122"/>
              <a:sym typeface="+mn-ea"/>
            </a:endParaRPr>
          </a:p>
          <a:p>
            <a:pPr indent="0">
              <a:spcBef>
                <a:spcPct val="0"/>
              </a:spcBef>
              <a:buFont typeface="+mj-ea"/>
              <a:buNone/>
            </a:pPr>
            <a:endParaRPr lang="en-US" altLang="zh-CN" sz="1200" dirty="0">
              <a:latin typeface="宋体" panose="02010600030101010101" pitchFamily="2" charset="-122"/>
              <a:ea typeface="宋体" panose="02010600030101010101" pitchFamily="2" charset="-122"/>
              <a:sym typeface="+mn-ea"/>
            </a:endParaRPr>
          </a:p>
        </p:txBody>
      </p:sp>
      <p:sp>
        <p:nvSpPr>
          <p:cNvPr id="50" name="標題 1"/>
          <p:cNvSpPr txBox="1"/>
          <p:nvPr>
            <p:custDataLst>
              <p:tags r:id="rId7"/>
            </p:custDataLst>
          </p:nvPr>
        </p:nvSpPr>
        <p:spPr>
          <a:xfrm>
            <a:off x="772467" y="135348"/>
            <a:ext cx="10796077" cy="582295"/>
          </a:xfrm>
          <a:prstGeom prst="rect">
            <a:avLst/>
          </a:prstGeom>
          <a:noFill/>
        </p:spPr>
        <p:txBody>
          <a:bodyPr wrap="square" lIns="121847" tIns="60923" rIns="121847" bIns="60923" rtlCol="0">
            <a:spAutoFit/>
          </a:bodyPr>
          <a:lstStyle>
            <a:defPPr>
              <a:defRPr lang="zh-TW"/>
            </a:defPPr>
            <a:lvl1pPr marR="0" lvl="0" indent="0" defTabSz="1218565" fontAlgn="base">
              <a:lnSpc>
                <a:spcPct val="100000"/>
              </a:lnSpc>
              <a:spcBef>
                <a:spcPct val="0"/>
              </a:spcBef>
              <a:spcAft>
                <a:spcPct val="0"/>
              </a:spcAft>
              <a:buClrTx/>
              <a:buSzTx/>
              <a:buFontTx/>
              <a:buNone/>
              <a:defRPr kumimoji="1" sz="3000" b="1" i="0" u="none" strike="noStrike" kern="0" cap="none" spc="0" normalizeH="0" baseline="0">
                <a:ln>
                  <a:noFill/>
                </a:ln>
                <a:solidFill>
                  <a:srgbClr val="0070C0"/>
                </a:solidFill>
                <a:effectLst/>
                <a:uLnTx/>
                <a:uFillTx/>
                <a:latin typeface="Calibri" panose="020F0502020204030204"/>
                <a:ea typeface="Microsoft JhengHei" panose="020B0604030504040204" pitchFamily="34" charset="-120"/>
                <a:cs typeface="Arial" panose="020B0604020202020204" pitchFamily="34" charset="0"/>
              </a:defRPr>
            </a:lvl1pPr>
          </a:lstStyle>
          <a:p>
            <a:pPr eaLnBrk="1" hangingPunct="1"/>
            <a:r>
              <a:rPr lang="en-US" altLang="zh-CN" dirty="0">
                <a:sym typeface="+mn-ea"/>
              </a:rPr>
              <a:t>7</a:t>
            </a:r>
            <a:r>
              <a:rPr lang="en-US" altLang="zh-CN" noProof="0" dirty="0">
                <a:sym typeface="+mn-ea"/>
              </a:rPr>
              <a:t>.</a:t>
            </a:r>
            <a:r>
              <a:rPr lang="en-US" altLang="zh-CN" dirty="0">
                <a:sym typeface="宋体" panose="02010600030101010101" pitchFamily="2" charset="-122"/>
              </a:rPr>
              <a:t>Action</a:t>
            </a:r>
            <a:r>
              <a:rPr lang="en-US" altLang="zh-CN" dirty="0">
                <a:solidFill>
                  <a:srgbClr val="000000"/>
                </a:solidFill>
                <a:sym typeface="宋体" panose="02010600030101010101" pitchFamily="2" charset="-122"/>
              </a:rPr>
              <a:t> </a:t>
            </a:r>
            <a:r>
              <a:rPr lang="en-US" altLang="zh-CN" dirty="0">
                <a:sym typeface="宋体" panose="02010600030101010101" pitchFamily="2" charset="-122"/>
              </a:rPr>
              <a:t>flow design</a:t>
            </a:r>
            <a:endParaRPr lang="en-US" altLang="zh-CN" dirty="0">
              <a:latin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22</a:t>
            </a:fld>
            <a:endParaRPr lang="zh-TW" altLang="en-US" sz="1400" dirty="0">
              <a:solidFill>
                <a:srgbClr val="898989"/>
              </a:solidFill>
              <a:latin typeface="Arial" panose="020B0604020202020204" pitchFamily="34" charset="0"/>
              <a:ea typeface="微软雅黑" panose="020B0503020204020204" pitchFamily="34" charset="-122"/>
            </a:endParaRPr>
          </a:p>
        </p:txBody>
      </p:sp>
      <p:sp>
        <p:nvSpPr>
          <p:cNvPr id="6" name="文本框 3"/>
          <p:cNvSpPr txBox="1"/>
          <p:nvPr/>
        </p:nvSpPr>
        <p:spPr>
          <a:xfrm>
            <a:off x="975360" y="5977255"/>
            <a:ext cx="6096000" cy="553085"/>
          </a:xfrm>
          <a:prstGeom prst="rect">
            <a:avLst/>
          </a:prstGeom>
          <a:noFill/>
        </p:spPr>
        <p:txBody>
          <a:bodyPr wrap="square" rtlCol="0" anchor="t">
            <a:spAutoFit/>
          </a:bodyPr>
          <a:lstStyle/>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UPH</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3600/4.5*0.8=640</a:t>
            </a:r>
            <a:endParaRPr lang="en-US" altLang="zh-CN" sz="1200" dirty="0">
              <a:latin typeface="Arial" panose="020B0604020202020204" pitchFamily="34" charset="0"/>
              <a:ea typeface="微软雅黑" panose="020B0503020204020204" pitchFamily="34" charset="-122"/>
              <a:cs typeface="Arial" panose="020B0604020202020204" pitchFamily="34" charset="0"/>
            </a:endParaRPr>
          </a:p>
          <a:p>
            <a:pPr>
              <a:lnSpc>
                <a:spcPct val="125000"/>
              </a:lnSpc>
            </a:pP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Note</a:t>
            </a:r>
            <a:r>
              <a:rPr lang="zh-CN" altLang="en-US" sz="1200" dirty="0">
                <a:latin typeface="Arial" panose="020B0604020202020204" pitchFamily="34" charset="0"/>
                <a:ea typeface="微软雅黑" panose="020B0503020204020204" pitchFamily="34" charset="-122"/>
                <a:cs typeface="Arial" panose="020B0604020202020204" pitchFamily="34" charset="0"/>
                <a:sym typeface="+mn-ea"/>
              </a:rPr>
              <a:t>：</a:t>
            </a:r>
            <a:r>
              <a:rPr lang="en-US" altLang="zh-CN" sz="1200" dirty="0">
                <a:latin typeface="Arial" panose="020B0604020202020204" pitchFamily="34" charset="0"/>
                <a:ea typeface="微软雅黑" panose="020B0503020204020204" pitchFamily="34" charset="-122"/>
                <a:cs typeface="Arial" panose="020B0604020202020204" pitchFamily="34" charset="0"/>
                <a:sym typeface="+mn-ea"/>
              </a:rPr>
              <a:t>80% is estimated OEE, only for UPH calculation. not real product data</a:t>
            </a:r>
          </a:p>
        </p:txBody>
      </p:sp>
      <p:sp>
        <p:nvSpPr>
          <p:cNvPr id="3" name="TextBox 29"/>
          <p:cNvSpPr txBox="1">
            <a:spLocks noChangeArrowheads="1"/>
          </p:cNvSpPr>
          <p:nvPr/>
        </p:nvSpPr>
        <p:spPr bwMode="auto">
          <a:xfrm>
            <a:off x="10915291" y="782112"/>
            <a:ext cx="1078053" cy="260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r>
              <a:rPr lang="en-US" altLang="zh-CN" sz="1100">
                <a:latin typeface="宋体" panose="02010600030101010101" pitchFamily="2" charset="-122"/>
              </a:rPr>
              <a:t>unit</a:t>
            </a:r>
            <a:r>
              <a:rPr lang="zh-CN" altLang="en-US" sz="1100">
                <a:latin typeface="宋体" panose="02010600030101010101" pitchFamily="2" charset="-122"/>
              </a:rPr>
              <a:t>：</a:t>
            </a:r>
            <a:r>
              <a:rPr lang="en-US" altLang="zh-CN" sz="1100">
                <a:latin typeface="宋体" panose="02010600030101010101" pitchFamily="2" charset="-122"/>
              </a:rPr>
              <a:t>mm</a:t>
            </a:r>
            <a:endParaRPr lang="zh-CN" altLang="en-US" sz="1100">
              <a:latin typeface="宋体" panose="02010600030101010101" pitchFamily="2" charset="-122"/>
            </a:endParaRPr>
          </a:p>
        </p:txBody>
      </p:sp>
      <p:graphicFrame>
        <p:nvGraphicFramePr>
          <p:cNvPr id="4" name="表格 3"/>
          <p:cNvGraphicFramePr>
            <a:graphicFrameLocks noGrp="1"/>
          </p:cNvGraphicFramePr>
          <p:nvPr/>
        </p:nvGraphicFramePr>
        <p:xfrm>
          <a:off x="603178" y="853932"/>
          <a:ext cx="11112510" cy="5119047"/>
        </p:xfrm>
        <a:graphic>
          <a:graphicData uri="http://schemas.openxmlformats.org/drawingml/2006/table">
            <a:tbl>
              <a:tblPr>
                <a:tableStyleId>{5940675A-B579-460E-94D1-54222C63F5DA}</a:tableStyleId>
              </a:tblPr>
              <a:tblGrid>
                <a:gridCol w="1597034">
                  <a:extLst>
                    <a:ext uri="{9D8B030D-6E8A-4147-A177-3AD203B41FA5}">
                      <a16:colId xmlns:a16="http://schemas.microsoft.com/office/drawing/2014/main" val="20000"/>
                    </a:ext>
                  </a:extLst>
                </a:gridCol>
                <a:gridCol w="2755323">
                  <a:extLst>
                    <a:ext uri="{9D8B030D-6E8A-4147-A177-3AD203B41FA5}">
                      <a16:colId xmlns:a16="http://schemas.microsoft.com/office/drawing/2014/main" val="20001"/>
                    </a:ext>
                  </a:extLst>
                </a:gridCol>
                <a:gridCol w="63179">
                  <a:extLst>
                    <a:ext uri="{9D8B030D-6E8A-4147-A177-3AD203B41FA5}">
                      <a16:colId xmlns:a16="http://schemas.microsoft.com/office/drawing/2014/main" val="20002"/>
                    </a:ext>
                  </a:extLst>
                </a:gridCol>
                <a:gridCol w="63179">
                  <a:extLst>
                    <a:ext uri="{9D8B030D-6E8A-4147-A177-3AD203B41FA5}">
                      <a16:colId xmlns:a16="http://schemas.microsoft.com/office/drawing/2014/main" val="20003"/>
                    </a:ext>
                  </a:extLst>
                </a:gridCol>
                <a:gridCol w="63179">
                  <a:extLst>
                    <a:ext uri="{9D8B030D-6E8A-4147-A177-3AD203B41FA5}">
                      <a16:colId xmlns:a16="http://schemas.microsoft.com/office/drawing/2014/main" val="20004"/>
                    </a:ext>
                  </a:extLst>
                </a:gridCol>
                <a:gridCol w="63179">
                  <a:extLst>
                    <a:ext uri="{9D8B030D-6E8A-4147-A177-3AD203B41FA5}">
                      <a16:colId xmlns:a16="http://schemas.microsoft.com/office/drawing/2014/main" val="20005"/>
                    </a:ext>
                  </a:extLst>
                </a:gridCol>
                <a:gridCol w="63179">
                  <a:extLst>
                    <a:ext uri="{9D8B030D-6E8A-4147-A177-3AD203B41FA5}">
                      <a16:colId xmlns:a16="http://schemas.microsoft.com/office/drawing/2014/main" val="20006"/>
                    </a:ext>
                  </a:extLst>
                </a:gridCol>
                <a:gridCol w="63179">
                  <a:extLst>
                    <a:ext uri="{9D8B030D-6E8A-4147-A177-3AD203B41FA5}">
                      <a16:colId xmlns:a16="http://schemas.microsoft.com/office/drawing/2014/main" val="20007"/>
                    </a:ext>
                  </a:extLst>
                </a:gridCol>
                <a:gridCol w="63179">
                  <a:extLst>
                    <a:ext uri="{9D8B030D-6E8A-4147-A177-3AD203B41FA5}">
                      <a16:colId xmlns:a16="http://schemas.microsoft.com/office/drawing/2014/main" val="20008"/>
                    </a:ext>
                  </a:extLst>
                </a:gridCol>
                <a:gridCol w="63179">
                  <a:extLst>
                    <a:ext uri="{9D8B030D-6E8A-4147-A177-3AD203B41FA5}">
                      <a16:colId xmlns:a16="http://schemas.microsoft.com/office/drawing/2014/main" val="20009"/>
                    </a:ext>
                  </a:extLst>
                </a:gridCol>
                <a:gridCol w="63179">
                  <a:extLst>
                    <a:ext uri="{9D8B030D-6E8A-4147-A177-3AD203B41FA5}">
                      <a16:colId xmlns:a16="http://schemas.microsoft.com/office/drawing/2014/main" val="20010"/>
                    </a:ext>
                  </a:extLst>
                </a:gridCol>
                <a:gridCol w="63179">
                  <a:extLst>
                    <a:ext uri="{9D8B030D-6E8A-4147-A177-3AD203B41FA5}">
                      <a16:colId xmlns:a16="http://schemas.microsoft.com/office/drawing/2014/main" val="20011"/>
                    </a:ext>
                  </a:extLst>
                </a:gridCol>
                <a:gridCol w="63179">
                  <a:extLst>
                    <a:ext uri="{9D8B030D-6E8A-4147-A177-3AD203B41FA5}">
                      <a16:colId xmlns:a16="http://schemas.microsoft.com/office/drawing/2014/main" val="20012"/>
                    </a:ext>
                  </a:extLst>
                </a:gridCol>
                <a:gridCol w="63179">
                  <a:extLst>
                    <a:ext uri="{9D8B030D-6E8A-4147-A177-3AD203B41FA5}">
                      <a16:colId xmlns:a16="http://schemas.microsoft.com/office/drawing/2014/main" val="20013"/>
                    </a:ext>
                  </a:extLst>
                </a:gridCol>
                <a:gridCol w="63179">
                  <a:extLst>
                    <a:ext uri="{9D8B030D-6E8A-4147-A177-3AD203B41FA5}">
                      <a16:colId xmlns:a16="http://schemas.microsoft.com/office/drawing/2014/main" val="20014"/>
                    </a:ext>
                  </a:extLst>
                </a:gridCol>
                <a:gridCol w="63179">
                  <a:extLst>
                    <a:ext uri="{9D8B030D-6E8A-4147-A177-3AD203B41FA5}">
                      <a16:colId xmlns:a16="http://schemas.microsoft.com/office/drawing/2014/main" val="20015"/>
                    </a:ext>
                  </a:extLst>
                </a:gridCol>
                <a:gridCol w="63179">
                  <a:extLst>
                    <a:ext uri="{9D8B030D-6E8A-4147-A177-3AD203B41FA5}">
                      <a16:colId xmlns:a16="http://schemas.microsoft.com/office/drawing/2014/main" val="20016"/>
                    </a:ext>
                  </a:extLst>
                </a:gridCol>
                <a:gridCol w="63179">
                  <a:extLst>
                    <a:ext uri="{9D8B030D-6E8A-4147-A177-3AD203B41FA5}">
                      <a16:colId xmlns:a16="http://schemas.microsoft.com/office/drawing/2014/main" val="20017"/>
                    </a:ext>
                  </a:extLst>
                </a:gridCol>
                <a:gridCol w="63179">
                  <a:extLst>
                    <a:ext uri="{9D8B030D-6E8A-4147-A177-3AD203B41FA5}">
                      <a16:colId xmlns:a16="http://schemas.microsoft.com/office/drawing/2014/main" val="20018"/>
                    </a:ext>
                  </a:extLst>
                </a:gridCol>
                <a:gridCol w="63179">
                  <a:extLst>
                    <a:ext uri="{9D8B030D-6E8A-4147-A177-3AD203B41FA5}">
                      <a16:colId xmlns:a16="http://schemas.microsoft.com/office/drawing/2014/main" val="20019"/>
                    </a:ext>
                  </a:extLst>
                </a:gridCol>
                <a:gridCol w="63179">
                  <a:extLst>
                    <a:ext uri="{9D8B030D-6E8A-4147-A177-3AD203B41FA5}">
                      <a16:colId xmlns:a16="http://schemas.microsoft.com/office/drawing/2014/main" val="20020"/>
                    </a:ext>
                  </a:extLst>
                </a:gridCol>
                <a:gridCol w="63179">
                  <a:extLst>
                    <a:ext uri="{9D8B030D-6E8A-4147-A177-3AD203B41FA5}">
                      <a16:colId xmlns:a16="http://schemas.microsoft.com/office/drawing/2014/main" val="20021"/>
                    </a:ext>
                  </a:extLst>
                </a:gridCol>
                <a:gridCol w="63179">
                  <a:extLst>
                    <a:ext uri="{9D8B030D-6E8A-4147-A177-3AD203B41FA5}">
                      <a16:colId xmlns:a16="http://schemas.microsoft.com/office/drawing/2014/main" val="20022"/>
                    </a:ext>
                  </a:extLst>
                </a:gridCol>
                <a:gridCol w="63179">
                  <a:extLst>
                    <a:ext uri="{9D8B030D-6E8A-4147-A177-3AD203B41FA5}">
                      <a16:colId xmlns:a16="http://schemas.microsoft.com/office/drawing/2014/main" val="20023"/>
                    </a:ext>
                  </a:extLst>
                </a:gridCol>
                <a:gridCol w="63179">
                  <a:extLst>
                    <a:ext uri="{9D8B030D-6E8A-4147-A177-3AD203B41FA5}">
                      <a16:colId xmlns:a16="http://schemas.microsoft.com/office/drawing/2014/main" val="20024"/>
                    </a:ext>
                  </a:extLst>
                </a:gridCol>
                <a:gridCol w="63179">
                  <a:extLst>
                    <a:ext uri="{9D8B030D-6E8A-4147-A177-3AD203B41FA5}">
                      <a16:colId xmlns:a16="http://schemas.microsoft.com/office/drawing/2014/main" val="20025"/>
                    </a:ext>
                  </a:extLst>
                </a:gridCol>
                <a:gridCol w="63179">
                  <a:extLst>
                    <a:ext uri="{9D8B030D-6E8A-4147-A177-3AD203B41FA5}">
                      <a16:colId xmlns:a16="http://schemas.microsoft.com/office/drawing/2014/main" val="20026"/>
                    </a:ext>
                  </a:extLst>
                </a:gridCol>
                <a:gridCol w="63179">
                  <a:extLst>
                    <a:ext uri="{9D8B030D-6E8A-4147-A177-3AD203B41FA5}">
                      <a16:colId xmlns:a16="http://schemas.microsoft.com/office/drawing/2014/main" val="20027"/>
                    </a:ext>
                  </a:extLst>
                </a:gridCol>
                <a:gridCol w="63179">
                  <a:extLst>
                    <a:ext uri="{9D8B030D-6E8A-4147-A177-3AD203B41FA5}">
                      <a16:colId xmlns:a16="http://schemas.microsoft.com/office/drawing/2014/main" val="20028"/>
                    </a:ext>
                  </a:extLst>
                </a:gridCol>
                <a:gridCol w="63179">
                  <a:extLst>
                    <a:ext uri="{9D8B030D-6E8A-4147-A177-3AD203B41FA5}">
                      <a16:colId xmlns:a16="http://schemas.microsoft.com/office/drawing/2014/main" val="20029"/>
                    </a:ext>
                  </a:extLst>
                </a:gridCol>
                <a:gridCol w="63179">
                  <a:extLst>
                    <a:ext uri="{9D8B030D-6E8A-4147-A177-3AD203B41FA5}">
                      <a16:colId xmlns:a16="http://schemas.microsoft.com/office/drawing/2014/main" val="20030"/>
                    </a:ext>
                  </a:extLst>
                </a:gridCol>
                <a:gridCol w="63179">
                  <a:extLst>
                    <a:ext uri="{9D8B030D-6E8A-4147-A177-3AD203B41FA5}">
                      <a16:colId xmlns:a16="http://schemas.microsoft.com/office/drawing/2014/main" val="20031"/>
                    </a:ext>
                  </a:extLst>
                </a:gridCol>
                <a:gridCol w="63179">
                  <a:extLst>
                    <a:ext uri="{9D8B030D-6E8A-4147-A177-3AD203B41FA5}">
                      <a16:colId xmlns:a16="http://schemas.microsoft.com/office/drawing/2014/main" val="20032"/>
                    </a:ext>
                  </a:extLst>
                </a:gridCol>
                <a:gridCol w="63179">
                  <a:extLst>
                    <a:ext uri="{9D8B030D-6E8A-4147-A177-3AD203B41FA5}">
                      <a16:colId xmlns:a16="http://schemas.microsoft.com/office/drawing/2014/main" val="20033"/>
                    </a:ext>
                  </a:extLst>
                </a:gridCol>
                <a:gridCol w="63179">
                  <a:extLst>
                    <a:ext uri="{9D8B030D-6E8A-4147-A177-3AD203B41FA5}">
                      <a16:colId xmlns:a16="http://schemas.microsoft.com/office/drawing/2014/main" val="20034"/>
                    </a:ext>
                  </a:extLst>
                </a:gridCol>
                <a:gridCol w="63179">
                  <a:extLst>
                    <a:ext uri="{9D8B030D-6E8A-4147-A177-3AD203B41FA5}">
                      <a16:colId xmlns:a16="http://schemas.microsoft.com/office/drawing/2014/main" val="20035"/>
                    </a:ext>
                  </a:extLst>
                </a:gridCol>
                <a:gridCol w="63179">
                  <a:extLst>
                    <a:ext uri="{9D8B030D-6E8A-4147-A177-3AD203B41FA5}">
                      <a16:colId xmlns:a16="http://schemas.microsoft.com/office/drawing/2014/main" val="20036"/>
                    </a:ext>
                  </a:extLst>
                </a:gridCol>
                <a:gridCol w="63179">
                  <a:extLst>
                    <a:ext uri="{9D8B030D-6E8A-4147-A177-3AD203B41FA5}">
                      <a16:colId xmlns:a16="http://schemas.microsoft.com/office/drawing/2014/main" val="20037"/>
                    </a:ext>
                  </a:extLst>
                </a:gridCol>
                <a:gridCol w="63179">
                  <a:extLst>
                    <a:ext uri="{9D8B030D-6E8A-4147-A177-3AD203B41FA5}">
                      <a16:colId xmlns:a16="http://schemas.microsoft.com/office/drawing/2014/main" val="20038"/>
                    </a:ext>
                  </a:extLst>
                </a:gridCol>
                <a:gridCol w="63179">
                  <a:extLst>
                    <a:ext uri="{9D8B030D-6E8A-4147-A177-3AD203B41FA5}">
                      <a16:colId xmlns:a16="http://schemas.microsoft.com/office/drawing/2014/main" val="20039"/>
                    </a:ext>
                  </a:extLst>
                </a:gridCol>
                <a:gridCol w="63179">
                  <a:extLst>
                    <a:ext uri="{9D8B030D-6E8A-4147-A177-3AD203B41FA5}">
                      <a16:colId xmlns:a16="http://schemas.microsoft.com/office/drawing/2014/main" val="20040"/>
                    </a:ext>
                  </a:extLst>
                </a:gridCol>
                <a:gridCol w="63179">
                  <a:extLst>
                    <a:ext uri="{9D8B030D-6E8A-4147-A177-3AD203B41FA5}">
                      <a16:colId xmlns:a16="http://schemas.microsoft.com/office/drawing/2014/main" val="20041"/>
                    </a:ext>
                  </a:extLst>
                </a:gridCol>
                <a:gridCol w="63179">
                  <a:extLst>
                    <a:ext uri="{9D8B030D-6E8A-4147-A177-3AD203B41FA5}">
                      <a16:colId xmlns:a16="http://schemas.microsoft.com/office/drawing/2014/main" val="20042"/>
                    </a:ext>
                  </a:extLst>
                </a:gridCol>
                <a:gridCol w="63179">
                  <a:extLst>
                    <a:ext uri="{9D8B030D-6E8A-4147-A177-3AD203B41FA5}">
                      <a16:colId xmlns:a16="http://schemas.microsoft.com/office/drawing/2014/main" val="20043"/>
                    </a:ext>
                  </a:extLst>
                </a:gridCol>
                <a:gridCol w="63179">
                  <a:extLst>
                    <a:ext uri="{9D8B030D-6E8A-4147-A177-3AD203B41FA5}">
                      <a16:colId xmlns:a16="http://schemas.microsoft.com/office/drawing/2014/main" val="20044"/>
                    </a:ext>
                  </a:extLst>
                </a:gridCol>
                <a:gridCol w="63179">
                  <a:extLst>
                    <a:ext uri="{9D8B030D-6E8A-4147-A177-3AD203B41FA5}">
                      <a16:colId xmlns:a16="http://schemas.microsoft.com/office/drawing/2014/main" val="20045"/>
                    </a:ext>
                  </a:extLst>
                </a:gridCol>
                <a:gridCol w="63179">
                  <a:extLst>
                    <a:ext uri="{9D8B030D-6E8A-4147-A177-3AD203B41FA5}">
                      <a16:colId xmlns:a16="http://schemas.microsoft.com/office/drawing/2014/main" val="20046"/>
                    </a:ext>
                  </a:extLst>
                </a:gridCol>
                <a:gridCol w="63179">
                  <a:extLst>
                    <a:ext uri="{9D8B030D-6E8A-4147-A177-3AD203B41FA5}">
                      <a16:colId xmlns:a16="http://schemas.microsoft.com/office/drawing/2014/main" val="20047"/>
                    </a:ext>
                  </a:extLst>
                </a:gridCol>
                <a:gridCol w="63179">
                  <a:extLst>
                    <a:ext uri="{9D8B030D-6E8A-4147-A177-3AD203B41FA5}">
                      <a16:colId xmlns:a16="http://schemas.microsoft.com/office/drawing/2014/main" val="20048"/>
                    </a:ext>
                  </a:extLst>
                </a:gridCol>
                <a:gridCol w="63179">
                  <a:extLst>
                    <a:ext uri="{9D8B030D-6E8A-4147-A177-3AD203B41FA5}">
                      <a16:colId xmlns:a16="http://schemas.microsoft.com/office/drawing/2014/main" val="20049"/>
                    </a:ext>
                  </a:extLst>
                </a:gridCol>
                <a:gridCol w="63179">
                  <a:extLst>
                    <a:ext uri="{9D8B030D-6E8A-4147-A177-3AD203B41FA5}">
                      <a16:colId xmlns:a16="http://schemas.microsoft.com/office/drawing/2014/main" val="20050"/>
                    </a:ext>
                  </a:extLst>
                </a:gridCol>
                <a:gridCol w="63179">
                  <a:extLst>
                    <a:ext uri="{9D8B030D-6E8A-4147-A177-3AD203B41FA5}">
                      <a16:colId xmlns:a16="http://schemas.microsoft.com/office/drawing/2014/main" val="20051"/>
                    </a:ext>
                  </a:extLst>
                </a:gridCol>
                <a:gridCol w="63179">
                  <a:extLst>
                    <a:ext uri="{9D8B030D-6E8A-4147-A177-3AD203B41FA5}">
                      <a16:colId xmlns:a16="http://schemas.microsoft.com/office/drawing/2014/main" val="20052"/>
                    </a:ext>
                  </a:extLst>
                </a:gridCol>
                <a:gridCol w="63179">
                  <a:extLst>
                    <a:ext uri="{9D8B030D-6E8A-4147-A177-3AD203B41FA5}">
                      <a16:colId xmlns:a16="http://schemas.microsoft.com/office/drawing/2014/main" val="20053"/>
                    </a:ext>
                  </a:extLst>
                </a:gridCol>
                <a:gridCol w="63179">
                  <a:extLst>
                    <a:ext uri="{9D8B030D-6E8A-4147-A177-3AD203B41FA5}">
                      <a16:colId xmlns:a16="http://schemas.microsoft.com/office/drawing/2014/main" val="20054"/>
                    </a:ext>
                  </a:extLst>
                </a:gridCol>
                <a:gridCol w="63179">
                  <a:extLst>
                    <a:ext uri="{9D8B030D-6E8A-4147-A177-3AD203B41FA5}">
                      <a16:colId xmlns:a16="http://schemas.microsoft.com/office/drawing/2014/main" val="20055"/>
                    </a:ext>
                  </a:extLst>
                </a:gridCol>
                <a:gridCol w="63179">
                  <a:extLst>
                    <a:ext uri="{9D8B030D-6E8A-4147-A177-3AD203B41FA5}">
                      <a16:colId xmlns:a16="http://schemas.microsoft.com/office/drawing/2014/main" val="20056"/>
                    </a:ext>
                  </a:extLst>
                </a:gridCol>
                <a:gridCol w="63179">
                  <a:extLst>
                    <a:ext uri="{9D8B030D-6E8A-4147-A177-3AD203B41FA5}">
                      <a16:colId xmlns:a16="http://schemas.microsoft.com/office/drawing/2014/main" val="20057"/>
                    </a:ext>
                  </a:extLst>
                </a:gridCol>
                <a:gridCol w="63179">
                  <a:extLst>
                    <a:ext uri="{9D8B030D-6E8A-4147-A177-3AD203B41FA5}">
                      <a16:colId xmlns:a16="http://schemas.microsoft.com/office/drawing/2014/main" val="20058"/>
                    </a:ext>
                  </a:extLst>
                </a:gridCol>
                <a:gridCol w="63179">
                  <a:extLst>
                    <a:ext uri="{9D8B030D-6E8A-4147-A177-3AD203B41FA5}">
                      <a16:colId xmlns:a16="http://schemas.microsoft.com/office/drawing/2014/main" val="20059"/>
                    </a:ext>
                  </a:extLst>
                </a:gridCol>
                <a:gridCol w="63179">
                  <a:extLst>
                    <a:ext uri="{9D8B030D-6E8A-4147-A177-3AD203B41FA5}">
                      <a16:colId xmlns:a16="http://schemas.microsoft.com/office/drawing/2014/main" val="20060"/>
                    </a:ext>
                  </a:extLst>
                </a:gridCol>
                <a:gridCol w="63179">
                  <a:extLst>
                    <a:ext uri="{9D8B030D-6E8A-4147-A177-3AD203B41FA5}">
                      <a16:colId xmlns:a16="http://schemas.microsoft.com/office/drawing/2014/main" val="20061"/>
                    </a:ext>
                  </a:extLst>
                </a:gridCol>
                <a:gridCol w="63179">
                  <a:extLst>
                    <a:ext uri="{9D8B030D-6E8A-4147-A177-3AD203B41FA5}">
                      <a16:colId xmlns:a16="http://schemas.microsoft.com/office/drawing/2014/main" val="20062"/>
                    </a:ext>
                  </a:extLst>
                </a:gridCol>
                <a:gridCol w="63179">
                  <a:extLst>
                    <a:ext uri="{9D8B030D-6E8A-4147-A177-3AD203B41FA5}">
                      <a16:colId xmlns:a16="http://schemas.microsoft.com/office/drawing/2014/main" val="20063"/>
                    </a:ext>
                  </a:extLst>
                </a:gridCol>
                <a:gridCol w="63179">
                  <a:extLst>
                    <a:ext uri="{9D8B030D-6E8A-4147-A177-3AD203B41FA5}">
                      <a16:colId xmlns:a16="http://schemas.microsoft.com/office/drawing/2014/main" val="20064"/>
                    </a:ext>
                  </a:extLst>
                </a:gridCol>
                <a:gridCol w="63179">
                  <a:extLst>
                    <a:ext uri="{9D8B030D-6E8A-4147-A177-3AD203B41FA5}">
                      <a16:colId xmlns:a16="http://schemas.microsoft.com/office/drawing/2014/main" val="20065"/>
                    </a:ext>
                  </a:extLst>
                </a:gridCol>
                <a:gridCol w="63179">
                  <a:extLst>
                    <a:ext uri="{9D8B030D-6E8A-4147-A177-3AD203B41FA5}">
                      <a16:colId xmlns:a16="http://schemas.microsoft.com/office/drawing/2014/main" val="20066"/>
                    </a:ext>
                  </a:extLst>
                </a:gridCol>
                <a:gridCol w="63179">
                  <a:extLst>
                    <a:ext uri="{9D8B030D-6E8A-4147-A177-3AD203B41FA5}">
                      <a16:colId xmlns:a16="http://schemas.microsoft.com/office/drawing/2014/main" val="20067"/>
                    </a:ext>
                  </a:extLst>
                </a:gridCol>
                <a:gridCol w="63179">
                  <a:extLst>
                    <a:ext uri="{9D8B030D-6E8A-4147-A177-3AD203B41FA5}">
                      <a16:colId xmlns:a16="http://schemas.microsoft.com/office/drawing/2014/main" val="20068"/>
                    </a:ext>
                  </a:extLst>
                </a:gridCol>
                <a:gridCol w="63179">
                  <a:extLst>
                    <a:ext uri="{9D8B030D-6E8A-4147-A177-3AD203B41FA5}">
                      <a16:colId xmlns:a16="http://schemas.microsoft.com/office/drawing/2014/main" val="20069"/>
                    </a:ext>
                  </a:extLst>
                </a:gridCol>
                <a:gridCol w="63179">
                  <a:extLst>
                    <a:ext uri="{9D8B030D-6E8A-4147-A177-3AD203B41FA5}">
                      <a16:colId xmlns:a16="http://schemas.microsoft.com/office/drawing/2014/main" val="20070"/>
                    </a:ext>
                  </a:extLst>
                </a:gridCol>
                <a:gridCol w="63179">
                  <a:extLst>
                    <a:ext uri="{9D8B030D-6E8A-4147-A177-3AD203B41FA5}">
                      <a16:colId xmlns:a16="http://schemas.microsoft.com/office/drawing/2014/main" val="20071"/>
                    </a:ext>
                  </a:extLst>
                </a:gridCol>
                <a:gridCol w="63179">
                  <a:extLst>
                    <a:ext uri="{9D8B030D-6E8A-4147-A177-3AD203B41FA5}">
                      <a16:colId xmlns:a16="http://schemas.microsoft.com/office/drawing/2014/main" val="20072"/>
                    </a:ext>
                  </a:extLst>
                </a:gridCol>
                <a:gridCol w="63179">
                  <a:extLst>
                    <a:ext uri="{9D8B030D-6E8A-4147-A177-3AD203B41FA5}">
                      <a16:colId xmlns:a16="http://schemas.microsoft.com/office/drawing/2014/main" val="20073"/>
                    </a:ext>
                  </a:extLst>
                </a:gridCol>
                <a:gridCol w="63179">
                  <a:extLst>
                    <a:ext uri="{9D8B030D-6E8A-4147-A177-3AD203B41FA5}">
                      <a16:colId xmlns:a16="http://schemas.microsoft.com/office/drawing/2014/main" val="20074"/>
                    </a:ext>
                  </a:extLst>
                </a:gridCol>
                <a:gridCol w="63179">
                  <a:extLst>
                    <a:ext uri="{9D8B030D-6E8A-4147-A177-3AD203B41FA5}">
                      <a16:colId xmlns:a16="http://schemas.microsoft.com/office/drawing/2014/main" val="20075"/>
                    </a:ext>
                  </a:extLst>
                </a:gridCol>
                <a:gridCol w="63179">
                  <a:extLst>
                    <a:ext uri="{9D8B030D-6E8A-4147-A177-3AD203B41FA5}">
                      <a16:colId xmlns:a16="http://schemas.microsoft.com/office/drawing/2014/main" val="20076"/>
                    </a:ext>
                  </a:extLst>
                </a:gridCol>
                <a:gridCol w="63179">
                  <a:extLst>
                    <a:ext uri="{9D8B030D-6E8A-4147-A177-3AD203B41FA5}">
                      <a16:colId xmlns:a16="http://schemas.microsoft.com/office/drawing/2014/main" val="20077"/>
                    </a:ext>
                  </a:extLst>
                </a:gridCol>
                <a:gridCol w="63179">
                  <a:extLst>
                    <a:ext uri="{9D8B030D-6E8A-4147-A177-3AD203B41FA5}">
                      <a16:colId xmlns:a16="http://schemas.microsoft.com/office/drawing/2014/main" val="20078"/>
                    </a:ext>
                  </a:extLst>
                </a:gridCol>
                <a:gridCol w="63179">
                  <a:extLst>
                    <a:ext uri="{9D8B030D-6E8A-4147-A177-3AD203B41FA5}">
                      <a16:colId xmlns:a16="http://schemas.microsoft.com/office/drawing/2014/main" val="20079"/>
                    </a:ext>
                  </a:extLst>
                </a:gridCol>
                <a:gridCol w="63179">
                  <a:extLst>
                    <a:ext uri="{9D8B030D-6E8A-4147-A177-3AD203B41FA5}">
                      <a16:colId xmlns:a16="http://schemas.microsoft.com/office/drawing/2014/main" val="20080"/>
                    </a:ext>
                  </a:extLst>
                </a:gridCol>
                <a:gridCol w="63179">
                  <a:extLst>
                    <a:ext uri="{9D8B030D-6E8A-4147-A177-3AD203B41FA5}">
                      <a16:colId xmlns:a16="http://schemas.microsoft.com/office/drawing/2014/main" val="20081"/>
                    </a:ext>
                  </a:extLst>
                </a:gridCol>
                <a:gridCol w="63179">
                  <a:extLst>
                    <a:ext uri="{9D8B030D-6E8A-4147-A177-3AD203B41FA5}">
                      <a16:colId xmlns:a16="http://schemas.microsoft.com/office/drawing/2014/main" val="20082"/>
                    </a:ext>
                  </a:extLst>
                </a:gridCol>
                <a:gridCol w="63179">
                  <a:extLst>
                    <a:ext uri="{9D8B030D-6E8A-4147-A177-3AD203B41FA5}">
                      <a16:colId xmlns:a16="http://schemas.microsoft.com/office/drawing/2014/main" val="20083"/>
                    </a:ext>
                  </a:extLst>
                </a:gridCol>
                <a:gridCol w="63179">
                  <a:extLst>
                    <a:ext uri="{9D8B030D-6E8A-4147-A177-3AD203B41FA5}">
                      <a16:colId xmlns:a16="http://schemas.microsoft.com/office/drawing/2014/main" val="20084"/>
                    </a:ext>
                  </a:extLst>
                </a:gridCol>
                <a:gridCol w="63179">
                  <a:extLst>
                    <a:ext uri="{9D8B030D-6E8A-4147-A177-3AD203B41FA5}">
                      <a16:colId xmlns:a16="http://schemas.microsoft.com/office/drawing/2014/main" val="20085"/>
                    </a:ext>
                  </a:extLst>
                </a:gridCol>
                <a:gridCol w="63179">
                  <a:extLst>
                    <a:ext uri="{9D8B030D-6E8A-4147-A177-3AD203B41FA5}">
                      <a16:colId xmlns:a16="http://schemas.microsoft.com/office/drawing/2014/main" val="20086"/>
                    </a:ext>
                  </a:extLst>
                </a:gridCol>
                <a:gridCol w="63179">
                  <a:extLst>
                    <a:ext uri="{9D8B030D-6E8A-4147-A177-3AD203B41FA5}">
                      <a16:colId xmlns:a16="http://schemas.microsoft.com/office/drawing/2014/main" val="20087"/>
                    </a:ext>
                  </a:extLst>
                </a:gridCol>
                <a:gridCol w="63179">
                  <a:extLst>
                    <a:ext uri="{9D8B030D-6E8A-4147-A177-3AD203B41FA5}">
                      <a16:colId xmlns:a16="http://schemas.microsoft.com/office/drawing/2014/main" val="20088"/>
                    </a:ext>
                  </a:extLst>
                </a:gridCol>
                <a:gridCol w="63179">
                  <a:extLst>
                    <a:ext uri="{9D8B030D-6E8A-4147-A177-3AD203B41FA5}">
                      <a16:colId xmlns:a16="http://schemas.microsoft.com/office/drawing/2014/main" val="20089"/>
                    </a:ext>
                  </a:extLst>
                </a:gridCol>
                <a:gridCol w="63179">
                  <a:extLst>
                    <a:ext uri="{9D8B030D-6E8A-4147-A177-3AD203B41FA5}">
                      <a16:colId xmlns:a16="http://schemas.microsoft.com/office/drawing/2014/main" val="20090"/>
                    </a:ext>
                  </a:extLst>
                </a:gridCol>
                <a:gridCol w="63179">
                  <a:extLst>
                    <a:ext uri="{9D8B030D-6E8A-4147-A177-3AD203B41FA5}">
                      <a16:colId xmlns:a16="http://schemas.microsoft.com/office/drawing/2014/main" val="20091"/>
                    </a:ext>
                  </a:extLst>
                </a:gridCol>
                <a:gridCol w="63179">
                  <a:extLst>
                    <a:ext uri="{9D8B030D-6E8A-4147-A177-3AD203B41FA5}">
                      <a16:colId xmlns:a16="http://schemas.microsoft.com/office/drawing/2014/main" val="20092"/>
                    </a:ext>
                  </a:extLst>
                </a:gridCol>
                <a:gridCol w="63179">
                  <a:extLst>
                    <a:ext uri="{9D8B030D-6E8A-4147-A177-3AD203B41FA5}">
                      <a16:colId xmlns:a16="http://schemas.microsoft.com/office/drawing/2014/main" val="20093"/>
                    </a:ext>
                  </a:extLst>
                </a:gridCol>
                <a:gridCol w="63179">
                  <a:extLst>
                    <a:ext uri="{9D8B030D-6E8A-4147-A177-3AD203B41FA5}">
                      <a16:colId xmlns:a16="http://schemas.microsoft.com/office/drawing/2014/main" val="20094"/>
                    </a:ext>
                  </a:extLst>
                </a:gridCol>
                <a:gridCol w="63179">
                  <a:extLst>
                    <a:ext uri="{9D8B030D-6E8A-4147-A177-3AD203B41FA5}">
                      <a16:colId xmlns:a16="http://schemas.microsoft.com/office/drawing/2014/main" val="20095"/>
                    </a:ext>
                  </a:extLst>
                </a:gridCol>
                <a:gridCol w="63179">
                  <a:extLst>
                    <a:ext uri="{9D8B030D-6E8A-4147-A177-3AD203B41FA5}">
                      <a16:colId xmlns:a16="http://schemas.microsoft.com/office/drawing/2014/main" val="20096"/>
                    </a:ext>
                  </a:extLst>
                </a:gridCol>
                <a:gridCol w="63179">
                  <a:extLst>
                    <a:ext uri="{9D8B030D-6E8A-4147-A177-3AD203B41FA5}">
                      <a16:colId xmlns:a16="http://schemas.microsoft.com/office/drawing/2014/main" val="20097"/>
                    </a:ext>
                  </a:extLst>
                </a:gridCol>
                <a:gridCol w="63179">
                  <a:extLst>
                    <a:ext uri="{9D8B030D-6E8A-4147-A177-3AD203B41FA5}">
                      <a16:colId xmlns:a16="http://schemas.microsoft.com/office/drawing/2014/main" val="20098"/>
                    </a:ext>
                  </a:extLst>
                </a:gridCol>
                <a:gridCol w="63179">
                  <a:extLst>
                    <a:ext uri="{9D8B030D-6E8A-4147-A177-3AD203B41FA5}">
                      <a16:colId xmlns:a16="http://schemas.microsoft.com/office/drawing/2014/main" val="20099"/>
                    </a:ext>
                  </a:extLst>
                </a:gridCol>
                <a:gridCol w="63179">
                  <a:extLst>
                    <a:ext uri="{9D8B030D-6E8A-4147-A177-3AD203B41FA5}">
                      <a16:colId xmlns:a16="http://schemas.microsoft.com/office/drawing/2014/main" val="20100"/>
                    </a:ext>
                  </a:extLst>
                </a:gridCol>
                <a:gridCol w="63179">
                  <a:extLst>
                    <a:ext uri="{9D8B030D-6E8A-4147-A177-3AD203B41FA5}">
                      <a16:colId xmlns:a16="http://schemas.microsoft.com/office/drawing/2014/main" val="20101"/>
                    </a:ext>
                  </a:extLst>
                </a:gridCol>
                <a:gridCol w="63179">
                  <a:extLst>
                    <a:ext uri="{9D8B030D-6E8A-4147-A177-3AD203B41FA5}">
                      <a16:colId xmlns:a16="http://schemas.microsoft.com/office/drawing/2014/main" val="20102"/>
                    </a:ext>
                  </a:extLst>
                </a:gridCol>
                <a:gridCol w="63179">
                  <a:extLst>
                    <a:ext uri="{9D8B030D-6E8A-4147-A177-3AD203B41FA5}">
                      <a16:colId xmlns:a16="http://schemas.microsoft.com/office/drawing/2014/main" val="20103"/>
                    </a:ext>
                  </a:extLst>
                </a:gridCol>
                <a:gridCol w="63179">
                  <a:extLst>
                    <a:ext uri="{9D8B030D-6E8A-4147-A177-3AD203B41FA5}">
                      <a16:colId xmlns:a16="http://schemas.microsoft.com/office/drawing/2014/main" val="20104"/>
                    </a:ext>
                  </a:extLst>
                </a:gridCol>
                <a:gridCol w="63179">
                  <a:extLst>
                    <a:ext uri="{9D8B030D-6E8A-4147-A177-3AD203B41FA5}">
                      <a16:colId xmlns:a16="http://schemas.microsoft.com/office/drawing/2014/main" val="20105"/>
                    </a:ext>
                  </a:extLst>
                </a:gridCol>
                <a:gridCol w="63179">
                  <a:extLst>
                    <a:ext uri="{9D8B030D-6E8A-4147-A177-3AD203B41FA5}">
                      <a16:colId xmlns:a16="http://schemas.microsoft.com/office/drawing/2014/main" val="20106"/>
                    </a:ext>
                  </a:extLst>
                </a:gridCol>
                <a:gridCol w="63179">
                  <a:extLst>
                    <a:ext uri="{9D8B030D-6E8A-4147-A177-3AD203B41FA5}">
                      <a16:colId xmlns:a16="http://schemas.microsoft.com/office/drawing/2014/main" val="20107"/>
                    </a:ext>
                  </a:extLst>
                </a:gridCol>
                <a:gridCol w="63179">
                  <a:extLst>
                    <a:ext uri="{9D8B030D-6E8A-4147-A177-3AD203B41FA5}">
                      <a16:colId xmlns:a16="http://schemas.microsoft.com/office/drawing/2014/main" val="20108"/>
                    </a:ext>
                  </a:extLst>
                </a:gridCol>
              </a:tblGrid>
              <a:tr h="242901">
                <a:tc gridSpan="109">
                  <a:txBody>
                    <a:bodyPr/>
                    <a:lstStyle/>
                    <a:p>
                      <a:pPr algn="l" fontAlgn="ctr"/>
                      <a:r>
                        <a:rPr lang="en-US" altLang="zh-CN" sz="1100" u="none" strike="noStrike" dirty="0">
                          <a:effectLst/>
                        </a:rPr>
                        <a:t>  Automatic EMI 0.5s/grid</a:t>
                      </a:r>
                    </a:p>
                  </a:txBody>
                  <a:tcPr marL="4663" marR="4663" marT="4663"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3206">
                <a:tc rowSpan="2">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TW" sz="700" b="0" i="0" u="none" strike="noStrike" dirty="0">
                          <a:effectLst/>
                          <a:latin typeface="宋体" panose="02010600030101010101" pitchFamily="2" charset="-122"/>
                          <a:ea typeface="宋体" panose="02010600030101010101" pitchFamily="2" charset="-122"/>
                        </a:rPr>
                        <a:t>Product entry into the workspace</a:t>
                      </a:r>
                    </a:p>
                    <a:p>
                      <a:pPr algn="ctr" fontAlgn="ctr"/>
                      <a:r>
                        <a:rPr lang="zh-TW" altLang="en-US" sz="700" b="0" i="0" u="none" strike="noStrike" dirty="0">
                          <a:effectLst/>
                          <a:latin typeface="宋体" panose="02010600030101010101" pitchFamily="2" charset="-122"/>
                          <a:ea typeface="宋体" panose="02010600030101010101" pitchFamily="2" charset="-122"/>
                        </a:rPr>
                        <a:t>產品入工作區</a:t>
                      </a:r>
                      <a:endParaRPr lang="en-US" altLang="zh-TW" sz="700" b="0" i="0" u="none" strike="noStrike" dirty="0">
                        <a:effectLst/>
                        <a:latin typeface="宋体" panose="02010600030101010101" pitchFamily="2" charset="-122"/>
                        <a:ea typeface="宋体" panose="02010600030101010101" pitchFamily="2" charset="-122"/>
                      </a:endParaRPr>
                    </a:p>
                  </a:txBody>
                  <a:tcPr marL="4663" marR="4663" marT="4663" marB="0" anchor="ctr"/>
                </a:tc>
                <a:tc>
                  <a:txBody>
                    <a:bodyPr/>
                    <a:lstStyle/>
                    <a:p>
                      <a:pPr algn="ctr" fontAlgn="ctr"/>
                      <a:r>
                        <a:rPr lang="en-US" altLang="zh-TW" sz="700" b="0" i="0" u="none" strike="noStrike" dirty="0">
                          <a:effectLst/>
                          <a:latin typeface="宋体" panose="02010600030101010101" pitchFamily="2" charset="-122"/>
                          <a:ea typeface="宋体" panose="02010600030101010101" pitchFamily="2" charset="-122"/>
                        </a:rPr>
                        <a:t>Running time of the conveyor line is 1.5 seconds</a:t>
                      </a:r>
                    </a:p>
                    <a:p>
                      <a:pPr algn="ctr" fontAlgn="ctr"/>
                      <a:r>
                        <a:rPr lang="zh-TW" altLang="en-US" sz="700" b="0" i="0" u="none" strike="noStrike" dirty="0">
                          <a:effectLst/>
                          <a:latin typeface="宋体" panose="02010600030101010101" pitchFamily="2" charset="-122"/>
                          <a:ea typeface="宋体" panose="02010600030101010101" pitchFamily="2" charset="-122"/>
                        </a:rPr>
                        <a:t>輸送線運轉時間</a:t>
                      </a:r>
                      <a:r>
                        <a:rPr lang="en-US" altLang="zh-TW" sz="700" b="0" i="0" u="none" strike="noStrike" dirty="0">
                          <a:effectLst/>
                          <a:latin typeface="宋体" panose="02010600030101010101" pitchFamily="2" charset="-122"/>
                          <a:ea typeface="宋体" panose="02010600030101010101" pitchFamily="2" charset="-122"/>
                        </a:rPr>
                        <a:t>1.5s</a:t>
                      </a:r>
                    </a:p>
                  </a:txBody>
                  <a:tcPr marL="5782" marR="5782" marT="5782" marB="0" anchor="ctr"/>
                </a:tc>
                <a:tc rowSpan="2" gridSpan="4">
                  <a:txBody>
                    <a:bodyPr/>
                    <a:lstStyle/>
                    <a:p>
                      <a:pPr algn="ctr" fontAlgn="ctr"/>
                      <a:r>
                        <a:rPr lang="en-US" altLang="zh-CN" sz="700" u="none" strike="noStrike" dirty="0">
                          <a:effectLst/>
                        </a:rPr>
                        <a:t>2</a:t>
                      </a:r>
                      <a:endParaRPr lang="en-US" altLang="zh-CN" sz="7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ctr">
                    <a:solidFill>
                      <a:srgbClr val="FFFF00"/>
                    </a:solidFill>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1"/>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Product positioning 0.5s</a:t>
                      </a:r>
                    </a:p>
                    <a:p>
                      <a:pPr algn="ctr" fontAlgn="ctr"/>
                      <a:r>
                        <a:rPr lang="zh-CN" altLang="en-US" sz="700" b="0" i="0" u="none" strike="noStrike" dirty="0">
                          <a:effectLst/>
                          <a:latin typeface="宋体" panose="02010600030101010101" pitchFamily="2" charset="-122"/>
                          <a:ea typeface="宋体" panose="02010600030101010101" pitchFamily="2" charset="-122"/>
                        </a:rPr>
                        <a:t>產品定位 </a:t>
                      </a:r>
                      <a:r>
                        <a:rPr lang="en-US" altLang="zh-CN" sz="700" b="0" i="0" u="none" strike="noStrike" dirty="0">
                          <a:effectLst/>
                          <a:latin typeface="宋体" panose="02010600030101010101" pitchFamily="2" charset="-122"/>
                          <a:ea typeface="宋体" panose="02010600030101010101" pitchFamily="2" charset="-122"/>
                        </a:rPr>
                        <a:t>0.5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gridSpan="4"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2"/>
                  </a:ext>
                </a:extLst>
              </a:tr>
              <a:tr h="223206">
                <a:tc rowSpan="2">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Take photos of the material collection point</a:t>
                      </a:r>
                    </a:p>
                    <a:p>
                      <a:pPr algn="ctr" fontAlgn="ctr"/>
                      <a:r>
                        <a:rPr lang="zh-CN" altLang="en-US" sz="700" b="0" i="0" u="none" strike="noStrike" dirty="0">
                          <a:effectLst/>
                          <a:latin typeface="宋体" panose="02010600030101010101" pitchFamily="2" charset="-122"/>
                          <a:ea typeface="宋体" panose="02010600030101010101" pitchFamily="2" charset="-122"/>
                        </a:rPr>
                        <a:t>取料點拍照</a:t>
                      </a:r>
                    </a:p>
                  </a:txBody>
                  <a:tcPr marL="4663" marR="4663" marT="4663" marB="0" anchor="ct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Move the slide to the material collection point for 0.5s</a:t>
                      </a:r>
                    </a:p>
                    <a:p>
                      <a:pPr algn="ctr" fontAlgn="ctr"/>
                      <a:r>
                        <a:rPr lang="zh-CN" altLang="en-US" sz="700" b="0" i="0" u="none" strike="noStrike" dirty="0">
                          <a:effectLst/>
                          <a:latin typeface="宋体" panose="02010600030101010101" pitchFamily="2" charset="-122"/>
                          <a:ea typeface="宋体" panose="02010600030101010101" pitchFamily="2" charset="-122"/>
                        </a:rPr>
                        <a:t>滑台移動至取料點 </a:t>
                      </a:r>
                      <a:r>
                        <a:rPr lang="en-US" altLang="zh-CN" sz="700" b="0" i="0" u="none" strike="noStrike" dirty="0">
                          <a:effectLst/>
                          <a:latin typeface="宋体" panose="02010600030101010101" pitchFamily="2" charset="-122"/>
                          <a:ea typeface="宋体" panose="02010600030101010101" pitchFamily="2" charset="-122"/>
                        </a:rPr>
                        <a:t>0.5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rowSpan="2" gridSpan="3">
                  <a:txBody>
                    <a:bodyPr/>
                    <a:lstStyle/>
                    <a:p>
                      <a:pPr algn="ctr" fontAlgn="ctr"/>
                      <a:r>
                        <a:rPr lang="en-US" altLang="zh-CN" sz="700" u="none" strike="noStrike" dirty="0">
                          <a:effectLst/>
                        </a:rPr>
                        <a:t>1.5 </a:t>
                      </a:r>
                      <a:endParaRPr lang="en-US" altLang="zh-CN" sz="7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ctr">
                    <a:solidFill>
                      <a:srgbClr val="92D050"/>
                    </a:solidFill>
                  </a:tcPr>
                </a:tc>
                <a:tc rowSpan="2" hMerge="1">
                  <a:txBody>
                    <a:bodyPr/>
                    <a:lstStyle/>
                    <a:p>
                      <a:endParaRPr lang="en-US"/>
                    </a:p>
                  </a:txBody>
                  <a:tcPr/>
                </a:tc>
                <a:tc rowSpan="2" hMerge="1">
                  <a:txBody>
                    <a:bodyPr/>
                    <a:lstStyle/>
                    <a:p>
                      <a:endParaRPr lang="en-US"/>
                    </a:p>
                  </a:txBody>
                  <a:tcPr/>
                </a:tc>
                <a:tc>
                  <a:txBody>
                    <a:bodyPr/>
                    <a:lstStyle/>
                    <a:p>
                      <a:pPr algn="l" fontAlgn="b"/>
                      <a:r>
                        <a:rPr lang="zh-CN" altLang="en-US" sz="1100" u="none" strike="noStrike" dirty="0">
                          <a:effectLst/>
                        </a:rPr>
                        <a:t>　</a:t>
                      </a:r>
                      <a:endParaRPr lang="zh-CN" altLang="en-US" sz="11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3"/>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Take photos of the material collection point for 1 second</a:t>
                      </a:r>
                    </a:p>
                    <a:p>
                      <a:pPr algn="ctr" fontAlgn="ctr"/>
                      <a:r>
                        <a:rPr lang="zh-CN" altLang="en-US" sz="700" b="0" i="0" u="none" strike="noStrike" dirty="0">
                          <a:effectLst/>
                          <a:latin typeface="宋体" panose="02010600030101010101" pitchFamily="2" charset="-122"/>
                          <a:ea typeface="宋体" panose="02010600030101010101" pitchFamily="2" charset="-122"/>
                        </a:rPr>
                        <a:t>取料點拍照 </a:t>
                      </a:r>
                      <a:r>
                        <a:rPr lang="en-US" altLang="zh-CN" sz="700" b="0" i="0" u="none" strike="noStrike" dirty="0">
                          <a:effectLst/>
                          <a:latin typeface="宋体" panose="02010600030101010101" pitchFamily="2" charset="-122"/>
                          <a:ea typeface="宋体" panose="02010600030101010101" pitchFamily="2" charset="-122"/>
                        </a:rPr>
                        <a:t>1</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4"/>
                  </a:ext>
                </a:extLst>
              </a:tr>
              <a:tr h="223206">
                <a:tc rowSpan="2">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Suction nozzle feeding</a:t>
                      </a:r>
                    </a:p>
                    <a:p>
                      <a:pPr algn="ctr" fontAlgn="ctr"/>
                      <a:r>
                        <a:rPr lang="zh-CN" altLang="en-US" sz="700" b="0" i="0" u="none" strike="noStrike" dirty="0">
                          <a:effectLst/>
                          <a:latin typeface="宋体" panose="02010600030101010101" pitchFamily="2" charset="-122"/>
                          <a:ea typeface="宋体" panose="02010600030101010101" pitchFamily="2" charset="-122"/>
                        </a:rPr>
                        <a:t>吸嘴取料</a:t>
                      </a:r>
                    </a:p>
                  </a:txBody>
                  <a:tcPr marL="4663" marR="4663" marT="4663" marB="0" anchor="ct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Left suction nozzle feeding (No.1) for 1.5s</a:t>
                      </a:r>
                    </a:p>
                    <a:p>
                      <a:pPr algn="ctr" fontAlgn="ctr"/>
                      <a:r>
                        <a:rPr lang="zh-CN" altLang="en-US" sz="700" b="0" i="0" u="none" strike="noStrike" dirty="0">
                          <a:effectLst/>
                          <a:latin typeface="宋体" panose="02010600030101010101" pitchFamily="2" charset="-122"/>
                          <a:ea typeface="宋体" panose="02010600030101010101" pitchFamily="2" charset="-122"/>
                        </a:rPr>
                        <a:t>左吸嘴取料（</a:t>
                      </a:r>
                      <a:r>
                        <a:rPr lang="en-US" altLang="zh-CN" sz="700" b="0" i="0" u="none" strike="noStrike" dirty="0">
                          <a:effectLst/>
                          <a:latin typeface="宋体" panose="02010600030101010101" pitchFamily="2" charset="-122"/>
                          <a:ea typeface="宋体" panose="02010600030101010101" pitchFamily="2" charset="-122"/>
                        </a:rPr>
                        <a:t>1</a:t>
                      </a:r>
                      <a:r>
                        <a:rPr lang="zh-CN" altLang="en-US" sz="700" b="0" i="0" u="none" strike="noStrike" dirty="0">
                          <a:effectLst/>
                          <a:latin typeface="宋体" panose="02010600030101010101" pitchFamily="2" charset="-122"/>
                          <a:ea typeface="宋体" panose="02010600030101010101" pitchFamily="2" charset="-122"/>
                        </a:rPr>
                        <a:t>號）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dirty="0">
                          <a:effectLst/>
                        </a:rPr>
                        <a:t>　</a:t>
                      </a:r>
                      <a:endParaRPr lang="zh-CN" altLang="en-US" sz="11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b">
                    <a:solidFill>
                      <a:srgbClr val="92D050"/>
                    </a:solidFill>
                  </a:tcPr>
                </a:tc>
                <a:tc rowSpan="2" gridSpan="5">
                  <a:txBody>
                    <a:bodyPr/>
                    <a:lstStyle/>
                    <a:p>
                      <a:pPr algn="ctr" fontAlgn="ctr"/>
                      <a:r>
                        <a:rPr lang="en-US" altLang="zh-CN" sz="700" u="none" strike="noStrike" dirty="0">
                          <a:effectLst/>
                        </a:rPr>
                        <a:t>3</a:t>
                      </a:r>
                      <a:endParaRPr lang="en-US" altLang="zh-CN" sz="7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ctr">
                    <a:solidFill>
                      <a:srgbClr val="FFFF00"/>
                    </a:solidFill>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5"/>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Right suction nozzle feeding (No.2) for 1.5s</a:t>
                      </a:r>
                    </a:p>
                    <a:p>
                      <a:pPr algn="ctr" fontAlgn="ctr"/>
                      <a:r>
                        <a:rPr lang="zh-CN" altLang="en-US" sz="700" b="0" i="0" u="none" strike="noStrike" dirty="0">
                          <a:effectLst/>
                          <a:latin typeface="宋体" panose="02010600030101010101" pitchFamily="2" charset="-122"/>
                          <a:ea typeface="宋体" panose="02010600030101010101" pitchFamily="2" charset="-122"/>
                        </a:rPr>
                        <a:t>右吸嘴取料（</a:t>
                      </a:r>
                      <a:r>
                        <a:rPr lang="en-US" altLang="zh-CN" sz="700" b="0" i="0" u="none" strike="noStrike" dirty="0">
                          <a:effectLst/>
                          <a:latin typeface="宋体" panose="02010600030101010101" pitchFamily="2" charset="-122"/>
                          <a:ea typeface="宋体" panose="02010600030101010101" pitchFamily="2" charset="-122"/>
                        </a:rPr>
                        <a:t>2</a:t>
                      </a:r>
                      <a:r>
                        <a:rPr lang="zh-CN" altLang="en-US" sz="700" b="0" i="0" u="none" strike="noStrike" dirty="0">
                          <a:effectLst/>
                          <a:latin typeface="宋体" panose="02010600030101010101" pitchFamily="2" charset="-122"/>
                          <a:ea typeface="宋体" panose="02010600030101010101" pitchFamily="2" charset="-122"/>
                        </a:rPr>
                        <a:t>號）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5"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6"/>
                  </a:ext>
                </a:extLst>
              </a:tr>
              <a:tr h="223206">
                <a:tc rowSpan="2">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Product photography</a:t>
                      </a:r>
                    </a:p>
                    <a:p>
                      <a:pPr algn="ctr" fontAlgn="ctr"/>
                      <a:r>
                        <a:rPr lang="zh-CN" altLang="en-US" sz="700" b="0" i="0" u="none" strike="noStrike" dirty="0">
                          <a:effectLst/>
                          <a:latin typeface="宋体" panose="02010600030101010101" pitchFamily="2" charset="-122"/>
                          <a:ea typeface="宋体" panose="02010600030101010101" pitchFamily="2" charset="-122"/>
                        </a:rPr>
                        <a:t>產品拍照</a:t>
                      </a:r>
                    </a:p>
                  </a:txBody>
                  <a:tcPr marL="4663" marR="4663" marT="4663" marB="0" anchor="ct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Slide moves to Mark point for 1.5s to take photos</a:t>
                      </a:r>
                    </a:p>
                    <a:p>
                      <a:pPr algn="ctr" fontAlgn="ctr"/>
                      <a:r>
                        <a:rPr lang="zh-CN" altLang="en-US" sz="700" b="0" i="0" u="none" strike="noStrike" dirty="0">
                          <a:effectLst/>
                          <a:latin typeface="宋体" panose="02010600030101010101" pitchFamily="2" charset="-122"/>
                          <a:ea typeface="宋体" panose="02010600030101010101" pitchFamily="2" charset="-122"/>
                        </a:rPr>
                        <a:t>滑台移動至</a:t>
                      </a:r>
                      <a:r>
                        <a:rPr lang="en-US" sz="700" b="0" i="0" u="none" strike="noStrike" dirty="0">
                          <a:effectLst/>
                          <a:latin typeface="宋体" panose="02010600030101010101" pitchFamily="2" charset="-122"/>
                          <a:ea typeface="宋体" panose="02010600030101010101" pitchFamily="2" charset="-122"/>
                        </a:rPr>
                        <a:t>Mark</a:t>
                      </a:r>
                      <a:r>
                        <a:rPr lang="zh-CN" altLang="en-US" sz="700" b="0" i="0" u="none" strike="noStrike" dirty="0">
                          <a:effectLst/>
                          <a:latin typeface="宋体" panose="02010600030101010101" pitchFamily="2" charset="-122"/>
                          <a:ea typeface="宋体" panose="02010600030101010101" pitchFamily="2" charset="-122"/>
                        </a:rPr>
                        <a:t>點拍照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3">
                  <a:txBody>
                    <a:bodyPr/>
                    <a:lstStyle/>
                    <a:p>
                      <a:pPr algn="ctr" fontAlgn="ctr"/>
                      <a:r>
                        <a:rPr lang="en-US" altLang="zh-CN" sz="700" u="none" strike="noStrike" dirty="0">
                          <a:effectLst/>
                        </a:rPr>
                        <a:t>1.5</a:t>
                      </a:r>
                      <a:endParaRPr lang="en-US" altLang="zh-CN" sz="7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ctr">
                    <a:solidFill>
                      <a:srgbClr val="FFFF00"/>
                    </a:solidFill>
                  </a:tcPr>
                </a:tc>
                <a:tc hMerge="1">
                  <a:txBody>
                    <a:bodyPr/>
                    <a:lstStyle/>
                    <a:p>
                      <a:endParaRPr lang="en-US"/>
                    </a:p>
                  </a:txBody>
                  <a:tcPr/>
                </a:tc>
                <a:tc h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7"/>
                  </a:ext>
                </a:extLst>
              </a:tr>
              <a:tr h="223206">
                <a:tc vMerge="1">
                  <a:txBody>
                    <a:bodyPr/>
                    <a:lstStyle/>
                    <a:p>
                      <a:endParaRPr lang="en-US"/>
                    </a:p>
                  </a:txBody>
                  <a:tcPr marL="4663" marR="4663" marT="4663" marB="0" anchor="ctr"/>
                </a:tc>
                <a:tc>
                  <a:txBody>
                    <a:bodyPr/>
                    <a:lstStyle/>
                    <a:p>
                      <a:pPr algn="ctr" fontAlgn="ctr"/>
                      <a:r>
                        <a:rPr lang="en-US" altLang="zh-TW" sz="700" b="0" i="0" u="none" strike="noStrike" dirty="0">
                          <a:effectLst/>
                          <a:latin typeface="宋体" panose="02010600030101010101" pitchFamily="2" charset="-122"/>
                          <a:ea typeface="宋体" panose="02010600030101010101" pitchFamily="2" charset="-122"/>
                        </a:rPr>
                        <a:t>Take photos of the discharge point (points 1-10) for 8 seconds</a:t>
                      </a:r>
                    </a:p>
                    <a:p>
                      <a:pPr algn="ctr" fontAlgn="ctr"/>
                      <a:r>
                        <a:rPr lang="zh-TW" altLang="en-US" sz="700" b="0" i="0" u="none" strike="noStrike" dirty="0">
                          <a:effectLst/>
                          <a:latin typeface="宋体" panose="02010600030101010101" pitchFamily="2" charset="-122"/>
                          <a:ea typeface="宋体" panose="02010600030101010101" pitchFamily="2" charset="-122"/>
                        </a:rPr>
                        <a:t>放料點拍照（</a:t>
                      </a:r>
                      <a:r>
                        <a:rPr lang="en-US" altLang="zh-TW" sz="700" b="0" i="0" u="none" strike="noStrike" dirty="0">
                          <a:effectLst/>
                          <a:latin typeface="宋体" panose="02010600030101010101" pitchFamily="2" charset="-122"/>
                          <a:ea typeface="宋体" panose="02010600030101010101" pitchFamily="2" charset="-122"/>
                        </a:rPr>
                        <a:t>1-10</a:t>
                      </a:r>
                      <a:r>
                        <a:rPr lang="zh-TW" altLang="en-US" sz="700" b="0" i="0" u="none" strike="noStrike" dirty="0">
                          <a:effectLst/>
                          <a:latin typeface="宋体" panose="02010600030101010101" pitchFamily="2" charset="-122"/>
                          <a:ea typeface="宋体" panose="02010600030101010101" pitchFamily="2" charset="-122"/>
                        </a:rPr>
                        <a:t>號點）</a:t>
                      </a:r>
                      <a:r>
                        <a:rPr lang="en-US" altLang="zh-TW" sz="700" b="0" i="0" u="none" strike="noStrike" dirty="0">
                          <a:effectLst/>
                          <a:latin typeface="宋体" panose="02010600030101010101" pitchFamily="2" charset="-122"/>
                          <a:ea typeface="宋体" panose="02010600030101010101" pitchFamily="2" charset="-122"/>
                        </a:rPr>
                        <a:t>8s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16">
                  <a:txBody>
                    <a:bodyPr/>
                    <a:lstStyle/>
                    <a:p>
                      <a:pPr algn="ctr" fontAlgn="ctr"/>
                      <a:r>
                        <a:rPr lang="en-US" altLang="zh-CN" sz="700" u="none" strike="noStrike" dirty="0">
                          <a:effectLst/>
                        </a:rPr>
                        <a:t>8</a:t>
                      </a:r>
                      <a:r>
                        <a:rPr lang="zh-CN" altLang="en-US" sz="700" u="none" strike="noStrike" dirty="0">
                          <a:effectLst/>
                        </a:rPr>
                        <a:t>　</a:t>
                      </a:r>
                      <a:endParaRPr lang="zh-CN" altLang="en-US" sz="7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ctr">
                    <a:solidFill>
                      <a:srgbClr val="FFFF00"/>
                    </a:solidFill>
                  </a:tcP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hMerge="1">
                  <a:txBody>
                    <a:bodyPr/>
                    <a:lstStyle/>
                    <a:p>
                      <a:endParaRPr lang="en-US"/>
                    </a:p>
                  </a:txBody>
                  <a:tcPr marL="4663" marR="4663" marT="4663"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8"/>
                  </a:ext>
                </a:extLst>
              </a:tr>
              <a:tr h="223206">
                <a:tc rowSpan="2">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Suction nozzle discharge</a:t>
                      </a:r>
                    </a:p>
                    <a:p>
                      <a:pPr algn="ctr" fontAlgn="ctr"/>
                      <a:r>
                        <a:rPr lang="zh-CN" altLang="en-US" sz="700" b="0" i="0" u="none" strike="noStrike" dirty="0">
                          <a:effectLst/>
                          <a:latin typeface="宋体" panose="02010600030101010101" pitchFamily="2" charset="-122"/>
                          <a:ea typeface="宋体" panose="02010600030101010101" pitchFamily="2" charset="-122"/>
                        </a:rPr>
                        <a:t>吸嘴放料</a:t>
                      </a:r>
                    </a:p>
                  </a:txBody>
                  <a:tcPr marL="4663" marR="4663" marT="4663" marB="0" anchor="ct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Left suction nozzle discharge (No.1) for 1.5s</a:t>
                      </a:r>
                    </a:p>
                    <a:p>
                      <a:pPr algn="ctr" fontAlgn="ctr"/>
                      <a:r>
                        <a:rPr lang="zh-CN" altLang="en-US" sz="700" b="0" i="0" u="none" strike="noStrike" dirty="0">
                          <a:effectLst/>
                          <a:latin typeface="宋体" panose="02010600030101010101" pitchFamily="2" charset="-122"/>
                          <a:ea typeface="宋体" panose="02010600030101010101" pitchFamily="2" charset="-122"/>
                        </a:rPr>
                        <a:t>左吸嘴放料（</a:t>
                      </a:r>
                      <a:r>
                        <a:rPr lang="en-US" altLang="zh-CN" sz="700" b="0" i="0" u="none" strike="noStrike" dirty="0">
                          <a:effectLst/>
                          <a:latin typeface="宋体" panose="02010600030101010101" pitchFamily="2" charset="-122"/>
                          <a:ea typeface="宋体" panose="02010600030101010101" pitchFamily="2" charset="-122"/>
                        </a:rPr>
                        <a:t>1</a:t>
                      </a:r>
                      <a:r>
                        <a:rPr lang="zh-CN" altLang="en-US" sz="700" b="0" i="0" u="none" strike="noStrike" dirty="0">
                          <a:effectLst/>
                          <a:latin typeface="宋体" panose="02010600030101010101" pitchFamily="2" charset="-122"/>
                          <a:ea typeface="宋体" panose="02010600030101010101" pitchFamily="2" charset="-122"/>
                        </a:rPr>
                        <a:t>號）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rowSpan="2" gridSpan="6">
                  <a:txBody>
                    <a:bodyPr/>
                    <a:lstStyle/>
                    <a:p>
                      <a:pPr algn="ctr" fontAlgn="ctr"/>
                      <a:r>
                        <a:rPr lang="en-US" altLang="zh-CN" sz="700" u="none" strike="noStrike" dirty="0">
                          <a:effectLst/>
                        </a:rPr>
                        <a:t>3</a:t>
                      </a:r>
                      <a:endParaRPr lang="en-US" altLang="zh-CN" sz="7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ctr">
                    <a:solidFill>
                      <a:srgbClr val="FFFF00"/>
                    </a:solidFill>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09"/>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Right suction nozzle discharge (No.2) for 1.5s</a:t>
                      </a:r>
                    </a:p>
                    <a:p>
                      <a:pPr algn="ctr" fontAlgn="ctr"/>
                      <a:r>
                        <a:rPr lang="zh-CN" altLang="en-US" sz="700" b="0" i="0" u="none" strike="noStrike" dirty="0">
                          <a:effectLst/>
                          <a:latin typeface="宋体" panose="02010600030101010101" pitchFamily="2" charset="-122"/>
                          <a:ea typeface="宋体" panose="02010600030101010101" pitchFamily="2" charset="-122"/>
                        </a:rPr>
                        <a:t>右吸嘴放料（</a:t>
                      </a:r>
                      <a:r>
                        <a:rPr lang="en-US" altLang="zh-CN" sz="700" b="0" i="0" u="none" strike="noStrike" dirty="0">
                          <a:effectLst/>
                          <a:latin typeface="宋体" panose="02010600030101010101" pitchFamily="2" charset="-122"/>
                          <a:ea typeface="宋体" panose="02010600030101010101" pitchFamily="2" charset="-122"/>
                        </a:rPr>
                        <a:t>2</a:t>
                      </a:r>
                      <a:r>
                        <a:rPr lang="zh-CN" altLang="en-US" sz="700" b="0" i="0" u="none" strike="noStrike" dirty="0">
                          <a:effectLst/>
                          <a:latin typeface="宋体" panose="02010600030101010101" pitchFamily="2" charset="-122"/>
                          <a:ea typeface="宋体" panose="02010600030101010101" pitchFamily="2" charset="-122"/>
                        </a:rPr>
                        <a:t>號）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6"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10"/>
                  </a:ext>
                </a:extLst>
              </a:tr>
              <a:tr h="223206">
                <a:tc rowSpan="7">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Material collection and discharge process</a:t>
                      </a:r>
                    </a:p>
                    <a:p>
                      <a:pPr algn="ctr" fontAlgn="ctr"/>
                      <a:r>
                        <a:rPr lang="zh-CN" altLang="en-US" sz="700" b="0" i="0" u="none" strike="noStrike" dirty="0">
                          <a:effectLst/>
                          <a:latin typeface="宋体" panose="02010600030101010101" pitchFamily="2" charset="-122"/>
                          <a:ea typeface="宋体" panose="02010600030101010101" pitchFamily="2" charset="-122"/>
                        </a:rPr>
                        <a:t>取放料流程</a:t>
                      </a:r>
                    </a:p>
                  </a:txBody>
                  <a:tcPr marL="4663" marR="4663" marT="4663" marB="0" anchor="ct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Move the slide to the material collection point for 0.5s</a:t>
                      </a:r>
                    </a:p>
                    <a:p>
                      <a:pPr algn="ctr" fontAlgn="ctr"/>
                      <a:r>
                        <a:rPr lang="zh-CN" altLang="en-US" sz="700" b="0" i="0" u="none" strike="noStrike" dirty="0">
                          <a:effectLst/>
                          <a:latin typeface="宋体" panose="02010600030101010101" pitchFamily="2" charset="-122"/>
                          <a:ea typeface="宋体" panose="02010600030101010101" pitchFamily="2" charset="-122"/>
                        </a:rPr>
                        <a:t>滑台移動至取料點 </a:t>
                      </a:r>
                      <a:r>
                        <a:rPr lang="en-US" altLang="zh-CN" sz="700" b="0" i="0" u="none" strike="noStrike" dirty="0">
                          <a:effectLst/>
                          <a:latin typeface="宋体" panose="02010600030101010101" pitchFamily="2" charset="-122"/>
                          <a:ea typeface="宋体" panose="02010600030101010101" pitchFamily="2" charset="-122"/>
                        </a:rPr>
                        <a:t>0.5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rowSpan="7" gridSpan="70">
                  <a:txBody>
                    <a:bodyPr/>
                    <a:lstStyle/>
                    <a:p>
                      <a:pPr algn="ctr" fontAlgn="ctr"/>
                      <a:r>
                        <a:rPr lang="en-US" altLang="zh-CN" sz="700" u="none" strike="noStrike" dirty="0">
                          <a:effectLst/>
                        </a:rPr>
                        <a:t>35</a:t>
                      </a:r>
                      <a:endParaRPr lang="en-US" altLang="zh-CN" sz="7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ctr">
                    <a:solidFill>
                      <a:srgbClr val="FFFF00"/>
                    </a:solidFill>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rowSpan="7" h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11"/>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Left suction nozzle feeding (No.3) for 1.5s</a:t>
                      </a:r>
                    </a:p>
                    <a:p>
                      <a:pPr algn="ctr" fontAlgn="ctr"/>
                      <a:r>
                        <a:rPr lang="zh-CN" altLang="en-US" sz="700" b="0" i="0" u="none" strike="noStrike" dirty="0">
                          <a:effectLst/>
                          <a:latin typeface="宋体" panose="02010600030101010101" pitchFamily="2" charset="-122"/>
                          <a:ea typeface="宋体" panose="02010600030101010101" pitchFamily="2" charset="-122"/>
                        </a:rPr>
                        <a:t>左吸嘴取料（</a:t>
                      </a:r>
                      <a:r>
                        <a:rPr lang="en-US" altLang="zh-CN" sz="700" b="0" i="0" u="none" strike="noStrike" dirty="0">
                          <a:effectLst/>
                          <a:latin typeface="宋体" panose="02010600030101010101" pitchFamily="2" charset="-122"/>
                          <a:ea typeface="宋体" panose="02010600030101010101" pitchFamily="2" charset="-122"/>
                        </a:rPr>
                        <a:t>3</a:t>
                      </a:r>
                      <a:r>
                        <a:rPr lang="zh-CN" altLang="en-US" sz="700" b="0" i="0" u="none" strike="noStrike" dirty="0">
                          <a:effectLst/>
                          <a:latin typeface="宋体" panose="02010600030101010101" pitchFamily="2" charset="-122"/>
                          <a:ea typeface="宋体" panose="02010600030101010101" pitchFamily="2" charset="-122"/>
                        </a:rPr>
                        <a:t>號）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70"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12"/>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Right suction nozzle feeding (No. 4) for 1.5s</a:t>
                      </a:r>
                    </a:p>
                    <a:p>
                      <a:pPr algn="ctr" fontAlgn="ctr"/>
                      <a:r>
                        <a:rPr lang="zh-CN" altLang="en-US" sz="700" b="0" i="0" u="none" strike="noStrike" dirty="0">
                          <a:effectLst/>
                          <a:latin typeface="宋体" panose="02010600030101010101" pitchFamily="2" charset="-122"/>
                          <a:ea typeface="宋体" panose="02010600030101010101" pitchFamily="2" charset="-122"/>
                        </a:rPr>
                        <a:t>右吸嘴取料（</a:t>
                      </a:r>
                      <a:r>
                        <a:rPr lang="en-US" altLang="zh-CN" sz="700" b="0" i="0" u="none" strike="noStrike" dirty="0">
                          <a:effectLst/>
                          <a:latin typeface="宋体" panose="02010600030101010101" pitchFamily="2" charset="-122"/>
                          <a:ea typeface="宋体" panose="02010600030101010101" pitchFamily="2" charset="-122"/>
                        </a:rPr>
                        <a:t>4</a:t>
                      </a:r>
                      <a:r>
                        <a:rPr lang="zh-CN" altLang="en-US" sz="700" b="0" i="0" u="none" strike="noStrike" dirty="0">
                          <a:effectLst/>
                          <a:latin typeface="宋体" panose="02010600030101010101" pitchFamily="2" charset="-122"/>
                          <a:ea typeface="宋体" panose="02010600030101010101" pitchFamily="2" charset="-122"/>
                        </a:rPr>
                        <a:t>號）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70"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13"/>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Move the slide to the discharge point for 0.5s</a:t>
                      </a:r>
                    </a:p>
                    <a:p>
                      <a:pPr algn="ctr" fontAlgn="ctr"/>
                      <a:r>
                        <a:rPr lang="zh-CN" altLang="en-US" sz="700" b="0" i="0" u="none" strike="noStrike" dirty="0">
                          <a:effectLst/>
                          <a:latin typeface="宋体" panose="02010600030101010101" pitchFamily="2" charset="-122"/>
                          <a:ea typeface="宋体" panose="02010600030101010101" pitchFamily="2" charset="-122"/>
                        </a:rPr>
                        <a:t>滑台移動至放料點 </a:t>
                      </a:r>
                      <a:r>
                        <a:rPr lang="en-US" altLang="zh-CN" sz="700" b="0" i="0" u="none" strike="noStrike" dirty="0">
                          <a:effectLst/>
                          <a:latin typeface="宋体" panose="02010600030101010101" pitchFamily="2" charset="-122"/>
                          <a:ea typeface="宋体" panose="02010600030101010101" pitchFamily="2" charset="-122"/>
                        </a:rPr>
                        <a:t>0.5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70"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14"/>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Left suction nozzle discharge (No.3) for 1.5s</a:t>
                      </a:r>
                    </a:p>
                    <a:p>
                      <a:pPr algn="ctr" fontAlgn="ctr"/>
                      <a:r>
                        <a:rPr lang="zh-CN" altLang="en-US" sz="700" b="0" i="0" u="none" strike="noStrike" dirty="0">
                          <a:effectLst/>
                          <a:latin typeface="宋体" panose="02010600030101010101" pitchFamily="2" charset="-122"/>
                          <a:ea typeface="宋体" panose="02010600030101010101" pitchFamily="2" charset="-122"/>
                        </a:rPr>
                        <a:t>左吸嘴放料（</a:t>
                      </a:r>
                      <a:r>
                        <a:rPr lang="en-US" altLang="zh-CN" sz="700" b="0" i="0" u="none" strike="noStrike" dirty="0">
                          <a:effectLst/>
                          <a:latin typeface="宋体" panose="02010600030101010101" pitchFamily="2" charset="-122"/>
                          <a:ea typeface="宋体" panose="02010600030101010101" pitchFamily="2" charset="-122"/>
                        </a:rPr>
                        <a:t>3</a:t>
                      </a:r>
                      <a:r>
                        <a:rPr lang="zh-CN" altLang="en-US" sz="700" b="0" i="0" u="none" strike="noStrike" dirty="0">
                          <a:effectLst/>
                          <a:latin typeface="宋体" panose="02010600030101010101" pitchFamily="2" charset="-122"/>
                          <a:ea typeface="宋体" panose="02010600030101010101" pitchFamily="2" charset="-122"/>
                        </a:rPr>
                        <a:t>號）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70"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15"/>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Right suction nozzle discharge (No. 4) for 1.5s</a:t>
                      </a:r>
                    </a:p>
                    <a:p>
                      <a:pPr algn="ctr" fontAlgn="ctr"/>
                      <a:r>
                        <a:rPr lang="zh-CN" altLang="en-US" sz="700" b="0" i="0" u="none" strike="noStrike" dirty="0">
                          <a:effectLst/>
                          <a:latin typeface="宋体" panose="02010600030101010101" pitchFamily="2" charset="-122"/>
                          <a:ea typeface="宋体" panose="02010600030101010101" pitchFamily="2" charset="-122"/>
                        </a:rPr>
                        <a:t>右吸嘴放料（</a:t>
                      </a:r>
                      <a:r>
                        <a:rPr lang="en-US" altLang="zh-CN" sz="700" b="0" i="0" u="none" strike="noStrike" dirty="0">
                          <a:effectLst/>
                          <a:latin typeface="宋体" panose="02010600030101010101" pitchFamily="2" charset="-122"/>
                          <a:ea typeface="宋体" panose="02010600030101010101" pitchFamily="2" charset="-122"/>
                        </a:rPr>
                        <a:t>4</a:t>
                      </a:r>
                      <a:r>
                        <a:rPr lang="zh-CN" altLang="en-US" sz="700" b="0" i="0" u="none" strike="noStrike" dirty="0">
                          <a:effectLst/>
                          <a:latin typeface="宋体" panose="02010600030101010101" pitchFamily="2" charset="-122"/>
                          <a:ea typeface="宋体" panose="02010600030101010101" pitchFamily="2" charset="-122"/>
                        </a:rPr>
                        <a:t>號） </a:t>
                      </a:r>
                      <a:r>
                        <a:rPr lang="en-US" altLang="zh-CN" sz="700" b="0" i="0" u="none" strike="noStrike" dirty="0">
                          <a:effectLst/>
                          <a:latin typeface="宋体" panose="02010600030101010101" pitchFamily="2" charset="-122"/>
                          <a:ea typeface="宋体" panose="02010600030101010101" pitchFamily="2" charset="-122"/>
                        </a:rPr>
                        <a:t>1.5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70"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16"/>
                  </a:ext>
                </a:extLst>
              </a:tr>
              <a:tr h="305267">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Repeat the above material collection and discharge process 3 times (No. 5-10) for 21 seconds</a:t>
                      </a:r>
                    </a:p>
                    <a:p>
                      <a:pPr algn="ctr" fontAlgn="ctr"/>
                      <a:r>
                        <a:rPr lang="zh-CN" altLang="en-US" sz="700" b="0" i="0" u="none" strike="noStrike" dirty="0">
                          <a:effectLst/>
                          <a:latin typeface="宋体" panose="02010600030101010101" pitchFamily="2" charset="-122"/>
                          <a:ea typeface="宋体" panose="02010600030101010101" pitchFamily="2" charset="-122"/>
                        </a:rPr>
                        <a:t>重複以上取放料流程</a:t>
                      </a:r>
                      <a:r>
                        <a:rPr lang="en-US" altLang="zh-CN" sz="700" b="0" i="0" u="none" strike="noStrike" dirty="0">
                          <a:effectLst/>
                          <a:latin typeface="宋体" panose="02010600030101010101" pitchFamily="2" charset="-122"/>
                          <a:ea typeface="宋体" panose="02010600030101010101" pitchFamily="2" charset="-122"/>
                        </a:rPr>
                        <a:t>3</a:t>
                      </a:r>
                      <a:r>
                        <a:rPr lang="zh-CN" altLang="en-US" sz="700" b="0" i="0" u="none" strike="noStrike" dirty="0">
                          <a:effectLst/>
                          <a:latin typeface="宋体" panose="02010600030101010101" pitchFamily="2" charset="-122"/>
                          <a:ea typeface="宋体" panose="02010600030101010101" pitchFamily="2" charset="-122"/>
                        </a:rPr>
                        <a:t>次</a:t>
                      </a:r>
                      <a:r>
                        <a:rPr lang="en-US" altLang="zh-CN" sz="700" b="0" i="0" u="none" strike="noStrike" dirty="0">
                          <a:effectLst/>
                          <a:latin typeface="宋体" panose="02010600030101010101" pitchFamily="2" charset="-122"/>
                          <a:ea typeface="宋体" panose="02010600030101010101" pitchFamily="2" charset="-122"/>
                        </a:rPr>
                        <a:t>(5-10</a:t>
                      </a:r>
                      <a:r>
                        <a:rPr lang="zh-CN" altLang="en-US" sz="700" b="0" i="0" u="none" strike="noStrike" dirty="0">
                          <a:effectLst/>
                          <a:latin typeface="宋体" panose="02010600030101010101" pitchFamily="2" charset="-122"/>
                          <a:ea typeface="宋体" panose="02010600030101010101" pitchFamily="2" charset="-122"/>
                        </a:rPr>
                        <a:t>號</a:t>
                      </a:r>
                      <a:r>
                        <a:rPr lang="en-US" altLang="zh-CN" sz="700" b="0" i="0" u="none" strike="noStrike" dirty="0">
                          <a:effectLst/>
                          <a:latin typeface="宋体" panose="02010600030101010101" pitchFamily="2" charset="-122"/>
                          <a:ea typeface="宋体" panose="02010600030101010101" pitchFamily="2" charset="-122"/>
                        </a:rPr>
                        <a:t>) 21</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70"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extLst>
                  <a:ext uri="{0D108BD9-81ED-4DB2-BD59-A6C34878D82A}">
                    <a16:rowId xmlns:a16="http://schemas.microsoft.com/office/drawing/2014/main" val="10017"/>
                  </a:ext>
                </a:extLst>
              </a:tr>
              <a:tr h="223206">
                <a:tc rowSpan="2">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Product outflow</a:t>
                      </a:r>
                    </a:p>
                    <a:p>
                      <a:pPr algn="ctr" fontAlgn="ctr"/>
                      <a:r>
                        <a:rPr lang="zh-CN" altLang="en-US" sz="700" b="0" i="0" u="none" strike="noStrike" dirty="0">
                          <a:effectLst/>
                          <a:latin typeface="宋体" panose="02010600030101010101" pitchFamily="2" charset="-122"/>
                          <a:ea typeface="宋体" panose="02010600030101010101" pitchFamily="2" charset="-122"/>
                        </a:rPr>
                        <a:t>產品流出</a:t>
                      </a:r>
                    </a:p>
                  </a:txBody>
                  <a:tcPr marL="4663" marR="4663" marT="4663" marB="0" anchor="ct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Cancel product positioning for 0.5s</a:t>
                      </a:r>
                    </a:p>
                    <a:p>
                      <a:pPr algn="ctr" fontAlgn="ctr"/>
                      <a:r>
                        <a:rPr lang="zh-CN" altLang="en-US" sz="700" b="0" i="0" u="none" strike="noStrike" dirty="0">
                          <a:effectLst/>
                          <a:latin typeface="宋体" panose="02010600030101010101" pitchFamily="2" charset="-122"/>
                          <a:ea typeface="宋体" panose="02010600030101010101" pitchFamily="2" charset="-122"/>
                        </a:rPr>
                        <a:t>產品定位取消 </a:t>
                      </a:r>
                      <a:r>
                        <a:rPr lang="en-US" altLang="zh-CN" sz="700" b="0" i="0" u="none" strike="noStrike" dirty="0">
                          <a:effectLst/>
                          <a:latin typeface="宋体" panose="02010600030101010101" pitchFamily="2" charset="-122"/>
                          <a:ea typeface="宋体" panose="02010600030101010101" pitchFamily="2" charset="-122"/>
                        </a:rPr>
                        <a:t>0.5</a:t>
                      </a:r>
                      <a:r>
                        <a:rPr lang="en-US" sz="700" b="0" i="0" u="none" strike="noStrike" dirty="0">
                          <a:effectLst/>
                          <a:latin typeface="宋体" panose="02010600030101010101" pitchFamily="2" charset="-122"/>
                          <a:ea typeface="宋体" panose="02010600030101010101" pitchFamily="2" charset="-122"/>
                        </a:rPr>
                        <a:t>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ctr" fontAlgn="b"/>
                      <a:r>
                        <a:rPr lang="zh-CN" altLang="en-US" sz="700" u="none" strike="noStrike">
                          <a:effectLst/>
                        </a:rPr>
                        <a:t>　</a:t>
                      </a:r>
                      <a:endParaRPr lang="zh-CN" altLang="en-US" sz="700" b="0" i="0" u="none" strike="noStrike">
                        <a:effectLst/>
                        <a:latin typeface="PMingLiU" panose="02020500000000000000" pitchFamily="18" charset="-120"/>
                        <a:ea typeface="PMingLiU" panose="02020500000000000000" pitchFamily="18" charset="-120"/>
                      </a:endParaRPr>
                    </a:p>
                  </a:txBody>
                  <a:tcPr marL="4663" marR="4663" marT="4663" marB="0" anchor="b"/>
                </a:tc>
                <a:tc>
                  <a:txBody>
                    <a:bodyPr/>
                    <a:lstStyle/>
                    <a:p>
                      <a:pPr algn="ctr" fontAlgn="b"/>
                      <a:r>
                        <a:rPr lang="zh-CN" altLang="en-US" sz="700" u="none" strike="noStrike">
                          <a:effectLst/>
                        </a:rPr>
                        <a:t>　</a:t>
                      </a:r>
                      <a:endParaRPr lang="zh-CN" altLang="en-US" sz="700" b="0" i="0" u="none" strike="noStrike">
                        <a:effectLst/>
                        <a:latin typeface="PMingLiU" panose="02020500000000000000" pitchFamily="18" charset="-120"/>
                        <a:ea typeface="PMingLiU" panose="02020500000000000000" pitchFamily="18" charset="-120"/>
                      </a:endParaRPr>
                    </a:p>
                  </a:txBody>
                  <a:tcPr marL="4663" marR="4663" marT="4663" marB="0" anchor="b"/>
                </a:tc>
                <a:tc>
                  <a:txBody>
                    <a:bodyPr/>
                    <a:lstStyle/>
                    <a:p>
                      <a:pPr algn="ctr" fontAlgn="b"/>
                      <a:r>
                        <a:rPr lang="zh-CN" altLang="en-US" sz="700" u="none" strike="noStrike">
                          <a:effectLst/>
                        </a:rPr>
                        <a:t>　</a:t>
                      </a:r>
                      <a:endParaRPr lang="zh-CN" altLang="en-US" sz="700" b="0" i="0" u="none" strike="noStrike">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rowSpan="2" gridSpan="3">
                  <a:txBody>
                    <a:bodyPr/>
                    <a:lstStyle/>
                    <a:p>
                      <a:pPr algn="ctr" fontAlgn="ctr"/>
                      <a:r>
                        <a:rPr lang="en-US" altLang="zh-CN" sz="700" u="none" strike="noStrike" dirty="0">
                          <a:effectLst/>
                        </a:rPr>
                        <a:t>1.5</a:t>
                      </a:r>
                      <a:endParaRPr lang="en-US" altLang="zh-CN" sz="700" b="0" i="0" u="none" strike="noStrike" dirty="0">
                        <a:solidFill>
                          <a:srgbClr val="FF0000"/>
                        </a:solidFill>
                        <a:effectLst/>
                        <a:latin typeface="PMingLiU" panose="02020500000000000000" pitchFamily="18" charset="-120"/>
                        <a:ea typeface="PMingLiU" panose="02020500000000000000" pitchFamily="18" charset="-120"/>
                      </a:endParaRPr>
                    </a:p>
                  </a:txBody>
                  <a:tcPr marL="4663" marR="4663" marT="4663" marB="0" anchor="ctr">
                    <a:solidFill>
                      <a:srgbClr val="FFFF00"/>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10018"/>
                  </a:ext>
                </a:extLst>
              </a:tr>
              <a:tr h="223206">
                <a:tc vMerge="1">
                  <a:txBody>
                    <a:bodyPr/>
                    <a:lstStyle/>
                    <a:p>
                      <a:endParaRPr lang="en-US"/>
                    </a:p>
                  </a:txBody>
                  <a:tcPr/>
                </a:tc>
                <a:tc>
                  <a:txBody>
                    <a:bodyPr/>
                    <a:lstStyle/>
                    <a:p>
                      <a:pPr algn="ctr" fontAlgn="ctr"/>
                      <a:r>
                        <a:rPr lang="en-US" altLang="zh-CN" sz="700" b="0" i="0" u="none" strike="noStrike" dirty="0">
                          <a:effectLst/>
                          <a:latin typeface="宋体" panose="02010600030101010101" pitchFamily="2" charset="-122"/>
                          <a:ea typeface="宋体" panose="02010600030101010101" pitchFamily="2" charset="-122"/>
                        </a:rPr>
                        <a:t>Buffer 1 second after product inflow</a:t>
                      </a:r>
                    </a:p>
                    <a:p>
                      <a:pPr algn="ctr" fontAlgn="ctr"/>
                      <a:r>
                        <a:rPr lang="zh-CN" altLang="en-US" sz="700" b="0" i="0" u="none" strike="noStrike" dirty="0">
                          <a:effectLst/>
                          <a:latin typeface="宋体" panose="02010600030101010101" pitchFamily="2" charset="-122"/>
                          <a:ea typeface="宋体" panose="02010600030101010101" pitchFamily="2" charset="-122"/>
                        </a:rPr>
                        <a:t>產品流入后</a:t>
                      </a:r>
                      <a:r>
                        <a:rPr lang="en-US" sz="700" b="0" i="0" u="none" strike="noStrike" dirty="0">
                          <a:effectLst/>
                          <a:latin typeface="宋体" panose="02010600030101010101" pitchFamily="2" charset="-122"/>
                          <a:ea typeface="宋体" panose="02010600030101010101" pitchFamily="2" charset="-122"/>
                        </a:rPr>
                        <a:t>buffer 1s</a:t>
                      </a:r>
                    </a:p>
                  </a:txBody>
                  <a:tcPr marL="5782" marR="5782" marT="5782" marB="0" anchor="ctr"/>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ctr" fontAlgn="b"/>
                      <a:r>
                        <a:rPr lang="zh-CN" altLang="en-US" sz="700" u="none" strike="noStrike">
                          <a:effectLst/>
                        </a:rPr>
                        <a:t>　</a:t>
                      </a:r>
                      <a:endParaRPr lang="zh-CN" altLang="en-US" sz="700" b="0" i="0" u="none" strike="noStrike">
                        <a:effectLst/>
                        <a:latin typeface="PMingLiU" panose="02020500000000000000" pitchFamily="18" charset="-120"/>
                        <a:ea typeface="PMingLiU" panose="02020500000000000000" pitchFamily="18" charset="-120"/>
                      </a:endParaRPr>
                    </a:p>
                  </a:txBody>
                  <a:tcPr marL="4663" marR="4663" marT="4663" marB="0" anchor="b"/>
                </a:tc>
                <a:tc>
                  <a:txBody>
                    <a:bodyPr/>
                    <a:lstStyle/>
                    <a:p>
                      <a:pPr algn="ctr" fontAlgn="b"/>
                      <a:r>
                        <a:rPr lang="zh-CN" altLang="en-US" sz="700" u="none" strike="noStrike">
                          <a:effectLst/>
                        </a:rPr>
                        <a:t>　</a:t>
                      </a:r>
                      <a:endParaRPr lang="zh-CN" altLang="en-US" sz="700" b="0" i="0" u="none" strike="noStrike">
                        <a:effectLst/>
                        <a:latin typeface="PMingLiU" panose="02020500000000000000" pitchFamily="18" charset="-120"/>
                        <a:ea typeface="PMingLiU" panose="02020500000000000000" pitchFamily="18" charset="-120"/>
                      </a:endParaRPr>
                    </a:p>
                  </a:txBody>
                  <a:tcPr marL="4663" marR="4663" marT="4663" marB="0" anchor="b"/>
                </a:tc>
                <a:tc>
                  <a:txBody>
                    <a:bodyPr/>
                    <a:lstStyle/>
                    <a:p>
                      <a:pPr algn="ctr" fontAlgn="b"/>
                      <a:r>
                        <a:rPr lang="zh-CN" altLang="en-US" sz="700" u="none" strike="noStrike">
                          <a:effectLst/>
                        </a:rPr>
                        <a:t>　</a:t>
                      </a:r>
                      <a:endParaRPr lang="zh-CN" altLang="en-US" sz="700" b="0" i="0" u="none" strike="noStrike">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a:txBody>
                    <a:bodyPr/>
                    <a:lstStyle/>
                    <a:p>
                      <a:pPr algn="l" fontAlgn="b"/>
                      <a:r>
                        <a:rPr lang="zh-CN" altLang="en-US" sz="1100" u="none" strike="noStrike">
                          <a:effectLst/>
                        </a:rPr>
                        <a:t>　</a:t>
                      </a:r>
                      <a:endParaRPr lang="zh-CN" altLang="en-US" sz="1100" b="0" i="0" u="none" strike="noStrike">
                        <a:solidFill>
                          <a:srgbClr val="FF0000"/>
                        </a:solidFill>
                        <a:effectLst/>
                        <a:latin typeface="PMingLiU" panose="02020500000000000000" pitchFamily="18" charset="-120"/>
                        <a:ea typeface="PMingLiU" panose="02020500000000000000" pitchFamily="18" charset="-120"/>
                      </a:endParaRPr>
                    </a:p>
                  </a:txBody>
                  <a:tcPr marL="4663" marR="4663" marT="4663" marB="0" anchor="b"/>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19"/>
                  </a:ext>
                </a:extLst>
              </a:tr>
              <a:tr h="193664">
                <a:tc>
                  <a:txBody>
                    <a:bodyPr/>
                    <a:lstStyle/>
                    <a:p>
                      <a:pPr algn="ctr" fontAlgn="ctr"/>
                      <a:r>
                        <a:rPr lang="zh-CN" altLang="en-US" sz="700" u="none" strike="noStrike" dirty="0">
                          <a:effectLst/>
                        </a:rPr>
                        <a:t>　</a:t>
                      </a:r>
                      <a:endParaRPr lang="zh-CN" altLang="en-US" sz="700" b="0" i="0" u="none" strike="noStrike" dirty="0">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zh-CN" altLang="en-US" sz="400" u="none" strike="noStrike">
                          <a:effectLst/>
                        </a:rPr>
                        <a:t>　</a:t>
                      </a:r>
                      <a:endParaRPr lang="zh-CN" altLang="en-US"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19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29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39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49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59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69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79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89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90</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91</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92</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93</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94</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95</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96</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97</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98</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99</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tc>
                  <a:txBody>
                    <a:bodyPr/>
                    <a:lstStyle/>
                    <a:p>
                      <a:pPr algn="ctr" fontAlgn="ctr"/>
                      <a:r>
                        <a:rPr lang="en-US" altLang="zh-CN" sz="400" u="none" strike="noStrike">
                          <a:effectLst/>
                        </a:rPr>
                        <a:t>##</a:t>
                      </a:r>
                      <a:endParaRPr lang="en-US" altLang="zh-CN" sz="400" b="0" i="0" u="none" strike="noStrike">
                        <a:effectLst/>
                        <a:latin typeface="PMingLiU" panose="02020500000000000000" pitchFamily="18" charset="-120"/>
                        <a:ea typeface="PMingLiU" panose="02020500000000000000" pitchFamily="18" charset="-120"/>
                      </a:endParaRPr>
                    </a:p>
                  </a:txBody>
                  <a:tcPr marL="4663" marR="4663" marT="4663" marB="0" anchor="ctr"/>
                </a:tc>
                <a:extLst>
                  <a:ext uri="{0D108BD9-81ED-4DB2-BD59-A6C34878D82A}">
                    <a16:rowId xmlns:a16="http://schemas.microsoft.com/office/drawing/2014/main" val="10020"/>
                  </a:ext>
                </a:extLst>
              </a:tr>
              <a:tr h="236336">
                <a:tc>
                  <a:txBody>
                    <a:bodyPr/>
                    <a:lstStyle/>
                    <a:p>
                      <a:pPr algn="ctr" fontAlgn="ctr"/>
                      <a:r>
                        <a:rPr lang="en-US" sz="1100" b="1" i="0" u="none" strike="noStrike" dirty="0">
                          <a:effectLst/>
                          <a:latin typeface="Times New Roman" panose="02020603050405020304" pitchFamily="18" charset="0"/>
                        </a:rPr>
                        <a:t>Cycle time/s</a:t>
                      </a:r>
                    </a:p>
                  </a:txBody>
                  <a:tcPr marL="5782" marR="5782" marT="5782" marB="0" anchor="ctr"/>
                </a:tc>
                <a:tc>
                  <a:txBody>
                    <a:bodyPr/>
                    <a:lstStyle/>
                    <a:p>
                      <a:pPr algn="ctr" fontAlgn="ctr"/>
                      <a:r>
                        <a:rPr lang="en-US" sz="1100" b="1" i="0" u="none" strike="noStrike" dirty="0">
                          <a:solidFill>
                            <a:srgbClr val="FF0000"/>
                          </a:solidFill>
                          <a:effectLst/>
                          <a:latin typeface="Times New Roman" panose="02020603050405020304" pitchFamily="18" charset="0"/>
                        </a:rPr>
                        <a:t>53.5/12=4.5S</a:t>
                      </a:r>
                    </a:p>
                  </a:txBody>
                  <a:tcPr marL="5782" marR="5782" marT="5782" marB="0" anchor="ctr"/>
                </a:tc>
                <a:tc gridSpan="107">
                  <a:txBody>
                    <a:bodyPr/>
                    <a:lstStyle/>
                    <a:p>
                      <a:pPr marL="0" marR="0" indent="0" algn="l" defTabSz="914400" rtl="0" eaLnBrk="1" fontAlgn="ctr" latinLnBrk="0" hangingPunct="1">
                        <a:lnSpc>
                          <a:spcPct val="100000"/>
                        </a:lnSpc>
                        <a:spcBef>
                          <a:spcPts val="0"/>
                        </a:spcBef>
                        <a:spcAft>
                          <a:spcPts val="0"/>
                        </a:spcAft>
                        <a:buClrTx/>
                        <a:buSzTx/>
                        <a:buFontTx/>
                        <a:buNone/>
                        <a:defRPr/>
                      </a:pPr>
                      <a:r>
                        <a:rPr lang="en-US" altLang="zh-CN" sz="1100" b="1" i="0" u="none" strike="noStrike" kern="1200" dirty="0">
                          <a:solidFill>
                            <a:srgbClr val="FF0000"/>
                          </a:solidFill>
                          <a:effectLst/>
                          <a:latin typeface="Times New Roman" panose="02020603050405020304" pitchFamily="18" charset="0"/>
                          <a:ea typeface="+mn-ea"/>
                          <a:cs typeface="+mn-cs"/>
                        </a:rPr>
                        <a:t> UPH:  3600/4.5*0.8=640 (Pcs)</a:t>
                      </a:r>
                      <a:r>
                        <a:rPr lang="zh-CN" altLang="en-US" sz="1100" b="1" i="0" u="none" strike="noStrike" kern="1200" dirty="0">
                          <a:solidFill>
                            <a:srgbClr val="FF0000"/>
                          </a:solidFill>
                          <a:effectLst/>
                          <a:latin typeface="Times New Roman" panose="02020603050405020304" pitchFamily="18" charset="0"/>
                          <a:ea typeface="+mn-ea"/>
                          <a:cs typeface="+mn-cs"/>
                        </a:rPr>
                        <a:t>　</a:t>
                      </a:r>
                    </a:p>
                  </a:txBody>
                  <a:tcPr marL="5782" marR="5782" marT="5782"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marL="5782" marR="5782" marT="5782" marB="0" anchor="ctr"/>
                </a:tc>
                <a:tc hMerge="1">
                  <a:txBody>
                    <a:bodyPr/>
                    <a:lstStyle/>
                    <a:p>
                      <a:endParaRPr lang="en-US"/>
                    </a:p>
                  </a:txBody>
                  <a:tcPr marL="5782" marR="5782" marT="5782" marB="0" anchor="ctr"/>
                </a:tc>
                <a:tc hMerge="1">
                  <a:txBody>
                    <a:bodyPr/>
                    <a:lstStyle/>
                    <a:p>
                      <a:endParaRPr lang="en-US"/>
                    </a:p>
                  </a:txBody>
                  <a:tcPr marL="5782" marR="5782" marT="5782"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21"/>
                  </a:ext>
                </a:extLst>
              </a:tr>
            </a:tbl>
          </a:graphicData>
        </a:graphic>
      </p:graphicFrame>
      <p:sp>
        <p:nvSpPr>
          <p:cNvPr id="5" name="標題 1"/>
          <p:cNvSpPr txBox="1"/>
          <p:nvPr>
            <p:custDataLst>
              <p:tags r:id="rId2"/>
            </p:custDataLst>
          </p:nvPr>
        </p:nvSpPr>
        <p:spPr>
          <a:xfrm>
            <a:off x="609908" y="187734"/>
            <a:ext cx="10796077" cy="615478"/>
          </a:xfrm>
          <a:prstGeom prst="rect">
            <a:avLst/>
          </a:prstGeom>
          <a:noFill/>
        </p:spPr>
        <p:txBody>
          <a:bodyPr wrap="square" lIns="121847" tIns="60923" rIns="121847" bIns="60923" rtlCol="0">
            <a:spAutoFit/>
          </a:bodyPr>
          <a:lstStyle>
            <a:defPPr>
              <a:defRPr lang="zh-TW"/>
            </a:defPPr>
            <a:lvl1pPr defTabSz="1218565" fontAlgn="base">
              <a:spcBef>
                <a:spcPct val="0"/>
              </a:spcBef>
              <a:spcAft>
                <a:spcPct val="0"/>
              </a:spcAft>
              <a:defRPr kumimoji="1" sz="3200" b="1">
                <a:solidFill>
                  <a:srgbClr val="0070C0"/>
                </a:solidFill>
                <a:latin typeface="Calibri" panose="020F0502020204030204"/>
                <a:ea typeface="Microsoft JhengHei" panose="020B0604030504040204" pitchFamily="34" charset="-120"/>
                <a:cs typeface="Arial" panose="020B0604020202020204" pitchFamily="34" charset="0"/>
              </a:defRPr>
            </a:lvl1pPr>
          </a:lstStyle>
          <a:p>
            <a:pPr>
              <a:defRPr/>
            </a:pPr>
            <a:r>
              <a:rPr lang="en-US" altLang="zh-CN" sz="3000" kern="0" dirty="0">
                <a:sym typeface="+mn-ea"/>
              </a:rPr>
              <a:t>8</a:t>
            </a:r>
            <a:r>
              <a:rPr lang="en-US" altLang="zh-CN" sz="3000" kern="0" noProof="0" dirty="0">
                <a:ln>
                  <a:noFill/>
                </a:ln>
                <a:effectLst/>
                <a:uLnTx/>
                <a:uFillTx/>
                <a:sym typeface="+mn-ea"/>
              </a:rPr>
              <a:t>.</a:t>
            </a:r>
            <a:r>
              <a:rPr kumimoji="0" lang="en-US" altLang="zh-CN" sz="3200" b="0" i="0" u="none" strike="noStrike" cap="none" normalizeH="0" baseline="0" dirty="0">
                <a:ln>
                  <a:noFill/>
                </a:ln>
                <a:solidFill>
                  <a:schemeClr val="tx1"/>
                </a:solidFill>
                <a:effectLst/>
                <a:latin typeface="Calibri" panose="020F0502020204030204" charset="0"/>
                <a:ea typeface="宋体" panose="02010600030101010101" pitchFamily="2" charset="-122"/>
                <a:sym typeface="+mn-ea"/>
              </a:rPr>
              <a:t> </a:t>
            </a:r>
            <a:r>
              <a:rPr kumimoji="0" lang="en-US" altLang="zh-CN" i="0" u="none" strike="noStrike" cap="none" normalizeH="0" baseline="0" dirty="0">
                <a:ln>
                  <a:noFill/>
                </a:ln>
                <a:effectLst/>
                <a:latin typeface="Calibri" panose="020F0502020204030204" charset="0"/>
                <a:ea typeface="宋体" panose="02010600030101010101" pitchFamily="2" charset="-122"/>
                <a:sym typeface="+mn-ea"/>
              </a:rPr>
              <a:t>Timing diagram</a:t>
            </a:r>
            <a:endParaRPr kumimoji="0" lang="zh-CN" altLang="en-US" i="0" u="none" strike="noStrike" cap="none" normalizeH="0" baseline="0" dirty="0">
              <a:ln>
                <a:noFill/>
              </a:ln>
              <a:effectLst/>
              <a:latin typeface="Calibri" panose="020F0502020204030204" charset="0"/>
              <a:ea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1"/>
          <p:cNvSpPr txBox="1"/>
          <p:nvPr/>
        </p:nvSpPr>
        <p:spPr>
          <a:xfrm>
            <a:off x="3772452" y="2557117"/>
            <a:ext cx="5212080" cy="1445260"/>
          </a:xfrm>
          <a:prstGeom prst="rect">
            <a:avLst/>
          </a:prstGeom>
          <a:noFill/>
        </p:spPr>
        <p:txBody>
          <a:bodyPr wrap="none" rtlCol="0">
            <a:spAutoFit/>
          </a:bodyPr>
          <a:lstStyle/>
          <a:p>
            <a:pPr algn="l"/>
            <a:r>
              <a:rPr lang="en-US" altLang="zh-CN" sz="8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sym typeface="+mn-ea"/>
              </a:rPr>
              <a:t>Thank you</a:t>
            </a:r>
            <a:endParaRPr lang="zh-CN" altLang="en-US" sz="8800" dirty="0">
              <a:solidFill>
                <a:schemeClr val="bg1"/>
              </a:solidFill>
              <a:effectLst>
                <a:outerShdw blurRad="38100" dist="38100" dir="2700000" algn="tl">
                  <a:srgbClr val="000000">
                    <a:alpha val="43137"/>
                  </a:srgbClr>
                </a:outerShdw>
              </a:effectLst>
              <a:latin typeface="思源黑体 CN Heavy" panose="020B0A00000000000000" pitchFamily="34" charset="-122"/>
              <a:ea typeface="思源黑体 CN Heavy" panose="020B0A00000000000000" pitchFamily="34" charset="-122"/>
            </a:endParaRPr>
          </a:p>
        </p:txBody>
      </p:sp>
      <p:sp>
        <p:nvSpPr>
          <p:cNvPr id="12291" name="灯片编号占位符 3"/>
          <p:cNvSpPr>
            <a:spLocks noGrp="1" noChangeArrowheads="1"/>
          </p:cNvSpPr>
          <p:nvPr>
            <p:custDataLst>
              <p:tags r:id="rId1"/>
            </p:custDataLst>
          </p:nvPr>
        </p:nvSpPr>
        <p:spPr bwMode="auto">
          <a:xfrm>
            <a:off x="11490234" y="6297718"/>
            <a:ext cx="450908" cy="3650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100">
                <a:solidFill>
                  <a:schemeClr val="tx1"/>
                </a:solidFill>
                <a:latin typeface="Calibri" panose="020F0502020204030204" charset="0"/>
                <a:ea typeface="宋体" panose="02010600030101010101" pitchFamily="2" charset="-122"/>
              </a:defRPr>
            </a:lvl1pPr>
            <a:lvl2pPr marL="742950" indent="-285750">
              <a:defRPr sz="2100">
                <a:solidFill>
                  <a:schemeClr val="tx1"/>
                </a:solidFill>
                <a:latin typeface="Calibri" panose="020F0502020204030204" charset="0"/>
                <a:ea typeface="宋体" panose="02010600030101010101" pitchFamily="2" charset="-122"/>
              </a:defRPr>
            </a:lvl2pPr>
            <a:lvl3pPr marL="1143000" indent="-228600">
              <a:defRPr sz="2100">
                <a:solidFill>
                  <a:schemeClr val="tx1"/>
                </a:solidFill>
                <a:latin typeface="Calibri" panose="020F0502020204030204" charset="0"/>
                <a:ea typeface="宋体" panose="02010600030101010101" pitchFamily="2" charset="-122"/>
              </a:defRPr>
            </a:lvl3pPr>
            <a:lvl4pPr marL="1600200" indent="-228600">
              <a:defRPr sz="2100">
                <a:solidFill>
                  <a:schemeClr val="tx1"/>
                </a:solidFill>
                <a:latin typeface="Calibri" panose="020F0502020204030204" charset="0"/>
                <a:ea typeface="宋体" panose="02010600030101010101" pitchFamily="2" charset="-122"/>
              </a:defRPr>
            </a:lvl4pPr>
            <a:lvl5pPr marL="2057400" indent="-228600">
              <a:defRPr sz="2100">
                <a:solidFill>
                  <a:schemeClr val="tx1"/>
                </a:solidFill>
                <a:latin typeface="Calibri" panose="020F0502020204030204" charset="0"/>
                <a:ea typeface="宋体" panose="02010600030101010101" pitchFamily="2" charset="-122"/>
              </a:defRPr>
            </a:lvl5pPr>
            <a:lvl6pPr marL="25146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6pPr>
            <a:lvl7pPr marL="29718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7pPr>
            <a:lvl8pPr marL="34290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8pPr>
            <a:lvl9pPr marL="3886200" indent="-228600" defTabSz="1087755" eaLnBrk="0" fontAlgn="base" hangingPunct="0">
              <a:spcBef>
                <a:spcPct val="0"/>
              </a:spcBef>
              <a:spcAft>
                <a:spcPct val="0"/>
              </a:spcAft>
              <a:defRPr sz="2100">
                <a:solidFill>
                  <a:schemeClr val="tx1"/>
                </a:solidFill>
                <a:latin typeface="Calibri" panose="020F0502020204030204" charset="0"/>
                <a:ea typeface="宋体" panose="02010600030101010101" pitchFamily="2" charset="-122"/>
              </a:defRPr>
            </a:lvl9pPr>
          </a:lstStyle>
          <a:p>
            <a:fld id="{4DBA7082-35D1-4E75-A057-BA9AC6C42710}" type="slidenum">
              <a:rPr altLang="en-US" sz="1400" smtClean="0">
                <a:solidFill>
                  <a:srgbClr val="898989"/>
                </a:solidFill>
                <a:latin typeface="Arial" panose="020B0604020202020204" pitchFamily="34" charset="0"/>
                <a:ea typeface="微软雅黑" panose="020B0503020204020204" pitchFamily="34" charset="-122"/>
              </a:rPr>
              <a:t>23</a:t>
            </a:fld>
            <a:endParaRPr lang="zh-TW" altLang="en-US" sz="1400" dirty="0">
              <a:solidFill>
                <a:srgbClr val="898989"/>
              </a:solidFill>
              <a:latin typeface="Arial" panose="020B0604020202020204" pitchFamily="34" charset="0"/>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a77bc53-a536-423e-a843-fb27bf0f07cc"/>
  <p:tag name="COMMONDATA" val="eyJoZGlkIjoiMzBkYjgwMTgyNzkzMmMyM2RmZDU0YTJiZTM3NGZiZj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TABLE_ENDDRAG_ORIGIN_RECT" val="925*165"/>
  <p:tag name="TABLE_ENDDRAG_RECT" val="4*279*925*165"/>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TABLE_ENDDRAG_ORIGIN_RECT" val="793*143"/>
  <p:tag name="TABLE_ENDDRAG_RECT" val="65*296*793*143"/>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UNIT_TABLE_BEAUTIFY" val="smartTable{3618acce-166d-449e-9a13-4c6fe6cdc447}"/>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UNIT_TABLE_BEAUTIFY" val="smartTable{ba7d6ede-ef27-469d-bd92-0ddadd9d2c62}"/>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UNIT_TABLE_BEAUTIFY" val="smartTable{d6933f2e-b5c0-4771-9229-1cf48ee7d727}"/>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690,&quot;width&quot;:4775}"/>
</p:tagLst>
</file>

<file path=ppt/tags/tag5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851,&quot;width&quot;:5537}"/>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UNIT_TABLE_BEAUTIFY" val="smartTable{8b143446-a5b4-41e5-9271-000e88f33284}"/>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UNIT_TABLE_BEAUTIFY" val="smartTable{4e7fee40-fc27-49fa-944b-5c99bcd22c50}"/>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163,&quot;width&quot;:4217}"/>
</p:tagLst>
</file>

<file path=ppt/tags/tag7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455,&quot;width&quot;:14925}"/>
</p:tagLst>
</file>

<file path=ppt/tags/tag7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000,&quot;width&quot;:16815}"/>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53,&quot;width&quot;:4199}"/>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017,&quot;width&quot;:5721}"/>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UNIT_TABLE_BEAUTIFY" val="smartTable{ecd8f8c9-1342-4a13-86e7-183849a21cb8}"/>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UNIT_TABLE_BEAUTIFY" val="smartTable{7a0bae81-8535-4fb0-8307-b53dd3f24d0b}"/>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UNIT_TABLE_BEAUTIFY" val="smartTable{d3b260e2-a650-45a7-b168-5804356f5062}"/>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UNIT_TABLE_BEAUTIFY" val="smartTable{28a681d1-a322-41a3-a862-3a18ea00fbb3}"/>
  <p:tag name="TABLE_ENDDRAG_ORIGIN_RECT" val="283*175"/>
  <p:tag name="TABLE_ENDDRAG_RECT" val="546*93*283*175"/>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UNIT_TABLE_BEAUTIFY" val="smartTable{56e46889-472f-416d-a4d7-39ecd3f0c806}"/>
  <p:tag name="TABLE_ENDDRAG_ORIGIN_RECT" val="349*191"/>
  <p:tag name="TABLE_ENDDRAG_RECT" val="36*137*349*191"/>
</p:tagLst>
</file>

<file path=ppt/tags/tag137.xml><?xml version="1.0" encoding="utf-8"?>
<p:tagLst xmlns:a="http://schemas.openxmlformats.org/drawingml/2006/main" xmlns:r="http://schemas.openxmlformats.org/officeDocument/2006/relationships" xmlns:p="http://schemas.openxmlformats.org/presentationml/2006/main">
  <p:tag name="KSO_WM_UNIT_TABLE_BEAUTIFY" val="smartTable{1a9bea53-d8aa-4c84-8e7a-cca4e808c1c5}"/>
  <p:tag name="TABLE_ENDDRAG_ORIGIN_RECT" val="349*98"/>
  <p:tag name="TABLE_ENDDRAG_RECT" val="36*375*349*98"/>
</p:tagLst>
</file>

<file path=ppt/tags/tag138.xml><?xml version="1.0" encoding="utf-8"?>
<p:tagLst xmlns:a="http://schemas.openxmlformats.org/drawingml/2006/main" xmlns:r="http://schemas.openxmlformats.org/officeDocument/2006/relationships" xmlns:p="http://schemas.openxmlformats.org/presentationml/2006/main">
  <p:tag name="KSO_WM_UNIT_TABLE_BEAUTIFY" val="smartTable{f10f8a56-c94b-45fc-8895-f5d3533c552f}"/>
  <p:tag name="TABLE_ENDDRAG_ORIGIN_RECT" val="349*191"/>
  <p:tag name="TABLE_ENDDRAG_RECT" val="36*137*349*191"/>
</p:tagLst>
</file>

<file path=ppt/tags/tag139.xml><?xml version="1.0" encoding="utf-8"?>
<p:tagLst xmlns:a="http://schemas.openxmlformats.org/drawingml/2006/main" xmlns:r="http://schemas.openxmlformats.org/officeDocument/2006/relationships" xmlns:p="http://schemas.openxmlformats.org/presentationml/2006/main">
  <p:tag name="KSO_WM_UNIT_TABLE_BEAUTIFY" val="smartTable{b7cd14d2-5f85-4089-a4b7-e913d625ab42}"/>
  <p:tag name="TABLE_ENDDRAG_ORIGIN_RECT" val="349*98"/>
  <p:tag name="TABLE_ENDDRAG_RECT" val="36*375*349*98"/>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UNIT_TABLE_BEAUTIFY" val="smartTable{a680dd5a-efe3-402f-8795-05ea45095198}"/>
  <p:tag name="TABLE_ENDDRAG_ORIGIN_RECT" val="354*125"/>
  <p:tag name="TABLE_ENDDRAG_RECT" val="572*115*354*125"/>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rgbClr val="FF0000"/>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4504</Words>
  <Application>Microsoft Office PowerPoint</Application>
  <PresentationFormat>Widescreen</PresentationFormat>
  <Paragraphs>2248</Paragraphs>
  <Slides>24</Slides>
  <Notes>19</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24</vt:i4>
      </vt:variant>
    </vt:vector>
  </HeadingPairs>
  <TitlesOfParts>
    <vt:vector size="42" baseType="lpstr">
      <vt:lpstr>等线</vt:lpstr>
      <vt:lpstr>Gill Sans</vt:lpstr>
      <vt:lpstr>Helvetica Neue Light</vt:lpstr>
      <vt:lpstr>微软雅黑</vt:lpstr>
      <vt:lpstr>黑体</vt:lpstr>
      <vt:lpstr>宋体</vt:lpstr>
      <vt:lpstr>Microsoft JhengHei</vt:lpstr>
      <vt:lpstr>Microsoft JhengHei</vt:lpstr>
      <vt:lpstr>思源黑体 CN Heavy</vt:lpstr>
      <vt:lpstr>思源黑体 CN Normal</vt:lpstr>
      <vt:lpstr>思源黑体 CN Regular</vt:lpstr>
      <vt:lpstr>PMingLiU</vt:lpstr>
      <vt:lpstr>DFKai-SB</vt:lpstr>
      <vt:lpstr>Arial</vt:lpstr>
      <vt:lpstr>Calibri</vt:lpstr>
      <vt:lpstr>Cambria</vt:lpstr>
      <vt:lpstr>Times New Roman</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ZMY</dc:creator>
  <cp:lastModifiedBy>陳如光</cp:lastModifiedBy>
  <cp:revision>1843</cp:revision>
  <dcterms:created xsi:type="dcterms:W3CDTF">2022-05-19T09:53:00Z</dcterms:created>
  <dcterms:modified xsi:type="dcterms:W3CDTF">2026-02-12T03:13:35Z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787FAE0DD3794758B76713BC673CB937_13</vt:lpwstr>
  </property>
</Properties>
</file>
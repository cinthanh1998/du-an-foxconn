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1163" r:id="rId2"/>
    <p:sldId id="1168" r:id="rId3"/>
    <p:sldId id="1180" r:id="rId4"/>
    <p:sldId id="1196" r:id="rId5"/>
    <p:sldId id="1178" r:id="rId6"/>
    <p:sldId id="1179" r:id="rId7"/>
    <p:sldId id="1195" r:id="rId8"/>
    <p:sldId id="1194" r:id="rId9"/>
  </p:sldIdLst>
  <p:sldSz cx="9144000" cy="5143500" type="screen16x9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PEI" initials="C" lastIdx="1" clrIdx="0"/>
  <p:cmAuthor id="2" name="姚興悅" initials="姚興悅" lastIdx="1" clrIdx="1">
    <p:extLst>
      <p:ext uri="{19B8F6BF-5375-455C-9EA6-DF929625EA0E}">
        <p15:presenceInfo xmlns:p15="http://schemas.microsoft.com/office/powerpoint/2012/main" userId="S-1-5-21-436374069-117609710-725345543-2911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0000FF"/>
    <a:srgbClr val="FFFFFF"/>
    <a:srgbClr val="00FF00"/>
    <a:srgbClr val="5DCEAF"/>
    <a:srgbClr val="FFFF66"/>
    <a:srgbClr val="00FFFF"/>
    <a:srgbClr val="0000CC"/>
    <a:srgbClr val="009999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47" autoAdjust="0"/>
    <p:restoredTop sz="90221" autoAdjust="0"/>
  </p:normalViewPr>
  <p:slideViewPr>
    <p:cSldViewPr>
      <p:cViewPr varScale="1">
        <p:scale>
          <a:sx n="105" d="100"/>
          <a:sy n="105" d="100"/>
        </p:scale>
        <p:origin x="1056" y="4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3235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6AB17429-23DA-4E96-AF18-92BC7CA328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94CD85E-C683-4D60-8BFC-91C3C331F1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F5F20-984C-4EDB-A96D-CC3F6C641F05}" type="datetimeFigureOut">
              <a:rPr lang="zh-TW" altLang="en-US" smtClean="0"/>
              <a:pPr/>
              <a:t>2025/6/30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C28EAA4-F94E-4882-8195-58E8AA0225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424E687-C793-4A32-83D6-7B23523CD6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F71760-5E58-47A7-8EEC-79E7436AD8D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82597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860" cy="511649"/>
          </a:xfrm>
          <a:prstGeom prst="rect">
            <a:avLst/>
          </a:prstGeom>
        </p:spPr>
        <p:txBody>
          <a:bodyPr vert="horz" lIns="99038" tIns="49519" rIns="99038" bIns="4951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0784" y="0"/>
            <a:ext cx="3076860" cy="511649"/>
          </a:xfrm>
          <a:prstGeom prst="rect">
            <a:avLst/>
          </a:prstGeom>
        </p:spPr>
        <p:txBody>
          <a:bodyPr vert="horz" lIns="99038" tIns="49519" rIns="99038" bIns="4951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575F9EB7-EDA2-4C78-8A03-78889EF81C61}" type="datetimeFigureOut">
              <a:rPr lang="zh-TW" altLang="en-US"/>
              <a:pPr>
                <a:defRPr/>
              </a:pPr>
              <a:t>2025/6/30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8" tIns="49519" rIns="99038" bIns="49519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28" y="4861482"/>
            <a:ext cx="5678445" cy="4604841"/>
          </a:xfrm>
          <a:prstGeom prst="rect">
            <a:avLst/>
          </a:prstGeom>
        </p:spPr>
        <p:txBody>
          <a:bodyPr vert="horz" lIns="99038" tIns="49519" rIns="99038" bIns="49519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330"/>
            <a:ext cx="3076860" cy="511648"/>
          </a:xfrm>
          <a:prstGeom prst="rect">
            <a:avLst/>
          </a:prstGeom>
        </p:spPr>
        <p:txBody>
          <a:bodyPr vert="horz" lIns="99038" tIns="49519" rIns="99038" bIns="4951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0784" y="9721330"/>
            <a:ext cx="3076860" cy="511648"/>
          </a:xfrm>
          <a:prstGeom prst="rect">
            <a:avLst/>
          </a:prstGeom>
        </p:spPr>
        <p:txBody>
          <a:bodyPr vert="horz" lIns="99038" tIns="49519" rIns="99038" bIns="4951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>
                <a:latin typeface="+mn-lt"/>
                <a:ea typeface="+mn-ea"/>
              </a:defRPr>
            </a:lvl1pPr>
          </a:lstStyle>
          <a:p>
            <a:pPr>
              <a:defRPr/>
            </a:pPr>
            <a:fld id="{787E0C34-0B15-4C61-8D0A-8747B6BBDAC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199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7E0C34-0B15-4C61-8D0A-8747B6BBDAC5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8556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7E0C34-0B15-4C61-8D0A-8747B6BBDAC5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2060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7E0C34-0B15-4C61-8D0A-8747B6BBDAC5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4821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7E0C34-0B15-4C61-8D0A-8747B6BBDAC5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6408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7E0C34-0B15-4C61-8D0A-8747B6BBDAC5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9291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7E0C34-0B15-4C61-8D0A-8747B6BBDAC5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0584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7E0C34-0B15-4C61-8D0A-8747B6BBDAC5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65093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87E0C34-0B15-4C61-8D0A-8747B6BBDAC5}" type="slidenum">
              <a:rPr lang="zh-TW" altLang="en-US" smtClean="0"/>
              <a:pPr>
                <a:defRPr/>
              </a:pPr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4415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14314" y="71438"/>
            <a:ext cx="8929718" cy="500048"/>
          </a:xfrm>
          <a:prstGeom prst="rect">
            <a:avLst/>
          </a:prstGeom>
        </p:spPr>
        <p:txBody>
          <a:bodyPr/>
          <a:lstStyle>
            <a:lvl1pPr algn="l">
              <a:defRPr sz="2400" b="1" i="1">
                <a:solidFill>
                  <a:srgbClr val="5DCEAF"/>
                </a:solidFill>
                <a:effectLst/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714362"/>
            <a:ext cx="8784976" cy="4176464"/>
          </a:xfrm>
          <a:prstGeom prst="rect">
            <a:avLst/>
          </a:prstGeom>
          <a:noFill/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sz="2800" baseline="0">
                <a:latin typeface="+mj-lt"/>
              </a:defRPr>
            </a:lvl1pPr>
            <a:lvl2pPr marL="742950" indent="-285750">
              <a:buFontTx/>
              <a:buBlip>
                <a:blip r:embed="rId3"/>
              </a:buBlip>
              <a:defRPr sz="2400" baseline="0">
                <a:latin typeface="+mj-lt"/>
              </a:defRPr>
            </a:lvl2pPr>
            <a:lvl3pPr marL="1143000" indent="-228600">
              <a:buFontTx/>
              <a:buBlip>
                <a:blip r:embed="rId4"/>
              </a:buBlip>
              <a:defRPr sz="2000" baseline="0">
                <a:latin typeface="+mj-lt"/>
              </a:defRPr>
            </a:lvl3pPr>
            <a:lvl4pPr marL="1600200" indent="-228600">
              <a:buFont typeface="Wingdings" pitchFamily="2" charset="2"/>
              <a:buChar char="l"/>
              <a:defRPr sz="1800" baseline="0">
                <a:latin typeface="+mj-lt"/>
              </a:defRPr>
            </a:lvl4pPr>
            <a:lvl5pPr>
              <a:buFont typeface="Wingdings" pitchFamily="2" charset="2"/>
              <a:buChar char="n"/>
              <a:defRPr sz="1600" baseline="0">
                <a:latin typeface="+mj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214314" y="71438"/>
            <a:ext cx="8929718" cy="500048"/>
          </a:xfrm>
          <a:prstGeom prst="rect">
            <a:avLst/>
          </a:prstGeom>
        </p:spPr>
        <p:txBody>
          <a:bodyPr/>
          <a:lstStyle>
            <a:lvl1pPr algn="l">
              <a:defRPr sz="2400" b="1" i="1">
                <a:solidFill>
                  <a:srgbClr val="5DCEAF"/>
                </a:solidFill>
                <a:effectLst/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282" y="714362"/>
            <a:ext cx="4286280" cy="4176464"/>
          </a:xfrm>
          <a:prstGeom prst="rect">
            <a:avLst/>
          </a:prstGeom>
          <a:noFill/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sz="2800" baseline="0">
                <a:latin typeface="Calibri" pitchFamily="34" charset="0"/>
              </a:defRPr>
            </a:lvl1pPr>
            <a:lvl2pPr marL="742950" indent="-285750">
              <a:buFontTx/>
              <a:buBlip>
                <a:blip r:embed="rId3"/>
              </a:buBlip>
              <a:defRPr sz="2400" baseline="0">
                <a:latin typeface="Calibri" pitchFamily="34" charset="0"/>
              </a:defRPr>
            </a:lvl2pPr>
            <a:lvl3pPr marL="1143000" indent="-228600">
              <a:buFontTx/>
              <a:buBlip>
                <a:blip r:embed="rId4"/>
              </a:buBlip>
              <a:defRPr sz="2000" baseline="0">
                <a:latin typeface="Calibri" pitchFamily="34" charset="0"/>
              </a:defRPr>
            </a:lvl3pPr>
            <a:lvl4pPr marL="1600200" indent="-228600">
              <a:buFont typeface="Wingdings" pitchFamily="2" charset="2"/>
              <a:buChar char="l"/>
              <a:defRPr sz="1800" baseline="0">
                <a:latin typeface="Calibri" pitchFamily="34" charset="0"/>
              </a:defRPr>
            </a:lvl4pPr>
            <a:lvl5pPr>
              <a:buFont typeface="Wingdings" pitchFamily="2" charset="2"/>
              <a:buChar char="n"/>
              <a:defRPr sz="1600" baseline="0">
                <a:latin typeface="Calibri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214314" y="71438"/>
            <a:ext cx="8929718" cy="500048"/>
          </a:xfrm>
          <a:prstGeom prst="rect">
            <a:avLst/>
          </a:prstGeom>
        </p:spPr>
        <p:txBody>
          <a:bodyPr/>
          <a:lstStyle>
            <a:lvl1pPr algn="l">
              <a:defRPr sz="2800" b="1" i="1">
                <a:solidFill>
                  <a:srgbClr val="5DCEAF"/>
                </a:solidFill>
                <a:effectLst/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4643438" y="714362"/>
            <a:ext cx="4286280" cy="4176464"/>
          </a:xfrm>
          <a:prstGeom prst="rect">
            <a:avLst/>
          </a:prstGeom>
          <a:noFill/>
        </p:spPr>
        <p:txBody>
          <a:bodyPr/>
          <a:lstStyle>
            <a:lvl1pPr marL="342900" indent="-342900">
              <a:buFontTx/>
              <a:buBlip>
                <a:blip r:embed="rId2"/>
              </a:buBlip>
              <a:defRPr sz="2800" baseline="0">
                <a:latin typeface="Calibri" pitchFamily="34" charset="0"/>
              </a:defRPr>
            </a:lvl1pPr>
            <a:lvl2pPr marL="742950" indent="-285750">
              <a:buFontTx/>
              <a:buBlip>
                <a:blip r:embed="rId3"/>
              </a:buBlip>
              <a:defRPr sz="2400" baseline="0">
                <a:latin typeface="Calibri" pitchFamily="34" charset="0"/>
              </a:defRPr>
            </a:lvl2pPr>
            <a:lvl3pPr marL="1143000" indent="-228600">
              <a:buFontTx/>
              <a:buBlip>
                <a:blip r:embed="rId4"/>
              </a:buBlip>
              <a:defRPr sz="2000" baseline="0">
                <a:latin typeface="Calibri" pitchFamily="34" charset="0"/>
              </a:defRPr>
            </a:lvl3pPr>
            <a:lvl4pPr marL="1600200" indent="-228600">
              <a:buFont typeface="Wingdings" pitchFamily="2" charset="2"/>
              <a:buChar char="l"/>
              <a:defRPr sz="1800" baseline="0">
                <a:latin typeface="Calibri" pitchFamily="34" charset="0"/>
              </a:defRPr>
            </a:lvl4pPr>
            <a:lvl5pPr>
              <a:buFont typeface="Wingdings" pitchFamily="2" charset="2"/>
              <a:buChar char="n"/>
              <a:defRPr sz="1600" baseline="0">
                <a:latin typeface="Calibri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2000250" y="5003800"/>
            <a:ext cx="6443663" cy="1444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endParaRPr lang="zh-TW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6983413" y="5003800"/>
            <a:ext cx="2160587" cy="144463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FII - CNT CONFIDENTIAL</a:t>
            </a:r>
            <a:endParaRPr lang="zh-TW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26" name="Freeform 7"/>
          <p:cNvSpPr>
            <a:spLocks/>
          </p:cNvSpPr>
          <p:nvPr userDrawn="1"/>
        </p:nvSpPr>
        <p:spPr bwMode="auto">
          <a:xfrm>
            <a:off x="0" y="0"/>
            <a:ext cx="9144000" cy="571500"/>
          </a:xfrm>
          <a:custGeom>
            <a:avLst/>
            <a:gdLst>
              <a:gd name="T0" fmla="*/ 0 w 5760"/>
              <a:gd name="T1" fmla="*/ 0 h 480"/>
              <a:gd name="T2" fmla="*/ 2147483647 w 5760"/>
              <a:gd name="T3" fmla="*/ 0 h 480"/>
              <a:gd name="T4" fmla="*/ 2147483647 w 5760"/>
              <a:gd name="T5" fmla="*/ 907256250 h 480"/>
              <a:gd name="T6" fmla="*/ 2147483647 w 5760"/>
              <a:gd name="T7" fmla="*/ 907256250 h 480"/>
              <a:gd name="T8" fmla="*/ 2147483647 w 5760"/>
              <a:gd name="T9" fmla="*/ 90725625 h 480"/>
              <a:gd name="T10" fmla="*/ 0 w 5760"/>
              <a:gd name="T11" fmla="*/ 90725625 h 480"/>
              <a:gd name="T12" fmla="*/ 0 w 5760"/>
              <a:gd name="T13" fmla="*/ 0 h 4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760" h="480">
                <a:moveTo>
                  <a:pt x="0" y="0"/>
                </a:moveTo>
                <a:lnTo>
                  <a:pt x="5760" y="0"/>
                </a:lnTo>
                <a:lnTo>
                  <a:pt x="5760" y="480"/>
                </a:lnTo>
                <a:lnTo>
                  <a:pt x="4656" y="480"/>
                </a:lnTo>
                <a:lnTo>
                  <a:pt x="4368" y="48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5DCEA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TW" altLang="en-US"/>
          </a:p>
        </p:txBody>
      </p:sp>
      <p:pic>
        <p:nvPicPr>
          <p:cNvPr id="2053" name="Picture 4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740650" y="161925"/>
            <a:ext cx="1223963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投影片編號版面配置區 5"/>
          <p:cNvSpPr txBox="1">
            <a:spLocks/>
          </p:cNvSpPr>
          <p:nvPr userDrawn="1"/>
        </p:nvSpPr>
        <p:spPr>
          <a:xfrm>
            <a:off x="3514725" y="5000625"/>
            <a:ext cx="1979613" cy="142875"/>
          </a:xfrm>
          <a:prstGeom prst="rect">
            <a:avLst/>
          </a:prstGeom>
        </p:spPr>
        <p:txBody>
          <a:bodyPr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000" b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</a:defRPr>
            </a:lvl1pPr>
          </a:lstStyle>
          <a:p>
            <a:pPr algn="ctr">
              <a:defRPr/>
            </a:pPr>
            <a:fld id="{AFBD1578-CF3F-480F-82FA-3A57C690D33C}" type="slidenum">
              <a:rPr lang="zh-TW" altLang="en-US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ctr">
                <a:defRPr/>
              </a:pPr>
              <a:t>‹#›</a:t>
            </a:fld>
            <a:endParaRPr lang="zh-TW" altLang="en-US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F2EF6950-3286-46A1-ACF7-5976713E82A9}"/>
              </a:ext>
            </a:extLst>
          </p:cNvPr>
          <p:cNvSpPr txBox="1"/>
          <p:nvPr/>
        </p:nvSpPr>
        <p:spPr>
          <a:xfrm>
            <a:off x="7308304" y="4011910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    CNT</a:t>
            </a:r>
          </a:p>
          <a:p>
            <a:r>
              <a:rPr lang="en-US" altLang="zh-TW" smtClean="0"/>
              <a:t>2025.06.30</a:t>
            </a:r>
            <a:endParaRPr lang="zh-TW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500FCD0-06E2-2E13-7A1F-FB8650249E87}"/>
              </a:ext>
            </a:extLst>
          </p:cNvPr>
          <p:cNvSpPr>
            <a:spLocks noGrp="1"/>
          </p:cNvSpPr>
          <p:nvPr/>
        </p:nvSpPr>
        <p:spPr>
          <a:xfrm>
            <a:off x="1115616" y="1779662"/>
            <a:ext cx="727280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i="1" kern="1200">
                <a:solidFill>
                  <a:srgbClr val="5DCEAF"/>
                </a:solidFill>
                <a:effectLst/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r>
              <a:rPr lang="en-US" altLang="zh-TW" sz="3200" dirty="0">
                <a:solidFill>
                  <a:srgbClr val="00B050"/>
                </a:solidFill>
                <a:cs typeface="Arial" panose="020B0604020202020204" pitchFamily="34" charset="0"/>
              </a:rPr>
              <a:t>C</a:t>
            </a:r>
            <a:r>
              <a:rPr lang="en-US" altLang="zh-CN" sz="3200" dirty="0">
                <a:solidFill>
                  <a:srgbClr val="00B050"/>
                </a:solidFill>
                <a:cs typeface="Arial" panose="020B0604020202020204" pitchFamily="34" charset="0"/>
              </a:rPr>
              <a:t>algary Press Bot Copper Foil </a:t>
            </a:r>
            <a:r>
              <a:rPr lang="en-US" altLang="zh-CN" sz="3200">
                <a:solidFill>
                  <a:srgbClr val="00B050"/>
                </a:solidFill>
                <a:cs typeface="Arial" panose="020B0604020202020204" pitchFamily="34" charset="0"/>
              </a:rPr>
              <a:t>Fixture </a:t>
            </a:r>
            <a:r>
              <a:rPr lang="en-US" altLang="zh-CN" sz="3200" smtClean="0">
                <a:solidFill>
                  <a:srgbClr val="00B050"/>
                </a:solidFill>
                <a:cs typeface="Arial" panose="020B0604020202020204" pitchFamily="34" charset="0"/>
              </a:rPr>
              <a:t>DFM</a:t>
            </a:r>
          </a:p>
          <a:p>
            <a:pPr algn="ctr"/>
            <a:r>
              <a:rPr lang="en-US" altLang="zh-CN" sz="3200" smtClean="0">
                <a:solidFill>
                  <a:srgbClr val="00B050"/>
                </a:solidFill>
                <a:cs typeface="Arial" panose="020B0604020202020204" pitchFamily="34" charset="0"/>
              </a:rPr>
              <a:t> Ver 2.0</a:t>
            </a:r>
            <a:endParaRPr lang="en-US" altLang="zh-TW" sz="3200" dirty="0">
              <a:solidFill>
                <a:srgbClr val="00B05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32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AFD558E-B59D-08D0-3F1E-B6E280ED8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02" y="824051"/>
            <a:ext cx="2400053" cy="292251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500FCD0-06E2-2E13-7A1F-FB8650249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238"/>
            <a:ext cx="7452320" cy="571504"/>
          </a:xfrm>
        </p:spPr>
        <p:txBody>
          <a:bodyPr/>
          <a:lstStyle/>
          <a:p>
            <a:pPr rtl="0" fontAlgn="ctr"/>
            <a:r>
              <a:rPr lang="en-US" altLang="zh-TW" sz="3200" u="none" strike="noStrike" dirty="0">
                <a:effectLst/>
                <a:latin typeface="+mn-lt"/>
                <a:cs typeface="Arial" panose="020B0604020202020204" pitchFamily="34" charset="0"/>
              </a:rPr>
              <a:t>Calgary Press Bot Copper Foil Fixture</a:t>
            </a:r>
            <a:endParaRPr lang="en-US" altLang="zh-TW" sz="3200" b="0" i="0" u="none" strike="noStrike" dirty="0">
              <a:solidFill>
                <a:srgbClr val="000000"/>
              </a:solidFill>
              <a:effectLst/>
              <a:latin typeface="+mn-lt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0CF5F131-C451-E599-8927-5D0AE5248BFB}"/>
              </a:ext>
            </a:extLst>
          </p:cNvPr>
          <p:cNvSpPr txBox="1"/>
          <p:nvPr/>
        </p:nvSpPr>
        <p:spPr>
          <a:xfrm>
            <a:off x="179512" y="4199741"/>
            <a:ext cx="79208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solidFill>
                  <a:schemeClr val="tx1"/>
                </a:solidFill>
                <a:latin typeface="+mn-lt"/>
                <a:ea typeface="+mn-ea"/>
              </a:rPr>
              <a:t>Summary: The dimension of this fixture is L*W*H=350mm*573mm*471mm.</a:t>
            </a:r>
            <a:endParaRPr lang="zh-CN" altLang="en-US" sz="15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C9ED870F-6287-8B5F-4D64-636E1D09B4D2}"/>
              </a:ext>
            </a:extLst>
          </p:cNvPr>
          <p:cNvCxnSpPr/>
          <p:nvPr/>
        </p:nvCxnSpPr>
        <p:spPr>
          <a:xfrm>
            <a:off x="698351" y="2665997"/>
            <a:ext cx="0" cy="1265628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6AD5F45D-4C38-73D3-1880-B75DD3DC4A34}"/>
              </a:ext>
            </a:extLst>
          </p:cNvPr>
          <p:cNvCxnSpPr>
            <a:cxnSpLocks/>
          </p:cNvCxnSpPr>
          <p:nvPr/>
        </p:nvCxnSpPr>
        <p:spPr>
          <a:xfrm>
            <a:off x="2731506" y="2589797"/>
            <a:ext cx="1303" cy="1337967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2F698934-38CD-07CF-4DBD-3F9C3F50299A}"/>
              </a:ext>
            </a:extLst>
          </p:cNvPr>
          <p:cNvCxnSpPr/>
          <p:nvPr/>
        </p:nvCxnSpPr>
        <p:spPr>
          <a:xfrm>
            <a:off x="678621" y="3828516"/>
            <a:ext cx="2073667" cy="0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F02638AA-2AB1-FEA5-8A0C-B895D7A5A417}"/>
              </a:ext>
            </a:extLst>
          </p:cNvPr>
          <p:cNvSpPr/>
          <p:nvPr/>
        </p:nvSpPr>
        <p:spPr>
          <a:xfrm>
            <a:off x="1291133" y="3533798"/>
            <a:ext cx="8056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latin typeface="+mn-lt"/>
                <a:ea typeface="+mn-ea"/>
              </a:rPr>
              <a:t>350mm</a:t>
            </a:r>
            <a:endParaRPr lang="zh-CN" altLang="en-US" sz="1500" dirty="0">
              <a:latin typeface="+mn-lt"/>
              <a:ea typeface="+mn-ea"/>
            </a:endParaRPr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F07668F6-AF09-2450-E47F-DCD1EB85156F}"/>
              </a:ext>
            </a:extLst>
          </p:cNvPr>
          <p:cNvCxnSpPr>
            <a:cxnSpLocks/>
          </p:cNvCxnSpPr>
          <p:nvPr/>
        </p:nvCxnSpPr>
        <p:spPr>
          <a:xfrm flipH="1">
            <a:off x="2048567" y="908670"/>
            <a:ext cx="1186441" cy="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0F42AA46-A82C-62C1-2BC3-F04A8C15170A}"/>
              </a:ext>
            </a:extLst>
          </p:cNvPr>
          <p:cNvCxnSpPr>
            <a:cxnSpLocks/>
          </p:cNvCxnSpPr>
          <p:nvPr/>
        </p:nvCxnSpPr>
        <p:spPr>
          <a:xfrm>
            <a:off x="3143902" y="914837"/>
            <a:ext cx="0" cy="2618961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3F7DA69A-A3C6-6E8A-B7B4-0210F6D70B30}"/>
              </a:ext>
            </a:extLst>
          </p:cNvPr>
          <p:cNvCxnSpPr>
            <a:cxnSpLocks/>
          </p:cNvCxnSpPr>
          <p:nvPr/>
        </p:nvCxnSpPr>
        <p:spPr>
          <a:xfrm flipH="1">
            <a:off x="2065885" y="3554888"/>
            <a:ext cx="1186441" cy="0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8A4E344B-1486-F895-F3F8-F2D1F963B4E4}"/>
              </a:ext>
            </a:extLst>
          </p:cNvPr>
          <p:cNvSpPr/>
          <p:nvPr/>
        </p:nvSpPr>
        <p:spPr>
          <a:xfrm rot="16200000">
            <a:off x="2557191" y="1919732"/>
            <a:ext cx="8056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latin typeface="+mn-lt"/>
                <a:ea typeface="+mn-ea"/>
              </a:rPr>
              <a:t>471mm</a:t>
            </a:r>
            <a:endParaRPr lang="zh-CN" altLang="en-US" sz="1500" dirty="0">
              <a:latin typeface="+mn-lt"/>
              <a:ea typeface="+mn-ea"/>
            </a:endParaRP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94C39FA9-FC55-3736-E96D-6102758E9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6868" y="950104"/>
            <a:ext cx="3279290" cy="2618955"/>
          </a:xfrm>
          <a:prstGeom prst="rect">
            <a:avLst/>
          </a:prstGeom>
        </p:spPr>
      </p:pic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83DE7A31-9FE9-E9CA-A67B-3A9441A7B26A}"/>
              </a:ext>
            </a:extLst>
          </p:cNvPr>
          <p:cNvCxnSpPr/>
          <p:nvPr/>
        </p:nvCxnSpPr>
        <p:spPr>
          <a:xfrm>
            <a:off x="3554896" y="2694444"/>
            <a:ext cx="0" cy="1265628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C3A47B5B-219C-F0AF-78DD-33A3241E7D6B}"/>
              </a:ext>
            </a:extLst>
          </p:cNvPr>
          <p:cNvCxnSpPr>
            <a:cxnSpLocks/>
          </p:cNvCxnSpPr>
          <p:nvPr/>
        </p:nvCxnSpPr>
        <p:spPr>
          <a:xfrm>
            <a:off x="6367369" y="2628635"/>
            <a:ext cx="1303" cy="1337967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08365B8A-98B8-B250-824E-B2E4B749D70C}"/>
              </a:ext>
            </a:extLst>
          </p:cNvPr>
          <p:cNvCxnSpPr>
            <a:cxnSpLocks/>
          </p:cNvCxnSpPr>
          <p:nvPr/>
        </p:nvCxnSpPr>
        <p:spPr>
          <a:xfrm>
            <a:off x="3535166" y="3856963"/>
            <a:ext cx="2856548" cy="0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F3DCB71C-1062-0F89-9920-FB1F1F12BFF6}"/>
              </a:ext>
            </a:extLst>
          </p:cNvPr>
          <p:cNvSpPr/>
          <p:nvPr/>
        </p:nvSpPr>
        <p:spPr>
          <a:xfrm>
            <a:off x="4810106" y="3564777"/>
            <a:ext cx="8056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latin typeface="+mn-lt"/>
                <a:ea typeface="+mn-ea"/>
              </a:rPr>
              <a:t>573mm</a:t>
            </a:r>
            <a:endParaRPr lang="zh-CN" altLang="en-US" sz="1500" dirty="0">
              <a:latin typeface="+mn-lt"/>
              <a:ea typeface="+mn-ea"/>
            </a:endParaRPr>
          </a:p>
        </p:txBody>
      </p:sp>
      <p:pic>
        <p:nvPicPr>
          <p:cNvPr id="39" name="圖片 38">
            <a:extLst>
              <a:ext uri="{FF2B5EF4-FFF2-40B4-BE49-F238E27FC236}">
                <a16:creationId xmlns:a16="http://schemas.microsoft.com/office/drawing/2014/main" id="{476A0C26-7BFE-D6A5-A40F-9F471D339D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2298" y="872840"/>
            <a:ext cx="2073104" cy="1835628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16BE8FE7-299F-3E56-161C-7C10AE1258B2}"/>
              </a:ext>
            </a:extLst>
          </p:cNvPr>
          <p:cNvSpPr/>
          <p:nvPr/>
        </p:nvSpPr>
        <p:spPr>
          <a:xfrm>
            <a:off x="7452320" y="2681671"/>
            <a:ext cx="10751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>
                <a:latin typeface="+mn-lt"/>
                <a:ea typeface="+mn-ea"/>
              </a:rPr>
              <a:t>overview</a:t>
            </a:r>
            <a:endParaRPr lang="zh-CN" altLang="en-US" sz="150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44653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圖片 40">
            <a:extLst>
              <a:ext uri="{FF2B5EF4-FFF2-40B4-BE49-F238E27FC236}">
                <a16:creationId xmlns:a16="http://schemas.microsoft.com/office/drawing/2014/main" id="{DB1D8DDA-D3C8-F9D4-867F-EA229EBEF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286" y="1408219"/>
            <a:ext cx="3190875" cy="2905125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7135830D-D535-F04D-2E41-FA8306ED8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29" y="1606877"/>
            <a:ext cx="3429000" cy="3209925"/>
          </a:xfrm>
          <a:prstGeom prst="rect">
            <a:avLst/>
          </a:prstGeom>
        </p:spPr>
      </p:pic>
      <p:cxnSp>
        <p:nvCxnSpPr>
          <p:cNvPr id="5" name="直接箭头连接符 8">
            <a:extLst>
              <a:ext uri="{FF2B5EF4-FFF2-40B4-BE49-F238E27FC236}">
                <a16:creationId xmlns:a16="http://schemas.microsoft.com/office/drawing/2014/main" id="{9EDD0A3C-6E5C-4F18-DA6A-39C0FBA1BBB9}"/>
              </a:ext>
            </a:extLst>
          </p:cNvPr>
          <p:cNvCxnSpPr>
            <a:cxnSpLocks/>
            <a:stCxn id="6" idx="2"/>
          </p:cNvCxnSpPr>
          <p:nvPr/>
        </p:nvCxnSpPr>
        <p:spPr bwMode="auto">
          <a:xfrm>
            <a:off x="2918815" y="1717687"/>
            <a:ext cx="70627" cy="571504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6" name="TextBox 10">
            <a:extLst>
              <a:ext uri="{FF2B5EF4-FFF2-40B4-BE49-F238E27FC236}">
                <a16:creationId xmlns:a16="http://schemas.microsoft.com/office/drawing/2014/main" id="{8D026938-239B-A316-993E-3367060F5832}"/>
              </a:ext>
            </a:extLst>
          </p:cNvPr>
          <p:cNvSpPr txBox="1"/>
          <p:nvPr/>
        </p:nvSpPr>
        <p:spPr>
          <a:xfrm>
            <a:off x="2497933" y="1440944"/>
            <a:ext cx="841763" cy="27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>
                <a:solidFill>
                  <a:schemeClr val="tx1"/>
                </a:solidFill>
              </a:rPr>
              <a:t>Protect 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cxnSp>
        <p:nvCxnSpPr>
          <p:cNvPr id="9" name="直接箭头连接符 15">
            <a:extLst>
              <a:ext uri="{FF2B5EF4-FFF2-40B4-BE49-F238E27FC236}">
                <a16:creationId xmlns:a16="http://schemas.microsoft.com/office/drawing/2014/main" id="{329E9995-3349-7437-6407-046CC9FCDD2E}"/>
              </a:ext>
            </a:extLst>
          </p:cNvPr>
          <p:cNvCxnSpPr>
            <a:cxnSpLocks/>
            <a:stCxn id="10" idx="2"/>
          </p:cNvCxnSpPr>
          <p:nvPr/>
        </p:nvCxnSpPr>
        <p:spPr bwMode="auto">
          <a:xfrm>
            <a:off x="1053840" y="2427690"/>
            <a:ext cx="292529" cy="600753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10" name="TextBox 17">
            <a:extLst>
              <a:ext uri="{FF2B5EF4-FFF2-40B4-BE49-F238E27FC236}">
                <a16:creationId xmlns:a16="http://schemas.microsoft.com/office/drawing/2014/main" id="{D2511190-9747-7554-E54B-D2F5513534F9}"/>
              </a:ext>
            </a:extLst>
          </p:cNvPr>
          <p:cNvSpPr txBox="1"/>
          <p:nvPr/>
        </p:nvSpPr>
        <p:spPr>
          <a:xfrm>
            <a:off x="339460" y="2150691"/>
            <a:ext cx="1428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>
                <a:solidFill>
                  <a:schemeClr val="tx1"/>
                </a:solidFill>
              </a:rPr>
              <a:t>Light curtain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cxnSp>
        <p:nvCxnSpPr>
          <p:cNvPr id="13" name="直接箭头连接符 23">
            <a:extLst>
              <a:ext uri="{FF2B5EF4-FFF2-40B4-BE49-F238E27FC236}">
                <a16:creationId xmlns:a16="http://schemas.microsoft.com/office/drawing/2014/main" id="{F464A469-2DA9-1235-D9DE-1D6435732B2E}"/>
              </a:ext>
            </a:extLst>
          </p:cNvPr>
          <p:cNvCxnSpPr>
            <a:cxnSpLocks/>
          </p:cNvCxnSpPr>
          <p:nvPr/>
        </p:nvCxnSpPr>
        <p:spPr bwMode="auto">
          <a:xfrm flipV="1">
            <a:off x="1285885" y="3928124"/>
            <a:ext cx="482335" cy="537122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14" name="TextBox 25">
            <a:extLst>
              <a:ext uri="{FF2B5EF4-FFF2-40B4-BE49-F238E27FC236}">
                <a16:creationId xmlns:a16="http://schemas.microsoft.com/office/drawing/2014/main" id="{934A70BE-DA67-90E0-BFF8-AC821FEBDD9F}"/>
              </a:ext>
            </a:extLst>
          </p:cNvPr>
          <p:cNvSpPr txBox="1"/>
          <p:nvPr/>
        </p:nvSpPr>
        <p:spPr>
          <a:xfrm>
            <a:off x="666720" y="4406659"/>
            <a:ext cx="1428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>
                <a:solidFill>
                  <a:schemeClr val="tx1"/>
                </a:solidFill>
              </a:rPr>
              <a:t>Touch screen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cxnSp>
        <p:nvCxnSpPr>
          <p:cNvPr id="15" name="直接箭头连接符 26">
            <a:extLst>
              <a:ext uri="{FF2B5EF4-FFF2-40B4-BE49-F238E27FC236}">
                <a16:creationId xmlns:a16="http://schemas.microsoft.com/office/drawing/2014/main" id="{E3115204-CB8A-D270-A3D4-352FFD4D7528}"/>
              </a:ext>
            </a:extLst>
          </p:cNvPr>
          <p:cNvCxnSpPr>
            <a:cxnSpLocks/>
            <a:stCxn id="16" idx="2"/>
          </p:cNvCxnSpPr>
          <p:nvPr/>
        </p:nvCxnSpPr>
        <p:spPr bwMode="auto">
          <a:xfrm>
            <a:off x="631989" y="3358130"/>
            <a:ext cx="483627" cy="428812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16" name="TextBox 28">
            <a:extLst>
              <a:ext uri="{FF2B5EF4-FFF2-40B4-BE49-F238E27FC236}">
                <a16:creationId xmlns:a16="http://schemas.microsoft.com/office/drawing/2014/main" id="{7F15870F-19E8-D2B8-A78F-0ECCD4929CE6}"/>
              </a:ext>
            </a:extLst>
          </p:cNvPr>
          <p:cNvSpPr txBox="1"/>
          <p:nvPr/>
        </p:nvSpPr>
        <p:spPr>
          <a:xfrm>
            <a:off x="-82391" y="3081131"/>
            <a:ext cx="1428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Control</a:t>
            </a:r>
            <a:r>
              <a:rPr lang="zh-CN" altLang="en-US" sz="1200" dirty="0"/>
              <a:t> </a:t>
            </a:r>
            <a:r>
              <a:rPr lang="en-US" altLang="zh-CN" sz="1200" dirty="0"/>
              <a:t>button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cxnSp>
        <p:nvCxnSpPr>
          <p:cNvPr id="17" name="直接箭头连接符 29">
            <a:extLst>
              <a:ext uri="{FF2B5EF4-FFF2-40B4-BE49-F238E27FC236}">
                <a16:creationId xmlns:a16="http://schemas.microsoft.com/office/drawing/2014/main" id="{D1FD36FD-74E3-4E25-1B6B-93221CDE3ED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468677" y="3894363"/>
            <a:ext cx="234153" cy="352150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18" name="TextBox 31">
            <a:extLst>
              <a:ext uri="{FF2B5EF4-FFF2-40B4-BE49-F238E27FC236}">
                <a16:creationId xmlns:a16="http://schemas.microsoft.com/office/drawing/2014/main" id="{BF2553AE-C90D-4C5B-BDAE-FD0EC7A02F11}"/>
              </a:ext>
            </a:extLst>
          </p:cNvPr>
          <p:cNvSpPr txBox="1"/>
          <p:nvPr/>
        </p:nvSpPr>
        <p:spPr>
          <a:xfrm>
            <a:off x="3339696" y="4307649"/>
            <a:ext cx="1428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>
                <a:solidFill>
                  <a:schemeClr val="tx1"/>
                </a:solidFill>
              </a:rPr>
              <a:t>Air pressure control valve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cxnSp>
        <p:nvCxnSpPr>
          <p:cNvPr id="21" name="直接箭头连接符 35">
            <a:extLst>
              <a:ext uri="{FF2B5EF4-FFF2-40B4-BE49-F238E27FC236}">
                <a16:creationId xmlns:a16="http://schemas.microsoft.com/office/drawing/2014/main" id="{36ECA225-CC67-1A93-0613-FECFBC29B4EE}"/>
              </a:ext>
            </a:extLst>
          </p:cNvPr>
          <p:cNvCxnSpPr>
            <a:cxnSpLocks/>
          </p:cNvCxnSpPr>
          <p:nvPr/>
        </p:nvCxnSpPr>
        <p:spPr bwMode="auto">
          <a:xfrm flipV="1">
            <a:off x="2631260" y="4204375"/>
            <a:ext cx="37460" cy="439073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22" name="TextBox 37">
            <a:extLst>
              <a:ext uri="{FF2B5EF4-FFF2-40B4-BE49-F238E27FC236}">
                <a16:creationId xmlns:a16="http://schemas.microsoft.com/office/drawing/2014/main" id="{6DE4D87D-CC85-23A9-A29A-6FEB781334AB}"/>
              </a:ext>
            </a:extLst>
          </p:cNvPr>
          <p:cNvSpPr txBox="1"/>
          <p:nvPr/>
        </p:nvSpPr>
        <p:spPr>
          <a:xfrm>
            <a:off x="2004993" y="4624254"/>
            <a:ext cx="1428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>
                <a:solidFill>
                  <a:schemeClr val="tx1"/>
                </a:solidFill>
              </a:rPr>
              <a:t>Power button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cxnSp>
        <p:nvCxnSpPr>
          <p:cNvPr id="23" name="直接箭头连接符 43">
            <a:extLst>
              <a:ext uri="{FF2B5EF4-FFF2-40B4-BE49-F238E27FC236}">
                <a16:creationId xmlns:a16="http://schemas.microsoft.com/office/drawing/2014/main" id="{F0CA89B2-94C3-78A0-BA54-CAAD2C635EE2}"/>
              </a:ext>
            </a:extLst>
          </p:cNvPr>
          <p:cNvCxnSpPr>
            <a:cxnSpLocks/>
          </p:cNvCxnSpPr>
          <p:nvPr/>
        </p:nvCxnSpPr>
        <p:spPr bwMode="auto">
          <a:xfrm>
            <a:off x="4790369" y="3219630"/>
            <a:ext cx="791496" cy="293245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24" name="TextBox 45">
            <a:extLst>
              <a:ext uri="{FF2B5EF4-FFF2-40B4-BE49-F238E27FC236}">
                <a16:creationId xmlns:a16="http://schemas.microsoft.com/office/drawing/2014/main" id="{D7A05164-8355-2E5F-5585-265CA0019CCF}"/>
              </a:ext>
            </a:extLst>
          </p:cNvPr>
          <p:cNvSpPr txBox="1"/>
          <p:nvPr/>
        </p:nvSpPr>
        <p:spPr>
          <a:xfrm>
            <a:off x="4169543" y="2944087"/>
            <a:ext cx="10603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>
                <a:solidFill>
                  <a:schemeClr val="tx1"/>
                </a:solidFill>
              </a:rPr>
              <a:t>Power outlet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cxnSp>
        <p:nvCxnSpPr>
          <p:cNvPr id="25" name="直接箭头连接符 46">
            <a:extLst>
              <a:ext uri="{FF2B5EF4-FFF2-40B4-BE49-F238E27FC236}">
                <a16:creationId xmlns:a16="http://schemas.microsoft.com/office/drawing/2014/main" id="{C719FABA-4230-984F-E114-C933088700C7}"/>
              </a:ext>
            </a:extLst>
          </p:cNvPr>
          <p:cNvCxnSpPr>
            <a:cxnSpLocks/>
            <a:stCxn id="26" idx="0"/>
          </p:cNvCxnSpPr>
          <p:nvPr/>
        </p:nvCxnSpPr>
        <p:spPr bwMode="auto">
          <a:xfrm flipV="1">
            <a:off x="4663447" y="3603597"/>
            <a:ext cx="1178200" cy="493884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26" name="TextBox 48">
            <a:extLst>
              <a:ext uri="{FF2B5EF4-FFF2-40B4-BE49-F238E27FC236}">
                <a16:creationId xmlns:a16="http://schemas.microsoft.com/office/drawing/2014/main" id="{E8AFCDF9-6E96-0C81-D61A-24A57E28DAC5}"/>
              </a:ext>
            </a:extLst>
          </p:cNvPr>
          <p:cNvSpPr txBox="1"/>
          <p:nvPr/>
        </p:nvSpPr>
        <p:spPr>
          <a:xfrm>
            <a:off x="4085964" y="4097481"/>
            <a:ext cx="11549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Air connector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cxnSp>
        <p:nvCxnSpPr>
          <p:cNvPr id="27" name="直接箭头连接符 49">
            <a:extLst>
              <a:ext uri="{FF2B5EF4-FFF2-40B4-BE49-F238E27FC236}">
                <a16:creationId xmlns:a16="http://schemas.microsoft.com/office/drawing/2014/main" id="{E285335F-8B1C-57C4-46D5-BE466A30E0E9}"/>
              </a:ext>
            </a:extLst>
          </p:cNvPr>
          <p:cNvCxnSpPr>
            <a:cxnSpLocks/>
          </p:cNvCxnSpPr>
          <p:nvPr/>
        </p:nvCxnSpPr>
        <p:spPr bwMode="auto">
          <a:xfrm flipV="1">
            <a:off x="6302054" y="3723878"/>
            <a:ext cx="174216" cy="959780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28" name="TextBox 51">
            <a:extLst>
              <a:ext uri="{FF2B5EF4-FFF2-40B4-BE49-F238E27FC236}">
                <a16:creationId xmlns:a16="http://schemas.microsoft.com/office/drawing/2014/main" id="{0D70CB4D-8412-BCF0-28A3-1CE8FD5BFBE7}"/>
              </a:ext>
            </a:extLst>
          </p:cNvPr>
          <p:cNvSpPr txBox="1"/>
          <p:nvPr/>
        </p:nvSpPr>
        <p:spPr>
          <a:xfrm>
            <a:off x="6047643" y="4629232"/>
            <a:ext cx="8572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>
                <a:solidFill>
                  <a:schemeClr val="tx1"/>
                </a:solidFill>
              </a:rPr>
              <a:t>Regulator 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cxnSp>
        <p:nvCxnSpPr>
          <p:cNvPr id="29" name="直接箭头连接符 52">
            <a:extLst>
              <a:ext uri="{FF2B5EF4-FFF2-40B4-BE49-F238E27FC236}">
                <a16:creationId xmlns:a16="http://schemas.microsoft.com/office/drawing/2014/main" id="{E90935DF-3227-11F2-9551-25A4C7377EB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897677" y="3572536"/>
            <a:ext cx="115216" cy="1111122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30" name="TextBox 54">
            <a:extLst>
              <a:ext uri="{FF2B5EF4-FFF2-40B4-BE49-F238E27FC236}">
                <a16:creationId xmlns:a16="http://schemas.microsoft.com/office/drawing/2014/main" id="{5F2F864B-E28B-E846-8C2D-9FD1EFB35910}"/>
              </a:ext>
            </a:extLst>
          </p:cNvPr>
          <p:cNvSpPr txBox="1"/>
          <p:nvPr/>
        </p:nvSpPr>
        <p:spPr>
          <a:xfrm>
            <a:off x="6737940" y="4629232"/>
            <a:ext cx="1428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>
                <a:solidFill>
                  <a:schemeClr val="tx1"/>
                </a:solidFill>
              </a:rPr>
              <a:t>Barometer 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cxnSp>
        <p:nvCxnSpPr>
          <p:cNvPr id="31" name="直接箭头连接符 56">
            <a:extLst>
              <a:ext uri="{FF2B5EF4-FFF2-40B4-BE49-F238E27FC236}">
                <a16:creationId xmlns:a16="http://schemas.microsoft.com/office/drawing/2014/main" id="{EF69B810-CF38-BCE3-F426-4BBB13B582F9}"/>
              </a:ext>
            </a:extLst>
          </p:cNvPr>
          <p:cNvCxnSpPr>
            <a:cxnSpLocks/>
          </p:cNvCxnSpPr>
          <p:nvPr/>
        </p:nvCxnSpPr>
        <p:spPr bwMode="auto">
          <a:xfrm flipH="1">
            <a:off x="7434300" y="1714487"/>
            <a:ext cx="1090599" cy="1858049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32" name="TextBox 58">
            <a:extLst>
              <a:ext uri="{FF2B5EF4-FFF2-40B4-BE49-F238E27FC236}">
                <a16:creationId xmlns:a16="http://schemas.microsoft.com/office/drawing/2014/main" id="{E3B2DB5D-AF01-849C-99E1-A1BC2CCEAF02}"/>
              </a:ext>
            </a:extLst>
          </p:cNvPr>
          <p:cNvSpPr txBox="1"/>
          <p:nvPr/>
        </p:nvSpPr>
        <p:spPr>
          <a:xfrm>
            <a:off x="7442353" y="1480574"/>
            <a:ext cx="1583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Electric control box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cxnSp>
        <p:nvCxnSpPr>
          <p:cNvPr id="33" name="直接箭头连接符 59">
            <a:extLst>
              <a:ext uri="{FF2B5EF4-FFF2-40B4-BE49-F238E27FC236}">
                <a16:creationId xmlns:a16="http://schemas.microsoft.com/office/drawing/2014/main" id="{317C2572-0FCF-23FF-F86F-6580B9C44F1B}"/>
              </a:ext>
            </a:extLst>
          </p:cNvPr>
          <p:cNvCxnSpPr>
            <a:cxnSpLocks/>
          </p:cNvCxnSpPr>
          <p:nvPr/>
        </p:nvCxnSpPr>
        <p:spPr bwMode="auto">
          <a:xfrm>
            <a:off x="5178285" y="1539905"/>
            <a:ext cx="567198" cy="785244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34" name="TextBox 61">
            <a:extLst>
              <a:ext uri="{FF2B5EF4-FFF2-40B4-BE49-F238E27FC236}">
                <a16:creationId xmlns:a16="http://schemas.microsoft.com/office/drawing/2014/main" id="{B4D18BD9-9D9D-0CB8-4EC4-9FDB094FD8A9}"/>
              </a:ext>
            </a:extLst>
          </p:cNvPr>
          <p:cNvSpPr txBox="1"/>
          <p:nvPr/>
        </p:nvSpPr>
        <p:spPr>
          <a:xfrm>
            <a:off x="4604199" y="1262905"/>
            <a:ext cx="1064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>
                <a:solidFill>
                  <a:schemeClr val="tx1"/>
                </a:solidFill>
              </a:rPr>
              <a:t>Air </a:t>
            </a:r>
            <a:r>
              <a:rPr lang="en-US" altLang="zh-CN" sz="1200" dirty="0"/>
              <a:t>structure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A00610C2-E165-9A54-EA70-EB8EB1C9A308}"/>
              </a:ext>
            </a:extLst>
          </p:cNvPr>
          <p:cNvSpPr txBox="1"/>
          <p:nvPr/>
        </p:nvSpPr>
        <p:spPr>
          <a:xfrm>
            <a:off x="0" y="598341"/>
            <a:ext cx="4167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/>
              <a:t>Electric control module</a:t>
            </a:r>
            <a:endParaRPr lang="zh-CN" altLang="en-US" sz="1400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2333A750-3849-8C52-AC2F-FFB5A29F46E7}"/>
              </a:ext>
            </a:extLst>
          </p:cNvPr>
          <p:cNvSpPr txBox="1">
            <a:spLocks/>
          </p:cNvSpPr>
          <p:nvPr/>
        </p:nvSpPr>
        <p:spPr>
          <a:xfrm>
            <a:off x="32853" y="51470"/>
            <a:ext cx="7452320" cy="5715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i="1" kern="1200">
                <a:solidFill>
                  <a:srgbClr val="5DCEAF"/>
                </a:solidFill>
                <a:effectLst/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fontAlgn="ctr"/>
            <a:r>
              <a:rPr kumimoji="0" lang="en-US" altLang="zh-TW" sz="3200" dirty="0">
                <a:latin typeface="+mn-lt"/>
                <a:cs typeface="Arial" panose="020B0604020202020204" pitchFamily="34" charset="0"/>
              </a:rPr>
              <a:t>Calgary Press Bot Copper Foil Fixture</a:t>
            </a:r>
            <a:endParaRPr kumimoji="0" lang="en-US" altLang="zh-TW" sz="3200" b="0" i="0" dirty="0">
              <a:solidFill>
                <a:srgbClr val="000000"/>
              </a:solidFill>
              <a:latin typeface="+mn-lt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4" name="直接箭头连接符 46">
            <a:extLst>
              <a:ext uri="{FF2B5EF4-FFF2-40B4-BE49-F238E27FC236}">
                <a16:creationId xmlns:a16="http://schemas.microsoft.com/office/drawing/2014/main" id="{DD6FE7ED-9CD4-9A4B-548C-BFA8F3EC5C75}"/>
              </a:ext>
            </a:extLst>
          </p:cNvPr>
          <p:cNvCxnSpPr>
            <a:cxnSpLocks/>
          </p:cNvCxnSpPr>
          <p:nvPr/>
        </p:nvCxnSpPr>
        <p:spPr bwMode="auto">
          <a:xfrm flipV="1">
            <a:off x="5560687" y="3603597"/>
            <a:ext cx="546095" cy="770883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55" name="TextBox 48">
            <a:extLst>
              <a:ext uri="{FF2B5EF4-FFF2-40B4-BE49-F238E27FC236}">
                <a16:creationId xmlns:a16="http://schemas.microsoft.com/office/drawing/2014/main" id="{11DBD789-FEA1-9E35-C9B2-9A6BD9E52B17}"/>
              </a:ext>
            </a:extLst>
          </p:cNvPr>
          <p:cNvSpPr txBox="1"/>
          <p:nvPr/>
        </p:nvSpPr>
        <p:spPr>
          <a:xfrm>
            <a:off x="5125217" y="4355137"/>
            <a:ext cx="913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Internet connector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936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846" y="1778415"/>
            <a:ext cx="3636193" cy="23907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92" y="1781013"/>
            <a:ext cx="3110102" cy="2390710"/>
          </a:xfrm>
          <a:prstGeom prst="rect">
            <a:avLst/>
          </a:prstGeom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25CE280C-3678-60F3-AE7B-4F4122D81ED8}"/>
              </a:ext>
            </a:extLst>
          </p:cNvPr>
          <p:cNvSpPr txBox="1"/>
          <p:nvPr/>
        </p:nvSpPr>
        <p:spPr>
          <a:xfrm>
            <a:off x="0" y="598341"/>
            <a:ext cx="2500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/>
              <a:t>Press module</a:t>
            </a:r>
            <a:endParaRPr lang="zh-CN" altLang="en-US" sz="1400" dirty="0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400F3EB9-EEC9-4579-ED55-B909691BCD54}"/>
              </a:ext>
            </a:extLst>
          </p:cNvPr>
          <p:cNvSpPr txBox="1"/>
          <p:nvPr/>
        </p:nvSpPr>
        <p:spPr>
          <a:xfrm>
            <a:off x="2818660" y="4081307"/>
            <a:ext cx="17145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0" dirty="0">
                <a:solidFill>
                  <a:schemeClr val="tx1"/>
                </a:solidFill>
                <a:latin typeface="+mn-ea"/>
                <a:ea typeface="+mn-ea"/>
              </a:rPr>
              <a:t>Solenoid valve</a:t>
            </a:r>
            <a:endParaRPr lang="zh-CN" altLang="en-US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6" name="直接箭头连接符 12">
            <a:extLst>
              <a:ext uri="{FF2B5EF4-FFF2-40B4-BE49-F238E27FC236}">
                <a16:creationId xmlns:a16="http://schemas.microsoft.com/office/drawing/2014/main" id="{2D56202F-7E7F-DB8D-290F-EB4155657844}"/>
              </a:ext>
            </a:extLst>
          </p:cNvPr>
          <p:cNvCxnSpPr>
            <a:cxnSpLocks/>
          </p:cNvCxnSpPr>
          <p:nvPr/>
        </p:nvCxnSpPr>
        <p:spPr bwMode="auto">
          <a:xfrm flipH="1">
            <a:off x="2216096" y="1572526"/>
            <a:ext cx="462358" cy="666989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7" name="TextBox 15">
            <a:extLst>
              <a:ext uri="{FF2B5EF4-FFF2-40B4-BE49-F238E27FC236}">
                <a16:creationId xmlns:a16="http://schemas.microsoft.com/office/drawing/2014/main" id="{ED061999-12FF-BA8B-B201-3ED135024CB7}"/>
              </a:ext>
            </a:extLst>
          </p:cNvPr>
          <p:cNvSpPr txBox="1"/>
          <p:nvPr/>
        </p:nvSpPr>
        <p:spPr>
          <a:xfrm>
            <a:off x="2176937" y="1274938"/>
            <a:ext cx="1334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0" dirty="0">
                <a:solidFill>
                  <a:schemeClr val="tx1"/>
                </a:solidFill>
                <a:latin typeface="+mn-ea"/>
                <a:ea typeface="+mn-ea"/>
              </a:rPr>
              <a:t>Press cylinder</a:t>
            </a:r>
            <a:endParaRPr lang="zh-CN" altLang="en-US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8" name="直接箭头连接符 20">
            <a:extLst>
              <a:ext uri="{FF2B5EF4-FFF2-40B4-BE49-F238E27FC236}">
                <a16:creationId xmlns:a16="http://schemas.microsoft.com/office/drawing/2014/main" id="{EE6CCA9E-02D6-7ADF-F970-235561F36216}"/>
              </a:ext>
            </a:extLst>
          </p:cNvPr>
          <p:cNvCxnSpPr>
            <a:cxnSpLocks/>
            <a:stCxn id="9" idx="0"/>
          </p:cNvCxnSpPr>
          <p:nvPr/>
        </p:nvCxnSpPr>
        <p:spPr bwMode="auto">
          <a:xfrm flipV="1">
            <a:off x="788621" y="4027714"/>
            <a:ext cx="1112750" cy="57305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9" name="TextBox 28">
            <a:extLst>
              <a:ext uri="{FF2B5EF4-FFF2-40B4-BE49-F238E27FC236}">
                <a16:creationId xmlns:a16="http://schemas.microsoft.com/office/drawing/2014/main" id="{CDBD69E0-8244-CE4C-8DDD-33818D2988C1}"/>
              </a:ext>
            </a:extLst>
          </p:cNvPr>
          <p:cNvSpPr txBox="1"/>
          <p:nvPr/>
        </p:nvSpPr>
        <p:spPr>
          <a:xfrm>
            <a:off x="379858" y="4085019"/>
            <a:ext cx="8175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0" dirty="0">
                <a:solidFill>
                  <a:schemeClr val="tx1"/>
                </a:solidFill>
                <a:latin typeface="+mn-ea"/>
                <a:ea typeface="+mn-ea"/>
              </a:rPr>
              <a:t>Cylinder </a:t>
            </a:r>
            <a:endParaRPr lang="zh-CN" altLang="en-US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10" name="直接箭头连接符 30">
            <a:extLst>
              <a:ext uri="{FF2B5EF4-FFF2-40B4-BE49-F238E27FC236}">
                <a16:creationId xmlns:a16="http://schemas.microsoft.com/office/drawing/2014/main" id="{2FDE0C4F-95E7-E7D0-3710-1C7EA06101DE}"/>
              </a:ext>
            </a:extLst>
          </p:cNvPr>
          <p:cNvCxnSpPr>
            <a:cxnSpLocks/>
          </p:cNvCxnSpPr>
          <p:nvPr/>
        </p:nvCxnSpPr>
        <p:spPr bwMode="auto">
          <a:xfrm>
            <a:off x="1241850" y="2652474"/>
            <a:ext cx="582929" cy="279316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11" name="TextBox 32">
            <a:extLst>
              <a:ext uri="{FF2B5EF4-FFF2-40B4-BE49-F238E27FC236}">
                <a16:creationId xmlns:a16="http://schemas.microsoft.com/office/drawing/2014/main" id="{D7C527B4-65BF-45C7-41A1-F712D59FC2A0}"/>
              </a:ext>
            </a:extLst>
          </p:cNvPr>
          <p:cNvSpPr txBox="1"/>
          <p:nvPr/>
        </p:nvSpPr>
        <p:spPr>
          <a:xfrm>
            <a:off x="225784" y="2334708"/>
            <a:ext cx="1249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0" dirty="0">
                <a:solidFill>
                  <a:schemeClr val="tx1"/>
                </a:solidFill>
                <a:latin typeface="+mn-ea"/>
                <a:ea typeface="+mn-ea"/>
              </a:rPr>
              <a:t>Vertical plate</a:t>
            </a:r>
            <a:r>
              <a:rPr lang="zh-CN" altLang="en-US" sz="1200" b="0" dirty="0">
                <a:solidFill>
                  <a:schemeClr val="tx1"/>
                </a:solidFill>
                <a:latin typeface="+mn-ea"/>
                <a:ea typeface="+mn-ea"/>
              </a:rPr>
              <a:t>（</a:t>
            </a:r>
            <a:r>
              <a:rPr lang="en-US" altLang="zh-CN" sz="1200" b="0" dirty="0">
                <a:solidFill>
                  <a:schemeClr val="tx1"/>
                </a:solidFill>
                <a:latin typeface="+mn-ea"/>
                <a:ea typeface="+mn-ea"/>
              </a:rPr>
              <a:t>A7075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ea typeface="+mn-ea"/>
              </a:rPr>
              <a:t>）</a:t>
            </a:r>
          </a:p>
        </p:txBody>
      </p:sp>
      <p:cxnSp>
        <p:nvCxnSpPr>
          <p:cNvPr id="12" name="直接箭头连接符 33">
            <a:extLst>
              <a:ext uri="{FF2B5EF4-FFF2-40B4-BE49-F238E27FC236}">
                <a16:creationId xmlns:a16="http://schemas.microsoft.com/office/drawing/2014/main" id="{9A96C7C5-CEAC-240E-C255-FACE80681DBC}"/>
              </a:ext>
            </a:extLst>
          </p:cNvPr>
          <p:cNvCxnSpPr>
            <a:cxnSpLocks/>
          </p:cNvCxnSpPr>
          <p:nvPr/>
        </p:nvCxnSpPr>
        <p:spPr bwMode="auto">
          <a:xfrm flipH="1">
            <a:off x="3328981" y="3057642"/>
            <a:ext cx="341961" cy="255537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13" name="TextBox 35">
            <a:extLst>
              <a:ext uri="{FF2B5EF4-FFF2-40B4-BE49-F238E27FC236}">
                <a16:creationId xmlns:a16="http://schemas.microsoft.com/office/drawing/2014/main" id="{29E8AE68-38E5-69EF-003C-08418D00B928}"/>
              </a:ext>
            </a:extLst>
          </p:cNvPr>
          <p:cNvSpPr txBox="1"/>
          <p:nvPr/>
        </p:nvSpPr>
        <p:spPr>
          <a:xfrm>
            <a:off x="3613396" y="2851514"/>
            <a:ext cx="1714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0" dirty="0">
                <a:solidFill>
                  <a:schemeClr val="tx1"/>
                </a:solidFill>
                <a:latin typeface="+mn-ea"/>
                <a:ea typeface="+mn-ea"/>
              </a:rPr>
              <a:t>Bottom plate</a:t>
            </a:r>
          </a:p>
          <a:p>
            <a:pPr algn="l"/>
            <a:r>
              <a:rPr lang="en-US" altLang="zh-CN" sz="1200" b="0" dirty="0">
                <a:solidFill>
                  <a:schemeClr val="tx1"/>
                </a:solidFill>
                <a:latin typeface="+mn-ea"/>
                <a:ea typeface="+mn-ea"/>
              </a:rPr>
              <a:t>(A7075)</a:t>
            </a:r>
            <a:endParaRPr lang="zh-CN" altLang="en-US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14" name="直接箭头连接符 36">
            <a:extLst>
              <a:ext uri="{FF2B5EF4-FFF2-40B4-BE49-F238E27FC236}">
                <a16:creationId xmlns:a16="http://schemas.microsoft.com/office/drawing/2014/main" id="{E3C16917-8B51-5F42-3DCA-26652AFF9AA4}"/>
              </a:ext>
            </a:extLst>
          </p:cNvPr>
          <p:cNvCxnSpPr>
            <a:cxnSpLocks/>
          </p:cNvCxnSpPr>
          <p:nvPr/>
        </p:nvCxnSpPr>
        <p:spPr bwMode="auto">
          <a:xfrm flipH="1">
            <a:off x="3119595" y="2097760"/>
            <a:ext cx="563969" cy="253477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15" name="TextBox 38">
            <a:extLst>
              <a:ext uri="{FF2B5EF4-FFF2-40B4-BE49-F238E27FC236}">
                <a16:creationId xmlns:a16="http://schemas.microsoft.com/office/drawing/2014/main" id="{2DCA6E29-380A-CBC1-1A97-238AF014379A}"/>
              </a:ext>
            </a:extLst>
          </p:cNvPr>
          <p:cNvSpPr txBox="1"/>
          <p:nvPr/>
        </p:nvSpPr>
        <p:spPr>
          <a:xfrm>
            <a:off x="3590206" y="1889572"/>
            <a:ext cx="1475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0" dirty="0">
                <a:solidFill>
                  <a:schemeClr val="tx1"/>
                </a:solidFill>
                <a:latin typeface="+mn-ea"/>
                <a:ea typeface="+mn-ea"/>
              </a:rPr>
              <a:t>Electric control plate</a:t>
            </a:r>
            <a:endParaRPr lang="zh-CN" altLang="en-US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16" name="直接箭头连接符 39">
            <a:extLst>
              <a:ext uri="{FF2B5EF4-FFF2-40B4-BE49-F238E27FC236}">
                <a16:creationId xmlns:a16="http://schemas.microsoft.com/office/drawing/2014/main" id="{BFA4BD71-29FF-455C-295D-9775D860059E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987824" y="3313179"/>
            <a:ext cx="525910" cy="699376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17" name="TextBox 41">
            <a:extLst>
              <a:ext uri="{FF2B5EF4-FFF2-40B4-BE49-F238E27FC236}">
                <a16:creationId xmlns:a16="http://schemas.microsoft.com/office/drawing/2014/main" id="{30825A8D-FD2D-BA4C-D2D2-DDDA2258E796}"/>
              </a:ext>
            </a:extLst>
          </p:cNvPr>
          <p:cNvSpPr txBox="1"/>
          <p:nvPr/>
        </p:nvSpPr>
        <p:spPr>
          <a:xfrm>
            <a:off x="225784" y="1334576"/>
            <a:ext cx="1452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0" dirty="0">
                <a:solidFill>
                  <a:schemeClr val="tx1"/>
                </a:solidFill>
                <a:latin typeface="+mn-ea"/>
                <a:ea typeface="+mn-ea"/>
              </a:rPr>
              <a:t>Backplane</a:t>
            </a:r>
            <a:r>
              <a:rPr lang="zh-CN" altLang="en-US" sz="1200" b="0" dirty="0">
                <a:solidFill>
                  <a:schemeClr val="tx1"/>
                </a:solidFill>
                <a:latin typeface="+mn-ea"/>
                <a:ea typeface="+mn-ea"/>
              </a:rPr>
              <a:t>（</a:t>
            </a:r>
            <a:r>
              <a:rPr lang="en-US" altLang="zh-CN" sz="1200" b="0" dirty="0">
                <a:solidFill>
                  <a:schemeClr val="tx1"/>
                </a:solidFill>
                <a:latin typeface="+mn-ea"/>
                <a:ea typeface="+mn-ea"/>
              </a:rPr>
              <a:t>A7075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ea typeface="+mn-ea"/>
              </a:rPr>
              <a:t>）</a:t>
            </a:r>
          </a:p>
        </p:txBody>
      </p:sp>
      <p:cxnSp>
        <p:nvCxnSpPr>
          <p:cNvPr id="18" name="直接箭头连接符 43">
            <a:extLst>
              <a:ext uri="{FF2B5EF4-FFF2-40B4-BE49-F238E27FC236}">
                <a16:creationId xmlns:a16="http://schemas.microsoft.com/office/drawing/2014/main" id="{37A90444-6B63-3956-41C5-6914050CB9A6}"/>
              </a:ext>
            </a:extLst>
          </p:cNvPr>
          <p:cNvCxnSpPr>
            <a:cxnSpLocks/>
            <a:stCxn id="19" idx="0"/>
          </p:cNvCxnSpPr>
          <p:nvPr/>
        </p:nvCxnSpPr>
        <p:spPr bwMode="auto">
          <a:xfrm flipV="1">
            <a:off x="2242780" y="3867894"/>
            <a:ext cx="96972" cy="545013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19" name="TextBox 45">
            <a:extLst>
              <a:ext uri="{FF2B5EF4-FFF2-40B4-BE49-F238E27FC236}">
                <a16:creationId xmlns:a16="http://schemas.microsoft.com/office/drawing/2014/main" id="{EE01C7A7-937E-4693-50B2-63457CF6E5E7}"/>
              </a:ext>
            </a:extLst>
          </p:cNvPr>
          <p:cNvSpPr txBox="1"/>
          <p:nvPr/>
        </p:nvSpPr>
        <p:spPr>
          <a:xfrm>
            <a:off x="1577868" y="4412907"/>
            <a:ext cx="13298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0" dirty="0">
                <a:solidFill>
                  <a:schemeClr val="tx1"/>
                </a:solidFill>
                <a:latin typeface="+mn-ea"/>
                <a:ea typeface="+mn-ea"/>
              </a:rPr>
              <a:t>Location sensor</a:t>
            </a:r>
            <a:endParaRPr lang="zh-CN" altLang="en-US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0" name="直接箭头连接符 46">
            <a:extLst>
              <a:ext uri="{FF2B5EF4-FFF2-40B4-BE49-F238E27FC236}">
                <a16:creationId xmlns:a16="http://schemas.microsoft.com/office/drawing/2014/main" id="{512782A0-2DC7-2A55-4392-291910ED99F3}"/>
              </a:ext>
            </a:extLst>
          </p:cNvPr>
          <p:cNvCxnSpPr>
            <a:cxnSpLocks/>
          </p:cNvCxnSpPr>
          <p:nvPr/>
        </p:nvCxnSpPr>
        <p:spPr bwMode="auto">
          <a:xfrm flipV="1">
            <a:off x="6338724" y="3638749"/>
            <a:ext cx="548228" cy="607492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21" name="TextBox 48">
            <a:extLst>
              <a:ext uri="{FF2B5EF4-FFF2-40B4-BE49-F238E27FC236}">
                <a16:creationId xmlns:a16="http://schemas.microsoft.com/office/drawing/2014/main" id="{41E3259E-E02F-8F88-FDF2-DA6AB3BCD314}"/>
              </a:ext>
            </a:extLst>
          </p:cNvPr>
          <p:cNvSpPr txBox="1"/>
          <p:nvPr/>
        </p:nvSpPr>
        <p:spPr>
          <a:xfrm>
            <a:off x="5243878" y="4246240"/>
            <a:ext cx="1643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0" dirty="0">
                <a:solidFill>
                  <a:schemeClr val="tx1"/>
                </a:solidFill>
                <a:latin typeface="+mn-ea"/>
                <a:ea typeface="+mn-ea"/>
              </a:rPr>
              <a:t>Limitation module</a:t>
            </a:r>
            <a:endParaRPr lang="zh-CN" altLang="en-US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接箭头连接符 51">
            <a:extLst>
              <a:ext uri="{FF2B5EF4-FFF2-40B4-BE49-F238E27FC236}">
                <a16:creationId xmlns:a16="http://schemas.microsoft.com/office/drawing/2014/main" id="{6BB8D916-44B6-2366-6ACB-DA576E171B1D}"/>
              </a:ext>
            </a:extLst>
          </p:cNvPr>
          <p:cNvCxnSpPr>
            <a:cxnSpLocks/>
          </p:cNvCxnSpPr>
          <p:nvPr/>
        </p:nvCxnSpPr>
        <p:spPr bwMode="auto">
          <a:xfrm>
            <a:off x="1248942" y="1787042"/>
            <a:ext cx="575837" cy="452473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cxnSp>
        <p:nvCxnSpPr>
          <p:cNvPr id="23" name="直接箭头连接符 54">
            <a:extLst>
              <a:ext uri="{FF2B5EF4-FFF2-40B4-BE49-F238E27FC236}">
                <a16:creationId xmlns:a16="http://schemas.microsoft.com/office/drawing/2014/main" id="{D7EC2414-A3FA-813B-B3A3-B615EE4845CE}"/>
              </a:ext>
            </a:extLst>
          </p:cNvPr>
          <p:cNvCxnSpPr>
            <a:cxnSpLocks/>
            <a:stCxn id="24" idx="2"/>
          </p:cNvCxnSpPr>
          <p:nvPr/>
        </p:nvCxnSpPr>
        <p:spPr bwMode="auto">
          <a:xfrm>
            <a:off x="5983501" y="1491422"/>
            <a:ext cx="344346" cy="1067750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24" name="TextBox 56">
            <a:extLst>
              <a:ext uri="{FF2B5EF4-FFF2-40B4-BE49-F238E27FC236}">
                <a16:creationId xmlns:a16="http://schemas.microsoft.com/office/drawing/2014/main" id="{1CBA1252-1C8D-FAC3-34B8-4F5C4B15B17C}"/>
              </a:ext>
            </a:extLst>
          </p:cNvPr>
          <p:cNvSpPr txBox="1"/>
          <p:nvPr/>
        </p:nvSpPr>
        <p:spPr>
          <a:xfrm>
            <a:off x="5738818" y="1214423"/>
            <a:ext cx="489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0" dirty="0">
                <a:solidFill>
                  <a:schemeClr val="tx1"/>
                </a:solidFill>
                <a:latin typeface="+mn-ea"/>
                <a:ea typeface="+mn-ea"/>
              </a:rPr>
              <a:t>PLC</a:t>
            </a:r>
            <a:endParaRPr lang="zh-CN" altLang="en-US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5" name="直接箭头连接符 57">
            <a:extLst>
              <a:ext uri="{FF2B5EF4-FFF2-40B4-BE49-F238E27FC236}">
                <a16:creationId xmlns:a16="http://schemas.microsoft.com/office/drawing/2014/main" id="{EAE10F0B-3F7C-B003-0F01-3FAEC15CDF3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585291" y="3500249"/>
            <a:ext cx="46248" cy="857526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26" name="TextBox 59">
            <a:extLst>
              <a:ext uri="{FF2B5EF4-FFF2-40B4-BE49-F238E27FC236}">
                <a16:creationId xmlns:a16="http://schemas.microsoft.com/office/drawing/2014/main" id="{72B7BE0C-2D47-FF50-1EBE-3F1B9FF42D6A}"/>
              </a:ext>
            </a:extLst>
          </p:cNvPr>
          <p:cNvSpPr txBox="1"/>
          <p:nvPr/>
        </p:nvSpPr>
        <p:spPr>
          <a:xfrm>
            <a:off x="7239016" y="4413875"/>
            <a:ext cx="13573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0" dirty="0">
                <a:solidFill>
                  <a:schemeClr val="tx1"/>
                </a:solidFill>
                <a:latin typeface="+mn-ea"/>
                <a:ea typeface="+mn-ea"/>
              </a:rPr>
              <a:t>Linear guide</a:t>
            </a:r>
            <a:endParaRPr lang="zh-CN" altLang="en-US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9" name="直接箭头连接符 65">
            <a:extLst>
              <a:ext uri="{FF2B5EF4-FFF2-40B4-BE49-F238E27FC236}">
                <a16:creationId xmlns:a16="http://schemas.microsoft.com/office/drawing/2014/main" id="{84C29B2D-13E1-FD4A-7415-58196FF8FE46}"/>
              </a:ext>
            </a:extLst>
          </p:cNvPr>
          <p:cNvCxnSpPr>
            <a:cxnSpLocks/>
          </p:cNvCxnSpPr>
          <p:nvPr/>
        </p:nvCxnSpPr>
        <p:spPr bwMode="auto">
          <a:xfrm flipV="1">
            <a:off x="1059263" y="3196817"/>
            <a:ext cx="992860" cy="273929"/>
          </a:xfrm>
          <a:prstGeom prst="straightConnector1">
            <a:avLst/>
          </a:prstGeom>
          <a:noFill/>
          <a:ln>
            <a:solidFill>
              <a:srgbClr val="DB0029"/>
            </a:solidFill>
            <a:tailEnd type="arrow"/>
          </a:ln>
        </p:spPr>
      </p:cxnSp>
      <p:sp>
        <p:nvSpPr>
          <p:cNvPr id="30" name="TextBox 67">
            <a:extLst>
              <a:ext uri="{FF2B5EF4-FFF2-40B4-BE49-F238E27FC236}">
                <a16:creationId xmlns:a16="http://schemas.microsoft.com/office/drawing/2014/main" id="{954137C8-67F0-FE01-604C-F5CA3D6286D0}"/>
              </a:ext>
            </a:extLst>
          </p:cNvPr>
          <p:cNvSpPr txBox="1"/>
          <p:nvPr/>
        </p:nvSpPr>
        <p:spPr>
          <a:xfrm>
            <a:off x="193928" y="3361750"/>
            <a:ext cx="1452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200" b="0" dirty="0">
                <a:solidFill>
                  <a:schemeClr val="tx1"/>
                </a:solidFill>
                <a:latin typeface="+mn-ea"/>
                <a:ea typeface="+mn-ea"/>
              </a:rPr>
              <a:t>Pressure sensor</a:t>
            </a:r>
            <a:endParaRPr lang="zh-CN" altLang="en-US" sz="1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7500FCD0-06E2-2E13-7A1F-FB8650249E87}"/>
              </a:ext>
            </a:extLst>
          </p:cNvPr>
          <p:cNvSpPr>
            <a:spLocks noGrp="1"/>
          </p:cNvSpPr>
          <p:nvPr/>
        </p:nvSpPr>
        <p:spPr>
          <a:xfrm>
            <a:off x="59806" y="68886"/>
            <a:ext cx="7452320" cy="5715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i="1" kern="1200">
                <a:solidFill>
                  <a:srgbClr val="5DCEAF"/>
                </a:solidFill>
                <a:effectLst/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fontAlgn="ctr"/>
            <a:r>
              <a:rPr kumimoji="0" lang="en-US" altLang="zh-TW" sz="3200" dirty="0">
                <a:latin typeface="+mn-lt"/>
                <a:cs typeface="Arial" panose="020B0604020202020204" pitchFamily="34" charset="0"/>
              </a:rPr>
              <a:t>Calgary Press Bot Copper Foil Fixture</a:t>
            </a:r>
            <a:endParaRPr kumimoji="0" lang="en-US" altLang="zh-TW" sz="3200" b="0" i="0" dirty="0">
              <a:solidFill>
                <a:srgbClr val="000000"/>
              </a:solidFill>
              <a:latin typeface="+mn-lt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693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0F804441-D254-C2DC-0C47-04DDABF1FF56}"/>
              </a:ext>
            </a:extLst>
          </p:cNvPr>
          <p:cNvSpPr txBox="1"/>
          <p:nvPr/>
        </p:nvSpPr>
        <p:spPr>
          <a:xfrm>
            <a:off x="77483" y="658774"/>
            <a:ext cx="3500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chemeClr val="tx1"/>
                </a:solidFill>
              </a:rPr>
              <a:t>Press cylinder size(</a:t>
            </a:r>
            <a:r>
              <a:rPr lang="en-US" altLang="zh-CN" sz="1400" b="0" dirty="0">
                <a:solidFill>
                  <a:schemeClr val="tx1"/>
                </a:solidFill>
                <a:cs typeface="Arial" panose="020B0604020202020204" pitchFamily="34" charset="0"/>
              </a:rPr>
              <a:t>TR25x50s</a:t>
            </a:r>
            <a:r>
              <a:rPr lang="en-US" altLang="zh-CN" sz="1400" dirty="0">
                <a:solidFill>
                  <a:schemeClr val="tx1"/>
                </a:solidFill>
              </a:rPr>
              <a:t>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7" name="表格 8">
            <a:extLst>
              <a:ext uri="{FF2B5EF4-FFF2-40B4-BE49-F238E27FC236}">
                <a16:creationId xmlns:a16="http://schemas.microsoft.com/office/drawing/2014/main" id="{CFE3F63A-E86C-A683-3278-FE1A965BC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390933"/>
              </p:ext>
            </p:extLst>
          </p:nvPr>
        </p:nvGraphicFramePr>
        <p:xfrm>
          <a:off x="6228184" y="1851307"/>
          <a:ext cx="280831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156">
                  <a:extLst>
                    <a:ext uri="{9D8B030D-6E8A-4147-A177-3AD203B41FA5}">
                      <a16:colId xmlns:a16="http://schemas.microsoft.com/office/drawing/2014/main" val="2012838740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923898085"/>
                    </a:ext>
                  </a:extLst>
                </a:gridCol>
              </a:tblGrid>
              <a:tr h="360222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</a:t>
                      </a:r>
                      <a:r>
                        <a:rPr lang="en-US" altLang="zh-CN" sz="1600" dirty="0"/>
                        <a:t>ir pressure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0.38M</a:t>
                      </a:r>
                      <a:r>
                        <a:rPr lang="en-US" altLang="zh-CN" dirty="0"/>
                        <a:t>pa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430939"/>
                  </a:ext>
                </a:extLst>
              </a:tr>
              <a:tr h="360222">
                <a:tc>
                  <a:txBody>
                    <a:bodyPr/>
                    <a:lstStyle/>
                    <a:p>
                      <a:r>
                        <a:rPr lang="en-US" altLang="zh-TW" dirty="0"/>
                        <a:t>P</a:t>
                      </a:r>
                      <a:r>
                        <a:rPr lang="en-US" altLang="zh-CN" dirty="0"/>
                        <a:t>ress force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37</a:t>
                      </a:r>
                      <a:r>
                        <a:rPr lang="en-US" altLang="zh-CN" dirty="0"/>
                        <a:t>kg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22107"/>
                  </a:ext>
                </a:extLst>
              </a:tr>
            </a:tbl>
          </a:graphicData>
        </a:graphic>
      </p:graphicFrame>
      <p:sp>
        <p:nvSpPr>
          <p:cNvPr id="11" name="标题 1">
            <a:extLst>
              <a:ext uri="{FF2B5EF4-FFF2-40B4-BE49-F238E27FC236}">
                <a16:creationId xmlns:a16="http://schemas.microsoft.com/office/drawing/2014/main" id="{7500FCD0-06E2-2E13-7A1F-FB8650249E87}"/>
              </a:ext>
            </a:extLst>
          </p:cNvPr>
          <p:cNvSpPr>
            <a:spLocks noGrp="1"/>
          </p:cNvSpPr>
          <p:nvPr/>
        </p:nvSpPr>
        <p:spPr>
          <a:xfrm>
            <a:off x="77483" y="55040"/>
            <a:ext cx="7452320" cy="5715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i="1" kern="1200">
                <a:solidFill>
                  <a:srgbClr val="5DCEAF"/>
                </a:solidFill>
                <a:effectLst/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fontAlgn="ctr"/>
            <a:r>
              <a:rPr kumimoji="0" lang="en-US" altLang="zh-TW" sz="3200" dirty="0">
                <a:latin typeface="+mn-lt"/>
                <a:cs typeface="Arial" panose="020B0604020202020204" pitchFamily="34" charset="0"/>
              </a:rPr>
              <a:t>Calgary Press Bot Copper Foil Fixture</a:t>
            </a:r>
            <a:endParaRPr kumimoji="0" lang="en-US" altLang="zh-TW" sz="3200" b="0" i="0" dirty="0">
              <a:solidFill>
                <a:srgbClr val="000000"/>
              </a:solidFill>
              <a:latin typeface="+mn-lt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5E577B0-2460-3DAA-1939-3020B125B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116" y="1203598"/>
            <a:ext cx="5144987" cy="306203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2ABF698-BB03-6C34-E6D8-639A0E62607F}"/>
              </a:ext>
            </a:extLst>
          </p:cNvPr>
          <p:cNvSpPr/>
          <p:nvPr/>
        </p:nvSpPr>
        <p:spPr>
          <a:xfrm>
            <a:off x="539552" y="3507854"/>
            <a:ext cx="4896544" cy="360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TW" altLang="en-US" sz="10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74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3" y="2422357"/>
            <a:ext cx="3126365" cy="7303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557" y="997063"/>
            <a:ext cx="3154384" cy="10433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1" y="992992"/>
            <a:ext cx="3124608" cy="1078233"/>
          </a:xfrm>
          <a:prstGeom prst="rect">
            <a:avLst/>
          </a:prstGeom>
        </p:spPr>
      </p:pic>
      <p:sp>
        <p:nvSpPr>
          <p:cNvPr id="29" name="TextBox 4">
            <a:extLst>
              <a:ext uri="{FF2B5EF4-FFF2-40B4-BE49-F238E27FC236}">
                <a16:creationId xmlns:a16="http://schemas.microsoft.com/office/drawing/2014/main" id="{B1A77C80-B993-CFB0-71D8-FC0335A499A7}"/>
              </a:ext>
            </a:extLst>
          </p:cNvPr>
          <p:cNvSpPr txBox="1"/>
          <p:nvPr/>
        </p:nvSpPr>
        <p:spPr>
          <a:xfrm>
            <a:off x="77483" y="658774"/>
            <a:ext cx="3500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sz="1400" dirty="0"/>
              <a:t>Holder design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7500FCD0-06E2-2E13-7A1F-FB8650249E87}"/>
              </a:ext>
            </a:extLst>
          </p:cNvPr>
          <p:cNvSpPr>
            <a:spLocks noGrp="1"/>
          </p:cNvSpPr>
          <p:nvPr/>
        </p:nvSpPr>
        <p:spPr>
          <a:xfrm>
            <a:off x="95036" y="55102"/>
            <a:ext cx="7452320" cy="5715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i="1" kern="1200">
                <a:solidFill>
                  <a:srgbClr val="5DCEAF"/>
                </a:solidFill>
                <a:effectLst/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fontAlgn="ctr"/>
            <a:r>
              <a:rPr kumimoji="0" lang="en-US" altLang="zh-TW" sz="3200" dirty="0">
                <a:latin typeface="+mn-lt"/>
                <a:cs typeface="Arial" panose="020B0604020202020204" pitchFamily="34" charset="0"/>
              </a:rPr>
              <a:t>Calgary Press Bot Copper Foil Fixture</a:t>
            </a:r>
            <a:endParaRPr kumimoji="0" lang="en-US" altLang="zh-TW" sz="3200" b="0" i="0" dirty="0">
              <a:solidFill>
                <a:srgbClr val="000000"/>
              </a:solidFill>
              <a:latin typeface="+mn-lt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6F25D27-7970-6078-CA88-4A739AED239E}"/>
              </a:ext>
            </a:extLst>
          </p:cNvPr>
          <p:cNvSpPr/>
          <p:nvPr/>
        </p:nvSpPr>
        <p:spPr>
          <a:xfrm>
            <a:off x="3987796" y="4691639"/>
            <a:ext cx="32736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dirty="0"/>
              <a:t>Press head is 0.5mm larger then copper foil.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C82BBA1-76CB-0805-03DE-5294335BDF7A}"/>
              </a:ext>
            </a:extLst>
          </p:cNvPr>
          <p:cNvSpPr/>
          <p:nvPr/>
        </p:nvSpPr>
        <p:spPr>
          <a:xfrm>
            <a:off x="150628" y="2183658"/>
            <a:ext cx="14637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b="0" dirty="0">
                <a:solidFill>
                  <a:schemeClr val="tx1"/>
                </a:solidFill>
              </a:rPr>
              <a:t>X</a:t>
            </a:r>
            <a:r>
              <a:rPr lang="en-US" altLang="zh-CN" sz="1200" dirty="0"/>
              <a:t> direction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7F465ECF-64C0-BCD2-AF79-31C8E7A489B7}"/>
              </a:ext>
            </a:extLst>
          </p:cNvPr>
          <p:cNvCxnSpPr>
            <a:cxnSpLocks/>
          </p:cNvCxnSpPr>
          <p:nvPr/>
        </p:nvCxnSpPr>
        <p:spPr>
          <a:xfrm>
            <a:off x="2627784" y="2754543"/>
            <a:ext cx="0" cy="55629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C53BAEF0-1F81-101D-905E-EE70F283104B}"/>
              </a:ext>
            </a:extLst>
          </p:cNvPr>
          <p:cNvSpPr/>
          <p:nvPr/>
        </p:nvSpPr>
        <p:spPr>
          <a:xfrm>
            <a:off x="77483" y="3234147"/>
            <a:ext cx="14637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b="0" dirty="0">
                <a:solidFill>
                  <a:schemeClr val="tx1"/>
                </a:solidFill>
              </a:rPr>
              <a:t>Y</a:t>
            </a:r>
            <a:r>
              <a:rPr lang="en-US" altLang="zh-CN" sz="1200" dirty="0"/>
              <a:t> direction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29FE946-60EE-4BCF-715A-6F10114C8102}"/>
              </a:ext>
            </a:extLst>
          </p:cNvPr>
          <p:cNvSpPr/>
          <p:nvPr/>
        </p:nvSpPr>
        <p:spPr>
          <a:xfrm>
            <a:off x="0" y="4694659"/>
            <a:ext cx="364360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dirty="0"/>
              <a:t>The gap between housing and holder is 0.15mm.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sp>
        <p:nvSpPr>
          <p:cNvPr id="43" name="TextBox 4">
            <a:extLst>
              <a:ext uri="{FF2B5EF4-FFF2-40B4-BE49-F238E27FC236}">
                <a16:creationId xmlns:a16="http://schemas.microsoft.com/office/drawing/2014/main" id="{6209AF34-E94E-DE7D-631D-E017EF7753CB}"/>
              </a:ext>
            </a:extLst>
          </p:cNvPr>
          <p:cNvSpPr txBox="1"/>
          <p:nvPr/>
        </p:nvSpPr>
        <p:spPr>
          <a:xfrm>
            <a:off x="3760982" y="668316"/>
            <a:ext cx="3500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sz="1400" dirty="0"/>
              <a:t>Press head design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CF2978B-B0ED-B0A5-F25C-C06E4E81E8AD}"/>
              </a:ext>
            </a:extLst>
          </p:cNvPr>
          <p:cNvSpPr/>
          <p:nvPr/>
        </p:nvSpPr>
        <p:spPr>
          <a:xfrm>
            <a:off x="4332486" y="3310834"/>
            <a:ext cx="235745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dirty="0"/>
              <a:t>No interference with housing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86BF4CB-6660-ECEE-DA03-731E8D995ABC}"/>
              </a:ext>
            </a:extLst>
          </p:cNvPr>
          <p:cNvSpPr/>
          <p:nvPr/>
        </p:nvSpPr>
        <p:spPr>
          <a:xfrm>
            <a:off x="7261444" y="2032342"/>
            <a:ext cx="18082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dirty="0"/>
              <a:t>Al+1mm rubber, 70A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7944" y="3587833"/>
            <a:ext cx="2650429" cy="8602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5556" y="2105170"/>
            <a:ext cx="3154384" cy="112897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43" y="3507905"/>
            <a:ext cx="1985679" cy="118373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9522" y="3511405"/>
            <a:ext cx="1371402" cy="11785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4288" y="992992"/>
            <a:ext cx="1627670" cy="105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9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330" y="1270649"/>
            <a:ext cx="3148706" cy="282142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13" y="1270650"/>
            <a:ext cx="3189183" cy="2821421"/>
          </a:xfrm>
          <a:prstGeom prst="rect">
            <a:avLst/>
          </a:prstGeom>
        </p:spPr>
      </p:pic>
      <p:sp>
        <p:nvSpPr>
          <p:cNvPr id="29" name="TextBox 4">
            <a:extLst>
              <a:ext uri="{FF2B5EF4-FFF2-40B4-BE49-F238E27FC236}">
                <a16:creationId xmlns:a16="http://schemas.microsoft.com/office/drawing/2014/main" id="{B1A77C80-B993-CFB0-71D8-FC0335A499A7}"/>
              </a:ext>
            </a:extLst>
          </p:cNvPr>
          <p:cNvSpPr txBox="1"/>
          <p:nvPr/>
        </p:nvSpPr>
        <p:spPr>
          <a:xfrm>
            <a:off x="77483" y="658774"/>
            <a:ext cx="3500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sz="1400" dirty="0"/>
              <a:t>Holder and press head alignment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7500FCD0-06E2-2E13-7A1F-FB8650249E87}"/>
              </a:ext>
            </a:extLst>
          </p:cNvPr>
          <p:cNvSpPr>
            <a:spLocks noGrp="1"/>
          </p:cNvSpPr>
          <p:nvPr/>
        </p:nvSpPr>
        <p:spPr>
          <a:xfrm>
            <a:off x="95036" y="55102"/>
            <a:ext cx="7452320" cy="5715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i="1" kern="1200">
                <a:solidFill>
                  <a:srgbClr val="5DCEAF"/>
                </a:solidFill>
                <a:effectLst/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fontAlgn="ctr"/>
            <a:r>
              <a:rPr kumimoji="0" lang="en-US" altLang="zh-TW" sz="3200" dirty="0">
                <a:latin typeface="+mn-lt"/>
                <a:cs typeface="Arial" panose="020B0604020202020204" pitchFamily="34" charset="0"/>
              </a:rPr>
              <a:t>Calgary Press Bot Copper Foil Fixture</a:t>
            </a:r>
            <a:endParaRPr kumimoji="0" lang="en-US" altLang="zh-TW" sz="3200" b="0" i="0" dirty="0">
              <a:solidFill>
                <a:srgbClr val="000000"/>
              </a:solidFill>
              <a:latin typeface="+mn-lt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FCCBE469-F428-5FE3-8643-40C65413095C}"/>
              </a:ext>
            </a:extLst>
          </p:cNvPr>
          <p:cNvSpPr/>
          <p:nvPr/>
        </p:nvSpPr>
        <p:spPr>
          <a:xfrm>
            <a:off x="3965212" y="2519573"/>
            <a:ext cx="606788" cy="360040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TW" altLang="en-US" sz="1000" dirty="0">
              <a:latin typeface="Calibri" pitchFamily="34" charset="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06BA81D0-7CE1-A97F-0D37-43BB5E0849BC}"/>
              </a:ext>
            </a:extLst>
          </p:cNvPr>
          <p:cNvCxnSpPr/>
          <p:nvPr/>
        </p:nvCxnSpPr>
        <p:spPr>
          <a:xfrm flipH="1" flipV="1">
            <a:off x="825604" y="2318128"/>
            <a:ext cx="938084" cy="205382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9F1E7756-DDFC-892F-81C5-DE336A37D975}"/>
              </a:ext>
            </a:extLst>
          </p:cNvPr>
          <p:cNvCxnSpPr>
            <a:cxnSpLocks/>
          </p:cNvCxnSpPr>
          <p:nvPr/>
        </p:nvCxnSpPr>
        <p:spPr>
          <a:xfrm flipV="1">
            <a:off x="1763688" y="2318128"/>
            <a:ext cx="970366" cy="205382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2930D454-4D7F-D7AD-5062-6949616F47F6}"/>
              </a:ext>
            </a:extLst>
          </p:cNvPr>
          <p:cNvSpPr/>
          <p:nvPr/>
        </p:nvSpPr>
        <p:spPr>
          <a:xfrm>
            <a:off x="1250690" y="4294136"/>
            <a:ext cx="11540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dirty="0"/>
              <a:t>Alignment pin.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E79444-40E0-30A6-37DD-F2953C58E25C}"/>
              </a:ext>
            </a:extLst>
          </p:cNvPr>
          <p:cNvSpPr/>
          <p:nvPr/>
        </p:nvSpPr>
        <p:spPr>
          <a:xfrm>
            <a:off x="5968659" y="4155636"/>
            <a:ext cx="4320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dirty="0"/>
              <a:t>pin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3AF4113B-AE73-460C-5BEE-8120AEDE1FBD}"/>
              </a:ext>
            </a:extLst>
          </p:cNvPr>
          <p:cNvCxnSpPr>
            <a:cxnSpLocks/>
            <a:stCxn id="16" idx="2"/>
          </p:cNvCxnSpPr>
          <p:nvPr/>
        </p:nvCxnSpPr>
        <p:spPr>
          <a:xfrm flipH="1" flipV="1">
            <a:off x="5135504" y="2699594"/>
            <a:ext cx="1049179" cy="139247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406688B0-10EA-8172-B366-3ED859C4C29C}"/>
              </a:ext>
            </a:extLst>
          </p:cNvPr>
          <p:cNvCxnSpPr>
            <a:cxnSpLocks/>
            <a:stCxn id="16" idx="2"/>
          </p:cNvCxnSpPr>
          <p:nvPr/>
        </p:nvCxnSpPr>
        <p:spPr>
          <a:xfrm flipV="1">
            <a:off x="6184683" y="2720422"/>
            <a:ext cx="447783" cy="137164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E17676C1-73AD-F910-C35E-218D5199FB60}"/>
              </a:ext>
            </a:extLst>
          </p:cNvPr>
          <p:cNvSpPr/>
          <p:nvPr/>
        </p:nvSpPr>
        <p:spPr>
          <a:xfrm>
            <a:off x="323528" y="4571135"/>
            <a:ext cx="861389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dirty="0"/>
              <a:t>The press head is aligned with press head plate by pin, then we use alignment pin to do alignment during fixture adjustment.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990B1D3A-EC54-141F-5697-8F2C01B5337C}"/>
              </a:ext>
            </a:extLst>
          </p:cNvPr>
          <p:cNvCxnSpPr>
            <a:cxnSpLocks/>
          </p:cNvCxnSpPr>
          <p:nvPr/>
        </p:nvCxnSpPr>
        <p:spPr>
          <a:xfrm flipH="1" flipV="1">
            <a:off x="2555776" y="2787774"/>
            <a:ext cx="907445" cy="36842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E59BEBA7-9535-8BAE-195D-C66E976827B0}"/>
              </a:ext>
            </a:extLst>
          </p:cNvPr>
          <p:cNvSpPr/>
          <p:nvPr/>
        </p:nvSpPr>
        <p:spPr>
          <a:xfrm>
            <a:off x="3428194" y="3003023"/>
            <a:ext cx="11361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dirty="0"/>
              <a:t>Press head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B1947E1C-83AB-F143-7F30-F5783BA401F7}"/>
              </a:ext>
            </a:extLst>
          </p:cNvPr>
          <p:cNvCxnSpPr>
            <a:cxnSpLocks/>
          </p:cNvCxnSpPr>
          <p:nvPr/>
        </p:nvCxnSpPr>
        <p:spPr>
          <a:xfrm flipH="1">
            <a:off x="2806062" y="2355726"/>
            <a:ext cx="404749" cy="16384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902D5CB4-E8E8-E74C-16F5-44C8D0958A25}"/>
              </a:ext>
            </a:extLst>
          </p:cNvPr>
          <p:cNvSpPr/>
          <p:nvPr/>
        </p:nvSpPr>
        <p:spPr>
          <a:xfrm>
            <a:off x="3210810" y="2200321"/>
            <a:ext cx="15052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200" dirty="0"/>
              <a:t>Press head plate</a:t>
            </a:r>
            <a:endParaRPr lang="zh-CN" altLang="en-US" sz="12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085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A7EC4BD9-1D45-4ED8-DE96-A93F1AB7D035}"/>
              </a:ext>
            </a:extLst>
          </p:cNvPr>
          <p:cNvSpPr txBox="1"/>
          <p:nvPr/>
        </p:nvSpPr>
        <p:spPr>
          <a:xfrm>
            <a:off x="107504" y="607742"/>
            <a:ext cx="3500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zh-CN" sz="1400" dirty="0"/>
              <a:t>Work procedures 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916313AA-2B9C-944F-58D7-30AA7E6D57D6}"/>
              </a:ext>
            </a:extLst>
          </p:cNvPr>
          <p:cNvSpPr/>
          <p:nvPr/>
        </p:nvSpPr>
        <p:spPr>
          <a:xfrm>
            <a:off x="3005525" y="1575303"/>
            <a:ext cx="350357" cy="39691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zh-TW" altLang="en-US" sz="1000" dirty="0">
              <a:latin typeface="Calibri" pitchFamily="34" charset="0"/>
            </a:endParaRPr>
          </a:p>
        </p:txBody>
      </p:sp>
      <p:sp>
        <p:nvSpPr>
          <p:cNvPr id="10" name="TextBox 45">
            <a:extLst>
              <a:ext uri="{FF2B5EF4-FFF2-40B4-BE49-F238E27FC236}">
                <a16:creationId xmlns:a16="http://schemas.microsoft.com/office/drawing/2014/main" id="{65D8BC5C-3ACB-2B2E-BB25-0C167B9AC29B}"/>
              </a:ext>
            </a:extLst>
          </p:cNvPr>
          <p:cNvSpPr txBox="1"/>
          <p:nvPr/>
        </p:nvSpPr>
        <p:spPr>
          <a:xfrm>
            <a:off x="6867576" y="2505040"/>
            <a:ext cx="2096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1400" b="0"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3.Press copper foil</a:t>
            </a:r>
            <a:endParaRPr lang="zh-CN" altLang="en-US" dirty="0"/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600D20F4-0F44-A33A-74BC-00DEDFD6B32E}"/>
              </a:ext>
            </a:extLst>
          </p:cNvPr>
          <p:cNvSpPr/>
          <p:nvPr/>
        </p:nvSpPr>
        <p:spPr>
          <a:xfrm>
            <a:off x="5994089" y="1627010"/>
            <a:ext cx="320694" cy="33258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zh-TW" altLang="en-US" sz="1000" dirty="0">
              <a:latin typeface="Calibri" pitchFamily="34" charset="0"/>
            </a:endParaRPr>
          </a:p>
        </p:txBody>
      </p:sp>
      <p:sp>
        <p:nvSpPr>
          <p:cNvPr id="14" name="TextBox 45">
            <a:extLst>
              <a:ext uri="{FF2B5EF4-FFF2-40B4-BE49-F238E27FC236}">
                <a16:creationId xmlns:a16="http://schemas.microsoft.com/office/drawing/2014/main" id="{AADD6BA4-F264-1078-97D3-902F71C74AF9}"/>
              </a:ext>
            </a:extLst>
          </p:cNvPr>
          <p:cNvSpPr txBox="1"/>
          <p:nvPr/>
        </p:nvSpPr>
        <p:spPr>
          <a:xfrm>
            <a:off x="5508104" y="4324307"/>
            <a:ext cx="2664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1400" b="0"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4.Take out device</a:t>
            </a:r>
            <a:endParaRPr lang="zh-CN" altLang="en-US" dirty="0"/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05153281-1847-E273-2282-17C200AC677D}"/>
              </a:ext>
            </a:extLst>
          </p:cNvPr>
          <p:cNvSpPr/>
          <p:nvPr/>
        </p:nvSpPr>
        <p:spPr>
          <a:xfrm rot="10800000">
            <a:off x="7956376" y="3399524"/>
            <a:ext cx="360040" cy="36651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zh-TW" altLang="en-US" sz="1000" dirty="0">
              <a:latin typeface="Calibri" pitchFamily="34" charset="0"/>
            </a:endParaRPr>
          </a:p>
        </p:txBody>
      </p:sp>
      <p:sp>
        <p:nvSpPr>
          <p:cNvPr id="18" name="TextBox 45">
            <a:extLst>
              <a:ext uri="{FF2B5EF4-FFF2-40B4-BE49-F238E27FC236}">
                <a16:creationId xmlns:a16="http://schemas.microsoft.com/office/drawing/2014/main" id="{7ADAB780-0EE4-6491-A24E-6CD6D49B9A35}"/>
              </a:ext>
            </a:extLst>
          </p:cNvPr>
          <p:cNvSpPr txBox="1"/>
          <p:nvPr/>
        </p:nvSpPr>
        <p:spPr>
          <a:xfrm>
            <a:off x="537963" y="2458759"/>
            <a:ext cx="2664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b="0" dirty="0">
                <a:solidFill>
                  <a:schemeClr val="tx1"/>
                </a:solidFill>
                <a:ea typeface="+mn-ea"/>
                <a:cs typeface="Arial" panose="020B0604020202020204" pitchFamily="34" charset="0"/>
              </a:rPr>
              <a:t>1.Put housing on holder</a:t>
            </a:r>
            <a:endParaRPr lang="zh-CN" altLang="en-US" sz="1400" dirty="0">
              <a:solidFill>
                <a:schemeClr val="tx1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7500FCD0-06E2-2E13-7A1F-FB8650249E87}"/>
              </a:ext>
            </a:extLst>
          </p:cNvPr>
          <p:cNvSpPr>
            <a:spLocks noGrp="1"/>
          </p:cNvSpPr>
          <p:nvPr/>
        </p:nvSpPr>
        <p:spPr>
          <a:xfrm>
            <a:off x="2850" y="15286"/>
            <a:ext cx="7452320" cy="57150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i="1" kern="1200">
                <a:solidFill>
                  <a:srgbClr val="5DCEAF"/>
                </a:solidFill>
                <a:effectLst/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fontAlgn="ctr"/>
            <a:r>
              <a:rPr kumimoji="0" lang="en-US" altLang="zh-TW" sz="3200" dirty="0">
                <a:latin typeface="+mn-lt"/>
                <a:cs typeface="Arial" panose="020B0604020202020204" pitchFamily="34" charset="0"/>
              </a:rPr>
              <a:t>Calgary Press Bot Copper Foil Fixture</a:t>
            </a:r>
            <a:endParaRPr kumimoji="0" lang="en-US" altLang="zh-TW" sz="3200" b="0" i="0" dirty="0">
              <a:solidFill>
                <a:srgbClr val="000000"/>
              </a:solidFill>
              <a:latin typeface="+mn-lt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C647F23-9742-69AE-D037-45116DA03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333" y="1194002"/>
            <a:ext cx="2425123" cy="986274"/>
          </a:xfrm>
          <a:prstGeom prst="rect">
            <a:avLst/>
          </a:prstGeom>
        </p:spPr>
      </p:pic>
      <p:sp>
        <p:nvSpPr>
          <p:cNvPr id="17" name="TextBox 45">
            <a:extLst>
              <a:ext uri="{FF2B5EF4-FFF2-40B4-BE49-F238E27FC236}">
                <a16:creationId xmlns:a16="http://schemas.microsoft.com/office/drawing/2014/main" id="{2664484B-38FB-5EDF-3FA1-F0F6EA870722}"/>
              </a:ext>
            </a:extLst>
          </p:cNvPr>
          <p:cNvSpPr txBox="1"/>
          <p:nvPr/>
        </p:nvSpPr>
        <p:spPr>
          <a:xfrm>
            <a:off x="3522333" y="2458759"/>
            <a:ext cx="2870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1400" b="0"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2</a:t>
            </a:r>
            <a:r>
              <a:rPr lang="en-US" altLang="zh-CN" smtClean="0"/>
              <a:t>.Press </a:t>
            </a:r>
            <a:r>
              <a:rPr lang="en-US" altLang="zh-CN" dirty="0"/>
              <a:t>start button to start fixture</a:t>
            </a:r>
            <a:endParaRPr lang="zh-CN" altLang="en-US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DA0402CA-3236-A0C1-E095-6BBBF6405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110" y="852215"/>
            <a:ext cx="2138362" cy="156686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048" y="987574"/>
            <a:ext cx="2531395" cy="12961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977" y="3026289"/>
            <a:ext cx="3305314" cy="119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82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CNSBG/F&amp;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00"/>
        </a:solidFill>
        <a:ln>
          <a:solidFill>
            <a:schemeClr val="tx1"/>
          </a:solidFill>
        </a:ln>
      </a:spPr>
      <a:bodyPr wrap="square" rtlCol="0" anchor="ctr">
        <a:spAutoFit/>
      </a:bodyPr>
      <a:lstStyle>
        <a:defPPr algn="ctr">
          <a:defRPr sz="1000" dirty="0">
            <a:latin typeface="Calibri" pitchFamily="34" charset="0"/>
          </a:defRPr>
        </a:defPPr>
      </a:lstStyle>
    </a:spDef>
    <a:lnDef>
      <a:spPr>
        <a:ln w="25400">
          <a:solidFill>
            <a:srgbClr val="FF0000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48259</TotalTime>
  <Words>240</Words>
  <Application>Microsoft Office PowerPoint</Application>
  <PresentationFormat>On-screen Show (16:9)</PresentationFormat>
  <Paragraphs>76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宋体</vt:lpstr>
      <vt:lpstr>新細明體</vt:lpstr>
      <vt:lpstr>Arial</vt:lpstr>
      <vt:lpstr>Calibri</vt:lpstr>
      <vt:lpstr>Wingdings</vt:lpstr>
      <vt:lpstr>CNSBG/F&amp;G</vt:lpstr>
      <vt:lpstr>PowerPoint Presentation</vt:lpstr>
      <vt:lpstr>Calgary Press Bot Copper Foil Fixture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Julio Tsai</dc:creator>
  <cp:lastModifiedBy>陳如光</cp:lastModifiedBy>
  <cp:revision>3333</cp:revision>
  <cp:lastPrinted>2014-01-21T05:27:52Z</cp:lastPrinted>
  <dcterms:created xsi:type="dcterms:W3CDTF">2013-09-10T09:13:42Z</dcterms:created>
  <dcterms:modified xsi:type="dcterms:W3CDTF">2025-06-30T11:50:31Z</dcterms:modified>
</cp:coreProperties>
</file>
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163" r:id="rId2"/>
    <p:sldId id="1200" r:id="rId3"/>
    <p:sldId id="1180" r:id="rId4"/>
    <p:sldId id="1199" r:id="rId5"/>
    <p:sldId id="1194" r:id="rId6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PEI" initials="C" lastIdx="1" clrIdx="0"/>
  <p:cmAuthor id="2" name="姚興悅" initials="姚興悅" lastIdx="1" clrIdx="1">
    <p:extLst>
      <p:ext uri="{19B8F6BF-5375-455C-9EA6-DF929625EA0E}">
        <p15:presenceInfo xmlns:p15="http://schemas.microsoft.com/office/powerpoint/2012/main" userId="S-1-5-21-436374069-117609710-725345543-291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00FF"/>
    <a:srgbClr val="FFFFFF"/>
    <a:srgbClr val="00FF00"/>
    <a:srgbClr val="5DCEAF"/>
    <a:srgbClr val="FFFF66"/>
    <a:srgbClr val="00FFFF"/>
    <a:srgbClr val="0000CC"/>
    <a:srgbClr val="009999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1" autoAdjust="0"/>
    <p:restoredTop sz="90221" autoAdjust="0"/>
  </p:normalViewPr>
  <p:slideViewPr>
    <p:cSldViewPr>
      <p:cViewPr varScale="1">
        <p:scale>
          <a:sx n="137" d="100"/>
          <a:sy n="137" d="100"/>
        </p:scale>
        <p:origin x="105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3235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AB17429-23DA-4E96-AF18-92BC7CA328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4CD85E-C683-4D60-8BFC-91C3C331F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F5F20-984C-4EDB-A96D-CC3F6C641F05}" type="datetimeFigureOut">
              <a:rPr lang="zh-TW" altLang="en-US" smtClean="0"/>
              <a:pPr/>
              <a:t>2025/7/14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28EAA4-F94E-4882-8195-58E8AA0225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24E687-C793-4A32-83D6-7B23523CD6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71760-5E58-47A7-8EEC-79E7436AD8D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259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860" cy="511649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0784" y="0"/>
            <a:ext cx="3076860" cy="511649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575F9EB7-EDA2-4C78-8A03-78889EF81C61}" type="datetimeFigureOut">
              <a:rPr lang="zh-TW" altLang="en-US"/>
              <a:pPr>
                <a:defRPr/>
              </a:pPr>
              <a:t>2025/7/14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19" rIns="99038" bIns="4951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28" y="4861482"/>
            <a:ext cx="5678445" cy="4604841"/>
          </a:xfrm>
          <a:prstGeom prst="rect">
            <a:avLst/>
          </a:prstGeom>
        </p:spPr>
        <p:txBody>
          <a:bodyPr vert="horz" lIns="99038" tIns="49519" rIns="99038" bIns="49519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330"/>
            <a:ext cx="3076860" cy="511648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0784" y="9721330"/>
            <a:ext cx="3076860" cy="511648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787E0C34-0B15-4C61-8D0A-8747B6BBDAC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199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556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52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82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179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41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4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714362"/>
            <a:ext cx="8784976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+mj-lt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+mj-lt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+mj-lt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+mj-lt"/>
              </a:defRPr>
            </a:lvl4pPr>
            <a:lvl5pPr>
              <a:buFont typeface="Wingdings" pitchFamily="2" charset="2"/>
              <a:buChar char="n"/>
              <a:defRPr sz="1600" baseline="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4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714362"/>
            <a:ext cx="4286280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Calibri" pitchFamily="34" charset="0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Calibri" pitchFamily="34" charset="0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Calibri" pitchFamily="34" charset="0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Calibri" pitchFamily="34" charset="0"/>
              </a:defRPr>
            </a:lvl4pPr>
            <a:lvl5pPr>
              <a:buFont typeface="Wingdings" pitchFamily="2" charset="2"/>
              <a:buChar char="n"/>
              <a:defRPr sz="1600" baseline="0">
                <a:latin typeface="Calibri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8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4643438" y="714362"/>
            <a:ext cx="4286280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Calibri" pitchFamily="34" charset="0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Calibri" pitchFamily="34" charset="0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Calibri" pitchFamily="34" charset="0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Calibri" pitchFamily="34" charset="0"/>
              </a:defRPr>
            </a:lvl4pPr>
            <a:lvl5pPr>
              <a:buFont typeface="Wingdings" pitchFamily="2" charset="2"/>
              <a:buChar char="n"/>
              <a:defRPr sz="1600" baseline="0">
                <a:latin typeface="Calibri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000250" y="5003800"/>
            <a:ext cx="6443663" cy="1444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zh-TW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983413" y="5003800"/>
            <a:ext cx="2160587" cy="144463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FII - CNT CONFIDENTIAL</a:t>
            </a:r>
            <a:endParaRPr lang="zh-TW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26" name="Freeform 7"/>
          <p:cNvSpPr>
            <a:spLocks/>
          </p:cNvSpPr>
          <p:nvPr userDrawn="1"/>
        </p:nvSpPr>
        <p:spPr bwMode="auto">
          <a:xfrm>
            <a:off x="0" y="0"/>
            <a:ext cx="9144000" cy="571500"/>
          </a:xfrm>
          <a:custGeom>
            <a:avLst/>
            <a:gdLst>
              <a:gd name="T0" fmla="*/ 0 w 5760"/>
              <a:gd name="T1" fmla="*/ 0 h 480"/>
              <a:gd name="T2" fmla="*/ 2147483647 w 5760"/>
              <a:gd name="T3" fmla="*/ 0 h 480"/>
              <a:gd name="T4" fmla="*/ 2147483647 w 5760"/>
              <a:gd name="T5" fmla="*/ 907256250 h 480"/>
              <a:gd name="T6" fmla="*/ 2147483647 w 5760"/>
              <a:gd name="T7" fmla="*/ 907256250 h 480"/>
              <a:gd name="T8" fmla="*/ 2147483647 w 5760"/>
              <a:gd name="T9" fmla="*/ 90725625 h 480"/>
              <a:gd name="T10" fmla="*/ 0 w 5760"/>
              <a:gd name="T11" fmla="*/ 90725625 h 480"/>
              <a:gd name="T12" fmla="*/ 0 w 5760"/>
              <a:gd name="T13" fmla="*/ 0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0" h="480">
                <a:moveTo>
                  <a:pt x="0" y="0"/>
                </a:moveTo>
                <a:lnTo>
                  <a:pt x="5760" y="0"/>
                </a:lnTo>
                <a:lnTo>
                  <a:pt x="5760" y="480"/>
                </a:lnTo>
                <a:lnTo>
                  <a:pt x="4656" y="480"/>
                </a:lnTo>
                <a:lnTo>
                  <a:pt x="436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DCEA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2053" name="Picture 4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40650" y="161925"/>
            <a:ext cx="1223963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投影片編號版面配置區 5"/>
          <p:cNvSpPr txBox="1">
            <a:spLocks/>
          </p:cNvSpPr>
          <p:nvPr userDrawn="1"/>
        </p:nvSpPr>
        <p:spPr>
          <a:xfrm>
            <a:off x="3514725" y="5000625"/>
            <a:ext cx="1979613" cy="142875"/>
          </a:xfrm>
          <a:prstGeom prst="rect">
            <a:avLst/>
          </a:prstGeom>
        </p:spPr>
        <p:txBody>
          <a:bodyPr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pPr algn="ctr">
              <a:defRPr/>
            </a:pPr>
            <a:fld id="{AFBD1578-CF3F-480F-82FA-3A57C690D33C}" type="slidenum">
              <a:rPr lang="zh-TW" altLang="en-US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ctr">
                <a:defRPr/>
              </a:pPr>
              <a:t>‹#›</a:t>
            </a:fld>
            <a:endParaRPr lang="zh-TW" alt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2EF6950-3286-46A1-ACF7-5976713E82A9}"/>
              </a:ext>
            </a:extLst>
          </p:cNvPr>
          <p:cNvSpPr txBox="1"/>
          <p:nvPr/>
        </p:nvSpPr>
        <p:spPr>
          <a:xfrm>
            <a:off x="7596336" y="4227934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   CNT</a:t>
            </a:r>
          </a:p>
          <a:p>
            <a:r>
              <a:rPr lang="en-US" altLang="zh-TW" smtClean="0"/>
              <a:t>2025.07.11</a:t>
            </a:r>
            <a:endParaRPr lang="zh-TW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1259633" y="1986975"/>
            <a:ext cx="7416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r>
              <a:rPr lang="en-US" altLang="zh-TW" sz="3200" dirty="0">
                <a:solidFill>
                  <a:srgbClr val="00B050"/>
                </a:solidFill>
                <a:cs typeface="Arial" panose="020B0604020202020204" pitchFamily="34" charset="0"/>
              </a:rPr>
              <a:t>D</a:t>
            </a:r>
            <a:r>
              <a:rPr lang="en-US" altLang="zh-CN" sz="3200" dirty="0">
                <a:solidFill>
                  <a:srgbClr val="00B050"/>
                </a:solidFill>
                <a:cs typeface="Arial" panose="020B0604020202020204" pitchFamily="34" charset="0"/>
              </a:rPr>
              <a:t>ispensing bot thermal </a:t>
            </a:r>
            <a:r>
              <a:rPr lang="en-US" altLang="zh-CN" sz="3200">
                <a:solidFill>
                  <a:srgbClr val="00B050"/>
                </a:solidFill>
                <a:cs typeface="Arial" panose="020B0604020202020204" pitchFamily="34" charset="0"/>
              </a:rPr>
              <a:t>gel </a:t>
            </a:r>
            <a:r>
              <a:rPr lang="en-US" altLang="zh-CN" sz="3200" smtClean="0">
                <a:solidFill>
                  <a:srgbClr val="00B050"/>
                </a:solidFill>
                <a:cs typeface="Arial" panose="020B0604020202020204" pitchFamily="34" charset="0"/>
              </a:rPr>
              <a:t>fixture Ver2.0</a:t>
            </a:r>
            <a:endParaRPr lang="en-US" altLang="zh-TW" sz="3200" dirty="0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2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圖片 32">
            <a:extLst>
              <a:ext uri="{FF2B5EF4-FFF2-40B4-BE49-F238E27FC236}">
                <a16:creationId xmlns:a16="http://schemas.microsoft.com/office/drawing/2014/main" id="{B7A531BD-4132-021B-FD60-1BB6DE5AA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422" y="713904"/>
            <a:ext cx="2578020" cy="293173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D485CF-BEFE-AC52-E724-F49F0181F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187" y="1257461"/>
            <a:ext cx="1651660" cy="29743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238"/>
            <a:ext cx="7452320" cy="571504"/>
          </a:xfrm>
        </p:spPr>
        <p:txBody>
          <a:bodyPr/>
          <a:lstStyle/>
          <a:p>
            <a:pPr rtl="0" fontAlgn="ctr"/>
            <a:r>
              <a:rPr lang="en-US" altLang="zh-TW" sz="3200" u="none" strike="noStrike" dirty="0">
                <a:effectLst/>
                <a:latin typeface="+mn-lt"/>
                <a:cs typeface="Arial" panose="020B0604020202020204" pitchFamily="34" charset="0"/>
              </a:rPr>
              <a:t>Dispensing bot thermal gel fixture</a:t>
            </a:r>
            <a:endParaRPr lang="en-US" altLang="zh-TW" sz="3200" b="0" i="0" u="none" strike="noStrike" dirty="0">
              <a:solidFill>
                <a:srgbClr val="000000"/>
              </a:solidFill>
              <a:effectLst/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0CF5F131-C451-E599-8927-5D0AE5248BFB}"/>
              </a:ext>
            </a:extLst>
          </p:cNvPr>
          <p:cNvSpPr txBox="1"/>
          <p:nvPr/>
        </p:nvSpPr>
        <p:spPr>
          <a:xfrm>
            <a:off x="137746" y="4455783"/>
            <a:ext cx="60149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/>
                </a:solidFill>
                <a:latin typeface="+mn-lt"/>
                <a:ea typeface="+mn-ea"/>
              </a:rPr>
              <a:t>Summary: T</a:t>
            </a:r>
            <a:r>
              <a:rPr lang="en-US" altLang="zh-CN" sz="1500" dirty="0">
                <a:latin typeface="+mn-lt"/>
                <a:ea typeface="+mn-ea"/>
              </a:rPr>
              <a:t>he fixture size is L*W*H=360mm*767mm*975mm.</a:t>
            </a:r>
            <a:endParaRPr lang="zh-CN" altLang="en-US" sz="15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8BB1581-8405-D8CB-BD85-DCB26E90FC22}"/>
              </a:ext>
            </a:extLst>
          </p:cNvPr>
          <p:cNvSpPr txBox="1"/>
          <p:nvPr/>
        </p:nvSpPr>
        <p:spPr>
          <a:xfrm>
            <a:off x="107504" y="607742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Fixture overview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5ACC926D-DC8B-937A-3AB3-0ADF0C160A98}"/>
              </a:ext>
            </a:extLst>
          </p:cNvPr>
          <p:cNvCxnSpPr>
            <a:cxnSpLocks/>
          </p:cNvCxnSpPr>
          <p:nvPr/>
        </p:nvCxnSpPr>
        <p:spPr>
          <a:xfrm>
            <a:off x="1331640" y="3187151"/>
            <a:ext cx="0" cy="1328815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35D90CD-84A2-4BA5-FA1A-356B770B0C15}"/>
              </a:ext>
            </a:extLst>
          </p:cNvPr>
          <p:cNvCxnSpPr>
            <a:cxnSpLocks/>
          </p:cNvCxnSpPr>
          <p:nvPr/>
        </p:nvCxnSpPr>
        <p:spPr>
          <a:xfrm>
            <a:off x="2736332" y="3204769"/>
            <a:ext cx="0" cy="1311197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181E021-2E9C-DEE7-A435-2C8D79AB003B}"/>
              </a:ext>
            </a:extLst>
          </p:cNvPr>
          <p:cNvCxnSpPr>
            <a:cxnSpLocks/>
          </p:cNvCxnSpPr>
          <p:nvPr/>
        </p:nvCxnSpPr>
        <p:spPr>
          <a:xfrm flipV="1">
            <a:off x="1331640" y="4442015"/>
            <a:ext cx="1404692" cy="5465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FF65C39-0BAC-A7DB-B192-974C8904E5D1}"/>
              </a:ext>
            </a:extLst>
          </p:cNvPr>
          <p:cNvCxnSpPr>
            <a:cxnSpLocks/>
          </p:cNvCxnSpPr>
          <p:nvPr/>
        </p:nvCxnSpPr>
        <p:spPr>
          <a:xfrm>
            <a:off x="2280465" y="1280843"/>
            <a:ext cx="788818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4A984701-6CCF-5FF4-1196-96109CF74DD9}"/>
              </a:ext>
            </a:extLst>
          </p:cNvPr>
          <p:cNvCxnSpPr>
            <a:cxnSpLocks/>
          </p:cNvCxnSpPr>
          <p:nvPr/>
        </p:nvCxnSpPr>
        <p:spPr>
          <a:xfrm flipV="1">
            <a:off x="2280465" y="4130545"/>
            <a:ext cx="788818" cy="7483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4AD672-F694-70A7-1157-32A7E74760B9}"/>
              </a:ext>
            </a:extLst>
          </p:cNvPr>
          <p:cNvCxnSpPr>
            <a:cxnSpLocks/>
          </p:cNvCxnSpPr>
          <p:nvPr/>
        </p:nvCxnSpPr>
        <p:spPr>
          <a:xfrm>
            <a:off x="2928671" y="1289147"/>
            <a:ext cx="0" cy="2841398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9DFDE2F-F9F0-A67B-4A17-21A2B68CE515}"/>
              </a:ext>
            </a:extLst>
          </p:cNvPr>
          <p:cNvSpPr txBox="1"/>
          <p:nvPr/>
        </p:nvSpPr>
        <p:spPr>
          <a:xfrm rot="5400000">
            <a:off x="2533870" y="2794953"/>
            <a:ext cx="110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n-lt"/>
              </a:rPr>
              <a:t>975mm</a:t>
            </a:r>
            <a:endParaRPr lang="zh-TW" altLang="en-US" sz="1600" dirty="0">
              <a:latin typeface="+mn-lt"/>
            </a:endParaRPr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C1F65D6-71F7-5215-88FA-CBA5D01C9753}"/>
              </a:ext>
            </a:extLst>
          </p:cNvPr>
          <p:cNvCxnSpPr/>
          <p:nvPr/>
        </p:nvCxnSpPr>
        <p:spPr>
          <a:xfrm>
            <a:off x="5253195" y="2900449"/>
            <a:ext cx="0" cy="1229144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0CECCF3-AEBE-0315-23AA-2ABCC6791A4C}"/>
              </a:ext>
            </a:extLst>
          </p:cNvPr>
          <p:cNvCxnSpPr>
            <a:cxnSpLocks/>
          </p:cNvCxnSpPr>
          <p:nvPr/>
        </p:nvCxnSpPr>
        <p:spPr>
          <a:xfrm>
            <a:off x="7500573" y="2083698"/>
            <a:ext cx="0" cy="205433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BDF7E4C4-CF16-01F4-82CF-E3F01171321D}"/>
              </a:ext>
            </a:extLst>
          </p:cNvPr>
          <p:cNvCxnSpPr>
            <a:cxnSpLocks/>
          </p:cNvCxnSpPr>
          <p:nvPr/>
        </p:nvCxnSpPr>
        <p:spPr>
          <a:xfrm>
            <a:off x="5253195" y="3984190"/>
            <a:ext cx="2247378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B4E3ABE-C7C8-889C-94B6-A031045990A6}"/>
              </a:ext>
            </a:extLst>
          </p:cNvPr>
          <p:cNvSpPr txBox="1"/>
          <p:nvPr/>
        </p:nvSpPr>
        <p:spPr>
          <a:xfrm>
            <a:off x="5952324" y="3630249"/>
            <a:ext cx="110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+mn-lt"/>
              </a:rPr>
              <a:t>767</a:t>
            </a:r>
            <a:r>
              <a:rPr lang="en-US" altLang="zh-CN" sz="1600" dirty="0">
                <a:latin typeface="+mn-lt"/>
              </a:rPr>
              <a:t>mm</a:t>
            </a:r>
            <a:endParaRPr lang="zh-TW" altLang="en-US" sz="1600" dirty="0">
              <a:latin typeface="+mn-lt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A3DFDF2-61AD-3332-0917-B0E439661AC0}"/>
              </a:ext>
            </a:extLst>
          </p:cNvPr>
          <p:cNvSpPr txBox="1"/>
          <p:nvPr/>
        </p:nvSpPr>
        <p:spPr>
          <a:xfrm>
            <a:off x="1674965" y="4134286"/>
            <a:ext cx="1100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+mn-lt"/>
              </a:rPr>
              <a:t>360</a:t>
            </a:r>
            <a:r>
              <a:rPr lang="en-US" altLang="zh-CN" sz="1600" dirty="0">
                <a:latin typeface="+mn-lt"/>
              </a:rPr>
              <a:t>mm</a:t>
            </a:r>
            <a:endParaRPr lang="zh-TW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956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圖片 35">
            <a:extLst>
              <a:ext uri="{FF2B5EF4-FFF2-40B4-BE49-F238E27FC236}">
                <a16:creationId xmlns:a16="http://schemas.microsoft.com/office/drawing/2014/main" id="{D12892D3-971D-B36D-F7DF-259B76B0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341" y="1299037"/>
            <a:ext cx="3169127" cy="32539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51B704-B2A9-629E-B80B-586093206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33" y="1381007"/>
            <a:ext cx="2590800" cy="3190875"/>
          </a:xfrm>
          <a:prstGeom prst="rect">
            <a:avLst/>
          </a:prstGeom>
        </p:spPr>
      </p:pic>
      <p:cxnSp>
        <p:nvCxnSpPr>
          <p:cNvPr id="5" name="直接箭头连接符 8">
            <a:extLst>
              <a:ext uri="{FF2B5EF4-FFF2-40B4-BE49-F238E27FC236}">
                <a16:creationId xmlns:a16="http://schemas.microsoft.com/office/drawing/2014/main" id="{9EDD0A3C-6E5C-4F18-DA6A-39C0FBA1BBB9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 flipH="1">
            <a:off x="3054315" y="1379324"/>
            <a:ext cx="264663" cy="511478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6" name="TextBox 10">
            <a:extLst>
              <a:ext uri="{FF2B5EF4-FFF2-40B4-BE49-F238E27FC236}">
                <a16:creationId xmlns:a16="http://schemas.microsoft.com/office/drawing/2014/main" id="{8D026938-239B-A316-993E-3367060F5832}"/>
              </a:ext>
            </a:extLst>
          </p:cNvPr>
          <p:cNvSpPr txBox="1"/>
          <p:nvPr/>
        </p:nvSpPr>
        <p:spPr>
          <a:xfrm>
            <a:off x="2931514" y="1102581"/>
            <a:ext cx="774927" cy="27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Protect 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15">
            <a:extLst>
              <a:ext uri="{FF2B5EF4-FFF2-40B4-BE49-F238E27FC236}">
                <a16:creationId xmlns:a16="http://schemas.microsoft.com/office/drawing/2014/main" id="{329E9995-3349-7437-6407-046CC9FCDD2E}"/>
              </a:ext>
            </a:extLst>
          </p:cNvPr>
          <p:cNvCxnSpPr>
            <a:cxnSpLocks/>
          </p:cNvCxnSpPr>
          <p:nvPr/>
        </p:nvCxnSpPr>
        <p:spPr bwMode="auto">
          <a:xfrm>
            <a:off x="904839" y="2303618"/>
            <a:ext cx="426801" cy="1204236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0" name="TextBox 17">
            <a:extLst>
              <a:ext uri="{FF2B5EF4-FFF2-40B4-BE49-F238E27FC236}">
                <a16:creationId xmlns:a16="http://schemas.microsoft.com/office/drawing/2014/main" id="{D2511190-9747-7554-E54B-D2F5513534F9}"/>
              </a:ext>
            </a:extLst>
          </p:cNvPr>
          <p:cNvSpPr txBox="1"/>
          <p:nvPr/>
        </p:nvSpPr>
        <p:spPr>
          <a:xfrm>
            <a:off x="370042" y="1973931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Light curtain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934A70BE-DA67-90E0-BFF8-AC821FEBDD9F}"/>
              </a:ext>
            </a:extLst>
          </p:cNvPr>
          <p:cNvSpPr txBox="1"/>
          <p:nvPr/>
        </p:nvSpPr>
        <p:spPr>
          <a:xfrm>
            <a:off x="291647" y="4492315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Emergency stop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26">
            <a:extLst>
              <a:ext uri="{FF2B5EF4-FFF2-40B4-BE49-F238E27FC236}">
                <a16:creationId xmlns:a16="http://schemas.microsoft.com/office/drawing/2014/main" id="{E3115204-CB8A-D270-A3D4-352FFD4D7528}"/>
              </a:ext>
            </a:extLst>
          </p:cNvPr>
          <p:cNvCxnSpPr>
            <a:cxnSpLocks/>
            <a:stCxn id="16" idx="2"/>
          </p:cNvCxnSpPr>
          <p:nvPr/>
        </p:nvCxnSpPr>
        <p:spPr bwMode="auto">
          <a:xfrm>
            <a:off x="783420" y="3389893"/>
            <a:ext cx="426801" cy="76603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6" name="TextBox 28">
            <a:extLst>
              <a:ext uri="{FF2B5EF4-FFF2-40B4-BE49-F238E27FC236}">
                <a16:creationId xmlns:a16="http://schemas.microsoft.com/office/drawing/2014/main" id="{7F15870F-19E8-D2B8-A78F-0ECCD4929CE6}"/>
              </a:ext>
            </a:extLst>
          </p:cNvPr>
          <p:cNvSpPr txBox="1"/>
          <p:nvPr/>
        </p:nvSpPr>
        <p:spPr>
          <a:xfrm>
            <a:off x="69040" y="3112894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Control</a:t>
            </a:r>
            <a:r>
              <a:rPr lang="zh-CN" altLang="en-US" sz="1200" dirty="0"/>
              <a:t> </a:t>
            </a:r>
            <a:r>
              <a:rPr lang="en-US" altLang="zh-CN" sz="1200" dirty="0"/>
              <a:t>button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35">
            <a:extLst>
              <a:ext uri="{FF2B5EF4-FFF2-40B4-BE49-F238E27FC236}">
                <a16:creationId xmlns:a16="http://schemas.microsoft.com/office/drawing/2014/main" id="{36ECA225-CC67-1A93-0613-FECFBC29B4E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334883" y="4318551"/>
            <a:ext cx="937506" cy="276999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2" name="TextBox 37">
            <a:extLst>
              <a:ext uri="{FF2B5EF4-FFF2-40B4-BE49-F238E27FC236}">
                <a16:creationId xmlns:a16="http://schemas.microsoft.com/office/drawing/2014/main" id="{6DE4D87D-CC85-23A9-A29A-6FEB781334AB}"/>
              </a:ext>
            </a:extLst>
          </p:cNvPr>
          <p:cNvSpPr txBox="1"/>
          <p:nvPr/>
        </p:nvSpPr>
        <p:spPr>
          <a:xfrm>
            <a:off x="2719391" y="4571882"/>
            <a:ext cx="1156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Power button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EEAB9B5-BDDD-8AF0-A917-E6C652ED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238"/>
            <a:ext cx="7452320" cy="571504"/>
          </a:xfrm>
        </p:spPr>
        <p:txBody>
          <a:bodyPr/>
          <a:lstStyle/>
          <a:p>
            <a:pPr rtl="0" fontAlgn="ctr"/>
            <a:r>
              <a:rPr lang="en-US" altLang="zh-TW" sz="3200" u="none" strike="noStrike" dirty="0">
                <a:effectLst/>
                <a:latin typeface="+mn-lt"/>
                <a:cs typeface="Arial" panose="020B0604020202020204" pitchFamily="34" charset="0"/>
              </a:rPr>
              <a:t>Dispensing bot thermal gel fixture</a:t>
            </a:r>
            <a:endParaRPr lang="en-US" altLang="zh-TW" sz="3200" b="0" i="0" u="none" strike="noStrike" dirty="0">
              <a:solidFill>
                <a:srgbClr val="000000"/>
              </a:solidFill>
              <a:effectLst/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9F203BA5-3987-D6BA-E194-82968C21F291}"/>
              </a:ext>
            </a:extLst>
          </p:cNvPr>
          <p:cNvSpPr txBox="1"/>
          <p:nvPr/>
        </p:nvSpPr>
        <p:spPr>
          <a:xfrm>
            <a:off x="107504" y="607742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Fixture parts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35">
            <a:extLst>
              <a:ext uri="{FF2B5EF4-FFF2-40B4-BE49-F238E27FC236}">
                <a16:creationId xmlns:a16="http://schemas.microsoft.com/office/drawing/2014/main" id="{91A4609D-64E9-C321-2307-7805406FFEDE}"/>
              </a:ext>
            </a:extLst>
          </p:cNvPr>
          <p:cNvCxnSpPr>
            <a:cxnSpLocks/>
          </p:cNvCxnSpPr>
          <p:nvPr/>
        </p:nvCxnSpPr>
        <p:spPr bwMode="auto">
          <a:xfrm flipV="1">
            <a:off x="946991" y="4227934"/>
            <a:ext cx="462340" cy="306429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E6004B82-A446-EAE8-8443-ACD09584119A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7161452" y="4125730"/>
            <a:ext cx="244974" cy="366585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5E2E855-78C5-0BC9-F4B8-841CA14175B5}"/>
              </a:ext>
            </a:extLst>
          </p:cNvPr>
          <p:cNvSpPr txBox="1"/>
          <p:nvPr/>
        </p:nvSpPr>
        <p:spPr>
          <a:xfrm>
            <a:off x="6864506" y="4492315"/>
            <a:ext cx="1083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Y axis motor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7FF1ABC-7028-97A5-3880-624BD0C3E28D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5973668" y="4125730"/>
            <a:ext cx="173146" cy="376791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F3FADAB-7862-449E-349A-8FC2931BB289}"/>
              </a:ext>
            </a:extLst>
          </p:cNvPr>
          <p:cNvSpPr txBox="1"/>
          <p:nvPr/>
        </p:nvSpPr>
        <p:spPr>
          <a:xfrm>
            <a:off x="5676722" y="4502521"/>
            <a:ext cx="593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Y axis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5203AFDF-58E7-56FB-8DA1-7E1BEE99029A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6567560" y="3867894"/>
            <a:ext cx="173146" cy="645686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793E96F-476F-C4F9-A9D6-CB85D18DFF6D}"/>
              </a:ext>
            </a:extLst>
          </p:cNvPr>
          <p:cNvSpPr txBox="1"/>
          <p:nvPr/>
        </p:nvSpPr>
        <p:spPr>
          <a:xfrm>
            <a:off x="6270614" y="4513580"/>
            <a:ext cx="593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holder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D522C1C-D7D5-C9E9-8027-801242B7B2F2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7269627" y="2486503"/>
            <a:ext cx="939757" cy="241768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7AE0AE3-3775-415A-DDBE-6BE73094EB70}"/>
              </a:ext>
            </a:extLst>
          </p:cNvPr>
          <p:cNvSpPr txBox="1"/>
          <p:nvPr/>
        </p:nvSpPr>
        <p:spPr>
          <a:xfrm>
            <a:off x="8209384" y="2348003"/>
            <a:ext cx="593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X axis 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AC3CFFB5-2F1A-3926-3F78-26C5120AE033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6864506" y="1890802"/>
            <a:ext cx="680446" cy="92607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6C506AB-C4F2-F68C-0715-15CC4D6B98D7}"/>
              </a:ext>
            </a:extLst>
          </p:cNvPr>
          <p:cNvSpPr txBox="1"/>
          <p:nvPr/>
        </p:nvSpPr>
        <p:spPr>
          <a:xfrm>
            <a:off x="7544952" y="1844909"/>
            <a:ext cx="96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Z axis motor 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E5F8254-1660-D4A3-7F8A-D2E0E7E0A9DF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6258889" y="1606282"/>
            <a:ext cx="220649" cy="38884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2C51814-FBEC-610F-1B44-09475494997F}"/>
              </a:ext>
            </a:extLst>
          </p:cNvPr>
          <p:cNvSpPr txBox="1"/>
          <p:nvPr/>
        </p:nvSpPr>
        <p:spPr>
          <a:xfrm>
            <a:off x="5022494" y="1467782"/>
            <a:ext cx="123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Extrude cylinder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CF120A0-11F7-283F-54C3-58D4C5821DD6}"/>
              </a:ext>
            </a:extLst>
          </p:cNvPr>
          <p:cNvCxnSpPr>
            <a:cxnSpLocks/>
          </p:cNvCxnSpPr>
          <p:nvPr/>
        </p:nvCxnSpPr>
        <p:spPr>
          <a:xfrm>
            <a:off x="5911768" y="2674823"/>
            <a:ext cx="459031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26123BF-EE56-3223-5815-08A4883B5120}"/>
              </a:ext>
            </a:extLst>
          </p:cNvPr>
          <p:cNvSpPr txBox="1"/>
          <p:nvPr/>
        </p:nvSpPr>
        <p:spPr>
          <a:xfrm>
            <a:off x="4913755" y="2497439"/>
            <a:ext cx="1236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Putty bottle fix structure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FF647750-E60A-E863-35EB-52C9DAD16272}"/>
              </a:ext>
            </a:extLst>
          </p:cNvPr>
          <p:cNvCxnSpPr>
            <a:cxnSpLocks/>
          </p:cNvCxnSpPr>
          <p:nvPr/>
        </p:nvCxnSpPr>
        <p:spPr>
          <a:xfrm>
            <a:off x="6047490" y="3158373"/>
            <a:ext cx="223124" cy="175597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87567E7-0FEE-9CAF-5D7E-9E882039E3F0}"/>
              </a:ext>
            </a:extLst>
          </p:cNvPr>
          <p:cNvSpPr txBox="1"/>
          <p:nvPr/>
        </p:nvSpPr>
        <p:spPr>
          <a:xfrm>
            <a:off x="5022494" y="3019873"/>
            <a:ext cx="1144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Vacuum value</a:t>
            </a:r>
            <a:endParaRPr lang="zh-TW" altLang="en-US" sz="1200" dirty="0">
              <a:latin typeface="+mn-lt"/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94DFCD81-8759-FF1D-D28B-C08308AB571A}"/>
              </a:ext>
            </a:extLst>
          </p:cNvPr>
          <p:cNvCxnSpPr>
            <a:cxnSpLocks/>
          </p:cNvCxnSpPr>
          <p:nvPr/>
        </p:nvCxnSpPr>
        <p:spPr>
          <a:xfrm>
            <a:off x="6047490" y="3442653"/>
            <a:ext cx="432048" cy="71603"/>
          </a:xfrm>
          <a:prstGeom prst="straightConnector1">
            <a:avLst/>
          </a:prstGeom>
          <a:ln w="9525">
            <a:solidFill>
              <a:srgbClr val="FF0000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3014ECE-16C4-B4E4-ADAD-632404F4ADCC}"/>
              </a:ext>
            </a:extLst>
          </p:cNvPr>
          <p:cNvSpPr txBox="1"/>
          <p:nvPr/>
        </p:nvSpPr>
        <p:spPr>
          <a:xfrm>
            <a:off x="4823354" y="3304153"/>
            <a:ext cx="134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latin typeface="+mn-lt"/>
              </a:rPr>
              <a:t>Dispensing nozzle</a:t>
            </a:r>
            <a:endParaRPr lang="zh-TW" alt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193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366" y="1055092"/>
            <a:ext cx="3838352" cy="1673827"/>
          </a:xfrm>
          <a:prstGeom prst="rect">
            <a:avLst/>
          </a:prstGeom>
        </p:spPr>
      </p:pic>
      <p:sp>
        <p:nvSpPr>
          <p:cNvPr id="29" name="TextBox 4">
            <a:extLst>
              <a:ext uri="{FF2B5EF4-FFF2-40B4-BE49-F238E27FC236}">
                <a16:creationId xmlns:a16="http://schemas.microsoft.com/office/drawing/2014/main" id="{B1A77C80-B993-CFB0-71D8-FC0335A499A7}"/>
              </a:ext>
            </a:extLst>
          </p:cNvPr>
          <p:cNvSpPr txBox="1"/>
          <p:nvPr/>
        </p:nvSpPr>
        <p:spPr>
          <a:xfrm>
            <a:off x="77483" y="658774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Holder design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95036" y="55102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rtl="0" fontAlgn="ctr"/>
            <a:r>
              <a:rPr lang="en-US" altLang="zh-TW" sz="3200" u="none" strike="noStrike" dirty="0">
                <a:effectLst/>
                <a:latin typeface="+mn-lt"/>
                <a:cs typeface="Arial" panose="020B0604020202020204" pitchFamily="34" charset="0"/>
              </a:rPr>
              <a:t>Dispensing bot thermal gel fixture</a:t>
            </a:r>
            <a:endParaRPr lang="en-US" altLang="zh-TW" sz="3200" b="0" i="0" u="none" strike="noStrike" dirty="0">
              <a:solidFill>
                <a:srgbClr val="000000"/>
              </a:solidFill>
              <a:effectLst/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0C1D41-DB5F-EC83-F4EC-9F16F5FFCC35}"/>
              </a:ext>
            </a:extLst>
          </p:cNvPr>
          <p:cNvSpPr/>
          <p:nvPr/>
        </p:nvSpPr>
        <p:spPr>
          <a:xfrm>
            <a:off x="1634337" y="829363"/>
            <a:ext cx="13351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Material: AL7075</a:t>
            </a:r>
            <a:endParaRPr lang="zh-CN" altLang="en-US" sz="1200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EA2F3C61-02F2-4708-909D-46C82D9FD8B6}"/>
              </a:ext>
            </a:extLst>
          </p:cNvPr>
          <p:cNvCxnSpPr>
            <a:cxnSpLocks/>
          </p:cNvCxnSpPr>
          <p:nvPr/>
        </p:nvCxnSpPr>
        <p:spPr>
          <a:xfrm flipH="1" flipV="1">
            <a:off x="7002704" y="2390521"/>
            <a:ext cx="305600" cy="541269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BE277D68-D343-9517-6427-8680EF3CD177}"/>
              </a:ext>
            </a:extLst>
          </p:cNvPr>
          <p:cNvSpPr/>
          <p:nvPr/>
        </p:nvSpPr>
        <p:spPr>
          <a:xfrm>
            <a:off x="5461431" y="2854454"/>
            <a:ext cx="22926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Added a buckle to press PCBA</a:t>
            </a:r>
            <a:endParaRPr lang="zh-CN" altLang="en-US" sz="12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C3A702-BBFA-44EA-A6D8-E27A4A9087E7}"/>
              </a:ext>
            </a:extLst>
          </p:cNvPr>
          <p:cNvSpPr/>
          <p:nvPr/>
        </p:nvSpPr>
        <p:spPr>
          <a:xfrm>
            <a:off x="5292080" y="4534374"/>
            <a:ext cx="30744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No interference between PCBA and holder</a:t>
            </a:r>
            <a:endParaRPr lang="zh-CN" altLang="en-US" sz="12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282910" y="1055092"/>
            <a:ext cx="4217081" cy="3502251"/>
            <a:chOff x="282910" y="1055092"/>
            <a:chExt cx="4217081" cy="350225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910" y="3377410"/>
              <a:ext cx="1442991" cy="115696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3840" y="1055092"/>
              <a:ext cx="4206151" cy="2127994"/>
            </a:xfrm>
            <a:prstGeom prst="rect">
              <a:avLst/>
            </a:prstGeom>
          </p:spPr>
        </p:pic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4F357917-EC8B-DFF6-8C5C-F8B6141A35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9712" y="1106362"/>
              <a:ext cx="119966" cy="454425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1BCAAB4-2417-D608-ACF7-E35E17C39F99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1004405" y="1899225"/>
              <a:ext cx="1" cy="147818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3F8A864B-6B68-CFDE-B0A0-13EAB6CCA9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1138" y="2283718"/>
              <a:ext cx="207473" cy="109369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4366A26-F15F-6F5A-D016-11DCAC2DC3E6}"/>
                </a:ext>
              </a:extLst>
            </p:cNvPr>
            <p:cNvSpPr/>
            <p:nvPr/>
          </p:nvSpPr>
          <p:spPr>
            <a:xfrm>
              <a:off x="1906338" y="3594217"/>
              <a:ext cx="124365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/>
                <a:t>The </a:t>
              </a:r>
              <a:r>
                <a:rPr lang="en-US" altLang="zh-CN" sz="1200"/>
                <a:t>gap </a:t>
              </a:r>
              <a:r>
                <a:rPr lang="en-US" altLang="zh-CN" sz="1200" smtClean="0"/>
                <a:t>between </a:t>
              </a:r>
              <a:r>
                <a:rPr lang="en-US" altLang="zh-CN" sz="1200" dirty="0"/>
                <a:t>PCBA and holder is 0.075mm.</a:t>
              </a:r>
              <a:endParaRPr lang="zh-CN" altLang="en-US" sz="12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99592" y="1591371"/>
              <a:ext cx="360040" cy="26357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1000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175054" y="1700062"/>
              <a:ext cx="207115" cy="4894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1000" dirty="0">
                <a:latin typeface="Calibri" pitchFamily="34" charset="0"/>
              </a:endParaRP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85908" y="3400379"/>
              <a:ext cx="1314083" cy="1156964"/>
            </a:xfrm>
            <a:prstGeom prst="rect">
              <a:avLst/>
            </a:prstGeom>
          </p:spPr>
        </p:pic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366" y="3131453"/>
            <a:ext cx="3838352" cy="129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93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A7EC4BD9-1D45-4ED8-DE96-A93F1AB7D035}"/>
              </a:ext>
            </a:extLst>
          </p:cNvPr>
          <p:cNvSpPr txBox="1"/>
          <p:nvPr/>
        </p:nvSpPr>
        <p:spPr>
          <a:xfrm>
            <a:off x="107504" y="607742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Work procedures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TextBox 45">
            <a:extLst>
              <a:ext uri="{FF2B5EF4-FFF2-40B4-BE49-F238E27FC236}">
                <a16:creationId xmlns:a16="http://schemas.microsoft.com/office/drawing/2014/main" id="{2790ED6E-3C57-DF54-BEF1-D9E85BE8636C}"/>
              </a:ext>
            </a:extLst>
          </p:cNvPr>
          <p:cNvSpPr txBox="1"/>
          <p:nvPr/>
        </p:nvSpPr>
        <p:spPr>
          <a:xfrm>
            <a:off x="3693656" y="2458760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2.Press start button to start dispensing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916313AA-2B9C-944F-58D7-30AA7E6D57D6}"/>
              </a:ext>
            </a:extLst>
          </p:cNvPr>
          <p:cNvSpPr/>
          <p:nvPr/>
        </p:nvSpPr>
        <p:spPr>
          <a:xfrm>
            <a:off x="2914227" y="1635646"/>
            <a:ext cx="576064" cy="5185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600D20F4-0F44-A33A-74BC-00DEDFD6B32E}"/>
              </a:ext>
            </a:extLst>
          </p:cNvPr>
          <p:cNvSpPr/>
          <p:nvPr/>
        </p:nvSpPr>
        <p:spPr>
          <a:xfrm>
            <a:off x="5831973" y="1635645"/>
            <a:ext cx="576064" cy="51856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sp>
        <p:nvSpPr>
          <p:cNvPr id="18" name="TextBox 45">
            <a:extLst>
              <a:ext uri="{FF2B5EF4-FFF2-40B4-BE49-F238E27FC236}">
                <a16:creationId xmlns:a16="http://schemas.microsoft.com/office/drawing/2014/main" id="{7ADAB780-0EE4-6491-A24E-6CD6D49B9A35}"/>
              </a:ext>
            </a:extLst>
          </p:cNvPr>
          <p:cNvSpPr txBox="1"/>
          <p:nvPr/>
        </p:nvSpPr>
        <p:spPr>
          <a:xfrm>
            <a:off x="251520" y="2458759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1.Put PCBA to holder and using buckle to press PCBA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2850" y="15286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rtl="0" fontAlgn="ctr"/>
            <a:r>
              <a:rPr lang="en-US" altLang="zh-TW" sz="3200" u="none" strike="noStrike" dirty="0">
                <a:effectLst/>
                <a:latin typeface="+mn-lt"/>
                <a:cs typeface="Arial" panose="020B0604020202020204" pitchFamily="34" charset="0"/>
              </a:rPr>
              <a:t>Dispensing bot thermal gel fixture</a:t>
            </a:r>
            <a:endParaRPr lang="en-US" altLang="zh-TW" sz="3200" b="0" i="0" u="none" strike="noStrike" dirty="0">
              <a:solidFill>
                <a:srgbClr val="000000"/>
              </a:solidFill>
              <a:effectLst/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0E900F0B-D3CC-38C8-FB76-64DE5465A322}"/>
              </a:ext>
            </a:extLst>
          </p:cNvPr>
          <p:cNvSpPr txBox="1"/>
          <p:nvPr/>
        </p:nvSpPr>
        <p:spPr>
          <a:xfrm>
            <a:off x="6804248" y="2432062"/>
            <a:ext cx="266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dirty="0">
                <a:latin typeface="+mn-ea"/>
                <a:ea typeface="+mn-ea"/>
              </a:rPr>
              <a:t>3.Take out PCBA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39" y="1125269"/>
            <a:ext cx="1848869" cy="11237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82" y="1063289"/>
            <a:ext cx="1729499" cy="12966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231" y="1046844"/>
            <a:ext cx="1844699" cy="120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2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CNSBG/F&amp;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solidFill>
            <a:schemeClr val="tx1"/>
          </a:solidFill>
        </a:ln>
      </a:spPr>
      <a:bodyPr wrap="square" rtlCol="0" anchor="ctr">
        <a:spAutoFit/>
      </a:bodyPr>
      <a:lstStyle>
        <a:defPPr algn="ctr">
          <a:defRPr sz="1000" dirty="0">
            <a:latin typeface="Calibri" pitchFamily="34" charset="0"/>
          </a:defRPr>
        </a:defPPr>
      </a:lstStyle>
    </a:spDef>
    <a:lnDef>
      <a:spPr>
        <a:ln w="25400">
          <a:solidFill>
            <a:srgbClr val="FF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48406</TotalTime>
  <Words>126</Words>
  <Application>Microsoft Office PowerPoint</Application>
  <PresentationFormat>On-screen Show (16:9)</PresentationFormat>
  <Paragraphs>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宋体</vt:lpstr>
      <vt:lpstr>新細明體</vt:lpstr>
      <vt:lpstr>Arial</vt:lpstr>
      <vt:lpstr>Calibri</vt:lpstr>
      <vt:lpstr>Wingdings</vt:lpstr>
      <vt:lpstr>CNSBG/F&amp;G</vt:lpstr>
      <vt:lpstr>PowerPoint Presentation</vt:lpstr>
      <vt:lpstr>Dispensing bot thermal gel fixture</vt:lpstr>
      <vt:lpstr>Dispensing bot thermal gel fixture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Julio Tsai</dc:creator>
  <cp:lastModifiedBy>阮金峰</cp:lastModifiedBy>
  <cp:revision>3337</cp:revision>
  <cp:lastPrinted>2014-01-21T05:27:52Z</cp:lastPrinted>
  <dcterms:created xsi:type="dcterms:W3CDTF">2013-09-10T09:13:42Z</dcterms:created>
  <dcterms:modified xsi:type="dcterms:W3CDTF">2025-07-14T11:55:16Z</dcterms:modified>
</cp:coreProperties>
</file>
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70" r:id="rId3"/>
    <p:sldId id="296" r:id="rId4"/>
    <p:sldId id="299" r:id="rId5"/>
    <p:sldId id="298" r:id="rId6"/>
    <p:sldId id="295" r:id="rId7"/>
    <p:sldId id="258" r:id="rId8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D00034"/>
    <a:srgbClr val="002F76"/>
    <a:srgbClr val="002F75"/>
    <a:srgbClr val="D100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33" autoAdjust="0"/>
    <p:restoredTop sz="94660"/>
  </p:normalViewPr>
  <p:slideViewPr>
    <p:cSldViewPr snapToGrid="0">
      <p:cViewPr varScale="1">
        <p:scale>
          <a:sx n="94" d="100"/>
          <a:sy n="94" d="100"/>
        </p:scale>
        <p:origin x="250" y="72"/>
      </p:cViewPr>
      <p:guideLst>
        <p:guide orient="horz" pos="2136"/>
        <p:guide pos="31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2" d="100"/>
          <a:sy n="52" d="100"/>
        </p:scale>
        <p:origin x="2680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1B3300-B26D-4027-B701-E58163A5F644}" type="datetimeFigureOut">
              <a:rPr lang="zh-TW" altLang="en-US" smtClean="0"/>
              <a:t>2025/10/4</a:t>
            </a:fld>
            <a:endParaRPr lang="zh-TW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2450F6-121E-49EC-BC17-F5A29A878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67171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BC47B5-ADAF-41B0-8E25-798150F70C66}" type="datetimeFigureOut">
              <a:rPr lang="zh-CN" altLang="en-US" smtClean="0"/>
              <a:t>2025/10/4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B33EC7-D770-4470-B266-BEBD01C7444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B33EC7-D770-4470-B266-BEBD01C74447}" type="slidenum">
              <a:rPr lang="zh-CN" altLang="en-US" smtClean="0"/>
              <a:t>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B33EC7-D770-4470-B266-BEBD01C7444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131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B33EC7-D770-4470-B266-BEBD01C7444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525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3519" y="130312"/>
            <a:ext cx="9389882" cy="90842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2F75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kumimoji="1" lang="fr-FR" altLang="zh-CN" sz="3600" b="1" dirty="0">
                <a:solidFill>
                  <a:srgbClr val="002F76"/>
                </a:solidFill>
                <a:latin typeface="+mj-lt"/>
                <a:ea typeface="微软雅黑" panose="020B0503020204020204" pitchFamily="34" charset="-122"/>
              </a:rPr>
              <a:t>main title-font size 30-36</a:t>
            </a:r>
            <a:endParaRPr kumimoji="1" lang="zh-TW" altLang="en-US" sz="3600" b="1" dirty="0">
              <a:solidFill>
                <a:srgbClr val="002F76"/>
              </a:solidFill>
              <a:latin typeface="+mj-lt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22569" y="2127243"/>
            <a:ext cx="9389882" cy="4227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/>
            </a:lvl2pPr>
            <a:lvl3pPr>
              <a:defRPr sz="1600" b="0"/>
            </a:lvl3pPr>
          </a:lstStyle>
          <a:p>
            <a:r>
              <a:rPr kumimoji="1" lang="en-US" altLang="zh-CN" sz="1600" dirty="0">
                <a:ea typeface="+mj-ea"/>
                <a:sym typeface="等线" panose="02010600030101010101" charset="-122"/>
              </a:rPr>
              <a:t>Text-font size 12-18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94696"/>
            <a:ext cx="775854" cy="4365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64917"/>
            <a:ext cx="7315200" cy="73716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主标题文本样式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54179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副标题文本样式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50000"/>
              </a:lnSpc>
              <a:defRPr lang="zh-CN" altLang="zh-CN" sz="1600" smtClean="0">
                <a:effectLst/>
              </a:defRPr>
            </a:lvl1pPr>
          </a:lstStyle>
          <a:p>
            <a:pPr lvl="0"/>
            <a:r>
              <a:rPr lang="zh-CN" altLang="en-US" dirty="0"/>
              <a:t>正文文本样式</a:t>
            </a:r>
            <a:r>
              <a:rPr lang="en-US" altLang="zh-CN" dirty="0"/>
              <a:t>——</a:t>
            </a:r>
          </a:p>
          <a:p>
            <a:pPr lvl="0"/>
            <a:r>
              <a:rPr lang="zh-CN" altLang="en-US" dirty="0"/>
              <a:t>作为全球领先的智能制造及工业互联网整体解决方案服务商，工业富联始终坚持深耕中国、布局全球的生产和经营策略，业务范围覆盖数据全流程，在全球产业链中构建起国内与国外的桥梁，并基于多年来在精益管理、供应链管理、柔性生产方面的经验，实现国内国外双循环，解决国内制造、原材料、销售在外问题，发挥桥梁纽带作用。</a:t>
            </a:r>
            <a:endParaRPr lang="zh-CN" altLang="zh-CN" sz="105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7457" y="313068"/>
            <a:ext cx="5645728" cy="73716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7457" y="313068"/>
            <a:ext cx="5645728" cy="73716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1137457" y="2303115"/>
            <a:ext cx="5645728" cy="18948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7457" y="313068"/>
            <a:ext cx="5645728" cy="73716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占位符 4"/>
          <p:cNvSpPr>
            <a:spLocks noGrp="1"/>
          </p:cNvSpPr>
          <p:nvPr>
            <p:ph type="title"/>
          </p:nvPr>
        </p:nvSpPr>
        <p:spPr>
          <a:xfrm>
            <a:off x="848411" y="461817"/>
            <a:ext cx="9341963" cy="7919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TEXT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848411" y="2055043"/>
            <a:ext cx="9341964" cy="4318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2"/>
            <a:r>
              <a:rPr lang="en-US" altLang="zh-CN" dirty="0"/>
              <a:t>text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j-ea"/>
          <a:ea typeface="+mj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j-ea"/>
          <a:ea typeface="+mj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898637" y="5117710"/>
            <a:ext cx="828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hangingPunct="0"/>
            <a:r>
              <a:rPr lang="en-US" altLang="zh-CN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CNT</a:t>
            </a:r>
            <a:endParaRPr lang="en-US" altLang="zh-TW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等线" panose="0201060003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98637" y="5487042"/>
            <a:ext cx="1521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hangingPunct="0"/>
            <a:r>
              <a:rPr lang="en-US" altLang="zh-CN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等线" panose="02010600030101010101" charset="-122"/>
              </a:rPr>
              <a:t>10/04/2025</a:t>
            </a:r>
            <a:endParaRPr lang="en-US" altLang="zh-TW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等线" panose="02010600030101010101" charset="-122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304800" y="3048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98637" y="2095496"/>
            <a:ext cx="9587345" cy="1600850"/>
          </a:xfrm>
          <a:prstGeom prst="rect">
            <a:avLst/>
          </a:prstGeom>
          <a:noFill/>
        </p:spPr>
        <p:txBody>
          <a:bodyPr wrap="square" lIns="122328" tIns="61164" rIns="122328" bIns="61164" rtlCol="0">
            <a:spAutoFit/>
          </a:bodyPr>
          <a:lstStyle/>
          <a:p>
            <a:pPr algn="ctr"/>
            <a:r>
              <a:rPr kumimoji="1" lang="en-US" sz="4800" b="1" i="1" dirty="0" smtClean="0">
                <a:solidFill>
                  <a:schemeClr val="bg1"/>
                </a:solidFill>
                <a:latin typeface="Calibri" panose="020F0502020204030204" pitchFamily="34" charset="0"/>
                <a:ea typeface="思源黑体 CN Heavy" panose="020B0A00000000000000" pitchFamily="34" charset="-122"/>
                <a:cs typeface="Calibri" panose="020F0502020204030204" pitchFamily="34" charset="0"/>
                <a:sym typeface="微软雅黑"/>
              </a:rPr>
              <a:t>Castle scratch back housing Issue</a:t>
            </a:r>
          </a:p>
          <a:p>
            <a:pPr algn="ctr"/>
            <a:r>
              <a:rPr kumimoji="1" lang="en-US" sz="4800" b="1" i="1" dirty="0" smtClean="0">
                <a:solidFill>
                  <a:schemeClr val="bg1"/>
                </a:solidFill>
                <a:latin typeface="Calibri" panose="020F0502020204030204" pitchFamily="34" charset="0"/>
                <a:ea typeface="思源黑体 CN Heavy" panose="020B0A00000000000000" pitchFamily="34" charset="-122"/>
                <a:cs typeface="Calibri" panose="020F0502020204030204" pitchFamily="34" charset="0"/>
                <a:sym typeface="微软雅黑"/>
              </a:rPr>
              <a:t> FACA report </a:t>
            </a:r>
            <a:endParaRPr lang="en-US" sz="4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3FCAB3A5-55D9-3E43-A34A-6042A3AA4DB2}"/>
              </a:ext>
            </a:extLst>
          </p:cNvPr>
          <p:cNvSpPr txBox="1">
            <a:spLocks/>
          </p:cNvSpPr>
          <p:nvPr/>
        </p:nvSpPr>
        <p:spPr>
          <a:xfrm>
            <a:off x="-84936" y="396363"/>
            <a:ext cx="801812" cy="487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6957" tIns="45872" rIns="45872" bIns="45872" anchor="ctr">
            <a:no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9pPr>
          </a:lstStyle>
          <a:p>
            <a:pPr algn="ctr" defTabSz="917463">
              <a:defRPr/>
            </a:pPr>
            <a:r>
              <a:rPr kumimoji="1" lang="en-US" altLang="zh-CN" sz="3000" b="1" smtClean="0">
                <a:solidFill>
                  <a:prstClr val="white"/>
                </a:solidFill>
                <a:latin typeface="Calibri" panose="020F0502020204030204" pitchFamily="34" charset="0"/>
                <a:ea typeface="思源黑体 CN Heavy" panose="020B0A00000000000000" pitchFamily="34" charset="-122"/>
                <a:cs typeface="Calibri" panose="020F0502020204030204" pitchFamily="34" charset="0"/>
              </a:rPr>
              <a:t>I</a:t>
            </a:r>
            <a:endParaRPr kumimoji="1" lang="en-US" altLang="zh-CN" sz="3000" b="1">
              <a:solidFill>
                <a:prstClr val="white"/>
              </a:solidFill>
              <a:latin typeface="Calibri" panose="020F0502020204030204" pitchFamily="34" charset="0"/>
              <a:ea typeface="思源黑体 CN Heavy" panose="020B0A00000000000000" pitchFamily="34" charset="-122"/>
              <a:cs typeface="Calibri" panose="020F0502020204030204" pitchFamily="34" charset="0"/>
            </a:endParaRPr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3FCAB3A5-55D9-3E43-A34A-6042A3AA4DB2}"/>
              </a:ext>
            </a:extLst>
          </p:cNvPr>
          <p:cNvSpPr txBox="1">
            <a:spLocks/>
          </p:cNvSpPr>
          <p:nvPr/>
        </p:nvSpPr>
        <p:spPr>
          <a:xfrm>
            <a:off x="716876" y="379931"/>
            <a:ext cx="11024929" cy="487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6770" tIns="45689" rIns="45689" bIns="45689" anchor="ctr">
            <a:noAutofit/>
          </a:bodyPr>
          <a:lstStyle>
            <a:defPPr>
              <a:defRPr lang="zh-TW"/>
            </a:defPPr>
            <a:lvl1pPr marR="0" indent="0" defTabSz="91382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2998" b="1" i="0" u="none" strike="noStrike" cap="none" spc="0" baseline="0">
                <a:ln>
                  <a:noFill/>
                </a:ln>
                <a:solidFill>
                  <a:srgbClr val="002F75"/>
                </a:solidFill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微软雅黑"/>
              </a:defRPr>
            </a:lvl1pPr>
            <a:lvl2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2pPr>
            <a:lvl3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3pPr>
            <a:lvl4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4pPr>
            <a:lvl5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5pPr>
            <a:lvl6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6pPr>
            <a:lvl7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7pPr>
            <a:lvl8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8pPr>
            <a:lvl9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9pPr>
          </a:lstStyle>
          <a:p>
            <a:r>
              <a:rPr lang="en-US" altLang="zh-CN" smtClean="0">
                <a:latin typeface="Calibri" panose="020F0502020204030204" pitchFamily="34" charset="0"/>
                <a:cs typeface="Calibri" panose="020F0502020204030204" pitchFamily="34" charset="0"/>
              </a:rPr>
              <a:t>Issue </a:t>
            </a:r>
            <a:r>
              <a:rPr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9098" y="978162"/>
            <a:ext cx="117097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smtClean="0">
                <a:latin typeface="Calibri" panose="020F0502020204030204" pitchFamily="34" charset="0"/>
                <a:cs typeface="Calibri" panose="020F0502020204030204" pitchFamily="34" charset="0"/>
              </a:rPr>
              <a:t>What: Castle 52-100667 DVT scratch housing.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smtClean="0">
                <a:latin typeface="Calibri" panose="020F0502020204030204" pitchFamily="34" charset="0"/>
                <a:cs typeface="Calibri" panose="020F0502020204030204" pitchFamily="34" charset="0"/>
              </a:rPr>
              <a:t>When: 03/10/2025.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smtClean="0">
                <a:latin typeface="Calibri" panose="020F0502020204030204" pitchFamily="34" charset="0"/>
                <a:cs typeface="Calibri" panose="020F0502020204030204" pitchFamily="34" charset="0"/>
              </a:rPr>
              <a:t>Where: B08-3F Castle line.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smtClean="0">
                <a:latin typeface="Calibri" panose="020F0502020204030204" pitchFamily="34" charset="0"/>
                <a:cs typeface="Calibri" panose="020F0502020204030204" pitchFamily="34" charset="0"/>
              </a:rPr>
              <a:t>Who: Customer DQM.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smtClean="0">
                <a:latin typeface="Calibri" panose="020F0502020204030204" pitchFamily="34" charset="0"/>
                <a:cs typeface="Calibri" panose="020F0502020204030204" pitchFamily="34" charset="0"/>
              </a:rPr>
              <a:t>Why: DQM went to production line to audit at OBA 3 found that housing was scratch.</a:t>
            </a:r>
            <a:endParaRPr lang="en-US" sz="1600" smtClean="0">
              <a:latin typeface="Calibri" panose="020F0502020204030204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smtClean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How many: F/R=</a:t>
            </a:r>
            <a:r>
              <a:rPr lang="en-US" sz="160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1F</a:t>
            </a:r>
            <a:r>
              <a:rPr lang="en-US" sz="1600" smtClean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/</a:t>
            </a:r>
            <a:r>
              <a:rPr lang="en-US" sz="1600" smtClean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281T</a:t>
            </a:r>
            <a:r>
              <a:rPr lang="en-US" sz="1600" smtClean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=</a:t>
            </a:r>
            <a:r>
              <a:rPr lang="en-US" sz="160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0.35%</a:t>
            </a:r>
            <a:endParaRPr lang="en-US" sz="1600" smtClean="0"/>
          </a:p>
        </p:txBody>
      </p:sp>
      <p:grpSp>
        <p:nvGrpSpPr>
          <p:cNvPr id="11" name="Group 10"/>
          <p:cNvGrpSpPr/>
          <p:nvPr/>
        </p:nvGrpSpPr>
        <p:grpSpPr>
          <a:xfrm>
            <a:off x="546877" y="2689878"/>
            <a:ext cx="5612835" cy="1874751"/>
            <a:chOff x="546879" y="2902432"/>
            <a:chExt cx="5612835" cy="1874751"/>
          </a:xfrm>
        </p:grpSpPr>
        <p:grpSp>
          <p:nvGrpSpPr>
            <p:cNvPr id="4" name="Group 3"/>
            <p:cNvGrpSpPr/>
            <p:nvPr/>
          </p:nvGrpSpPr>
          <p:grpSpPr>
            <a:xfrm>
              <a:off x="546879" y="2904536"/>
              <a:ext cx="2991555" cy="1872647"/>
              <a:chOff x="315970" y="4137890"/>
              <a:chExt cx="2991555" cy="1872647"/>
            </a:xfrm>
          </p:grpSpPr>
          <p:pic>
            <p:nvPicPr>
              <p:cNvPr id="15" name="Picture 4" descr="C:\Users\V1096193\AppData\Local\SuperNotes\ru-guang.chen@mail.foxconn.com\mid\image002.png@01DC33BE.8FADFF20.jp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5971" y="4137890"/>
                <a:ext cx="2991554" cy="18726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" name="Rectangle 2"/>
              <p:cNvSpPr/>
              <p:nvPr/>
            </p:nvSpPr>
            <p:spPr>
              <a:xfrm>
                <a:off x="315970" y="5724210"/>
                <a:ext cx="544945" cy="286327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smtClean="0"/>
                  <a:t>NG</a:t>
                </a:r>
                <a:endParaRPr lang="en-US" sz="1400"/>
              </a:p>
            </p:txBody>
          </p:sp>
        </p:grpSp>
        <p:pic>
          <p:nvPicPr>
            <p:cNvPr id="18" name="Picture 4" descr="C:\Users\V1096193\AppData\Local\SuperNotes\ru-guang.chen@mail.foxconn.com\mid\image002.png@01DC33BE.8FADFF20.jpg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920" t="44150" r="20501" b="34410"/>
            <a:stretch/>
          </p:blipFill>
          <p:spPr bwMode="auto">
            <a:xfrm>
              <a:off x="3538434" y="2902432"/>
              <a:ext cx="2621280" cy="18702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9" name="Straight Arrow Connector 18"/>
            <p:cNvCxnSpPr/>
            <p:nvPr/>
          </p:nvCxnSpPr>
          <p:spPr>
            <a:xfrm flipV="1">
              <a:off x="2724727" y="3837316"/>
              <a:ext cx="1801091" cy="110930"/>
            </a:xfrm>
            <a:prstGeom prst="straightConnector1">
              <a:avLst/>
            </a:prstGeom>
            <a:ln w="31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/>
          <p:cNvGrpSpPr/>
          <p:nvPr/>
        </p:nvGrpSpPr>
        <p:grpSpPr>
          <a:xfrm>
            <a:off x="546877" y="4828806"/>
            <a:ext cx="2991557" cy="1672897"/>
            <a:chOff x="4166917" y="2619262"/>
            <a:chExt cx="3858164" cy="1619476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66918" y="2619262"/>
              <a:ext cx="3858163" cy="1619476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6523000" y="2964873"/>
              <a:ext cx="631335" cy="314036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166917" y="3922663"/>
              <a:ext cx="676490" cy="31403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smtClean="0"/>
                <a:t>OK</a:t>
              </a:r>
              <a:endParaRPr lang="en-US" sz="1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3FCAB3A5-55D9-3E43-A34A-6042A3AA4DB2}"/>
              </a:ext>
            </a:extLst>
          </p:cNvPr>
          <p:cNvSpPr txBox="1">
            <a:spLocks/>
          </p:cNvSpPr>
          <p:nvPr/>
        </p:nvSpPr>
        <p:spPr>
          <a:xfrm>
            <a:off x="-39754" y="389870"/>
            <a:ext cx="801812" cy="487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6957" tIns="45872" rIns="45872" bIns="45872" anchor="ctr">
            <a:no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9pPr>
          </a:lstStyle>
          <a:p>
            <a:pPr algn="ctr" defTabSz="917463">
              <a:defRPr/>
            </a:pPr>
            <a:r>
              <a:rPr kumimoji="1" lang="en-US" altLang="zh-CN" sz="3000" b="1" smtClean="0">
                <a:solidFill>
                  <a:prstClr val="white"/>
                </a:solidFill>
                <a:latin typeface="Calibri" panose="020F0502020204030204" pitchFamily="34" charset="0"/>
                <a:ea typeface="思源黑体 CN Heavy" panose="020B0A00000000000000" pitchFamily="34" charset="-122"/>
                <a:cs typeface="Calibri" panose="020F0502020204030204" pitchFamily="34" charset="0"/>
              </a:rPr>
              <a:t>II</a:t>
            </a:r>
            <a:endParaRPr kumimoji="1" lang="en-US" altLang="zh-CN" sz="3000" b="1">
              <a:solidFill>
                <a:prstClr val="white"/>
              </a:solidFill>
              <a:latin typeface="Calibri" panose="020F0502020204030204" pitchFamily="34" charset="0"/>
              <a:ea typeface="思源黑体 CN Heavy" panose="020B0A00000000000000" pitchFamily="34" charset="-122"/>
              <a:cs typeface="Calibri" panose="020F0502020204030204" pitchFamily="34" charset="0"/>
            </a:endParaRPr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3FCAB3A5-55D9-3E43-A34A-6042A3AA4DB2}"/>
              </a:ext>
            </a:extLst>
          </p:cNvPr>
          <p:cNvSpPr txBox="1">
            <a:spLocks/>
          </p:cNvSpPr>
          <p:nvPr/>
        </p:nvSpPr>
        <p:spPr>
          <a:xfrm>
            <a:off x="899404" y="534950"/>
            <a:ext cx="6369413" cy="5329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6770" tIns="45689" rIns="45689" bIns="45689" anchor="ctr">
            <a:noAutofit/>
          </a:bodyPr>
          <a:lstStyle>
            <a:defPPr>
              <a:defRPr lang="zh-TW"/>
            </a:defPPr>
            <a:lvl1pPr marR="0" indent="0" defTabSz="91382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2998" b="1" i="0" u="none" strike="noStrike" cap="none" spc="0" baseline="0">
                <a:ln>
                  <a:noFill/>
                </a:ln>
                <a:solidFill>
                  <a:srgbClr val="002F75"/>
                </a:solidFill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微软雅黑"/>
              </a:defRPr>
            </a:lvl1pPr>
            <a:lvl2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2pPr>
            <a:lvl3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3pPr>
            <a:lvl4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4pPr>
            <a:lvl5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5pPr>
            <a:lvl6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6pPr>
            <a:lvl7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7pPr>
            <a:lvl8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8pPr>
            <a:lvl9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9pPr>
          </a:lstStyle>
          <a:p>
            <a:r>
              <a:rPr lang="en-US" altLang="zh-TW" smtClean="0">
                <a:latin typeface="Calibri" panose="020F0502020204030204" pitchFamily="34" charset="0"/>
                <a:cs typeface="Calibri" panose="020F0502020204030204" pitchFamily="34" charset="0"/>
              </a:rPr>
              <a:t>Failure analysis</a:t>
            </a:r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/>
          </a:p>
        </p:txBody>
      </p:sp>
      <p:sp>
        <p:nvSpPr>
          <p:cNvPr id="31" name="Rectangle 30"/>
          <p:cNvSpPr/>
          <p:nvPr/>
        </p:nvSpPr>
        <p:spPr>
          <a:xfrm>
            <a:off x="420534" y="948669"/>
            <a:ext cx="1162343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Device Test flow chart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534" y="3417528"/>
            <a:ext cx="110559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Review Testing flow chart, several station may have risk to make happened this symptoms:</a:t>
            </a:r>
          </a:p>
          <a:p>
            <a:pPr marL="285750" indent="-285750">
              <a:buFontTx/>
              <a:buChar char="-"/>
            </a:pPr>
            <a:r>
              <a:rPr lang="en-US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FTS station</a:t>
            </a:r>
          </a:p>
          <a:p>
            <a:pPr marL="285750" indent="-285750">
              <a:buFontTx/>
              <a:buChar char="-"/>
            </a:pPr>
            <a:r>
              <a:rPr lang="en-US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FPS station</a:t>
            </a:r>
          </a:p>
          <a:p>
            <a:pPr marL="285750" indent="-285750">
              <a:buFontTx/>
              <a:buChar char="-"/>
            </a:pPr>
            <a:r>
              <a:rPr lang="en-US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Laser security code station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75933" y="1617918"/>
            <a:ext cx="10545128" cy="1030203"/>
            <a:chOff x="705258" y="1761983"/>
            <a:chExt cx="8648234" cy="576426"/>
          </a:xfrm>
        </p:grpSpPr>
        <p:sp>
          <p:nvSpPr>
            <p:cNvPr id="76" name="圓角矩形 170">
              <a:extLst>
                <a:ext uri="{FF2B5EF4-FFF2-40B4-BE49-F238E27FC236}">
                  <a16:creationId xmlns:a16="http://schemas.microsoft.com/office/drawing/2014/main" id="{D84CE7D8-F66C-4D42-BE87-11AED1E9428D}"/>
                </a:ext>
              </a:extLst>
            </p:cNvPr>
            <p:cNvSpPr/>
            <p:nvPr/>
          </p:nvSpPr>
          <p:spPr bwMode="auto">
            <a:xfrm>
              <a:off x="705258" y="1870409"/>
              <a:ext cx="864000" cy="468000"/>
            </a:xfrm>
            <a:prstGeom prst="roundRect">
              <a:avLst/>
            </a:prstGeom>
            <a:solidFill>
              <a:srgbClr val="00B0F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altLang="zh-CN" sz="1050" b="1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</a:rPr>
                <a:t>Device Test</a:t>
              </a:r>
              <a:endParaRPr kumimoji="0" lang="zh-TW" altLang="en-US" sz="1050" b="1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endParaRPr>
            </a:p>
          </p:txBody>
        </p:sp>
        <p:sp>
          <p:nvSpPr>
            <p:cNvPr id="77" name="矩形 167">
              <a:extLst>
                <a:ext uri="{FF2B5EF4-FFF2-40B4-BE49-F238E27FC236}">
                  <a16:creationId xmlns:a16="http://schemas.microsoft.com/office/drawing/2014/main" id="{4EDF52AA-EFBA-48C2-8286-57CB3FA77FED}"/>
                </a:ext>
              </a:extLst>
            </p:cNvPr>
            <p:cNvSpPr/>
            <p:nvPr/>
          </p:nvSpPr>
          <p:spPr bwMode="auto">
            <a:xfrm>
              <a:off x="1802585" y="1870409"/>
              <a:ext cx="1080000" cy="468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rgbClr val="BFBFBF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altLang="zh-CN" sz="800" smtClean="0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  <a:sym typeface="+mn-ea"/>
                </a:rPr>
                <a:t>FTS</a:t>
              </a:r>
              <a:endParaRPr lang="en-US" altLang="zh-CN" sz="80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endParaRPr>
            </a:p>
          </p:txBody>
        </p:sp>
        <p:sp>
          <p:nvSpPr>
            <p:cNvPr id="78" name="矩形 54">
              <a:extLst>
                <a:ext uri="{FF2B5EF4-FFF2-40B4-BE49-F238E27FC236}">
                  <a16:creationId xmlns:a16="http://schemas.microsoft.com/office/drawing/2014/main" id="{F3A529F7-667E-4E3B-8797-82028BC85C9B}"/>
                </a:ext>
              </a:extLst>
            </p:cNvPr>
            <p:cNvSpPr/>
            <p:nvPr/>
          </p:nvSpPr>
          <p:spPr bwMode="auto">
            <a:xfrm>
              <a:off x="5604607" y="1870409"/>
              <a:ext cx="1080000" cy="468000"/>
            </a:xfrm>
            <a:prstGeom prst="rect">
              <a:avLst/>
            </a:prstGeom>
            <a:solidFill>
              <a:srgbClr val="FDEADA"/>
            </a:solidFill>
            <a:ln w="12700" cap="flat" cmpd="sng">
              <a:solidFill>
                <a:schemeClr val="bg1">
                  <a:lumMod val="6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 defTabSz="685800">
                <a:buClr>
                  <a:srgbClr val="000000"/>
                </a:buClr>
                <a:buSzPts val="1000"/>
              </a:pPr>
              <a:r>
                <a:rPr lang="en-US" altLang="zh-CN" sz="800" smtClean="0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  <a:sym typeface="+mn-ea"/>
                </a:rPr>
                <a:t>NPT</a:t>
              </a:r>
              <a:endParaRPr lang="en-US" altLang="zh-CN" sz="800">
                <a:solidFill>
                  <a:prstClr val="black"/>
                </a:solidFill>
                <a:ea typeface="PMingLiU" panose="02020500000000000000" charset="-120"/>
                <a:cs typeface="Calibri" panose="020F0502020204030204" pitchFamily="34" charset="0"/>
                <a:sym typeface="Calibri"/>
              </a:endParaRPr>
            </a:p>
            <a:p>
              <a:pPr algn="ctr" defTabSz="685800">
                <a:buClr>
                  <a:srgbClr val="000000"/>
                </a:buClr>
                <a:buSzPts val="1000"/>
              </a:pPr>
              <a:r>
                <a:rPr lang="en-US" altLang="zh-CN" sz="800" smtClean="0">
                  <a:solidFill>
                    <a:prstClr val="black"/>
                  </a:solidFill>
                  <a:ea typeface="PMingLiU" panose="02020500000000000000" charset="-120"/>
                  <a:cs typeface="Calibri" panose="020F0502020204030204" pitchFamily="34" charset="0"/>
                  <a:sym typeface="Calibri"/>
                </a:rPr>
                <a:t>(</a:t>
              </a:r>
              <a:r>
                <a:rPr lang="en-US" altLang="zh-CN" sz="800">
                  <a:solidFill>
                    <a:prstClr val="black"/>
                  </a:solidFill>
                  <a:ea typeface="PMingLiU" panose="02020500000000000000" charset="-120"/>
                  <a:cs typeface="Calibri" panose="020F0502020204030204" pitchFamily="34" charset="0"/>
                  <a:sym typeface="Calibri"/>
                </a:rPr>
                <a:t>Sampling</a:t>
              </a:r>
              <a:r>
                <a:rPr lang="en-US" altLang="zh-CN" sz="800" smtClean="0">
                  <a:solidFill>
                    <a:prstClr val="black"/>
                  </a:solidFill>
                  <a:ea typeface="PMingLiU" panose="02020500000000000000" charset="-120"/>
                  <a:cs typeface="Calibri" panose="020F0502020204030204" pitchFamily="34" charset="0"/>
                  <a:sym typeface="Calibri"/>
                </a:rPr>
                <a:t>)</a:t>
              </a:r>
              <a:endParaRPr lang="en-US" altLang="zh-CN" sz="800">
                <a:solidFill>
                  <a:prstClr val="black"/>
                </a:solidFill>
                <a:ea typeface="PMingLiU" panose="02020500000000000000" charset="-120"/>
                <a:cs typeface="Calibri" panose="020F0502020204030204" pitchFamily="34" charset="0"/>
                <a:sym typeface="Calibri"/>
              </a:endParaRPr>
            </a:p>
          </p:txBody>
        </p:sp>
        <p:sp>
          <p:nvSpPr>
            <p:cNvPr id="79" name="矩形 59">
              <a:extLst>
                <a:ext uri="{FF2B5EF4-FFF2-40B4-BE49-F238E27FC236}">
                  <a16:creationId xmlns:a16="http://schemas.microsoft.com/office/drawing/2014/main" id="{4EDF52AA-EFBA-48C2-8286-57CB3FA77FED}"/>
                </a:ext>
              </a:extLst>
            </p:cNvPr>
            <p:cNvSpPr/>
            <p:nvPr/>
          </p:nvSpPr>
          <p:spPr bwMode="auto">
            <a:xfrm>
              <a:off x="4337266" y="1870409"/>
              <a:ext cx="1080000" cy="468000"/>
            </a:xfrm>
            <a:prstGeom prst="rect">
              <a:avLst/>
            </a:prstGeom>
            <a:solidFill>
              <a:srgbClr val="FDEADA"/>
            </a:solidFill>
            <a:ln w="12700" cap="flat" cmpd="sng">
              <a:solidFill>
                <a:schemeClr val="bg1">
                  <a:lumMod val="6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 defTabSz="685800">
                <a:buClr>
                  <a:srgbClr val="000000"/>
                </a:buClr>
                <a:buSzPts val="1000"/>
              </a:pPr>
              <a:r>
                <a:rPr lang="en-US" altLang="zh-CN" sz="800" smtClean="0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  <a:sym typeface="+mn-ea"/>
                </a:rPr>
                <a:t>Run-out</a:t>
              </a:r>
              <a:endParaRPr lang="en-US" altLang="zh-CN" sz="80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endParaRPr>
            </a:p>
          </p:txBody>
        </p:sp>
        <p:cxnSp>
          <p:nvCxnSpPr>
            <p:cNvPr id="80" name="直線單箭頭接點 60"/>
            <p:cNvCxnSpPr>
              <a:stCxn id="77" idx="3"/>
              <a:endCxn id="113" idx="1"/>
            </p:cNvCxnSpPr>
            <p:nvPr/>
          </p:nvCxnSpPr>
          <p:spPr>
            <a:xfrm>
              <a:off x="2882585" y="2104409"/>
              <a:ext cx="245068" cy="0"/>
            </a:xfrm>
            <a:prstGeom prst="straightConnector1">
              <a:avLst/>
            </a:prstGeom>
            <a:ln w="12700">
              <a:solidFill>
                <a:srgbClr val="A6A6A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線單箭頭接點 84"/>
            <p:cNvCxnSpPr>
              <a:stCxn id="79" idx="3"/>
              <a:endCxn id="78" idx="1"/>
            </p:cNvCxnSpPr>
            <p:nvPr/>
          </p:nvCxnSpPr>
          <p:spPr>
            <a:xfrm>
              <a:off x="5417266" y="2104409"/>
              <a:ext cx="187341" cy="0"/>
            </a:xfrm>
            <a:prstGeom prst="straightConnector1">
              <a:avLst/>
            </a:prstGeom>
            <a:ln w="12700">
              <a:solidFill>
                <a:srgbClr val="A6A6A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矩形 85">
              <a:extLst>
                <a:ext uri="{FF2B5EF4-FFF2-40B4-BE49-F238E27FC236}">
                  <a16:creationId xmlns:a16="http://schemas.microsoft.com/office/drawing/2014/main" id="{F3A529F7-667E-4E3B-8797-82028BC85C9B}"/>
                </a:ext>
              </a:extLst>
            </p:cNvPr>
            <p:cNvSpPr/>
            <p:nvPr/>
          </p:nvSpPr>
          <p:spPr bwMode="auto">
            <a:xfrm>
              <a:off x="6871949" y="1870409"/>
              <a:ext cx="1080000" cy="468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rgbClr val="BFBFBF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altLang="zh-CN" sz="800" smtClean="0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  <a:sym typeface="+mn-ea"/>
                </a:rPr>
                <a:t>FPS </a:t>
              </a:r>
              <a:endParaRPr lang="en-US" altLang="zh-CN" sz="80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+mn-ea"/>
              </a:endParaRPr>
            </a:p>
          </p:txBody>
        </p:sp>
        <p:cxnSp>
          <p:nvCxnSpPr>
            <p:cNvPr id="112" name="直線單箭頭接點 86"/>
            <p:cNvCxnSpPr>
              <a:stCxn id="78" idx="3"/>
              <a:endCxn id="82" idx="1"/>
            </p:cNvCxnSpPr>
            <p:nvPr/>
          </p:nvCxnSpPr>
          <p:spPr>
            <a:xfrm>
              <a:off x="6684607" y="2104409"/>
              <a:ext cx="187342" cy="0"/>
            </a:xfrm>
            <a:prstGeom prst="straightConnector1">
              <a:avLst/>
            </a:prstGeom>
            <a:ln w="12700">
              <a:solidFill>
                <a:srgbClr val="A6A6A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矩形 81">
              <a:extLst>
                <a:ext uri="{FF2B5EF4-FFF2-40B4-BE49-F238E27FC236}">
                  <a16:creationId xmlns:a16="http://schemas.microsoft.com/office/drawing/2014/main" id="{4EDF52AA-EFBA-48C2-8286-57CB3FA77FED}"/>
                </a:ext>
              </a:extLst>
            </p:cNvPr>
            <p:cNvSpPr/>
            <p:nvPr/>
          </p:nvSpPr>
          <p:spPr bwMode="auto">
            <a:xfrm>
              <a:off x="3127653" y="1870409"/>
              <a:ext cx="1080000" cy="468000"/>
            </a:xfrm>
            <a:prstGeom prst="rect">
              <a:avLst/>
            </a:prstGeom>
            <a:solidFill>
              <a:srgbClr val="FDEADA"/>
            </a:solidFill>
            <a:ln w="12700" cap="flat" cmpd="sng">
              <a:solidFill>
                <a:schemeClr val="bg1">
                  <a:lumMod val="6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 defTabSz="685800">
                <a:buClr>
                  <a:srgbClr val="000000"/>
                </a:buClr>
                <a:buSzPts val="1000"/>
              </a:pPr>
              <a:r>
                <a:rPr lang="en-US" altLang="zh-CN" sz="800" smtClean="0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  <a:sym typeface="+mn-ea"/>
                </a:rPr>
                <a:t>Run-in </a:t>
              </a:r>
              <a:endParaRPr lang="en-US" altLang="zh-CN" sz="80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Calibri"/>
              </a:endParaRPr>
            </a:p>
          </p:txBody>
        </p:sp>
        <p:cxnSp>
          <p:nvCxnSpPr>
            <p:cNvPr id="114" name="直線單箭頭接點 87"/>
            <p:cNvCxnSpPr>
              <a:stCxn id="113" idx="3"/>
              <a:endCxn id="79" idx="1"/>
            </p:cNvCxnSpPr>
            <p:nvPr/>
          </p:nvCxnSpPr>
          <p:spPr>
            <a:xfrm>
              <a:off x="4207653" y="2104409"/>
              <a:ext cx="129613" cy="0"/>
            </a:xfrm>
            <a:prstGeom prst="straightConnector1">
              <a:avLst/>
            </a:prstGeom>
            <a:ln w="12700">
              <a:solidFill>
                <a:srgbClr val="A6A6A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9" name="圖片 116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74303" y="1773232"/>
              <a:ext cx="360000" cy="180000"/>
            </a:xfrm>
            <a:prstGeom prst="rect">
              <a:avLst/>
            </a:prstGeom>
          </p:spPr>
        </p:pic>
        <p:pic>
          <p:nvPicPr>
            <p:cNvPr id="121" name="圖片 122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77266" y="1773232"/>
              <a:ext cx="360000" cy="180000"/>
            </a:xfrm>
            <a:prstGeom prst="rect">
              <a:avLst/>
            </a:prstGeom>
          </p:spPr>
        </p:pic>
        <p:pic>
          <p:nvPicPr>
            <p:cNvPr id="128" name="圖片 152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52926" y="1794455"/>
              <a:ext cx="360000" cy="180000"/>
            </a:xfrm>
            <a:prstGeom prst="rect">
              <a:avLst/>
            </a:prstGeom>
          </p:spPr>
        </p:pic>
        <p:pic>
          <p:nvPicPr>
            <p:cNvPr id="129" name="圖片 154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2926" y="1781018"/>
              <a:ext cx="360000" cy="180000"/>
            </a:xfrm>
            <a:prstGeom prst="rect">
              <a:avLst/>
            </a:prstGeom>
          </p:spPr>
        </p:pic>
        <p:pic>
          <p:nvPicPr>
            <p:cNvPr id="130" name="圖片 111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16574" y="1794455"/>
              <a:ext cx="360000" cy="180000"/>
            </a:xfrm>
            <a:prstGeom prst="rect">
              <a:avLst/>
            </a:prstGeom>
          </p:spPr>
        </p:pic>
        <p:sp>
          <p:nvSpPr>
            <p:cNvPr id="131" name="矩形 120">
              <a:extLst>
                <a:ext uri="{FF2B5EF4-FFF2-40B4-BE49-F238E27FC236}">
                  <a16:creationId xmlns:a16="http://schemas.microsoft.com/office/drawing/2014/main" id="{F3A529F7-667E-4E3B-8797-82028BC85C9B}"/>
                </a:ext>
              </a:extLst>
            </p:cNvPr>
            <p:cNvSpPr/>
            <p:nvPr/>
          </p:nvSpPr>
          <p:spPr bwMode="auto">
            <a:xfrm>
              <a:off x="8126133" y="1870408"/>
              <a:ext cx="1080000" cy="468001"/>
            </a:xfrm>
            <a:prstGeom prst="rect">
              <a:avLst/>
            </a:prstGeom>
            <a:solidFill>
              <a:srgbClr val="FDEADA"/>
            </a:solidFill>
            <a:ln w="12700" cap="flat" cmpd="sng">
              <a:solidFill>
                <a:schemeClr val="bg1">
                  <a:lumMod val="6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algn="ctr" defTabSz="685800">
                <a:buClr>
                  <a:srgbClr val="000000"/>
                </a:buClr>
                <a:buSzPts val="1000"/>
              </a:pPr>
              <a:r>
                <a:rPr lang="en-US" altLang="zh-CN" sz="800" smtClean="0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  <a:sym typeface="+mn-ea"/>
                </a:rPr>
                <a:t>Laser </a:t>
              </a:r>
              <a:r>
                <a:rPr lang="en-US" altLang="zh-CN" sz="800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  <a:sym typeface="+mn-ea"/>
                </a:rPr>
                <a:t>security </a:t>
              </a:r>
              <a:r>
                <a:rPr lang="en-US" altLang="zh-CN" sz="800" smtClean="0">
                  <a:solidFill>
                    <a:prstClr val="black"/>
                  </a:solidFill>
                  <a:latin typeface="Calibri" panose="020F0502020204030204" pitchFamily="34" charset="0"/>
                  <a:ea typeface="微軟正黑體" panose="020B0604030504040204" pitchFamily="34" charset="-120"/>
                  <a:cs typeface="Calibri" panose="020F0502020204030204" pitchFamily="34" charset="0"/>
                  <a:sym typeface="+mn-ea"/>
                </a:rPr>
                <a:t>code </a:t>
              </a:r>
              <a:endParaRPr lang="en-US" altLang="zh-CN" sz="800">
                <a:solidFill>
                  <a:prstClr val="black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  <a:sym typeface="+mn-ea"/>
              </a:endParaRPr>
            </a:p>
          </p:txBody>
        </p:sp>
        <p:pic>
          <p:nvPicPr>
            <p:cNvPr id="132" name="圖片 133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93492" y="1761983"/>
              <a:ext cx="360000" cy="180000"/>
            </a:xfrm>
            <a:prstGeom prst="rect">
              <a:avLst/>
            </a:prstGeom>
          </p:spPr>
        </p:pic>
        <p:cxnSp>
          <p:nvCxnSpPr>
            <p:cNvPr id="133" name="直線單箭頭接點 84"/>
            <p:cNvCxnSpPr>
              <a:stCxn id="82" idx="3"/>
              <a:endCxn id="131" idx="1"/>
            </p:cNvCxnSpPr>
            <p:nvPr/>
          </p:nvCxnSpPr>
          <p:spPr>
            <a:xfrm>
              <a:off x="7951949" y="2104409"/>
              <a:ext cx="174184" cy="0"/>
            </a:xfrm>
            <a:prstGeom prst="straightConnector1">
              <a:avLst/>
            </a:prstGeom>
            <a:ln w="12700">
              <a:solidFill>
                <a:srgbClr val="A6A6A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89502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3FCAB3A5-55D9-3E43-A34A-6042A3AA4DB2}"/>
              </a:ext>
            </a:extLst>
          </p:cNvPr>
          <p:cNvSpPr txBox="1">
            <a:spLocks/>
          </p:cNvSpPr>
          <p:nvPr/>
        </p:nvSpPr>
        <p:spPr>
          <a:xfrm>
            <a:off x="-39754" y="389870"/>
            <a:ext cx="801812" cy="487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6957" tIns="45872" rIns="45872" bIns="45872" anchor="ctr">
            <a:no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9pPr>
          </a:lstStyle>
          <a:p>
            <a:pPr algn="ctr" defTabSz="917463">
              <a:defRPr/>
            </a:pPr>
            <a:r>
              <a:rPr kumimoji="1" lang="en-US" altLang="zh-CN" sz="3000" b="1" smtClean="0">
                <a:solidFill>
                  <a:prstClr val="white"/>
                </a:solidFill>
                <a:latin typeface="Calibri" panose="020F0502020204030204" pitchFamily="34" charset="0"/>
                <a:ea typeface="思源黑体 CN Heavy" panose="020B0A00000000000000" pitchFamily="34" charset="-122"/>
                <a:cs typeface="Calibri" panose="020F0502020204030204" pitchFamily="34" charset="0"/>
              </a:rPr>
              <a:t>II</a:t>
            </a:r>
            <a:endParaRPr kumimoji="1" lang="en-US" altLang="zh-CN" sz="3000" b="1">
              <a:solidFill>
                <a:prstClr val="white"/>
              </a:solidFill>
              <a:latin typeface="Calibri" panose="020F0502020204030204" pitchFamily="34" charset="0"/>
              <a:ea typeface="思源黑体 CN Heavy" panose="020B0A00000000000000" pitchFamily="34" charset="-122"/>
              <a:cs typeface="Calibri" panose="020F0502020204030204" pitchFamily="34" charset="0"/>
            </a:endParaRPr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3FCAB3A5-55D9-3E43-A34A-6042A3AA4DB2}"/>
              </a:ext>
            </a:extLst>
          </p:cNvPr>
          <p:cNvSpPr txBox="1">
            <a:spLocks/>
          </p:cNvSpPr>
          <p:nvPr/>
        </p:nvSpPr>
        <p:spPr>
          <a:xfrm>
            <a:off x="899404" y="534950"/>
            <a:ext cx="6369413" cy="5329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6770" tIns="45689" rIns="45689" bIns="45689" anchor="ctr">
            <a:noAutofit/>
          </a:bodyPr>
          <a:lstStyle>
            <a:defPPr>
              <a:defRPr lang="zh-TW"/>
            </a:defPPr>
            <a:lvl1pPr marR="0" indent="0" defTabSz="91382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2998" b="1" i="0" u="none" strike="noStrike" cap="none" spc="0" baseline="0">
                <a:ln>
                  <a:noFill/>
                </a:ln>
                <a:solidFill>
                  <a:srgbClr val="002F75"/>
                </a:solidFill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微软雅黑"/>
              </a:defRPr>
            </a:lvl1pPr>
            <a:lvl2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2pPr>
            <a:lvl3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3pPr>
            <a:lvl4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4pPr>
            <a:lvl5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5pPr>
            <a:lvl6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6pPr>
            <a:lvl7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7pPr>
            <a:lvl8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8pPr>
            <a:lvl9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9pPr>
          </a:lstStyle>
          <a:p>
            <a:r>
              <a:rPr lang="en-US" altLang="zh-TW" smtClean="0">
                <a:latin typeface="Calibri" panose="020F0502020204030204" pitchFamily="34" charset="0"/>
                <a:cs typeface="Calibri" panose="020F0502020204030204" pitchFamily="34" charset="0"/>
              </a:rPr>
              <a:t>Failure analysis</a:t>
            </a:r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/>
          </a:p>
        </p:txBody>
      </p:sp>
      <p:sp>
        <p:nvSpPr>
          <p:cNvPr id="31" name="Rectangle 30"/>
          <p:cNvSpPr/>
          <p:nvPr/>
        </p:nvSpPr>
        <p:spPr>
          <a:xfrm>
            <a:off x="532908" y="948449"/>
            <a:ext cx="1162343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1. FTS station</a:t>
            </a:r>
          </a:p>
          <a:p>
            <a:endParaRPr lang="en-US" sz="16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FTS clamp position is on the top face of device, not touch or impact to scratch position (Pic. 1).</a:t>
            </a:r>
          </a:p>
          <a:p>
            <a:endParaRPr lang="en-US" sz="1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The claws of the robot are covered by a silicon pad, </a:t>
            </a:r>
            <a:r>
              <a:rPr lang="en-US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cannot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create scratches on the housing (Pic. 2 &amp; Pic. 3</a:t>
            </a:r>
            <a:r>
              <a:rPr lang="en-US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endParaRPr lang="en-US" sz="1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1400" dirty="0" smtClean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No risk from this station.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28" t="17797" r="39614" b="28732"/>
          <a:stretch/>
        </p:blipFill>
        <p:spPr>
          <a:xfrm>
            <a:off x="1109907" y="3337340"/>
            <a:ext cx="2585793" cy="2019519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 rot="19770290">
            <a:off x="2407603" y="4781661"/>
            <a:ext cx="440504" cy="10541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ular Callout 18"/>
          <p:cNvSpPr/>
          <p:nvPr/>
        </p:nvSpPr>
        <p:spPr>
          <a:xfrm>
            <a:off x="361152" y="3210065"/>
            <a:ext cx="1707372" cy="627985"/>
          </a:xfrm>
          <a:prstGeom prst="wedgeRoundRectCallout">
            <a:avLst>
              <a:gd name="adj1" fmla="val 54309"/>
              <a:gd name="adj2" fmla="val 117101"/>
              <a:gd name="adj3" fmla="val 1666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FTS clamp position is </a:t>
            </a:r>
            <a:r>
              <a:rPr lang="en-US" sz="1000" dirty="0" smtClean="0">
                <a:solidFill>
                  <a:schemeClr val="tx1"/>
                </a:solidFill>
              </a:rPr>
              <a:t>on the </a:t>
            </a:r>
            <a:r>
              <a:rPr lang="en-US" sz="1000" dirty="0">
                <a:solidFill>
                  <a:schemeClr val="tx1"/>
                </a:solidFill>
              </a:rPr>
              <a:t>top of device, not touch or </a:t>
            </a:r>
            <a:r>
              <a:rPr lang="en-US" sz="1000" dirty="0" smtClean="0">
                <a:solidFill>
                  <a:schemeClr val="tx1"/>
                </a:solidFill>
              </a:rPr>
              <a:t>impact to </a:t>
            </a:r>
            <a:r>
              <a:rPr lang="en-US" sz="1000" dirty="0">
                <a:solidFill>
                  <a:schemeClr val="tx1"/>
                </a:solidFill>
              </a:rPr>
              <a:t>scratch position. </a:t>
            </a:r>
          </a:p>
        </p:txBody>
      </p:sp>
      <p:sp>
        <p:nvSpPr>
          <p:cNvPr id="21" name="Rounded Rectangular Callout 20"/>
          <p:cNvSpPr/>
          <p:nvPr/>
        </p:nvSpPr>
        <p:spPr>
          <a:xfrm>
            <a:off x="1322489" y="5475091"/>
            <a:ext cx="1216604" cy="294888"/>
          </a:xfrm>
          <a:prstGeom prst="wedgeRoundRectCallout">
            <a:avLst>
              <a:gd name="adj1" fmla="val 41483"/>
              <a:gd name="adj2" fmla="val -210681"/>
              <a:gd name="adj3" fmla="val 1666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smtClean="0">
                <a:solidFill>
                  <a:schemeClr val="tx1"/>
                </a:solidFill>
              </a:rPr>
              <a:t>Scratch position</a:t>
            </a:r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00" r="8336" b="4899"/>
          <a:stretch/>
        </p:blipFill>
        <p:spPr>
          <a:xfrm>
            <a:off x="8039099" y="3337339"/>
            <a:ext cx="2524029" cy="2019519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2094455" y="2805594"/>
            <a:ext cx="533400" cy="13523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Pic.1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034413" y="2805593"/>
            <a:ext cx="533400" cy="13523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Pic.3</a:t>
            </a:r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47" t="7701" r="24071" b="31949"/>
          <a:stretch/>
        </p:blipFill>
        <p:spPr>
          <a:xfrm>
            <a:off x="4572836" y="3337339"/>
            <a:ext cx="2589127" cy="2019519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5600699" y="2805594"/>
            <a:ext cx="533400" cy="13523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</a:rPr>
              <a:t>Pic.2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363938" y="4457700"/>
            <a:ext cx="305887" cy="29026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9090118" y="4201967"/>
            <a:ext cx="305887" cy="29026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ular Callout 32"/>
          <p:cNvSpPr/>
          <p:nvPr/>
        </p:nvSpPr>
        <p:spPr>
          <a:xfrm>
            <a:off x="4050449" y="5475091"/>
            <a:ext cx="1816950" cy="294888"/>
          </a:xfrm>
          <a:prstGeom prst="wedgeRoundRectCallout">
            <a:avLst>
              <a:gd name="adj1" fmla="val 31081"/>
              <a:gd name="adj2" fmla="val -297246"/>
              <a:gd name="adj3" fmla="val 1666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The claws of robot was be cover by silicon pad</a:t>
            </a:r>
          </a:p>
        </p:txBody>
      </p:sp>
    </p:spTree>
    <p:extLst>
      <p:ext uri="{BB962C8B-B14F-4D97-AF65-F5344CB8AC3E}">
        <p14:creationId xmlns:p14="http://schemas.microsoft.com/office/powerpoint/2010/main" val="2697610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3FCAB3A5-55D9-3E43-A34A-6042A3AA4DB2}"/>
              </a:ext>
            </a:extLst>
          </p:cNvPr>
          <p:cNvSpPr txBox="1">
            <a:spLocks/>
          </p:cNvSpPr>
          <p:nvPr/>
        </p:nvSpPr>
        <p:spPr>
          <a:xfrm>
            <a:off x="-39754" y="389870"/>
            <a:ext cx="801812" cy="487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6957" tIns="45872" rIns="45872" bIns="45872" anchor="ctr">
            <a:no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9pPr>
          </a:lstStyle>
          <a:p>
            <a:pPr algn="ctr" defTabSz="917463">
              <a:defRPr/>
            </a:pPr>
            <a:r>
              <a:rPr kumimoji="1" lang="en-US" altLang="zh-CN" sz="3000" b="1" smtClean="0">
                <a:solidFill>
                  <a:prstClr val="white"/>
                </a:solidFill>
                <a:latin typeface="Calibri" panose="020F0502020204030204" pitchFamily="34" charset="0"/>
                <a:ea typeface="思源黑体 CN Heavy" panose="020B0A00000000000000" pitchFamily="34" charset="-122"/>
                <a:cs typeface="Calibri" panose="020F0502020204030204" pitchFamily="34" charset="0"/>
              </a:rPr>
              <a:t>II</a:t>
            </a:r>
            <a:endParaRPr kumimoji="1" lang="en-US" altLang="zh-CN" sz="3000" b="1">
              <a:solidFill>
                <a:prstClr val="white"/>
              </a:solidFill>
              <a:latin typeface="Calibri" panose="020F0502020204030204" pitchFamily="34" charset="0"/>
              <a:ea typeface="思源黑体 CN Heavy" panose="020B0A00000000000000" pitchFamily="34" charset="-122"/>
              <a:cs typeface="Calibri" panose="020F0502020204030204" pitchFamily="34" charset="0"/>
            </a:endParaRPr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3FCAB3A5-55D9-3E43-A34A-6042A3AA4DB2}"/>
              </a:ext>
            </a:extLst>
          </p:cNvPr>
          <p:cNvSpPr txBox="1">
            <a:spLocks/>
          </p:cNvSpPr>
          <p:nvPr/>
        </p:nvSpPr>
        <p:spPr>
          <a:xfrm>
            <a:off x="899404" y="534950"/>
            <a:ext cx="6369413" cy="5329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6770" tIns="45689" rIns="45689" bIns="45689" anchor="ctr">
            <a:noAutofit/>
          </a:bodyPr>
          <a:lstStyle>
            <a:defPPr>
              <a:defRPr lang="zh-TW"/>
            </a:defPPr>
            <a:lvl1pPr marR="0" indent="0" defTabSz="91382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2998" b="1" i="0" u="none" strike="noStrike" cap="none" spc="0" baseline="0">
                <a:ln>
                  <a:noFill/>
                </a:ln>
                <a:solidFill>
                  <a:srgbClr val="002F75"/>
                </a:solidFill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微软雅黑"/>
              </a:defRPr>
            </a:lvl1pPr>
            <a:lvl2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2pPr>
            <a:lvl3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3pPr>
            <a:lvl4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4pPr>
            <a:lvl5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5pPr>
            <a:lvl6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6pPr>
            <a:lvl7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7pPr>
            <a:lvl8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8pPr>
            <a:lvl9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9pPr>
          </a:lstStyle>
          <a:p>
            <a:r>
              <a:rPr lang="en-US" altLang="zh-TW" smtClean="0">
                <a:latin typeface="Calibri" panose="020F0502020204030204" pitchFamily="34" charset="0"/>
                <a:cs typeface="Calibri" panose="020F0502020204030204" pitchFamily="34" charset="0"/>
              </a:rPr>
              <a:t>Failure analysis</a:t>
            </a:r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/>
          </a:p>
        </p:txBody>
      </p:sp>
      <p:sp>
        <p:nvSpPr>
          <p:cNvPr id="31" name="Rectangle 30"/>
          <p:cNvSpPr/>
          <p:nvPr/>
        </p:nvSpPr>
        <p:spPr>
          <a:xfrm>
            <a:off x="495300" y="1021840"/>
            <a:ext cx="11623430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2. FPS station</a:t>
            </a:r>
          </a:p>
          <a:p>
            <a:endParaRPr lang="en-US" sz="16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There is no clamp or tray impact to scratch position</a:t>
            </a:r>
          </a:p>
          <a:p>
            <a:endParaRPr lang="en-US" sz="1400" dirty="0" smtClean="0">
              <a:latin typeface="Calibri" panose="020F0502020204030204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1400" dirty="0" smtClean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No risk from this station</a:t>
            </a:r>
          </a:p>
          <a:p>
            <a:endParaRPr lang="en-US" sz="1600" dirty="0" smtClean="0">
              <a:latin typeface="Calibri" panose="020F0502020204030204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endParaRPr lang="en-US" sz="1600" dirty="0" smtClean="0">
              <a:latin typeface="Calibri" panose="020F0502020204030204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endParaRPr lang="en-US" sz="1600" dirty="0">
              <a:latin typeface="Calibri" panose="020F0502020204030204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endParaRPr lang="en-US" sz="1600" dirty="0" smtClean="0">
              <a:latin typeface="Calibri" panose="020F0502020204030204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endParaRPr lang="en-US" sz="1600" dirty="0">
              <a:latin typeface="Calibri" panose="020F0502020204030204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endParaRPr lang="en-US" sz="1600" dirty="0">
              <a:latin typeface="Calibri" panose="020F0502020204030204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3</a:t>
            </a:r>
            <a:r>
              <a:rPr lang="en-US" sz="1600" b="1" dirty="0" smtClean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. 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Laser security code station</a:t>
            </a:r>
          </a:p>
          <a:p>
            <a:endParaRPr lang="en-US" sz="1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Holder not touch to scratch position.</a:t>
            </a:r>
          </a:p>
          <a:p>
            <a:endParaRPr lang="en-US" sz="1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 smtClean="0">
                <a:latin typeface="Calibri" panose="020F0502020204030204" pitchFamily="34" charset="0"/>
                <a:cs typeface="Calibri" panose="020F0502020204030204" pitchFamily="34" charset="0"/>
              </a:rPr>
              <a:t>There is no clamp or robot claws in this station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sz="14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No risk from this station</a:t>
            </a:r>
          </a:p>
          <a:p>
            <a:endParaRPr lang="en-US" sz="1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7015" y="1067867"/>
            <a:ext cx="2989580" cy="19936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7015" y="3520667"/>
            <a:ext cx="2989580" cy="1993661"/>
          </a:xfrm>
          <a:prstGeom prst="rect">
            <a:avLst/>
          </a:prstGeom>
        </p:spPr>
      </p:pic>
      <p:sp>
        <p:nvSpPr>
          <p:cNvPr id="22" name="Rounded Rectangular Callout 21"/>
          <p:cNvSpPr/>
          <p:nvPr/>
        </p:nvSpPr>
        <p:spPr>
          <a:xfrm>
            <a:off x="9371295" y="2410443"/>
            <a:ext cx="1656408" cy="468204"/>
          </a:xfrm>
          <a:prstGeom prst="wedgeRoundRectCallout">
            <a:avLst>
              <a:gd name="adj1" fmla="val -133593"/>
              <a:gd name="adj2" fmla="val -89473"/>
              <a:gd name="adj3" fmla="val 1666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There is no clamp or tray impact to scratch position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0" y="2148840"/>
            <a:ext cx="320040" cy="12192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8084820" y="4175760"/>
            <a:ext cx="320040" cy="12192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ular Callout 29"/>
          <p:cNvSpPr/>
          <p:nvPr/>
        </p:nvSpPr>
        <p:spPr>
          <a:xfrm>
            <a:off x="9371295" y="4595792"/>
            <a:ext cx="1821941" cy="468204"/>
          </a:xfrm>
          <a:prstGeom prst="wedgeRoundRectCallout">
            <a:avLst>
              <a:gd name="adj1" fmla="val -104366"/>
              <a:gd name="adj2" fmla="val -103887"/>
              <a:gd name="adj3" fmla="val 1666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smtClean="0">
                <a:solidFill>
                  <a:schemeClr val="tx1"/>
                </a:solidFill>
              </a:rPr>
              <a:t>Holder not touch to scratch position</a:t>
            </a:r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433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34306"/>
            <a:ext cx="775854" cy="436557"/>
          </a:xfrm>
          <a:prstGeom prst="rect">
            <a:avLst/>
          </a:prstGeom>
        </p:spPr>
      </p:pic>
      <p:sp>
        <p:nvSpPr>
          <p:cNvPr id="4" name="標題 1">
            <a:extLst>
              <a:ext uri="{FF2B5EF4-FFF2-40B4-BE49-F238E27FC236}">
                <a16:creationId xmlns:a16="http://schemas.microsoft.com/office/drawing/2014/main" id="{3FCAB3A5-55D9-3E43-A34A-6042A3AA4DB2}"/>
              </a:ext>
            </a:extLst>
          </p:cNvPr>
          <p:cNvSpPr txBox="1">
            <a:spLocks/>
          </p:cNvSpPr>
          <p:nvPr/>
        </p:nvSpPr>
        <p:spPr>
          <a:xfrm>
            <a:off x="-39754" y="389870"/>
            <a:ext cx="801812" cy="487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6957" tIns="45872" rIns="45872" bIns="45872" anchor="ctr">
            <a:no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9pPr>
          </a:lstStyle>
          <a:p>
            <a:pPr algn="ctr" defTabSz="917463">
              <a:defRPr/>
            </a:pPr>
            <a:r>
              <a:rPr kumimoji="1" lang="en-US" altLang="zh-CN" sz="3000" b="1" smtClean="0">
                <a:solidFill>
                  <a:prstClr val="white"/>
                </a:solidFill>
                <a:latin typeface="Calibri" panose="020F0502020204030204" pitchFamily="34" charset="0"/>
                <a:ea typeface="思源黑体 CN Heavy" panose="020B0A00000000000000" pitchFamily="34" charset="-122"/>
                <a:cs typeface="Calibri" panose="020F0502020204030204" pitchFamily="34" charset="0"/>
              </a:rPr>
              <a:t>III</a:t>
            </a:r>
            <a:endParaRPr kumimoji="1" lang="en-US" altLang="zh-CN" sz="3000" b="1">
              <a:solidFill>
                <a:prstClr val="white"/>
              </a:solidFill>
              <a:latin typeface="Calibri" panose="020F0502020204030204" pitchFamily="34" charset="0"/>
              <a:ea typeface="思源黑体 CN Heavy" panose="020B0A00000000000000" pitchFamily="34" charset="-122"/>
              <a:cs typeface="Calibri" panose="020F0502020204030204" pitchFamily="34" charset="0"/>
            </a:endParaRPr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3FCAB3A5-55D9-3E43-A34A-6042A3AA4DB2}"/>
              </a:ext>
            </a:extLst>
          </p:cNvPr>
          <p:cNvSpPr txBox="1">
            <a:spLocks/>
          </p:cNvSpPr>
          <p:nvPr/>
        </p:nvSpPr>
        <p:spPr>
          <a:xfrm>
            <a:off x="899404" y="534950"/>
            <a:ext cx="6369413" cy="5329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6770" tIns="45689" rIns="45689" bIns="45689" anchor="ctr">
            <a:noAutofit/>
          </a:bodyPr>
          <a:lstStyle>
            <a:defPPr>
              <a:defRPr lang="zh-TW"/>
            </a:defPPr>
            <a:lvl1pPr marR="0" indent="0" defTabSz="91382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2998" b="1" i="0" u="none" strike="noStrike" cap="none" spc="0" baseline="0">
                <a:ln>
                  <a:noFill/>
                </a:ln>
                <a:solidFill>
                  <a:srgbClr val="002F75"/>
                </a:solidFill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微软雅黑"/>
              </a:defRPr>
            </a:lvl1pPr>
            <a:lvl2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2pPr>
            <a:lvl3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3pPr>
            <a:lvl4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4pPr>
            <a:lvl5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5pPr>
            <a:lvl6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6pPr>
            <a:lvl7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7pPr>
            <a:lvl8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8pPr>
            <a:lvl9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9pPr>
          </a:lstStyle>
          <a:p>
            <a:r>
              <a:rPr lang="en-US" altLang="zh-CN" smtClean="0">
                <a:latin typeface="Calibri" panose="020F0502020204030204" pitchFamily="34" charset="0"/>
                <a:cs typeface="Calibri" panose="020F0502020204030204" pitchFamily="34" charset="0"/>
              </a:rPr>
              <a:t>Conclusion</a:t>
            </a:r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/>
          </a:p>
        </p:txBody>
      </p:sp>
      <p:sp>
        <p:nvSpPr>
          <p:cNvPr id="2" name="TextBox 1"/>
          <p:cNvSpPr txBox="1"/>
          <p:nvPr/>
        </p:nvSpPr>
        <p:spPr>
          <a:xfrm>
            <a:off x="387927" y="957030"/>
            <a:ext cx="1190313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Check all Test station </a:t>
            </a:r>
            <a:r>
              <a:rPr lang="en-US" sz="1600" dirty="0" smtClean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F</a:t>
            </a:r>
            <a:r>
              <a:rPr lang="en-US" sz="1600" dirty="0" smtClean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ound </a:t>
            </a:r>
            <a:r>
              <a:rPr lang="en-US" sz="16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 </a:t>
            </a:r>
            <a:r>
              <a:rPr lang="en-US" sz="1600" dirty="0" smtClean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abnormalities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600" dirty="0" smtClean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Suggestion to monitoring this issue on PVT phase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6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3FCAB3A5-55D9-3E43-A34A-6042A3AA4DB2}"/>
              </a:ext>
            </a:extLst>
          </p:cNvPr>
          <p:cNvSpPr txBox="1">
            <a:spLocks/>
          </p:cNvSpPr>
          <p:nvPr/>
        </p:nvSpPr>
        <p:spPr>
          <a:xfrm>
            <a:off x="-39754" y="2634306"/>
            <a:ext cx="801812" cy="487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6957" tIns="45872" rIns="45872" bIns="45872" anchor="ctr">
            <a:no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  <a:sym typeface="微软雅黑"/>
              </a:defRPr>
            </a:lvl9pPr>
          </a:lstStyle>
          <a:p>
            <a:pPr algn="ctr" defTabSz="917463">
              <a:defRPr/>
            </a:pPr>
            <a:r>
              <a:rPr kumimoji="1" lang="en-US" altLang="zh-CN" sz="3000" b="1" smtClean="0">
                <a:solidFill>
                  <a:prstClr val="white"/>
                </a:solidFill>
                <a:latin typeface="Calibri" panose="020F0502020204030204" pitchFamily="34" charset="0"/>
                <a:ea typeface="思源黑体 CN Heavy" panose="020B0A00000000000000" pitchFamily="34" charset="-122"/>
                <a:cs typeface="Calibri" panose="020F0502020204030204" pitchFamily="34" charset="0"/>
              </a:rPr>
              <a:t>IV</a:t>
            </a:r>
            <a:endParaRPr kumimoji="1" lang="en-US" altLang="zh-CN" sz="3000" b="1">
              <a:solidFill>
                <a:prstClr val="white"/>
              </a:solidFill>
              <a:latin typeface="Calibri" panose="020F0502020204030204" pitchFamily="34" charset="0"/>
              <a:ea typeface="思源黑体 CN Heavy" panose="020B0A00000000000000" pitchFamily="34" charset="-122"/>
              <a:cs typeface="Calibri" panose="020F0502020204030204" pitchFamily="34" charset="0"/>
            </a:endParaRPr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3FCAB3A5-55D9-3E43-A34A-6042A3AA4DB2}"/>
              </a:ext>
            </a:extLst>
          </p:cNvPr>
          <p:cNvSpPr txBox="1">
            <a:spLocks/>
          </p:cNvSpPr>
          <p:nvPr/>
        </p:nvSpPr>
        <p:spPr>
          <a:xfrm>
            <a:off x="899404" y="2779386"/>
            <a:ext cx="6369413" cy="5329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6770" tIns="45689" rIns="45689" bIns="45689" anchor="ctr">
            <a:noAutofit/>
          </a:bodyPr>
          <a:lstStyle>
            <a:defPPr>
              <a:defRPr lang="zh-TW"/>
            </a:defPPr>
            <a:lvl1pPr marR="0" indent="0" defTabSz="91382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2998" b="1" i="0" u="none" strike="noStrike" cap="none" spc="0" baseline="0">
                <a:ln>
                  <a:noFill/>
                </a:ln>
                <a:solidFill>
                  <a:srgbClr val="002F75"/>
                </a:solidFill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微软雅黑"/>
              </a:defRPr>
            </a:lvl1pPr>
            <a:lvl2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2pPr>
            <a:lvl3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3pPr>
            <a:lvl4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4pPr>
            <a:lvl5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5pPr>
            <a:lvl6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6pPr>
            <a:lvl7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7pPr>
            <a:lvl8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8pPr>
            <a:lvl9pPr marL="0" marR="0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微软雅黑"/>
                <a:ea typeface="微软雅黑"/>
                <a:cs typeface="微软雅黑"/>
              </a:defRPr>
            </a:lvl9pPr>
          </a:lstStyle>
          <a:p>
            <a:r>
              <a:rPr lang="en-US" altLang="zh-CN" smtClean="0">
                <a:latin typeface="Calibri" panose="020F0502020204030204" pitchFamily="34" charset="0"/>
                <a:cs typeface="Calibri" panose="020F0502020204030204" pitchFamily="34" charset="0"/>
              </a:rPr>
              <a:t>Action</a:t>
            </a:r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zh-CN"/>
          </a:p>
        </p:txBody>
      </p:sp>
      <p:sp>
        <p:nvSpPr>
          <p:cNvPr id="8" name="TextBox 7"/>
          <p:cNvSpPr txBox="1"/>
          <p:nvPr/>
        </p:nvSpPr>
        <p:spPr>
          <a:xfrm>
            <a:off x="387927" y="3266275"/>
            <a:ext cx="1162173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SI keep to monitoring this issue on PVT phase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6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sz="1600" dirty="0" smtClean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Owner: SI A </a:t>
            </a:r>
            <a:r>
              <a:rPr lang="en-US" sz="1600" dirty="0" err="1" smtClean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Thuy</a:t>
            </a:r>
            <a:r>
              <a:rPr lang="en-US" sz="1600" dirty="0" smtClean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600" dirty="0" smtClean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Due </a:t>
            </a:r>
            <a:r>
              <a:rPr lang="en-US" sz="1600" dirty="0" smtClean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date: PVT	</a:t>
            </a:r>
            <a:r>
              <a:rPr lang="en-US" sz="1600" dirty="0" smtClean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Status</a:t>
            </a:r>
            <a:r>
              <a:rPr lang="en-US" sz="1600" dirty="0" smtClean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Monitor</a:t>
            </a:r>
          </a:p>
          <a:p>
            <a:endParaRPr lang="en-US" sz="16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414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2658110" y="1480345"/>
            <a:ext cx="6715760" cy="3652728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lumMod val="75000"/>
                  <a:alpha val="0"/>
                </a:schemeClr>
              </a:gs>
              <a:gs pos="0">
                <a:schemeClr val="accent1">
                  <a:lumMod val="75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009065" y="2518616"/>
            <a:ext cx="583044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思源黑体 CN Heavy" panose="020B0A00000000000000" pitchFamily="34" charset="-122"/>
                <a:cs typeface="Arial" panose="020B0604020202020204" pitchFamily="34" charset="0"/>
              </a:rPr>
              <a:t>Thank you</a:t>
            </a:r>
            <a:endParaRPr lang="zh-CN" altLang="en-US" sz="88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思源黑体 CN Heavy" panose="020B0A00000000000000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jgwYTcyMWZjMWI3NDZiYzEyNTk1MjVjNjNjMGYwOG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3432</TotalTime>
  <Words>318</Words>
  <Application>Microsoft Office PowerPoint</Application>
  <PresentationFormat>Widescreen</PresentationFormat>
  <Paragraphs>80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20" baseType="lpstr">
      <vt:lpstr>等线</vt:lpstr>
      <vt:lpstr>微软雅黑</vt:lpstr>
      <vt:lpstr>黑体</vt:lpstr>
      <vt:lpstr>微軟正黑體</vt:lpstr>
      <vt:lpstr>思源黑体 CN Heavy</vt:lpstr>
      <vt:lpstr>新細明體</vt:lpstr>
      <vt:lpstr>新細明體</vt:lpstr>
      <vt:lpstr>Arial</vt:lpstr>
      <vt:lpstr>Arial Black</vt:lpstr>
      <vt:lpstr>Calibri</vt:lpstr>
      <vt:lpstr>Times New Roman</vt:lpstr>
      <vt:lpstr>Wingdings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ZMY</dc:creator>
  <cp:lastModifiedBy>黃文武</cp:lastModifiedBy>
  <cp:revision>834</cp:revision>
  <dcterms:created xsi:type="dcterms:W3CDTF">2022-05-19T09:53:00Z</dcterms:created>
  <dcterms:modified xsi:type="dcterms:W3CDTF">2025-10-04T09:06:56Z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878725B122AD415684F292EE3D27F1FB_12</vt:lpwstr>
  </property>
  <property fmtid="{D5CDD505-2E9C-101B-9397-08002B2CF9AE}" pid="3" name="KSOProductBuildVer">
    <vt:lpwstr>2052-12.1.0.16120</vt:lpwstr>
  </property>
</Properties>
</file>
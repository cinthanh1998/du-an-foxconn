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3.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5.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8.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9.xml" ContentType="application/vnd.openxmlformats-officedocument.presentationml.notesSlide+xml"/>
  <Override PartName="/ppt/tags/tag90.xml" ContentType="application/vnd.openxmlformats-officedocument.presentationml.tags+xml"/>
  <Override PartName="/ppt/notesSlides/notesSlide10.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1.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2.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3.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notesSlides/notesSlide14.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5.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16.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17.xml" ContentType="application/vnd.openxmlformats-officedocument.presentationml.notesSlide+xml"/>
  <Override PartName="/ppt/tags/tag125.xml" ContentType="application/vnd.openxmlformats-officedocument.presentationml.tags+xml"/>
  <Override PartName="/ppt/notesSlides/notesSlide18.xml" ContentType="application/vnd.openxmlformats-officedocument.presentationml.notesSlide+xml"/>
  <Override PartName="/ppt/tags/tag1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6" r:id="rId2"/>
  </p:sldMasterIdLst>
  <p:notesMasterIdLst>
    <p:notesMasterId r:id="rId25"/>
  </p:notesMasterIdLst>
  <p:handoutMasterIdLst>
    <p:handoutMasterId r:id="rId26"/>
  </p:handoutMasterIdLst>
  <p:sldIdLst>
    <p:sldId id="276" r:id="rId3"/>
    <p:sldId id="758" r:id="rId4"/>
    <p:sldId id="736" r:id="rId5"/>
    <p:sldId id="718" r:id="rId6"/>
    <p:sldId id="719" r:id="rId7"/>
    <p:sldId id="589" r:id="rId8"/>
    <p:sldId id="722" r:id="rId9"/>
    <p:sldId id="590" r:id="rId10"/>
    <p:sldId id="591" r:id="rId11"/>
    <p:sldId id="734" r:id="rId12"/>
    <p:sldId id="695" r:id="rId13"/>
    <p:sldId id="593" r:id="rId14"/>
    <p:sldId id="723" r:id="rId15"/>
    <p:sldId id="595" r:id="rId16"/>
    <p:sldId id="624" r:id="rId17"/>
    <p:sldId id="608" r:id="rId18"/>
    <p:sldId id="690" r:id="rId19"/>
    <p:sldId id="637" r:id="rId20"/>
    <p:sldId id="642" r:id="rId21"/>
    <p:sldId id="600" r:id="rId22"/>
    <p:sldId id="601" r:id="rId23"/>
    <p:sldId id="277" r:id="rId24"/>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1" userDrawn="1">
          <p15:clr>
            <a:srgbClr val="A4A3A4"/>
          </p15:clr>
        </p15:guide>
        <p15:guide id="2" pos="37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034"/>
    <a:srgbClr val="99CCFF"/>
    <a:srgbClr val="9933FF"/>
    <a:srgbClr val="F1C7BC"/>
    <a:srgbClr val="002F75"/>
    <a:srgbClr val="002F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3023" autoAdjust="0"/>
  </p:normalViewPr>
  <p:slideViewPr>
    <p:cSldViewPr snapToGrid="0" showGuides="1">
      <p:cViewPr varScale="1">
        <p:scale>
          <a:sx n="81" d="100"/>
          <a:sy n="81" d="100"/>
        </p:scale>
        <p:origin x="662" y="72"/>
      </p:cViewPr>
      <p:guideLst>
        <p:guide orient="horz" pos="1931"/>
        <p:guide pos="372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3206"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2026/2/12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C47B5-ADAF-41B0-8E25-798150F70C66}" type="datetimeFigureOut">
              <a:rPr lang="zh-CN" altLang="en-US" smtClean="0"/>
              <a:t>2026/2/12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33EC7-D770-4470-B266-BEBD01C7444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microsoft.com/office/2007/relationships/hdphoto" Target="../media/hdphoto1.wdp"/><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microsoft.com/office/2007/relationships/hdphoto" Target="../media/hdphoto1.wdp"/><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 Id="rId5" Type="http://schemas.microsoft.com/office/2007/relationships/hdphoto" Target="../media/hdphoto1.wdp"/><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1.xml"/><Relationship Id="rId1" Type="http://schemas.openxmlformats.org/officeDocument/2006/relationships/tags" Target="../tags/tag30.xml"/><Relationship Id="rId5" Type="http://schemas.microsoft.com/office/2007/relationships/hdphoto" Target="../media/hdphoto1.wdp"/><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dirty="0">
                <a:latin typeface="+mj-ea"/>
                <a:ea typeface="+mj-ea"/>
                <a:sym typeface="等线" panose="02010600030101010101" charset="-122"/>
              </a:rPr>
              <a:t>正文内容</a:t>
            </a:r>
            <a:r>
              <a:rPr kumimoji="1" lang="en-US" altLang="zh-CN" sz="1600" dirty="0">
                <a:latin typeface="+mj-ea"/>
                <a:ea typeface="+mj-ea"/>
                <a:sym typeface="等线" panose="02010600030101010101" charset="-122"/>
              </a:rPr>
              <a:t>-</a:t>
            </a:r>
            <a:r>
              <a:rPr kumimoji="1" lang="zh-CN" altLang="en-US" sz="1600" dirty="0">
                <a:latin typeface="+mj-ea"/>
                <a:ea typeface="+mj-ea"/>
                <a:sym typeface="等线" panose="02010600030101010101" charset="-122"/>
              </a:rPr>
              <a:t>字号</a:t>
            </a:r>
            <a:r>
              <a:rPr kumimoji="1" lang="en-US" altLang="zh-CN" sz="1600" dirty="0">
                <a:latin typeface="+mj-ea"/>
                <a:ea typeface="+mj-ea"/>
                <a:sym typeface="等线" panose="02010600030101010101" charset="-122"/>
              </a:rPr>
              <a:t>12-18</a:t>
            </a:r>
            <a:endParaRPr lang="zh-CN" altLang="en-US" dirty="0"/>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t>‹#›</a:t>
            </a:fld>
            <a:r>
              <a:rPr lang="en-US" altLang="zh-CN"/>
              <a:t>/N</a:t>
            </a:r>
            <a:endParaRPr lang="en-US" altLang="zh-CN" dirty="0"/>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dirty="0"/>
              <a:t>主标题文本样式</a:t>
            </a:r>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dirty="0"/>
              <a:t>副标题文本样式</a:t>
            </a:r>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dirty="0"/>
              <a:t>正文文本样式</a:t>
            </a:r>
            <a:r>
              <a:rPr lang="en-US" altLang="zh-CN" dirty="0"/>
              <a:t>——</a:t>
            </a:r>
          </a:p>
          <a:p>
            <a:pPr lvl="0"/>
            <a:r>
              <a:rPr lang="zh-CN" altLang="en-US" dirty="0"/>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dirty="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訂版面配置">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pic>
        <p:nvPicPr>
          <p:cNvPr id="5" name="图片 4"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日期占位符 1"/>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A36B8C5-9D3D-4C15-8389-DC33031D634D}" type="datetime1">
              <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rPr>
              <a:t>2026/2/12</a:t>
            </a:fld>
            <a:endPar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a:xfrm>
            <a:off x="9185275" y="6381750"/>
            <a:ext cx="27432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95898A6-19C1-4AA1-870C-54A18F18E107}" type="slidenum">
              <a:rPr kumimoji="0" lang="zh-TW" altLang="en-US" sz="18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TW" altLang="en-US" sz="18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78471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LIDE 1">
    <p:spTree>
      <p:nvGrpSpPr>
        <p:cNvPr id="1" name=""/>
        <p:cNvGrpSpPr/>
        <p:nvPr/>
      </p:nvGrpSpPr>
      <p:grpSpPr>
        <a:xfrm>
          <a:off x="0" y="0"/>
          <a:ext cx="0" cy="0"/>
          <a:chOff x="0" y="0"/>
          <a:chExt cx="0" cy="0"/>
        </a:xfrm>
      </p:grpSpPr>
      <p:pic>
        <p:nvPicPr>
          <p:cNvPr id="3" name="图片 2"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2" name="Titel 1"/>
          <p:cNvSpPr>
            <a:spLocks noGrp="1"/>
          </p:cNvSpPr>
          <p:nvPr>
            <p:ph type="title" hasCustomPrompt="1"/>
          </p:nvPr>
        </p:nvSpPr>
        <p:spPr>
          <a:xfrm>
            <a:off x="516321" y="410831"/>
            <a:ext cx="11135859" cy="565714"/>
          </a:xfrm>
          <a:prstGeom prst="rect">
            <a:avLst/>
          </a:prstGeom>
        </p:spPr>
        <p:txBody>
          <a:bodyPr vert="horz" lIns="0" tIns="0" rIns="0" bIns="0" rtlCol="0" anchor="t" anchorCtr="0">
            <a:normAutofit/>
          </a:bodyPr>
          <a:lstStyle>
            <a:lvl1pPr>
              <a:defRPr lang="en-US" dirty="0"/>
            </a:lvl1pPr>
          </a:lstStyle>
          <a:p>
            <a:pPr lvl="0"/>
            <a:r>
              <a:rPr lang="de-DE" dirty="0"/>
              <a:t>TITELMASTERFORMAT DURCH KLICKEN BEARBEITEN</a:t>
            </a:r>
            <a:endParaRPr lang="en-US" dirty="0"/>
          </a:p>
        </p:txBody>
      </p:sp>
      <p:sp>
        <p:nvSpPr>
          <p:cNvPr id="15" name="Foliennummernplatzhalter 5"/>
          <p:cNvSpPr>
            <a:spLocks noGrp="1"/>
          </p:cNvSpPr>
          <p:nvPr>
            <p:ph type="sldNum" sz="quarter" idx="4"/>
          </p:nvPr>
        </p:nvSpPr>
        <p:spPr>
          <a:xfrm>
            <a:off x="516330" y="6525087"/>
            <a:ext cx="914426" cy="224424"/>
          </a:xfrm>
          <a:prstGeom prst="rect">
            <a:avLst/>
          </a:prstGeom>
        </p:spPr>
        <p:txBody>
          <a:bodyPr vert="horz" lIns="0" tIns="0" rIns="0" bIns="0" rtlCol="0" anchor="b" anchorCtr="0"/>
          <a:lstStyle>
            <a:lvl1pPr algn="l">
              <a:lnSpc>
                <a:spcPct val="90000"/>
              </a:lnSpc>
              <a:spcAft>
                <a:spcPts val="980"/>
              </a:spcAft>
              <a:defRPr sz="1000" b="1">
                <a:solidFill>
                  <a:schemeClr val="tx1"/>
                </a:solidFill>
              </a:defRPr>
            </a:lvl1pPr>
          </a:lstStyle>
          <a:p>
            <a:r>
              <a:rPr lang="en-US">
                <a:solidFill>
                  <a:prstClr val="black"/>
                </a:solidFill>
              </a:rPr>
              <a:t>-</a:t>
            </a:r>
            <a:fld id="{75A4F164-3A46-4CEE-A25C-CA523D5E42F3}" type="slidenum">
              <a:rPr lang="en-US" smtClean="0">
                <a:solidFill>
                  <a:prstClr val="black"/>
                </a:solidFill>
              </a:rPr>
              <a:t>‹#›</a:t>
            </a:fld>
            <a:r>
              <a:rPr lang="en-US">
                <a:solidFill>
                  <a:prstClr val="black"/>
                </a:solidFill>
              </a:rPr>
              <a:t>-</a:t>
            </a:r>
            <a:endParaRPr lang="en-US" dirty="0">
              <a:solidFill>
                <a:prstClr val="black"/>
              </a:solidFill>
            </a:endParaRPr>
          </a:p>
        </p:txBody>
      </p:sp>
      <p:sp>
        <p:nvSpPr>
          <p:cNvPr id="17" name="Inhaltsplatzhalter 2"/>
          <p:cNvSpPr>
            <a:spLocks noGrp="1"/>
          </p:cNvSpPr>
          <p:nvPr>
            <p:ph idx="1" hasCustomPrompt="1"/>
          </p:nvPr>
        </p:nvSpPr>
        <p:spPr>
          <a:xfrm>
            <a:off x="516326" y="1154098"/>
            <a:ext cx="4096208" cy="1720984"/>
          </a:xfrm>
          <a:prstGeom prst="rect">
            <a:avLst/>
          </a:prstGeom>
          <a:noFill/>
        </p:spPr>
        <p:txBody>
          <a:bodyPr/>
          <a:lstStyle>
            <a:lvl1pPr>
              <a:lnSpc>
                <a:spcPct val="100000"/>
              </a:lnSpc>
              <a:spcAft>
                <a:spcPts val="0"/>
              </a:spcAft>
              <a:defRPr sz="2200">
                <a:solidFill>
                  <a:schemeClr val="tx1"/>
                </a:solidFill>
              </a:defRPr>
            </a:lvl1pPr>
            <a:lvl2pPr>
              <a:lnSpc>
                <a:spcPct val="100000"/>
              </a:lnSpc>
              <a:spcAft>
                <a:spcPts val="0"/>
              </a:spcAft>
              <a:defRPr sz="2000">
                <a:solidFill>
                  <a:schemeClr val="tx1"/>
                </a:solidFill>
              </a:defRPr>
            </a:lvl2pPr>
            <a:lvl3pPr>
              <a:lnSpc>
                <a:spcPct val="100000"/>
              </a:lnSpc>
              <a:spcAft>
                <a:spcPts val="0"/>
              </a:spcAft>
              <a:defRPr sz="1800">
                <a:solidFill>
                  <a:schemeClr val="tx1"/>
                </a:solidFill>
              </a:defRPr>
            </a:lvl3pPr>
            <a:lvl4pPr>
              <a:lnSpc>
                <a:spcPct val="100000"/>
              </a:lnSpc>
              <a:spcAft>
                <a:spcPts val="0"/>
              </a:spcAft>
              <a:defRPr sz="1600">
                <a:solidFill>
                  <a:schemeClr val="tx1"/>
                </a:solidFill>
              </a:defRPr>
            </a:lvl4pPr>
            <a:lvl5pPr>
              <a:lnSpc>
                <a:spcPct val="100000"/>
              </a:lnSpc>
              <a:spcAft>
                <a:spcPts val="0"/>
              </a:spcAft>
              <a:defRPr sz="1600">
                <a:solidFill>
                  <a:schemeClr val="tx1"/>
                </a:solidFill>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2"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609664" y="6356172"/>
            <a:ext cx="2845096" cy="365024"/>
          </a:xfrm>
        </p:spPr>
        <p:txBody>
          <a:bodyPr/>
          <a:lstStyle/>
          <a:p>
            <a:pPr marL="0" marR="0" lvl="0" indent="0" algn="l" defTabSz="1088390" rtl="0" eaLnBrk="1" fontAlgn="auto" latinLnBrk="0" hangingPunct="1">
              <a:lnSpc>
                <a:spcPct val="100000"/>
              </a:lnSpc>
              <a:spcBef>
                <a:spcPts val="0"/>
              </a:spcBef>
              <a:spcAft>
                <a:spcPts val="0"/>
              </a:spcAft>
              <a:buClrTx/>
              <a:buSzTx/>
              <a:buFontTx/>
              <a:buNone/>
              <a:defRPr/>
            </a:pPr>
            <a:fld id="{92BAA3EF-8CCB-4922-96E9-BC0976D55C0C}" type="datetimeFigureOut">
              <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rPr>
              <a:t>2026/2/12</a:t>
            </a:fld>
            <a:endPar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a:xfrm>
            <a:off x="4166034" y="6356172"/>
            <a:ext cx="3859615" cy="365024"/>
          </a:xfrm>
        </p:spPr>
        <p:txBody>
          <a:bodyPr/>
          <a:lstStyle/>
          <a:p>
            <a:pPr marL="0" marR="0" lvl="0" indent="0" algn="ctr" defTabSz="108839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a:xfrm>
            <a:off x="8736923" y="6356172"/>
            <a:ext cx="2845096" cy="365024"/>
          </a:xfrm>
        </p:spPr>
        <p:txBody>
          <a:bodyPr/>
          <a:lstStyle/>
          <a:p>
            <a:pPr lvl="0" eaLnBrk="1" hangingPunct="1">
              <a:buNone/>
            </a:pPr>
            <a:fld id="{9A0DB2DC-4C9A-4742-B13C-FB6460FD3503}" type="slidenum">
              <a:rPr lang="en-US" altLang="en-US" dirty="0">
                <a:latin typeface="Calibri" panose="020F0502020204030204" charset="0"/>
              </a:rPr>
              <a:t>‹#›</a:t>
            </a:fld>
            <a:endParaRPr lang="en-US" altLang="en-US" dirty="0">
              <a:latin typeface="Calibri" panose="020F0502020204030204" charset="0"/>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標題投影片">
  <p:cSld name="2_標題投影片">
    <p:spTree>
      <p:nvGrpSpPr>
        <p:cNvPr id="1" name="Shape 31"/>
        <p:cNvGrpSpPr/>
        <p:nvPr/>
      </p:nvGrpSpPr>
      <p:grpSpPr>
        <a:xfrm>
          <a:off x="0" y="0"/>
          <a:ext cx="0" cy="0"/>
          <a:chOff x="0" y="0"/>
          <a:chExt cx="0" cy="0"/>
        </a:xfrm>
      </p:grpSpPr>
      <p:pic>
        <p:nvPicPr>
          <p:cNvPr id="2" name="图片 1"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7303" y="194131"/>
            <a:ext cx="10983187" cy="5717909"/>
          </a:xfrm>
          <a:prstGeom prst="rect">
            <a:avLst/>
          </a:prstGeom>
        </p:spPr>
      </p:pic>
      <p:sp>
        <p:nvSpPr>
          <p:cNvPr id="32" name="Google Shape;32;p9"/>
          <p:cNvSpPr txBox="1">
            <a:spLocks noGrp="1"/>
          </p:cNvSpPr>
          <p:nvPr>
            <p:ph type="title"/>
          </p:nvPr>
        </p:nvSpPr>
        <p:spPr>
          <a:xfrm>
            <a:off x="285752" y="95251"/>
            <a:ext cx="11906291" cy="666731"/>
          </a:xfrm>
          <a:prstGeom prst="rect">
            <a:avLst/>
          </a:prstGeom>
          <a:noFill/>
          <a:ln>
            <a:noFill/>
          </a:ln>
        </p:spPr>
        <p:txBody>
          <a:bodyPr spcFirstLastPara="1" lIns="121897" tIns="60932" rIns="121897" bIns="60932" anchor="t">
            <a:noAutofit/>
          </a:bodyPr>
          <a:lstStyle>
            <a:lvl1pPr marR="0" lvl="0" algn="l" rtl="0">
              <a:spcBef>
                <a:spcPts val="0"/>
              </a:spcBef>
              <a:spcAft>
                <a:spcPts val="0"/>
              </a:spcAft>
              <a:buSzPts val="1400"/>
              <a:buNone/>
              <a:defRPr sz="3700" b="1" i="1" u="none" strike="noStrike" cap="none">
                <a:solidFill>
                  <a:srgbClr val="00B050"/>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B9B2E97-0EBC-4138-BED2-0A579DC23816}"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7E7378-A8DF-4F31-AF59-84C78EFAE06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image" Target="../media/image4.pn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cstate="email">
            <a:lum/>
          </a:blip>
          <a:srcRect/>
          <a:stretch>
            <a:fillRect/>
          </a:stretch>
        </a:blipFill>
        <a:effectLst/>
      </p:bgPr>
    </p:bg>
    <p:spTree>
      <p:nvGrpSpPr>
        <p:cNvPr id="1" name=""/>
        <p:cNvGrpSpPr/>
        <p:nvPr/>
      </p:nvGrpSpPr>
      <p:grpSpPr>
        <a:xfrm>
          <a:off x="0" y="0"/>
          <a:ext cx="0" cy="0"/>
          <a:chOff x="0" y="0"/>
          <a:chExt cx="0" cy="0"/>
        </a:xfrm>
      </p:grpSpPr>
      <p:sp>
        <p:nvSpPr>
          <p:cNvPr id="5" name="标题占位符 4"/>
          <p:cNvSpPr>
            <a:spLocks noGrp="1"/>
          </p:cNvSpPr>
          <p:nvPr>
            <p:ph type="title"/>
          </p:nvPr>
        </p:nvSpPr>
        <p:spPr>
          <a:xfrm>
            <a:off x="848411" y="461817"/>
            <a:ext cx="9341963" cy="791947"/>
          </a:xfrm>
          <a:prstGeom prst="rect">
            <a:avLst/>
          </a:prstGeom>
        </p:spPr>
        <p:txBody>
          <a:bodyPr vert="horz" lIns="91440" tIns="45720" rIns="91440" bIns="45720" rtlCol="0" anchor="ctr">
            <a:normAutofit/>
          </a:body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zh-CN" altLang="en-US" dirty="0"/>
              <a:t>第三级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lnSpc>
          <a:spcPct val="90000"/>
        </a:lnSpc>
        <a:spcBef>
          <a:spcPct val="0"/>
        </a:spcBef>
        <a:buNone/>
        <a:defRPr sz="3600" b="1" kern="1200">
          <a:solidFill>
            <a:schemeClr val="tx1"/>
          </a:solidFill>
          <a:latin typeface="思源黑体 CN Heavy" panose="020B0A00000000000000" pitchFamily="34" charset="-122"/>
          <a:ea typeface="思源黑体 CN Heavy" panose="020B0A00000000000000" pitchFamily="34" charset="-122"/>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思源黑体 CN Normal" panose="020B0400000000000000" pitchFamily="34" charset="-122"/>
          <a:ea typeface="思源黑体 CN Normal"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图片包含 图示&#10;&#10;描述已自动生成"/>
          <p:cNvPicPr>
            <a:picLocks noChangeAspect="1"/>
          </p:cNvPicPr>
          <p:nvPr userDrawn="1"/>
        </p:nvPicPr>
        <p:blipFill>
          <a:blip r:embed="rId13">
            <a:extLst>
              <a:ext uri="{BEBA8EAE-BF5A-486C-A8C5-ECC9F3942E4B}">
                <a14:imgProps xmlns:a14="http://schemas.microsoft.com/office/drawing/2010/main">
                  <a14:imgLayer r:embed="rId14">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9B2E97-0EBC-4138-BED2-0A579DC23816}" type="datetimeFigureOut">
              <a:rPr lang="zh-CN" altLang="en-US" smtClean="0"/>
              <a:t>2026/2/12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7E7378-A8DF-4F31-AF59-84C78EFAE06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tags" Target="../tags/tag35.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slideLayout" Target="../slideLayouts/slideLayout16.xml"/><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3.png"/><Relationship Id="rId3" Type="http://schemas.openxmlformats.org/officeDocument/2006/relationships/tags" Target="../tags/tag38.xml"/><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slideLayout" Target="../slideLayouts/slideLayout16.xml"/><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26.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tags" Target="../tags/tag47.xml"/><Relationship Id="rId7" Type="http://schemas.openxmlformats.org/officeDocument/2006/relationships/image" Target="../media/image28.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27.png"/><Relationship Id="rId5" Type="http://schemas.openxmlformats.org/officeDocument/2006/relationships/notesSlide" Target="../notesSlides/notesSlide4.xml"/><Relationship Id="rId4"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31.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51.xml"/><Relationship Id="rId1" Type="http://schemas.openxmlformats.org/officeDocument/2006/relationships/tags" Target="../tags/tag50.xml"/><Relationship Id="rId6" Type="http://schemas.microsoft.com/office/2007/relationships/hdphoto" Target="../media/hdphoto2.wdp"/><Relationship Id="rId5" Type="http://schemas.openxmlformats.org/officeDocument/2006/relationships/image" Target="../media/image32.png"/><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13" Type="http://schemas.microsoft.com/office/2007/relationships/hdphoto" Target="../media/hdphoto5.wdp"/><Relationship Id="rId3" Type="http://schemas.openxmlformats.org/officeDocument/2006/relationships/slideLayout" Target="../slideLayouts/slideLayout15.xml"/><Relationship Id="rId7" Type="http://schemas.openxmlformats.org/officeDocument/2006/relationships/image" Target="../media/image34.png"/><Relationship Id="rId12" Type="http://schemas.openxmlformats.org/officeDocument/2006/relationships/image" Target="../media/image38.png"/><Relationship Id="rId2" Type="http://schemas.openxmlformats.org/officeDocument/2006/relationships/tags" Target="../tags/tag53.xml"/><Relationship Id="rId1" Type="http://schemas.openxmlformats.org/officeDocument/2006/relationships/tags" Target="../tags/tag52.xml"/><Relationship Id="rId6" Type="http://schemas.microsoft.com/office/2007/relationships/hdphoto" Target="../media/hdphoto3.wdp"/><Relationship Id="rId11" Type="http://schemas.microsoft.com/office/2007/relationships/hdphoto" Target="../media/hdphoto4.wdp"/><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notesSlide" Target="../notesSlides/notesSlide7.xml"/><Relationship Id="rId9" Type="http://schemas.openxmlformats.org/officeDocument/2006/relationships/image" Target="../media/image36.png"/><Relationship Id="rId14" Type="http://schemas.openxmlformats.org/officeDocument/2006/relationships/image" Target="../media/image39.jpeg"/></Relationships>
</file>

<file path=ppt/slides/_rels/slide11.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tags" Target="../tags/tag71.xml"/><Relationship Id="rId3" Type="http://schemas.openxmlformats.org/officeDocument/2006/relationships/tags" Target="../tags/tag56.xml"/><Relationship Id="rId21" Type="http://schemas.openxmlformats.org/officeDocument/2006/relationships/tags" Target="../tags/tag74.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5" Type="http://schemas.openxmlformats.org/officeDocument/2006/relationships/image" Target="../media/image41.png"/><Relationship Id="rId2" Type="http://schemas.openxmlformats.org/officeDocument/2006/relationships/tags" Target="../tags/tag55.xml"/><Relationship Id="rId16" Type="http://schemas.openxmlformats.org/officeDocument/2006/relationships/tags" Target="../tags/tag69.xml"/><Relationship Id="rId20" Type="http://schemas.openxmlformats.org/officeDocument/2006/relationships/tags" Target="../tags/tag73.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24" Type="http://schemas.openxmlformats.org/officeDocument/2006/relationships/image" Target="../media/image40.png"/><Relationship Id="rId5" Type="http://schemas.openxmlformats.org/officeDocument/2006/relationships/tags" Target="../tags/tag58.xml"/><Relationship Id="rId15" Type="http://schemas.openxmlformats.org/officeDocument/2006/relationships/tags" Target="../tags/tag68.xml"/><Relationship Id="rId23" Type="http://schemas.openxmlformats.org/officeDocument/2006/relationships/notesSlide" Target="../notesSlides/notesSlide8.xml"/><Relationship Id="rId10" Type="http://schemas.openxmlformats.org/officeDocument/2006/relationships/tags" Target="../tags/tag63.xml"/><Relationship Id="rId19" Type="http://schemas.openxmlformats.org/officeDocument/2006/relationships/tags" Target="../tags/tag72.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 Id="rId22"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18" Type="http://schemas.openxmlformats.org/officeDocument/2006/relationships/image" Target="../media/image42.png"/><Relationship Id="rId3" Type="http://schemas.openxmlformats.org/officeDocument/2006/relationships/tags" Target="../tags/tag77.xml"/><Relationship Id="rId21" Type="http://schemas.openxmlformats.org/officeDocument/2006/relationships/image" Target="../media/image44.png"/><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notesSlide" Target="../notesSlides/notesSlide9.xml"/><Relationship Id="rId2" Type="http://schemas.openxmlformats.org/officeDocument/2006/relationships/tags" Target="../tags/tag76.xml"/><Relationship Id="rId16" Type="http://schemas.openxmlformats.org/officeDocument/2006/relationships/slideLayout" Target="../slideLayouts/slideLayout15.xml"/><Relationship Id="rId20" Type="http://schemas.microsoft.com/office/2007/relationships/hdphoto" Target="../media/hdphoto6.wdp"/><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5" Type="http://schemas.openxmlformats.org/officeDocument/2006/relationships/tags" Target="../tags/tag79.xml"/><Relationship Id="rId15" Type="http://schemas.openxmlformats.org/officeDocument/2006/relationships/tags" Target="../tags/tag89.xml"/><Relationship Id="rId10" Type="http://schemas.openxmlformats.org/officeDocument/2006/relationships/tags" Target="../tags/tag84.xml"/><Relationship Id="rId19" Type="http://schemas.openxmlformats.org/officeDocument/2006/relationships/image" Target="../media/image43.png"/><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tags" Target="../tags/tag90.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image" Target="../media/image48.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notesSlide" Target="../notesSlides/notesSlide11.xml"/><Relationship Id="rId5" Type="http://schemas.openxmlformats.org/officeDocument/2006/relationships/slideLayout" Target="../slideLayouts/slideLayout15.xml"/><Relationship Id="rId4" Type="http://schemas.openxmlformats.org/officeDocument/2006/relationships/tags" Target="../tags/tag94.xml"/></Relationships>
</file>

<file path=ppt/slides/_rels/slide15.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image" Target="../media/image49.jpeg"/><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notesSlide" Target="../notesSlides/notesSlide12.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slideLayout" Target="../slideLayouts/slideLayout15.xml"/><Relationship Id="rId5" Type="http://schemas.openxmlformats.org/officeDocument/2006/relationships/tags" Target="../tags/tag99.xml"/><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image" Target="../media/image50.png"/></Relationships>
</file>

<file path=ppt/slides/_rels/slide1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tags" Target="../tags/tag107.xml"/><Relationship Id="rId7" Type="http://schemas.openxmlformats.org/officeDocument/2006/relationships/notesSlide" Target="../notesSlides/notesSlide13.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Layout" Target="../slideLayouts/slideLayout15.xml"/><Relationship Id="rId5" Type="http://schemas.openxmlformats.org/officeDocument/2006/relationships/tags" Target="../tags/tag109.xml"/><Relationship Id="rId4" Type="http://schemas.openxmlformats.org/officeDocument/2006/relationships/tags" Target="../tags/tag108.xml"/><Relationship Id="rId9"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microsoft.com/office/2007/relationships/hdphoto" Target="../media/hdphoto7.wdp"/><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tags" Target="../tags/tag114.xml"/><Relationship Id="rId7" Type="http://schemas.openxmlformats.org/officeDocument/2006/relationships/image" Target="../media/image55.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notesSlide" Target="../notesSlides/notesSlide15.xml"/><Relationship Id="rId5" Type="http://schemas.openxmlformats.org/officeDocument/2006/relationships/slideLayout" Target="../slideLayouts/slideLayout15.xml"/><Relationship Id="rId4" Type="http://schemas.openxmlformats.org/officeDocument/2006/relationships/tags" Target="../tags/tag115.xml"/><Relationship Id="rId9"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58.png"/><Relationship Id="rId5" Type="http://schemas.openxmlformats.org/officeDocument/2006/relationships/notesSlide" Target="../notesSlides/notesSlide16.xml"/><Relationship Id="rId4"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7.xml"/><Relationship Id="rId13" Type="http://schemas.openxmlformats.org/officeDocument/2006/relationships/image" Target="../media/image63.png"/><Relationship Id="rId3" Type="http://schemas.openxmlformats.org/officeDocument/2006/relationships/tags" Target="../tags/tag121.xml"/><Relationship Id="rId7" Type="http://schemas.openxmlformats.org/officeDocument/2006/relationships/slideLayout" Target="../slideLayouts/slideLayout15.xml"/><Relationship Id="rId12" Type="http://schemas.openxmlformats.org/officeDocument/2006/relationships/image" Target="../media/image62.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image" Target="../media/image61.png"/><Relationship Id="rId5" Type="http://schemas.openxmlformats.org/officeDocument/2006/relationships/tags" Target="../tags/tag123.xml"/><Relationship Id="rId10" Type="http://schemas.openxmlformats.org/officeDocument/2006/relationships/image" Target="../media/image60.png"/><Relationship Id="rId4" Type="http://schemas.openxmlformats.org/officeDocument/2006/relationships/tags" Target="../tags/tag122.xml"/><Relationship Id="rId9"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tags" Target="../tags/tag12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722629" y="1049020"/>
            <a:ext cx="7604247" cy="5077460"/>
          </a:xfrm>
          <a:prstGeom prst="rect">
            <a:avLst/>
          </a:prstGeom>
          <a:noFill/>
        </p:spPr>
        <p:txBody>
          <a:bodyPr wrap="square" rtlCol="0">
            <a:spAutoFit/>
          </a:bodyPr>
          <a:lstStyle/>
          <a:p>
            <a:r>
              <a:rPr lang="en-US" sz="5400" b="1" dirty="0">
                <a:solidFill>
                  <a:schemeClr val="bg1"/>
                </a:solidFill>
                <a:latin typeface="Times New Roman" panose="02020603050405020304" pitchFamily="18" charset="0"/>
                <a:ea typeface="DFKai-SB" pitchFamily="65" charset="-120"/>
                <a:sym typeface="+mn-ea"/>
              </a:rPr>
              <a:t>CBD Cal</a:t>
            </a:r>
            <a:r>
              <a:rPr lang="en-US" altLang="zh-CN" sz="5400" b="1" dirty="0">
                <a:solidFill>
                  <a:schemeClr val="bg1"/>
                </a:solidFill>
                <a:latin typeface="Times New Roman" panose="02020603050405020304" pitchFamily="18" charset="0"/>
                <a:ea typeface="DFKai-SB" pitchFamily="65" charset="-120"/>
                <a:sym typeface="+mn-ea"/>
              </a:rPr>
              <a:t>la</a:t>
            </a:r>
            <a:r>
              <a:rPr lang="en-US" sz="5400" b="1" dirty="0">
                <a:solidFill>
                  <a:schemeClr val="bg1"/>
                </a:solidFill>
                <a:latin typeface="Times New Roman" panose="02020603050405020304" pitchFamily="18" charset="0"/>
                <a:ea typeface="DFKai-SB" pitchFamily="65" charset="-120"/>
                <a:sym typeface="+mn-ea"/>
              </a:rPr>
              <a:t> panel</a:t>
            </a:r>
          </a:p>
          <a:p>
            <a:r>
              <a:rPr lang="en-US" sz="5400" b="1" dirty="0">
                <a:solidFill>
                  <a:schemeClr val="bg1"/>
                </a:solidFill>
                <a:latin typeface="Times New Roman" panose="02020603050405020304" pitchFamily="18" charset="0"/>
                <a:ea typeface="DFKai-SB" pitchFamily="65" charset="-120"/>
                <a:sym typeface="+mn-ea"/>
              </a:rPr>
              <a:t>A</a:t>
            </a:r>
            <a:r>
              <a:rPr sz="5400" b="1" dirty="0">
                <a:solidFill>
                  <a:schemeClr val="bg1"/>
                </a:solidFill>
                <a:latin typeface="Times New Roman" panose="02020603050405020304" pitchFamily="18" charset="0"/>
                <a:ea typeface="DFKai-SB" pitchFamily="65" charset="-120"/>
                <a:sym typeface="+mn-ea"/>
              </a:rPr>
              <a:t>utomatic assembly line</a:t>
            </a:r>
          </a:p>
          <a:p>
            <a:r>
              <a:rPr lang="en-US" sz="5400" b="1" dirty="0">
                <a:solidFill>
                  <a:schemeClr val="bg1"/>
                </a:solidFill>
                <a:latin typeface="Times New Roman" panose="02020603050405020304" pitchFamily="18" charset="0"/>
                <a:ea typeface="DFKai-SB" pitchFamily="65" charset="-120"/>
                <a:sym typeface="+mn-ea"/>
              </a:rPr>
              <a:t>--- Point B-side heat dissipation paste Machine</a:t>
            </a:r>
          </a:p>
          <a:p>
            <a:endParaRPr lang="zh-TW" altLang="en-US" sz="5400" b="1" dirty="0">
              <a:solidFill>
                <a:schemeClr val="bg1"/>
              </a:solidFill>
              <a:latin typeface="Times New Roman" panose="02020603050405020304" pitchFamily="18" charset="0"/>
              <a:ea typeface="DFKai-SB" pitchFamily="65" charset="-120"/>
            </a:endParaRPr>
          </a:p>
        </p:txBody>
      </p:sp>
      <p:sp>
        <p:nvSpPr>
          <p:cNvPr id="5" name="文本框 9"/>
          <p:cNvSpPr txBox="1"/>
          <p:nvPr>
            <p:custDataLst>
              <p:tags r:id="rId1"/>
            </p:custDataLst>
          </p:nvPr>
        </p:nvSpPr>
        <p:spPr>
          <a:xfrm>
            <a:off x="870698" y="5384499"/>
            <a:ext cx="4746169" cy="368300"/>
          </a:xfrm>
          <a:prstGeom prst="rect">
            <a:avLst/>
          </a:prstGeom>
          <a:noFill/>
        </p:spPr>
        <p:txBody>
          <a:bodyPr wrap="square" rtlCol="0">
            <a:spAutoFit/>
          </a:bodyPr>
          <a:lstStyle/>
          <a:p>
            <a:pPr hangingPunct="0"/>
            <a:r>
              <a:rPr lang="en-US" altLang="zh-CN"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Jan 23, 2026</a:t>
            </a:r>
            <a:endParaRPr lang="en-US" altLang="zh-TW"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组合 97"/>
          <p:cNvGrpSpPr/>
          <p:nvPr/>
        </p:nvGrpSpPr>
        <p:grpSpPr>
          <a:xfrm>
            <a:off x="389255" y="1431925"/>
            <a:ext cx="11413490" cy="1590040"/>
            <a:chOff x="613" y="2255"/>
            <a:chExt cx="17974" cy="2504"/>
          </a:xfrm>
        </p:grpSpPr>
        <p:pic>
          <p:nvPicPr>
            <p:cNvPr id="2" name="图片 1"/>
            <p:cNvPicPr>
              <a:picLocks noChangeAspect="1"/>
            </p:cNvPicPr>
            <p:nvPr/>
          </p:nvPicPr>
          <p:blipFill>
            <a:blip r:embed="rId5"/>
            <a:stretch>
              <a:fillRect/>
            </a:stretch>
          </p:blipFill>
          <p:spPr>
            <a:xfrm>
              <a:off x="613" y="2255"/>
              <a:ext cx="17975" cy="2505"/>
            </a:xfrm>
            <a:prstGeom prst="rect">
              <a:avLst/>
            </a:prstGeom>
          </p:spPr>
        </p:pic>
        <p:pic>
          <p:nvPicPr>
            <p:cNvPr id="97" name="图片 96"/>
            <p:cNvPicPr>
              <a:picLocks noChangeAspect="1"/>
            </p:cNvPicPr>
            <p:nvPr/>
          </p:nvPicPr>
          <p:blipFill>
            <a:blip r:embed="rId6"/>
            <a:stretch>
              <a:fillRect/>
            </a:stretch>
          </p:blipFill>
          <p:spPr>
            <a:xfrm>
              <a:off x="17240" y="2283"/>
              <a:ext cx="315" cy="600"/>
            </a:xfrm>
            <a:prstGeom prst="rect">
              <a:avLst/>
            </a:prstGeom>
          </p:spPr>
        </p:pic>
      </p:grpSp>
      <p:sp>
        <p:nvSpPr>
          <p:cNvPr id="4"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0300" name="TextBox 35"/>
          <p:cNvSpPr txBox="1">
            <a:spLocks noChangeArrowheads="1"/>
          </p:cNvSpPr>
          <p:nvPr>
            <p:custDataLst>
              <p:tags r:id="rId1"/>
            </p:custDataLst>
          </p:nvPr>
        </p:nvSpPr>
        <p:spPr bwMode="auto">
          <a:xfrm>
            <a:off x="919391" y="135890"/>
            <a:ext cx="812770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3200" i="1" dirty="0">
                <a:solidFill>
                  <a:srgbClr val="0070C0"/>
                </a:solidFill>
                <a:latin typeface="+mn-lt"/>
                <a:sym typeface="Arial" panose="020B0604020202020204" pitchFamily="34" charset="0"/>
              </a:rPr>
              <a:t>CBD Calla PCBA</a:t>
            </a:r>
            <a:r>
              <a:rPr lang="en-US" altLang="zh-CN" sz="3200" i="1" dirty="0">
                <a:solidFill>
                  <a:srgbClr val="0070C0"/>
                </a:solidFill>
                <a:latin typeface="+mn-lt"/>
                <a:sym typeface="Calibri" panose="020F0502020204030204"/>
              </a:rPr>
              <a:t> Assembly Line</a:t>
            </a:r>
            <a:r>
              <a:rPr lang="zh-CN" altLang="en-US" sz="3200" i="1" dirty="0">
                <a:solidFill>
                  <a:srgbClr val="0070C0"/>
                </a:solidFill>
                <a:latin typeface="+mn-lt"/>
                <a:sym typeface="Calibri" panose="020F0502020204030204"/>
              </a:rPr>
              <a:t>（</a:t>
            </a:r>
            <a:r>
              <a:rPr lang="en-US" altLang="zh-CN" sz="3200" i="1" dirty="0">
                <a:solidFill>
                  <a:srgbClr val="0070C0"/>
                </a:solidFill>
                <a:latin typeface="+mn-lt"/>
                <a:sym typeface="Calibri" panose="020F0502020204030204"/>
              </a:rPr>
              <a:t>New</a:t>
            </a:r>
            <a:r>
              <a:rPr lang="zh-CN" altLang="en-US" sz="3200" i="1" dirty="0">
                <a:solidFill>
                  <a:srgbClr val="0070C0"/>
                </a:solidFill>
                <a:latin typeface="+mn-lt"/>
                <a:sym typeface="Calibri" panose="020F0502020204030204"/>
              </a:rPr>
              <a:t>）</a:t>
            </a:r>
          </a:p>
        </p:txBody>
      </p:sp>
      <p:sp>
        <p:nvSpPr>
          <p:cNvPr id="5" name="右箭头 266"/>
          <p:cNvSpPr/>
          <p:nvPr/>
        </p:nvSpPr>
        <p:spPr>
          <a:xfrm>
            <a:off x="278606" y="683010"/>
            <a:ext cx="1277938" cy="341313"/>
          </a:xfrm>
          <a:prstGeom prst="rightArrow">
            <a:avLst>
              <a:gd name="adj1" fmla="val 50000"/>
              <a:gd name="adj2" fmla="val 115543"/>
            </a:avLst>
          </a:prstGeom>
          <a:solidFill>
            <a:srgbClr val="FF0000">
              <a:alpha val="75000"/>
            </a:srgbClr>
          </a:solidFill>
          <a:ln>
            <a:solidFill>
              <a:srgbClr val="FF0000"/>
            </a:solidFill>
          </a:ln>
        </p:spPr>
        <p:style>
          <a:lnRef idx="2">
            <a:schemeClr val="dk1"/>
          </a:lnRef>
          <a:fillRef idx="1">
            <a:schemeClr val="lt1"/>
          </a:fillRef>
          <a:effectRef idx="0">
            <a:schemeClr val="dk1"/>
          </a:effectRef>
          <a:fontRef idx="minor">
            <a:schemeClr val="dk1"/>
          </a:fontRef>
        </p:style>
        <p:txBody>
          <a:bodyPr anchor="ctr"/>
          <a:lstStyle/>
          <a:p>
            <a:pPr algn="ctr"/>
            <a:r>
              <a:rPr lang="zh-CN" altLang="en-US" sz="1400" b="1" dirty="0">
                <a:solidFill>
                  <a:srgbClr val="000000"/>
                </a:solidFill>
                <a:latin typeface="Microsoft JhengHei" panose="020B0604030504040204" pitchFamily="34" charset="-120"/>
                <a:ea typeface="Microsoft JhengHei" panose="020B0604030504040204" pitchFamily="34" charset="-120"/>
                <a:sym typeface="+mn-ea"/>
              </a:rPr>
              <a:t>Line flow </a:t>
            </a:r>
            <a:endParaRPr lang="zh-CN" altLang="en-US" sz="1400" b="1">
              <a:solidFill>
                <a:srgbClr val="000000"/>
              </a:solidFill>
              <a:latin typeface="Microsoft JhengHei" panose="020B0604030504040204" pitchFamily="34" charset="-120"/>
              <a:ea typeface="Microsoft JhengHei" panose="020B0604030504040204" pitchFamily="34" charset="-120"/>
            </a:endParaRPr>
          </a:p>
        </p:txBody>
      </p:sp>
      <p:cxnSp>
        <p:nvCxnSpPr>
          <p:cNvPr id="9" name="直接连接符 8"/>
          <p:cNvCxnSpPr/>
          <p:nvPr/>
        </p:nvCxnSpPr>
        <p:spPr>
          <a:xfrm flipV="1">
            <a:off x="2339674" y="2697756"/>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4079661" y="269773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5550787" y="267167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530225" y="2680335"/>
            <a:ext cx="913130" cy="760730"/>
            <a:chOff x="835" y="4221"/>
            <a:chExt cx="1438" cy="1198"/>
          </a:xfrm>
        </p:grpSpPr>
        <p:sp>
          <p:nvSpPr>
            <p:cNvPr id="6"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 name="直接连接符 6"/>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6" name="直接箭头连接符 15"/>
          <p:cNvCxnSpPr/>
          <p:nvPr/>
        </p:nvCxnSpPr>
        <p:spPr>
          <a:xfrm>
            <a:off x="1416876" y="3370298"/>
            <a:ext cx="93189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2339979" y="3363159"/>
            <a:ext cx="925830" cy="762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254541" y="3362484"/>
            <a:ext cx="850265" cy="889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4069501" y="3363149"/>
            <a:ext cx="960755" cy="825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5563292" y="3353819"/>
            <a:ext cx="882650" cy="889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6"/>
          <p:cNvSpPr txBox="1">
            <a:spLocks noChangeArrowheads="1"/>
          </p:cNvSpPr>
          <p:nvPr/>
        </p:nvSpPr>
        <p:spPr bwMode="auto">
          <a:xfrm>
            <a:off x="1732304" y="3040563"/>
            <a:ext cx="62071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3" name="TextBox 216"/>
          <p:cNvSpPr txBox="1">
            <a:spLocks noChangeArrowheads="1"/>
          </p:cNvSpPr>
          <p:nvPr/>
        </p:nvSpPr>
        <p:spPr bwMode="auto">
          <a:xfrm>
            <a:off x="2581275" y="3029585"/>
            <a:ext cx="5168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sp>
        <p:nvSpPr>
          <p:cNvPr id="24" name="TextBox 216"/>
          <p:cNvSpPr txBox="1">
            <a:spLocks noChangeArrowheads="1"/>
          </p:cNvSpPr>
          <p:nvPr/>
        </p:nvSpPr>
        <p:spPr bwMode="auto">
          <a:xfrm>
            <a:off x="3411636" y="303816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sp>
        <p:nvSpPr>
          <p:cNvPr id="25" name="TextBox 216"/>
          <p:cNvSpPr txBox="1">
            <a:spLocks noChangeArrowheads="1"/>
          </p:cNvSpPr>
          <p:nvPr/>
        </p:nvSpPr>
        <p:spPr bwMode="auto">
          <a:xfrm>
            <a:off x="4330218" y="3022307"/>
            <a:ext cx="6207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6" name="TextBox 216"/>
          <p:cNvSpPr txBox="1">
            <a:spLocks noChangeArrowheads="1"/>
          </p:cNvSpPr>
          <p:nvPr/>
        </p:nvSpPr>
        <p:spPr bwMode="auto">
          <a:xfrm>
            <a:off x="5713730" y="2988945"/>
            <a:ext cx="47434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8" name="TextBox 142"/>
          <p:cNvSpPr txBox="1">
            <a:spLocks noChangeArrowheads="1"/>
          </p:cNvSpPr>
          <p:nvPr/>
        </p:nvSpPr>
        <p:spPr bwMode="auto">
          <a:xfrm>
            <a:off x="50800" y="5969000"/>
            <a:ext cx="1067117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a:t>
            </a:r>
            <a:r>
              <a:rPr lang="en-US" altLang="zh-CN" sz="1400" b="1" dirty="0">
                <a:latin typeface="+mn-lt"/>
                <a:ea typeface="Microsoft JhengHei" panose="020B0604030504040204" pitchFamily="34" charset="-120"/>
                <a:sym typeface="+mn-ea"/>
              </a:rPr>
              <a:t>UPH</a:t>
            </a:r>
            <a:r>
              <a:rPr lang="en-US" altLang="zh-CN" sz="1400" b="1" dirty="0">
                <a:latin typeface="Microsoft JhengHei" panose="020B0604030504040204" pitchFamily="34" charset="-120"/>
                <a:ea typeface="Microsoft JhengHei" panose="020B0604030504040204" pitchFamily="34" charset="-120"/>
              </a:rPr>
              <a:t> </a:t>
            </a:r>
            <a:r>
              <a:rPr lang="zh-CN" altLang="en-US" sz="1400" b="1" dirty="0">
                <a:latin typeface="Microsoft JhengHei" panose="020B0604030504040204" pitchFamily="34" charset="-120"/>
                <a:ea typeface="Microsoft JhengHei" panose="020B0604030504040204" pitchFamily="34" charset="-120"/>
              </a:rPr>
              <a:t>：</a:t>
            </a:r>
            <a:r>
              <a:rPr lang="en-US" altLang="zh-TW" sz="1400" b="1" dirty="0">
                <a:solidFill>
                  <a:srgbClr val="0000FF"/>
                </a:solidFill>
                <a:latin typeface="Microsoft JhengHei" panose="020B0604030504040204" pitchFamily="34" charset="-120"/>
                <a:ea typeface="Microsoft JhengHei" panose="020B0604030504040204" pitchFamily="34" charset="-120"/>
              </a:rPr>
              <a:t>500PCS/H</a:t>
            </a:r>
            <a:endParaRPr lang="en-US" altLang="zh-CN" sz="1400" b="1" dirty="0">
              <a:solidFill>
                <a:srgbClr val="0000FF"/>
              </a:solidFill>
              <a:latin typeface="Microsoft JhengHei" panose="020B0604030504040204" pitchFamily="34" charset="-120"/>
              <a:ea typeface="Microsoft JhengHei" panose="020B0604030504040204" pitchFamily="34" charset="-120"/>
            </a:endParaRPr>
          </a:p>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Dimension </a:t>
            </a:r>
            <a:r>
              <a:rPr lang="zh-CN" altLang="en-US" sz="1400" b="1" dirty="0">
                <a:latin typeface="Microsoft JhengHei" panose="020B0604030504040204" pitchFamily="34" charset="-120"/>
                <a:ea typeface="Microsoft JhengHei" panose="020B0604030504040204" pitchFamily="34" charset="-120"/>
              </a:rPr>
              <a:t>：</a:t>
            </a:r>
            <a:r>
              <a:rPr lang="en-US" altLang="zh-CN" sz="1400" b="1" dirty="0">
                <a:latin typeface="Microsoft JhengHei" panose="020B0604030504040204" pitchFamily="34" charset="-120"/>
                <a:ea typeface="Microsoft JhengHei" panose="020B0604030504040204" pitchFamily="34" charset="-120"/>
              </a:rPr>
              <a:t> </a:t>
            </a:r>
            <a:r>
              <a:rPr lang="en-US" altLang="zh-CN" sz="1400" b="1" dirty="0">
                <a:solidFill>
                  <a:srgbClr val="0000FF"/>
                </a:solidFill>
                <a:latin typeface="Microsoft JhengHei" panose="020B0604030504040204" pitchFamily="34" charset="-120"/>
                <a:ea typeface="Microsoft JhengHei" panose="020B0604030504040204" pitchFamily="34" charset="-120"/>
              </a:rPr>
              <a:t>L 11020mm * W 1500mm * H 1620mm (</a:t>
            </a:r>
            <a:r>
              <a:rPr lang="zh-CN" altLang="en-US" sz="1400" b="1" dirty="0">
                <a:solidFill>
                  <a:srgbClr val="0000FF"/>
                </a:solidFill>
                <a:latin typeface="Microsoft JhengHei" panose="020B0604030504040204" pitchFamily="34" charset="-120"/>
                <a:ea typeface="Microsoft JhengHei" panose="020B0604030504040204" pitchFamily="34" charset="-120"/>
                <a:sym typeface="+mn-ea"/>
              </a:rPr>
              <a:t>For reference, according to the actual</a:t>
            </a:r>
            <a:r>
              <a:rPr lang="en-US" altLang="zh-CN" sz="1400" b="1" dirty="0">
                <a:solidFill>
                  <a:srgbClr val="0000FF"/>
                </a:solidFill>
                <a:latin typeface="Microsoft JhengHei" panose="020B0604030504040204" pitchFamily="34" charset="-120"/>
                <a:ea typeface="Microsoft JhengHei" panose="020B0604030504040204" pitchFamily="34" charset="-120"/>
              </a:rPr>
              <a:t>)</a:t>
            </a:r>
          </a:p>
        </p:txBody>
      </p:sp>
      <p:graphicFrame>
        <p:nvGraphicFramePr>
          <p:cNvPr id="31" name="表格 30"/>
          <p:cNvGraphicFramePr>
            <a:graphicFrameLocks noGrp="1"/>
          </p:cNvGraphicFramePr>
          <p:nvPr>
            <p:custDataLst>
              <p:tags r:id="rId2"/>
            </p:custDataLst>
          </p:nvPr>
        </p:nvGraphicFramePr>
        <p:xfrm>
          <a:off x="50800" y="3550285"/>
          <a:ext cx="11752580" cy="2115185"/>
        </p:xfrm>
        <a:graphic>
          <a:graphicData uri="http://schemas.openxmlformats.org/drawingml/2006/table">
            <a:tbl>
              <a:tblPr/>
              <a:tblGrid>
                <a:gridCol w="504190">
                  <a:extLst>
                    <a:ext uri="{9D8B030D-6E8A-4147-A177-3AD203B41FA5}">
                      <a16:colId xmlns:a16="http://schemas.microsoft.com/office/drawing/2014/main" val="20000"/>
                    </a:ext>
                  </a:extLst>
                </a:gridCol>
                <a:gridCol w="879475">
                  <a:extLst>
                    <a:ext uri="{9D8B030D-6E8A-4147-A177-3AD203B41FA5}">
                      <a16:colId xmlns:a16="http://schemas.microsoft.com/office/drawing/2014/main" val="20001"/>
                    </a:ext>
                  </a:extLst>
                </a:gridCol>
                <a:gridCol w="931545">
                  <a:extLst>
                    <a:ext uri="{9D8B030D-6E8A-4147-A177-3AD203B41FA5}">
                      <a16:colId xmlns:a16="http://schemas.microsoft.com/office/drawing/2014/main" val="20002"/>
                    </a:ext>
                  </a:extLst>
                </a:gridCol>
                <a:gridCol w="986790">
                  <a:extLst>
                    <a:ext uri="{9D8B030D-6E8A-4147-A177-3AD203B41FA5}">
                      <a16:colId xmlns:a16="http://schemas.microsoft.com/office/drawing/2014/main" val="20003"/>
                    </a:ext>
                  </a:extLst>
                </a:gridCol>
                <a:gridCol w="678815">
                  <a:extLst>
                    <a:ext uri="{9D8B030D-6E8A-4147-A177-3AD203B41FA5}">
                      <a16:colId xmlns:a16="http://schemas.microsoft.com/office/drawing/2014/main" val="20004"/>
                    </a:ext>
                  </a:extLst>
                </a:gridCol>
                <a:gridCol w="948690">
                  <a:extLst>
                    <a:ext uri="{9D8B030D-6E8A-4147-A177-3AD203B41FA5}">
                      <a16:colId xmlns:a16="http://schemas.microsoft.com/office/drawing/2014/main" val="20005"/>
                    </a:ext>
                  </a:extLst>
                </a:gridCol>
                <a:gridCol w="532765">
                  <a:extLst>
                    <a:ext uri="{9D8B030D-6E8A-4147-A177-3AD203B41FA5}">
                      <a16:colId xmlns:a16="http://schemas.microsoft.com/office/drawing/2014/main" val="20006"/>
                    </a:ext>
                  </a:extLst>
                </a:gridCol>
                <a:gridCol w="902335">
                  <a:extLst>
                    <a:ext uri="{9D8B030D-6E8A-4147-A177-3AD203B41FA5}">
                      <a16:colId xmlns:a16="http://schemas.microsoft.com/office/drawing/2014/main" val="20007"/>
                    </a:ext>
                  </a:extLst>
                </a:gridCol>
                <a:gridCol w="941070">
                  <a:extLst>
                    <a:ext uri="{9D8B030D-6E8A-4147-A177-3AD203B41FA5}">
                      <a16:colId xmlns:a16="http://schemas.microsoft.com/office/drawing/2014/main" val="20008"/>
                    </a:ext>
                  </a:extLst>
                </a:gridCol>
                <a:gridCol w="951230">
                  <a:extLst>
                    <a:ext uri="{9D8B030D-6E8A-4147-A177-3AD203B41FA5}">
                      <a16:colId xmlns:a16="http://schemas.microsoft.com/office/drawing/2014/main" val="20009"/>
                    </a:ext>
                  </a:extLst>
                </a:gridCol>
                <a:gridCol w="746125">
                  <a:extLst>
                    <a:ext uri="{9D8B030D-6E8A-4147-A177-3AD203B41FA5}">
                      <a16:colId xmlns:a16="http://schemas.microsoft.com/office/drawing/2014/main" val="20010"/>
                    </a:ext>
                  </a:extLst>
                </a:gridCol>
                <a:gridCol w="908685">
                  <a:extLst>
                    <a:ext uri="{9D8B030D-6E8A-4147-A177-3AD203B41FA5}">
                      <a16:colId xmlns:a16="http://schemas.microsoft.com/office/drawing/2014/main" val="20011"/>
                    </a:ext>
                  </a:extLst>
                </a:gridCol>
                <a:gridCol w="852170">
                  <a:extLst>
                    <a:ext uri="{9D8B030D-6E8A-4147-A177-3AD203B41FA5}">
                      <a16:colId xmlns:a16="http://schemas.microsoft.com/office/drawing/2014/main" val="20012"/>
                    </a:ext>
                  </a:extLst>
                </a:gridCol>
                <a:gridCol w="988695">
                  <a:extLst>
                    <a:ext uri="{9D8B030D-6E8A-4147-A177-3AD203B41FA5}">
                      <a16:colId xmlns:a16="http://schemas.microsoft.com/office/drawing/2014/main" val="20013"/>
                    </a:ext>
                  </a:extLst>
                </a:gridCol>
              </a:tblGrid>
              <a:tr h="243840">
                <a:tc>
                  <a:txBody>
                    <a:bodyPr/>
                    <a:lstStyle/>
                    <a:p>
                      <a:pPr algn="ctr"/>
                      <a:r>
                        <a:rPr lang="en-US" altLang="zh-TW" sz="900" dirty="0">
                          <a:solidFill>
                            <a:sysClr val="windowText" lastClr="000000"/>
                          </a:solidFill>
                          <a:sym typeface="+mn-ea"/>
                        </a:rPr>
                        <a:t>Item</a:t>
                      </a:r>
                      <a:endParaRPr kumimoji="0" lang="en-US" altLang="zh-TW"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7</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8</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9</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5486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900" dirty="0">
                          <a:ln>
                            <a:noFill/>
                          </a:ln>
                          <a:solidFill>
                            <a:srgbClr val="000000"/>
                          </a:solidFill>
                          <a:effectLst/>
                          <a:latin typeface="Microsoft JhengHei" panose="020B0604030504040204" pitchFamily="34" charset="-120"/>
                          <a:ea typeface="Microsoft JhengHei" panose="020B0604030504040204" pitchFamily="34" charset="-120"/>
                          <a:sym typeface="+mn-ea"/>
                        </a:rPr>
                        <a:t>Equipment</a:t>
                      </a:r>
                      <a:endParaRPr kumimoji="0" lang="zh-CN" altLang="en-US" sz="9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algn="ctr" fontAlgn="ctr">
                        <a:buClrTx/>
                        <a:buSzTx/>
                        <a:buFontTx/>
                      </a:pPr>
                      <a:r>
                        <a:rPr lang="zh-CN" altLang="en-US" sz="1000" dirty="0">
                          <a:ln>
                            <a:noFill/>
                          </a:ln>
                          <a:solidFill>
                            <a:srgbClr val="000000"/>
                          </a:solidFill>
                          <a:effectLst/>
                          <a:latin typeface="Calibri" panose="020F0502020204030204" charset="0"/>
                          <a:ea typeface="PMingLiU" panose="02020500000000000000" pitchFamily="18" charset="-120"/>
                          <a:sym typeface="+mn-ea"/>
                        </a:rPr>
                        <a:t>Stick B-side EMI  Machine</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lang="zh-CN" altLang="en-US" sz="1000" dirty="0">
                          <a:ln>
                            <a:noFill/>
                          </a:ln>
                          <a:solidFill>
                            <a:srgbClr val="000000"/>
                          </a:solidFill>
                          <a:effectLst/>
                          <a:latin typeface="Calibri" panose="020F0502020204030204" charset="0"/>
                          <a:ea typeface="PMingLiU" panose="02020500000000000000" pitchFamily="18" charset="-120"/>
                          <a:sym typeface="+mn-ea"/>
                        </a:rPr>
                        <a:t>Point B-side heat dissipation paste Machine</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heat sink Machine</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r>
                        <a:rPr lang="en-US" altLang="zh-CN" sz="1000" dirty="0">
                          <a:ln>
                            <a:noFill/>
                          </a:ln>
                          <a:solidFill>
                            <a:srgbClr val="000000"/>
                          </a:solidFill>
                          <a:effectLst/>
                          <a:latin typeface="Calibri" panose="020F0502020204030204" charset="0"/>
                          <a:ea typeface="PMingLiU" panose="02020500000000000000" pitchFamily="18" charset="-120"/>
                          <a:sym typeface="+mn-ea"/>
                        </a:rPr>
                        <a:t>Robot</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B-side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*2</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base">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Flip Over Machine</a:t>
                      </a:r>
                      <a:endPar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EMI  Machine</a:t>
                      </a:r>
                      <a:endParaRPr kumimoji="1"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r>
                        <a:rPr kumimoji="1" lang="zh-CN" altLang="en-US" sz="1000" i="0" dirty="0">
                          <a:ln>
                            <a:noFill/>
                          </a:ln>
                          <a:solidFill>
                            <a:srgbClr val="000000"/>
                          </a:solidFill>
                          <a:effectLst/>
                          <a:latin typeface="Calibri" panose="020F0502020204030204" charset="0"/>
                          <a:ea typeface="PMingLiU" panose="02020500000000000000" pitchFamily="18" charset="-120"/>
                        </a:rPr>
                        <a:t>Point T-side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heat sink Machine</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r>
                        <a:rPr lang="en-US" altLang="zh-CN" sz="1000" dirty="0">
                          <a:ln>
                            <a:noFill/>
                          </a:ln>
                          <a:solidFill>
                            <a:srgbClr val="000000"/>
                          </a:solidFill>
                          <a:effectLst/>
                          <a:latin typeface="Calibri" panose="020F0502020204030204" charset="0"/>
                          <a:ea typeface="PMingLiU" panose="02020500000000000000" pitchFamily="18" charset="-120"/>
                          <a:sym typeface="+mn-ea"/>
                        </a:rPr>
                        <a:t>Robot</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endParaRPr kumimoji="1"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endParaRPr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a:t>
                      </a:r>
                      <a:r>
                        <a:rPr kumimoji="1" lang="en-US" altLang="zh-CN" sz="1000" dirty="0">
                          <a:ln>
                            <a:noFill/>
                          </a:ln>
                          <a:solidFill>
                            <a:srgbClr val="000000"/>
                          </a:solidFill>
                          <a:effectLst/>
                          <a:latin typeface="Calibri" panose="020F0502020204030204" charset="0"/>
                          <a:ea typeface="PMingLiU" panose="02020500000000000000" pitchFamily="18" charset="-120"/>
                          <a:sym typeface="+mn-ea"/>
                        </a:rPr>
                        <a:t>FSS</a:t>
                      </a: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  Machine</a:t>
                      </a:r>
                      <a:endParaRPr kumimoji="1" lang="zh-TW"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algn="ctr" defTabSz="914400" rtl="0" eaLnBrk="1" fontAlgn="base" latinLnBrk="0" hangingPunct="1">
                        <a:lnSpc>
                          <a:spcPct val="100000"/>
                        </a:lnSpc>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Pressing</a:t>
                      </a:r>
                      <a:r>
                        <a:rPr kumimoji="1" lang="en-US" altLang="zh-CN" sz="1000" dirty="0">
                          <a:ln>
                            <a:noFill/>
                          </a:ln>
                          <a:solidFill>
                            <a:srgbClr val="000000"/>
                          </a:solidFill>
                          <a:effectLst/>
                          <a:latin typeface="Calibri" panose="020F0502020204030204" charset="0"/>
                          <a:ea typeface="PMingLiU" panose="02020500000000000000" pitchFamily="18" charset="-120"/>
                          <a:sym typeface="+mn-ea"/>
                        </a:rPr>
                        <a:t> FSS</a:t>
                      </a: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 machine</a:t>
                      </a:r>
                      <a:endParaRPr kumimoji="1" lang="en-US" altLang="zh-CN"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foam Machine</a:t>
                      </a:r>
                      <a:r>
                        <a:rPr kumimoji="0"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a:t>
                      </a:r>
                      <a:r>
                        <a:rPr kumimoji="0" lang="en-US" altLang="zh-CN" sz="1000" b="0" i="0" u="none" strike="noStrike" cap="none" normalizeH="0" baseline="0" dirty="0">
                          <a:ln>
                            <a:noFill/>
                          </a:ln>
                          <a:solidFill>
                            <a:srgbClr val="000000"/>
                          </a:solidFill>
                          <a:effectLst/>
                          <a:latin typeface="Calibri" panose="020F0502020204030204" charset="0"/>
                          <a:ea typeface="PMingLiU" panose="02020500000000000000" pitchFamily="18" charset="-120"/>
                        </a:rPr>
                        <a:t>2</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1"/>
                  </a:ext>
                </a:extLst>
              </a:tr>
              <a:tr h="389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dirty="0">
                          <a:solidFill>
                            <a:sysClr val="windowText" lastClr="000000"/>
                          </a:solidFill>
                          <a:sym typeface="+mn-ea"/>
                        </a:rPr>
                        <a:t>New</a:t>
                      </a:r>
                      <a:endParaRPr lang="en-US" altLang="zh-CN" sz="900" b="0" dirty="0">
                        <a:solidFill>
                          <a:sysClr val="windowText" lastClr="000000"/>
                        </a:solidFill>
                        <a:latin typeface="+mn-lt"/>
                        <a:ea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dirty="0">
                          <a:solidFill>
                            <a:sysClr val="windowText" lastClr="000000"/>
                          </a:solidFill>
                          <a:sym typeface="+mn-ea"/>
                        </a:rPr>
                        <a:t>/Old</a:t>
                      </a:r>
                      <a:endParaRPr kumimoji="0" lang="en-US" altLang="zh-CN"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old</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new</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9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CT(S)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dirty="0">
                          <a:ln>
                            <a:noFill/>
                          </a:ln>
                          <a:solidFill>
                            <a:srgbClr val="000000"/>
                          </a:solidFill>
                          <a:effectLst/>
                          <a:latin typeface="Microsoft JhengHei" panose="020B0604030504040204" pitchFamily="34" charset="-120"/>
                          <a:ea typeface="+mn-ea"/>
                        </a:rPr>
                        <a:t>6</a:t>
                      </a:r>
                      <a:endParaRPr kumimoji="0" 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689610">
                <a:tc>
                  <a:txBody>
                    <a:bodyPr/>
                    <a:lstStyle/>
                    <a:p>
                      <a:pPr algn="ctr"/>
                      <a:r>
                        <a:rPr lang="en-US" altLang="zh-CN" sz="900" dirty="0">
                          <a:solidFill>
                            <a:sysClr val="windowText" lastClr="000000"/>
                          </a:solidFill>
                          <a:ea typeface="Microsoft JhengHei" panose="020B0604030504040204" pitchFamily="34" charset="-120"/>
                          <a:sym typeface="+mn-ea"/>
                        </a:rPr>
                        <a:t>Feeding method</a:t>
                      </a:r>
                      <a:endParaRPr kumimoji="0" lang="en-US" altLang="zh-CN"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a:t>
                      </a: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bucket</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bucket</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algn="ctr" defTabSz="914400" rtl="0" eaLnBrk="1" fontAlgn="base" latinLnBrk="0" hangingPunct="1">
                        <a:lnSpc>
                          <a:spcPct val="100000"/>
                        </a:lnSpc>
                        <a:buClrTx/>
                        <a:buSzTx/>
                        <a:buFontTx/>
                        <a:buNone/>
                      </a:pPr>
                      <a:r>
                        <a:rPr lang="en-US" altLang="zh-TW" sz="1000" dirty="0">
                          <a:ln>
                            <a:noFill/>
                          </a:ln>
                          <a:solidFill>
                            <a:srgbClr val="000000"/>
                          </a:solidFill>
                          <a:effectLst/>
                          <a:latin typeface="Microsoft JhengHei" panose="020B0604030504040204" pitchFamily="34" charset="-120"/>
                          <a:ea typeface="Microsoft JhengHei" panose="020B0604030504040204" pitchFamily="34" charset="-120"/>
                          <a:sym typeface="+mn-ea"/>
                        </a:rPr>
                        <a:t>/</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4"/>
                  </a:ext>
                </a:extLst>
              </a:tr>
            </a:tbl>
          </a:graphicData>
        </a:graphic>
      </p:graphicFrame>
      <p:grpSp>
        <p:nvGrpSpPr>
          <p:cNvPr id="21" name="组合 20"/>
          <p:cNvGrpSpPr/>
          <p:nvPr/>
        </p:nvGrpSpPr>
        <p:grpSpPr>
          <a:xfrm>
            <a:off x="5684520" y="6004560"/>
            <a:ext cx="1674495" cy="245110"/>
            <a:chOff x="9325" y="9456"/>
            <a:chExt cx="2637" cy="386"/>
          </a:xfrm>
        </p:grpSpPr>
        <p:sp>
          <p:nvSpPr>
            <p:cNvPr id="32" name="Rectangle 17"/>
            <p:cNvSpPr>
              <a:spLocks noChangeArrowheads="1"/>
            </p:cNvSpPr>
            <p:nvPr/>
          </p:nvSpPr>
          <p:spPr bwMode="auto">
            <a:xfrm>
              <a:off x="9325" y="9525"/>
              <a:ext cx="401" cy="290"/>
            </a:xfrm>
            <a:prstGeom prst="rect">
              <a:avLst/>
            </a:prstGeom>
            <a:solidFill>
              <a:schemeClr val="accent4">
                <a:lumMod val="40000"/>
                <a:lumOff val="60000"/>
              </a:schemeClr>
            </a:solidFill>
            <a:ln w="9525">
              <a:solidFill>
                <a:schemeClr val="tx1"/>
              </a:solidFill>
              <a:miter lim="800000"/>
            </a:ln>
          </p:spPr>
          <p:txBody>
            <a:bodyPr anchor="ctr"/>
            <a:lstStyle/>
            <a:p>
              <a:pPr algn="ctr"/>
              <a:endParaRPr lang="en-US" altLang="zh-CN" sz="1000"/>
            </a:p>
          </p:txBody>
        </p:sp>
        <p:sp>
          <p:nvSpPr>
            <p:cNvPr id="33" name="TextBox 121"/>
            <p:cNvSpPr txBox="1">
              <a:spLocks noChangeArrowheads="1"/>
            </p:cNvSpPr>
            <p:nvPr/>
          </p:nvSpPr>
          <p:spPr bwMode="auto">
            <a:xfrm>
              <a:off x="9821" y="9456"/>
              <a:ext cx="2141"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a:t>
              </a:r>
              <a:r>
                <a:rPr lang="zh-CN" altLang="en-US" sz="1000" b="1" dirty="0">
                  <a:latin typeface="Microsoft JhengHei" panose="020B0604030504040204" pitchFamily="34" charset="-120"/>
                  <a:ea typeface="Microsoft JhengHei" panose="020B0604030504040204" pitchFamily="34" charset="-120"/>
                </a:rPr>
                <a:t>(new)</a:t>
              </a:r>
            </a:p>
          </p:txBody>
        </p:sp>
      </p:grpSp>
      <p:grpSp>
        <p:nvGrpSpPr>
          <p:cNvPr id="27" name="组合 26"/>
          <p:cNvGrpSpPr/>
          <p:nvPr/>
        </p:nvGrpSpPr>
        <p:grpSpPr>
          <a:xfrm>
            <a:off x="7640320" y="6004560"/>
            <a:ext cx="1736725" cy="245110"/>
            <a:chOff x="12405" y="9456"/>
            <a:chExt cx="2735" cy="386"/>
          </a:xfrm>
        </p:grpSpPr>
        <p:sp>
          <p:nvSpPr>
            <p:cNvPr id="35" name="Rectangle 17"/>
            <p:cNvSpPr>
              <a:spLocks noChangeArrowheads="1"/>
            </p:cNvSpPr>
            <p:nvPr/>
          </p:nvSpPr>
          <p:spPr bwMode="auto">
            <a:xfrm>
              <a:off x="12405" y="9525"/>
              <a:ext cx="565" cy="290"/>
            </a:xfrm>
            <a:prstGeom prst="rect">
              <a:avLst/>
            </a:prstGeom>
            <a:solidFill>
              <a:schemeClr val="accent6">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36" name="TextBox 121"/>
            <p:cNvSpPr txBox="1">
              <a:spLocks noChangeArrowheads="1"/>
            </p:cNvSpPr>
            <p:nvPr/>
          </p:nvSpPr>
          <p:spPr bwMode="auto">
            <a:xfrm>
              <a:off x="13012" y="9456"/>
              <a:ext cx="212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machine(old)</a:t>
              </a:r>
              <a:endParaRPr lang="zh-CN" altLang="en-US" sz="1000" b="1" dirty="0">
                <a:latin typeface="Microsoft JhengHei" panose="020B0604030504040204" pitchFamily="34" charset="-120"/>
                <a:ea typeface="Microsoft JhengHei" panose="020B0604030504040204" pitchFamily="34" charset="-120"/>
              </a:endParaRPr>
            </a:p>
          </p:txBody>
        </p:sp>
      </p:grpSp>
      <p:cxnSp>
        <p:nvCxnSpPr>
          <p:cNvPr id="54" name="直接连接符 53"/>
          <p:cNvCxnSpPr/>
          <p:nvPr/>
        </p:nvCxnSpPr>
        <p:spPr>
          <a:xfrm flipV="1">
            <a:off x="5015686" y="2671144"/>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TextBox 216"/>
          <p:cNvSpPr txBox="1">
            <a:spLocks noChangeArrowheads="1"/>
          </p:cNvSpPr>
          <p:nvPr/>
        </p:nvSpPr>
        <p:spPr bwMode="auto">
          <a:xfrm>
            <a:off x="5092065" y="2986405"/>
            <a:ext cx="47117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600</a:t>
            </a:r>
            <a:endParaRPr lang="zh-CN" altLang="en-US" sz="1300" b="1" dirty="0">
              <a:latin typeface="宋体" panose="02010600030101010101" pitchFamily="2" charset="-122"/>
              <a:ea typeface="宋体" panose="02010600030101010101" pitchFamily="2" charset="-122"/>
            </a:endParaRPr>
          </a:p>
        </p:txBody>
      </p:sp>
      <p:cxnSp>
        <p:nvCxnSpPr>
          <p:cNvPr id="56" name="直接箭头连接符 55"/>
          <p:cNvCxnSpPr/>
          <p:nvPr/>
        </p:nvCxnSpPr>
        <p:spPr>
          <a:xfrm>
            <a:off x="5012442" y="3363269"/>
            <a:ext cx="541655"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3261694" y="2702201"/>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6437882" y="267167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9" name="组合 58"/>
          <p:cNvGrpSpPr/>
          <p:nvPr/>
        </p:nvGrpSpPr>
        <p:grpSpPr>
          <a:xfrm>
            <a:off x="6437630" y="2680335"/>
            <a:ext cx="913130" cy="760730"/>
            <a:chOff x="835" y="4221"/>
            <a:chExt cx="1438" cy="1198"/>
          </a:xfrm>
        </p:grpSpPr>
        <p:sp>
          <p:nvSpPr>
            <p:cNvPr id="74"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5" name="直接连接符 74"/>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7359015" y="2667635"/>
            <a:ext cx="913130" cy="761365"/>
            <a:chOff x="835" y="4221"/>
            <a:chExt cx="1438" cy="1199"/>
          </a:xfrm>
        </p:grpSpPr>
        <p:sp>
          <p:nvSpPr>
            <p:cNvPr id="79" name="TextBox 216"/>
            <p:cNvSpPr txBox="1">
              <a:spLocks noChangeArrowheads="1"/>
            </p:cNvSpPr>
            <p:nvPr/>
          </p:nvSpPr>
          <p:spPr bwMode="auto">
            <a:xfrm>
              <a:off x="1208" y="4766"/>
              <a:ext cx="978"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cxnSp>
          <p:nvCxnSpPr>
            <p:cNvPr id="80" name="直接连接符 79"/>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83" name="直接箭头连接符 82"/>
          <p:cNvCxnSpPr/>
          <p:nvPr/>
        </p:nvCxnSpPr>
        <p:spPr>
          <a:xfrm>
            <a:off x="8258341" y="3349149"/>
            <a:ext cx="806450" cy="63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4" name="TextBox 216"/>
          <p:cNvSpPr txBox="1">
            <a:spLocks noChangeArrowheads="1"/>
          </p:cNvSpPr>
          <p:nvPr/>
        </p:nvSpPr>
        <p:spPr bwMode="auto">
          <a:xfrm>
            <a:off x="8467506" y="302038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grpSp>
        <p:nvGrpSpPr>
          <p:cNvPr id="85" name="组合 84"/>
          <p:cNvGrpSpPr/>
          <p:nvPr/>
        </p:nvGrpSpPr>
        <p:grpSpPr>
          <a:xfrm>
            <a:off x="9068435" y="2665730"/>
            <a:ext cx="913130" cy="760730"/>
            <a:chOff x="835" y="4221"/>
            <a:chExt cx="1438" cy="1198"/>
          </a:xfrm>
        </p:grpSpPr>
        <p:sp>
          <p:nvSpPr>
            <p:cNvPr id="86"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87" name="直接连接符 86"/>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90" name="直接箭头连接符 89"/>
          <p:cNvCxnSpPr/>
          <p:nvPr/>
        </p:nvCxnSpPr>
        <p:spPr>
          <a:xfrm>
            <a:off x="9994431" y="3361849"/>
            <a:ext cx="806450" cy="63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TextBox 216"/>
          <p:cNvSpPr txBox="1">
            <a:spLocks noChangeArrowheads="1"/>
          </p:cNvSpPr>
          <p:nvPr/>
        </p:nvSpPr>
        <p:spPr bwMode="auto">
          <a:xfrm>
            <a:off x="10203596" y="303308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grpSp>
        <p:nvGrpSpPr>
          <p:cNvPr id="92" name="组合 91"/>
          <p:cNvGrpSpPr/>
          <p:nvPr/>
        </p:nvGrpSpPr>
        <p:grpSpPr>
          <a:xfrm>
            <a:off x="10800715" y="2670175"/>
            <a:ext cx="913130" cy="760730"/>
            <a:chOff x="835" y="4221"/>
            <a:chExt cx="1438" cy="1198"/>
          </a:xfrm>
        </p:grpSpPr>
        <p:sp>
          <p:nvSpPr>
            <p:cNvPr id="93"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94" name="直接连接符 93"/>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pic>
        <p:nvPicPr>
          <p:cNvPr id="102" name="图片 101"/>
          <p:cNvPicPr>
            <a:picLocks noChangeAspect="1"/>
          </p:cNvPicPr>
          <p:nvPr/>
        </p:nvPicPr>
        <p:blipFill>
          <a:blip r:embed="rId7"/>
          <a:srcRect b="4129"/>
          <a:stretch>
            <a:fillRect/>
          </a:stretch>
        </p:blipFill>
        <p:spPr>
          <a:xfrm>
            <a:off x="7358380" y="1484630"/>
            <a:ext cx="855345" cy="1223645"/>
          </a:xfrm>
          <a:prstGeom prst="rect">
            <a:avLst/>
          </a:prstGeom>
        </p:spPr>
      </p:pic>
      <p:pic>
        <p:nvPicPr>
          <p:cNvPr id="103" name="图片 102"/>
          <p:cNvPicPr>
            <a:picLocks noChangeAspect="1"/>
          </p:cNvPicPr>
          <p:nvPr/>
        </p:nvPicPr>
        <p:blipFill>
          <a:blip r:embed="rId7"/>
          <a:srcRect b="4129"/>
          <a:stretch>
            <a:fillRect/>
          </a:stretch>
        </p:blipFill>
        <p:spPr>
          <a:xfrm>
            <a:off x="2353310" y="1473835"/>
            <a:ext cx="855345" cy="1223645"/>
          </a:xfrm>
          <a:prstGeom prst="rect">
            <a:avLst/>
          </a:prstGeom>
        </p:spPr>
      </p:pic>
      <p:pic>
        <p:nvPicPr>
          <p:cNvPr id="107" name="图片 106"/>
          <p:cNvPicPr>
            <a:picLocks noChangeAspect="1"/>
          </p:cNvPicPr>
          <p:nvPr/>
        </p:nvPicPr>
        <p:blipFill>
          <a:blip r:embed="rId8"/>
          <a:srcRect l="5827" t="10046" r="928" b="7778"/>
          <a:stretch>
            <a:fillRect/>
          </a:stretch>
        </p:blipFill>
        <p:spPr>
          <a:xfrm>
            <a:off x="1388110" y="1099185"/>
            <a:ext cx="943610" cy="374650"/>
          </a:xfrm>
          <a:prstGeom prst="rect">
            <a:avLst/>
          </a:prstGeom>
        </p:spPr>
      </p:pic>
      <p:pic>
        <p:nvPicPr>
          <p:cNvPr id="108" name="图片 35"/>
          <p:cNvPicPr>
            <a:picLocks noChangeAspect="1"/>
          </p:cNvPicPr>
          <p:nvPr/>
        </p:nvPicPr>
        <p:blipFill>
          <a:blip r:embed="rId9"/>
          <a:srcRect/>
          <a:stretch>
            <a:fillRect/>
          </a:stretch>
        </p:blipFill>
        <p:spPr bwMode="auto">
          <a:xfrm>
            <a:off x="839363" y="1023939"/>
            <a:ext cx="1587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图片 108"/>
          <p:cNvPicPr>
            <a:picLocks noChangeAspect="1"/>
          </p:cNvPicPr>
          <p:nvPr/>
        </p:nvPicPr>
        <p:blipFill>
          <a:blip r:embed="rId10"/>
          <a:stretch>
            <a:fillRect/>
          </a:stretch>
        </p:blipFill>
        <p:spPr>
          <a:xfrm>
            <a:off x="2494915" y="1099185"/>
            <a:ext cx="800100" cy="314325"/>
          </a:xfrm>
          <a:prstGeom prst="rect">
            <a:avLst/>
          </a:prstGeom>
        </p:spPr>
      </p:pic>
      <p:pic>
        <p:nvPicPr>
          <p:cNvPr id="114" name="图片 113"/>
          <p:cNvPicPr>
            <a:picLocks noChangeAspect="1"/>
          </p:cNvPicPr>
          <p:nvPr/>
        </p:nvPicPr>
        <p:blipFill>
          <a:blip r:embed="rId11"/>
          <a:srcRect t="67250" r="67259"/>
          <a:stretch>
            <a:fillRect/>
          </a:stretch>
        </p:blipFill>
        <p:spPr>
          <a:xfrm>
            <a:off x="4242435" y="1282700"/>
            <a:ext cx="198755" cy="118745"/>
          </a:xfrm>
          <a:prstGeom prst="rect">
            <a:avLst/>
          </a:prstGeom>
        </p:spPr>
      </p:pic>
      <p:pic>
        <p:nvPicPr>
          <p:cNvPr id="115" name="图片 114"/>
          <p:cNvPicPr>
            <a:picLocks noChangeAspect="1"/>
          </p:cNvPicPr>
          <p:nvPr/>
        </p:nvPicPr>
        <p:blipFill>
          <a:blip r:embed="rId11"/>
          <a:srcRect t="67250" r="67259"/>
          <a:stretch>
            <a:fillRect/>
          </a:stretch>
        </p:blipFill>
        <p:spPr>
          <a:xfrm>
            <a:off x="4541520" y="1282700"/>
            <a:ext cx="198755" cy="118745"/>
          </a:xfrm>
          <a:prstGeom prst="rect">
            <a:avLst/>
          </a:prstGeom>
        </p:spPr>
      </p:pic>
      <p:pic>
        <p:nvPicPr>
          <p:cNvPr id="116" name="图片 115"/>
          <p:cNvPicPr>
            <a:picLocks noChangeAspect="1"/>
          </p:cNvPicPr>
          <p:nvPr/>
        </p:nvPicPr>
        <p:blipFill>
          <a:blip r:embed="rId12" cstate="screen"/>
          <a:stretch>
            <a:fillRect/>
          </a:stretch>
        </p:blipFill>
        <p:spPr>
          <a:xfrm>
            <a:off x="5654308" y="945344"/>
            <a:ext cx="534321" cy="534321"/>
          </a:xfrm>
          <a:prstGeom prst="rect">
            <a:avLst/>
          </a:prstGeom>
        </p:spPr>
      </p:pic>
      <p:pic>
        <p:nvPicPr>
          <p:cNvPr id="117" name="图片 116"/>
          <p:cNvPicPr>
            <a:picLocks noChangeAspect="1"/>
          </p:cNvPicPr>
          <p:nvPr/>
        </p:nvPicPr>
        <p:blipFill>
          <a:blip r:embed="rId13"/>
          <a:stretch>
            <a:fillRect/>
          </a:stretch>
        </p:blipFill>
        <p:spPr>
          <a:xfrm>
            <a:off x="6727749" y="1133231"/>
            <a:ext cx="349329" cy="370213"/>
          </a:xfrm>
          <a:prstGeom prst="rect">
            <a:avLst/>
          </a:prstGeom>
        </p:spPr>
      </p:pic>
      <p:pic>
        <p:nvPicPr>
          <p:cNvPr id="118" name="图片 117"/>
          <p:cNvPicPr>
            <a:picLocks noChangeAspect="1"/>
          </p:cNvPicPr>
          <p:nvPr/>
        </p:nvPicPr>
        <p:blipFill>
          <a:blip r:embed="rId10"/>
          <a:stretch>
            <a:fillRect/>
          </a:stretch>
        </p:blipFill>
        <p:spPr>
          <a:xfrm>
            <a:off x="7413625" y="1087120"/>
            <a:ext cx="800100" cy="314325"/>
          </a:xfrm>
          <a:prstGeom prst="rect">
            <a:avLst/>
          </a:prstGeom>
        </p:spPr>
      </p:pic>
      <p:pic>
        <p:nvPicPr>
          <p:cNvPr id="119" name="图片 118"/>
          <p:cNvPicPr>
            <a:picLocks noChangeAspect="1"/>
          </p:cNvPicPr>
          <p:nvPr/>
        </p:nvPicPr>
        <p:blipFill>
          <a:blip r:embed="rId14"/>
          <a:srcRect b="18285"/>
          <a:stretch>
            <a:fillRect/>
          </a:stretch>
        </p:blipFill>
        <p:spPr>
          <a:xfrm>
            <a:off x="8975725" y="1098550"/>
            <a:ext cx="1005840" cy="313055"/>
          </a:xfrm>
          <a:prstGeom prst="rect">
            <a:avLst/>
          </a:prstGeom>
        </p:spPr>
      </p:pic>
      <p:pic>
        <p:nvPicPr>
          <p:cNvPr id="121" name="图片 120"/>
          <p:cNvPicPr>
            <a:picLocks noChangeAspect="1"/>
          </p:cNvPicPr>
          <p:nvPr/>
        </p:nvPicPr>
        <p:blipFill>
          <a:blip r:embed="rId15"/>
          <a:stretch>
            <a:fillRect/>
          </a:stretch>
        </p:blipFill>
        <p:spPr>
          <a:xfrm>
            <a:off x="10791825" y="1079500"/>
            <a:ext cx="866775" cy="400050"/>
          </a:xfrm>
          <a:prstGeom prst="rect">
            <a:avLst/>
          </a:prstGeom>
        </p:spPr>
      </p:pic>
      <p:grpSp>
        <p:nvGrpSpPr>
          <p:cNvPr id="14" name="组合 13"/>
          <p:cNvGrpSpPr/>
          <p:nvPr/>
        </p:nvGrpSpPr>
        <p:grpSpPr>
          <a:xfrm>
            <a:off x="9481995" y="6015355"/>
            <a:ext cx="2473150" cy="245110"/>
            <a:chOff x="16637" y="9987"/>
            <a:chExt cx="3895" cy="386"/>
          </a:xfrm>
        </p:grpSpPr>
        <p:sp>
          <p:nvSpPr>
            <p:cNvPr id="10" name="Rectangle 17"/>
            <p:cNvSpPr>
              <a:spLocks noChangeArrowheads="1"/>
            </p:cNvSpPr>
            <p:nvPr/>
          </p:nvSpPr>
          <p:spPr bwMode="auto">
            <a:xfrm>
              <a:off x="16637" y="10011"/>
              <a:ext cx="565" cy="290"/>
            </a:xfrm>
            <a:prstGeom prst="rect">
              <a:avLst/>
            </a:prstGeom>
            <a:solidFill>
              <a:schemeClr val="accent5">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13" name="TextBox 121"/>
            <p:cNvSpPr txBox="1">
              <a:spLocks noChangeArrowheads="1"/>
            </p:cNvSpPr>
            <p:nvPr/>
          </p:nvSpPr>
          <p:spPr bwMode="auto">
            <a:xfrm>
              <a:off x="17202" y="9987"/>
              <a:ext cx="3330"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a:t>
              </a:r>
              <a:r>
                <a:rPr lang="zh-CN" altLang="en-US" sz="1000" b="1" dirty="0">
                  <a:latin typeface="Microsoft JhengHei" panose="020B0604030504040204" pitchFamily="34" charset="-120"/>
                  <a:ea typeface="Microsoft JhengHei" panose="020B0604030504040204" pitchFamily="34" charset="-120"/>
                </a:rPr>
                <a:t> machine（</a:t>
              </a:r>
              <a:r>
                <a:rPr lang="zh-CN" altLang="en-US" sz="1000" b="1" dirty="0">
                  <a:latin typeface="Microsoft JhengHei" panose="020B0604030504040204" pitchFamily="34" charset="-120"/>
                  <a:ea typeface="Microsoft JhengHei" panose="020B0604030504040204" pitchFamily="34" charset="-120"/>
                  <a:sym typeface="+mn-ea"/>
                </a:rPr>
                <a:t>Guest supply</a:t>
              </a:r>
              <a:r>
                <a:rPr lang="zh-CN" altLang="en-US" sz="1000" b="1" dirty="0">
                  <a:latin typeface="Microsoft JhengHei" panose="020B0604030504040204" pitchFamily="34" charset="-120"/>
                  <a:ea typeface="Microsoft JhengHei" panose="020B0604030504040204" pitchFamily="34" charset="-120"/>
                </a:rPr>
                <a:t>）</a:t>
              </a:r>
            </a:p>
          </p:txBody>
        </p:sp>
      </p:grpSp>
      <p:sp>
        <p:nvSpPr>
          <p:cNvPr id="29" name="椭圆 28"/>
          <p:cNvSpPr/>
          <p:nvPr>
            <p:custDataLst>
              <p:tags r:id="rId3"/>
            </p:custDataLst>
          </p:nvPr>
        </p:nvSpPr>
        <p:spPr>
          <a:xfrm>
            <a:off x="1276985" y="841375"/>
            <a:ext cx="1304290" cy="488378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5"/>
          <a:stretch>
            <a:fillRect/>
          </a:stretch>
        </p:blipFill>
        <p:spPr>
          <a:xfrm>
            <a:off x="1089530" y="1445395"/>
            <a:ext cx="10022842" cy="1947962"/>
          </a:xfrm>
          <a:prstGeom prst="rect">
            <a:avLst/>
          </a:prstGeom>
        </p:spPr>
      </p:pic>
      <p:graphicFrame>
        <p:nvGraphicFramePr>
          <p:cNvPr id="131" name="表格 130"/>
          <p:cNvGraphicFramePr>
            <a:graphicFrameLocks noGrp="1"/>
          </p:cNvGraphicFramePr>
          <p:nvPr>
            <p:custDataLst>
              <p:tags r:id="rId1"/>
            </p:custDataLst>
          </p:nvPr>
        </p:nvGraphicFramePr>
        <p:xfrm>
          <a:off x="770890" y="3770630"/>
          <a:ext cx="10081895" cy="1823720"/>
        </p:xfrm>
        <a:graphic>
          <a:graphicData uri="http://schemas.openxmlformats.org/drawingml/2006/table">
            <a:tbl>
              <a:tblPr/>
              <a:tblGrid>
                <a:gridCol w="640080">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897890">
                  <a:extLst>
                    <a:ext uri="{9D8B030D-6E8A-4147-A177-3AD203B41FA5}">
                      <a16:colId xmlns:a16="http://schemas.microsoft.com/office/drawing/2014/main" val="20002"/>
                    </a:ext>
                  </a:extLst>
                </a:gridCol>
                <a:gridCol w="821690">
                  <a:extLst>
                    <a:ext uri="{9D8B030D-6E8A-4147-A177-3AD203B41FA5}">
                      <a16:colId xmlns:a16="http://schemas.microsoft.com/office/drawing/2014/main" val="20003"/>
                    </a:ext>
                  </a:extLst>
                </a:gridCol>
                <a:gridCol w="768985">
                  <a:extLst>
                    <a:ext uri="{9D8B030D-6E8A-4147-A177-3AD203B41FA5}">
                      <a16:colId xmlns:a16="http://schemas.microsoft.com/office/drawing/2014/main" val="20004"/>
                    </a:ext>
                  </a:extLst>
                </a:gridCol>
                <a:gridCol w="989330">
                  <a:extLst>
                    <a:ext uri="{9D8B030D-6E8A-4147-A177-3AD203B41FA5}">
                      <a16:colId xmlns:a16="http://schemas.microsoft.com/office/drawing/2014/main" val="20005"/>
                    </a:ext>
                  </a:extLst>
                </a:gridCol>
                <a:gridCol w="545465">
                  <a:extLst>
                    <a:ext uri="{9D8B030D-6E8A-4147-A177-3AD203B41FA5}">
                      <a16:colId xmlns:a16="http://schemas.microsoft.com/office/drawing/2014/main" val="20006"/>
                    </a:ext>
                  </a:extLst>
                </a:gridCol>
                <a:gridCol w="956310">
                  <a:extLst>
                    <a:ext uri="{9D8B030D-6E8A-4147-A177-3AD203B41FA5}">
                      <a16:colId xmlns:a16="http://schemas.microsoft.com/office/drawing/2014/main" val="20007"/>
                    </a:ext>
                  </a:extLst>
                </a:gridCol>
                <a:gridCol w="901065">
                  <a:extLst>
                    <a:ext uri="{9D8B030D-6E8A-4147-A177-3AD203B41FA5}">
                      <a16:colId xmlns:a16="http://schemas.microsoft.com/office/drawing/2014/main" val="20008"/>
                    </a:ext>
                  </a:extLst>
                </a:gridCol>
                <a:gridCol w="849630">
                  <a:extLst>
                    <a:ext uri="{9D8B030D-6E8A-4147-A177-3AD203B41FA5}">
                      <a16:colId xmlns:a16="http://schemas.microsoft.com/office/drawing/2014/main" val="20009"/>
                    </a:ext>
                  </a:extLst>
                </a:gridCol>
                <a:gridCol w="777240">
                  <a:extLst>
                    <a:ext uri="{9D8B030D-6E8A-4147-A177-3AD203B41FA5}">
                      <a16:colId xmlns:a16="http://schemas.microsoft.com/office/drawing/2014/main" val="20010"/>
                    </a:ext>
                  </a:extLst>
                </a:gridCol>
                <a:gridCol w="978535">
                  <a:extLst>
                    <a:ext uri="{9D8B030D-6E8A-4147-A177-3AD203B41FA5}">
                      <a16:colId xmlns:a16="http://schemas.microsoft.com/office/drawing/2014/main" val="20011"/>
                    </a:ext>
                  </a:extLst>
                </a:gridCol>
              </a:tblGrid>
              <a:tr h="243840">
                <a:tc>
                  <a:txBody>
                    <a:bodyPr/>
                    <a:lstStyle/>
                    <a:p>
                      <a:pPr algn="ctr"/>
                      <a:r>
                        <a:rPr lang="en-US" altLang="zh-TW" sz="1000" dirty="0">
                          <a:solidFill>
                            <a:sysClr val="windowText" lastClr="000000"/>
                          </a:solidFill>
                          <a:sym typeface="+mn-ea"/>
                        </a:rPr>
                        <a:t>Item</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7</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8</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9</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10</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5435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000" dirty="0">
                          <a:ln>
                            <a:noFill/>
                          </a:ln>
                          <a:solidFill>
                            <a:srgbClr val="000000"/>
                          </a:solidFill>
                          <a:effectLst/>
                          <a:latin typeface="Microsoft JhengHei" panose="020B0604030504040204" pitchFamily="34" charset="-120"/>
                          <a:ea typeface="Microsoft JhengHei" panose="020B0604030504040204" pitchFamily="34" charset="-120"/>
                          <a:sym typeface="+mn-ea"/>
                        </a:rPr>
                        <a:t>Equipment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Point B-side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EMI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heat sink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B-side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*2</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Flip Over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r>
                        <a:rPr kumimoji="1" lang="zh-CN" altLang="en-US" sz="1000" i="0" dirty="0">
                          <a:ln>
                            <a:noFill/>
                          </a:ln>
                          <a:solidFill>
                            <a:srgbClr val="000000"/>
                          </a:solidFill>
                          <a:effectLst/>
                          <a:latin typeface="Calibri" panose="020F0502020204030204" charset="0"/>
                          <a:ea typeface="PMingLiU" panose="02020500000000000000" pitchFamily="18" charset="-120"/>
                        </a:rPr>
                        <a:t>Point T-side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EMI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heat sink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Pressing machine</a:t>
                      </a:r>
                      <a:endParaRPr kumimoji="1" lang="zh-TW"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*1</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1"/>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sysClr val="windowText" lastClr="000000"/>
                          </a:solidFill>
                          <a:sym typeface="+mn-ea"/>
                        </a:rPr>
                        <a:t>New</a:t>
                      </a:r>
                      <a:endParaRPr lang="en-US" altLang="zh-CN" sz="1000" b="0" dirty="0">
                        <a:solidFill>
                          <a:sysClr val="windowText" lastClr="000000"/>
                        </a:solidFill>
                        <a:latin typeface="+mn-lt"/>
                        <a:ea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sysClr val="windowText" lastClr="000000"/>
                          </a:solidFill>
                          <a:sym typeface="+mn-ea"/>
                        </a:rPr>
                        <a:t>/Old</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old</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new</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new</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CT(S)</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396240">
                <a:tc>
                  <a:txBody>
                    <a:bodyPr/>
                    <a:lstStyle/>
                    <a:p>
                      <a:pPr algn="ctr"/>
                      <a:r>
                        <a:rPr lang="en-US" altLang="zh-CN" sz="1000" dirty="0">
                          <a:solidFill>
                            <a:sysClr val="windowText" lastClr="000000"/>
                          </a:solidFill>
                          <a:ea typeface="Microsoft JhengHei" panose="020B0604030504040204" pitchFamily="34" charset="-120"/>
                          <a:sym typeface="+mn-ea"/>
                        </a:rPr>
                        <a:t>Feeding method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Plastic bucket</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bucket</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4"/>
                  </a:ext>
                </a:extLst>
              </a:tr>
            </a:tbl>
          </a:graphicData>
        </a:graphic>
      </p:graphicFrame>
      <p:sp>
        <p:nvSpPr>
          <p:cNvPr id="4"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0300" name="TextBox 35"/>
          <p:cNvSpPr txBox="1">
            <a:spLocks noChangeArrowheads="1"/>
          </p:cNvSpPr>
          <p:nvPr>
            <p:custDataLst>
              <p:tags r:id="rId2"/>
            </p:custDataLst>
          </p:nvPr>
        </p:nvSpPr>
        <p:spPr bwMode="auto">
          <a:xfrm>
            <a:off x="919391" y="135890"/>
            <a:ext cx="812770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3200" i="1">
                <a:solidFill>
                  <a:srgbClr val="0070C0"/>
                </a:solidFill>
                <a:latin typeface="+mn-lt"/>
                <a:sym typeface="Arial" panose="020B0604020202020204" pitchFamily="34" charset="0"/>
              </a:rPr>
              <a:t>CBD </a:t>
            </a:r>
            <a:r>
              <a:rPr lang="en-US" altLang="zh-CN" sz="3200" i="1" smtClean="0">
                <a:solidFill>
                  <a:srgbClr val="0070C0"/>
                </a:solidFill>
                <a:latin typeface="+mn-lt"/>
                <a:sym typeface="Arial" panose="020B0604020202020204" pitchFamily="34" charset="0"/>
              </a:rPr>
              <a:t>Conny </a:t>
            </a:r>
            <a:r>
              <a:rPr lang="en-US" altLang="zh-CN" sz="3200" i="1" dirty="0">
                <a:solidFill>
                  <a:srgbClr val="0070C0"/>
                </a:solidFill>
                <a:latin typeface="+mn-lt"/>
                <a:sym typeface="Arial" panose="020B0604020202020204" pitchFamily="34" charset="0"/>
              </a:rPr>
              <a:t>PCBA</a:t>
            </a:r>
            <a:r>
              <a:rPr lang="en-US" altLang="zh-CN" sz="3200" i="1" dirty="0">
                <a:solidFill>
                  <a:srgbClr val="0070C0"/>
                </a:solidFill>
                <a:latin typeface="+mn-lt"/>
                <a:sym typeface="Calibri" panose="020F0502020204030204"/>
              </a:rPr>
              <a:t> Assembly Line</a:t>
            </a:r>
            <a:r>
              <a:rPr lang="zh-CN" altLang="en-US" sz="3200" i="1" dirty="0">
                <a:solidFill>
                  <a:srgbClr val="0070C0"/>
                </a:solidFill>
                <a:latin typeface="+mn-lt"/>
                <a:sym typeface="Calibri" panose="020F0502020204030204"/>
              </a:rPr>
              <a:t>（</a:t>
            </a:r>
            <a:r>
              <a:rPr lang="en-US" altLang="zh-CN" sz="3200" i="1" dirty="0">
                <a:solidFill>
                  <a:srgbClr val="0070C0"/>
                </a:solidFill>
                <a:latin typeface="+mn-lt"/>
                <a:sym typeface="Calibri" panose="020F0502020204030204"/>
              </a:rPr>
              <a:t>Old</a:t>
            </a:r>
            <a:r>
              <a:rPr lang="zh-CN" altLang="en-US" sz="3200" i="1" dirty="0">
                <a:solidFill>
                  <a:srgbClr val="0070C0"/>
                </a:solidFill>
                <a:latin typeface="+mn-lt"/>
                <a:sym typeface="Calibri" panose="020F0502020204030204"/>
              </a:rPr>
              <a:t>）</a:t>
            </a:r>
          </a:p>
        </p:txBody>
      </p:sp>
      <p:sp>
        <p:nvSpPr>
          <p:cNvPr id="5" name="右箭头 266"/>
          <p:cNvSpPr/>
          <p:nvPr/>
        </p:nvSpPr>
        <p:spPr>
          <a:xfrm>
            <a:off x="278606" y="683010"/>
            <a:ext cx="1277938" cy="341313"/>
          </a:xfrm>
          <a:prstGeom prst="rightArrow">
            <a:avLst>
              <a:gd name="adj1" fmla="val 50000"/>
              <a:gd name="adj2" fmla="val 115543"/>
            </a:avLst>
          </a:prstGeom>
          <a:solidFill>
            <a:srgbClr val="FF0000">
              <a:alpha val="75000"/>
            </a:srgbClr>
          </a:solidFill>
          <a:ln>
            <a:solidFill>
              <a:srgbClr val="FF0000"/>
            </a:solidFill>
          </a:ln>
        </p:spPr>
        <p:style>
          <a:lnRef idx="2">
            <a:schemeClr val="dk1"/>
          </a:lnRef>
          <a:fillRef idx="1">
            <a:schemeClr val="lt1"/>
          </a:fillRef>
          <a:effectRef idx="0">
            <a:schemeClr val="dk1"/>
          </a:effectRef>
          <a:fontRef idx="minor">
            <a:schemeClr val="dk1"/>
          </a:fontRef>
        </p:style>
        <p:txBody>
          <a:bodyPr anchor="ctr"/>
          <a:lstStyle/>
          <a:p>
            <a:pPr algn="ctr"/>
            <a:r>
              <a:rPr lang="zh-CN" altLang="en-US" sz="1400" b="1" dirty="0">
                <a:solidFill>
                  <a:srgbClr val="000000"/>
                </a:solidFill>
                <a:latin typeface="Microsoft JhengHei" panose="020B0604030504040204" pitchFamily="34" charset="-120"/>
                <a:ea typeface="Microsoft JhengHei" panose="020B0604030504040204" pitchFamily="34" charset="-120"/>
                <a:sym typeface="+mn-ea"/>
              </a:rPr>
              <a:t>Line flow </a:t>
            </a:r>
            <a:endParaRPr lang="zh-CN" altLang="en-US" sz="1400" b="1">
              <a:solidFill>
                <a:srgbClr val="000000"/>
              </a:solidFill>
              <a:latin typeface="Microsoft JhengHei" panose="020B0604030504040204" pitchFamily="34" charset="-120"/>
              <a:ea typeface="Microsoft JhengHei" panose="020B0604030504040204" pitchFamily="34" charset="-120"/>
            </a:endParaRPr>
          </a:p>
        </p:txBody>
      </p:sp>
      <p:sp>
        <p:nvSpPr>
          <p:cNvPr id="28" name="TextBox 142"/>
          <p:cNvSpPr txBox="1">
            <a:spLocks noChangeArrowheads="1"/>
          </p:cNvSpPr>
          <p:nvPr/>
        </p:nvSpPr>
        <p:spPr bwMode="auto">
          <a:xfrm>
            <a:off x="50800" y="5969000"/>
            <a:ext cx="1067117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a:t>
            </a:r>
            <a:r>
              <a:rPr lang="en-US" altLang="zh-CN" sz="1400" b="1" dirty="0">
                <a:latin typeface="+mn-lt"/>
                <a:ea typeface="Microsoft JhengHei" panose="020B0604030504040204" pitchFamily="34" charset="-120"/>
                <a:sym typeface="+mn-ea"/>
              </a:rPr>
              <a:t>UPH</a:t>
            </a:r>
            <a:r>
              <a:rPr lang="en-US" altLang="zh-CN" sz="1400" b="1" dirty="0">
                <a:latin typeface="Microsoft JhengHei" panose="020B0604030504040204" pitchFamily="34" charset="-120"/>
                <a:ea typeface="Microsoft JhengHei" panose="020B0604030504040204" pitchFamily="34" charset="-120"/>
              </a:rPr>
              <a:t> </a:t>
            </a:r>
            <a:r>
              <a:rPr lang="zh-CN" altLang="en-US" sz="1400" b="1" dirty="0">
                <a:latin typeface="Microsoft JhengHei" panose="020B0604030504040204" pitchFamily="34" charset="-120"/>
                <a:ea typeface="Microsoft JhengHei" panose="020B0604030504040204" pitchFamily="34" charset="-120"/>
              </a:rPr>
              <a:t>：</a:t>
            </a:r>
            <a:r>
              <a:rPr lang="en-US" altLang="zh-TW" sz="1400" b="1" dirty="0">
                <a:solidFill>
                  <a:srgbClr val="0000FF"/>
                </a:solidFill>
                <a:latin typeface="Microsoft JhengHei" panose="020B0604030504040204" pitchFamily="34" charset="-120"/>
                <a:ea typeface="Microsoft JhengHei" panose="020B0604030504040204" pitchFamily="34" charset="-120"/>
              </a:rPr>
              <a:t>500PCS/H</a:t>
            </a:r>
            <a:endParaRPr lang="en-US" altLang="zh-CN" sz="1400" b="1" dirty="0">
              <a:solidFill>
                <a:srgbClr val="0000FF"/>
              </a:solidFill>
              <a:latin typeface="Microsoft JhengHei" panose="020B0604030504040204" pitchFamily="34" charset="-120"/>
              <a:ea typeface="Microsoft JhengHei" panose="020B0604030504040204" pitchFamily="34" charset="-120"/>
            </a:endParaRPr>
          </a:p>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Dimension </a:t>
            </a:r>
            <a:r>
              <a:rPr lang="zh-CN" altLang="en-US" sz="1400" b="1" dirty="0">
                <a:latin typeface="Microsoft JhengHei" panose="020B0604030504040204" pitchFamily="34" charset="-120"/>
                <a:ea typeface="Microsoft JhengHei" panose="020B0604030504040204" pitchFamily="34" charset="-120"/>
              </a:rPr>
              <a:t>：</a:t>
            </a:r>
            <a:r>
              <a:rPr lang="en-US" altLang="zh-CN" sz="1400" b="1" dirty="0">
                <a:latin typeface="Microsoft JhengHei" panose="020B0604030504040204" pitchFamily="34" charset="-120"/>
                <a:ea typeface="Microsoft JhengHei" panose="020B0604030504040204" pitchFamily="34" charset="-120"/>
              </a:rPr>
              <a:t> </a:t>
            </a:r>
            <a:r>
              <a:rPr lang="en-US" altLang="zh-CN" sz="1400" b="1" dirty="0">
                <a:solidFill>
                  <a:srgbClr val="0000FF"/>
                </a:solidFill>
                <a:latin typeface="Microsoft JhengHei" panose="020B0604030504040204" pitchFamily="34" charset="-120"/>
                <a:ea typeface="Microsoft JhengHei" panose="020B0604030504040204" pitchFamily="34" charset="-120"/>
              </a:rPr>
              <a:t>L 9300mm * W 1500mm * H 1620mm (</a:t>
            </a:r>
            <a:r>
              <a:rPr lang="zh-CN" altLang="en-US" sz="1400" b="1" dirty="0">
                <a:solidFill>
                  <a:srgbClr val="0000FF"/>
                </a:solidFill>
                <a:latin typeface="Microsoft JhengHei" panose="020B0604030504040204" pitchFamily="34" charset="-120"/>
                <a:ea typeface="Microsoft JhengHei" panose="020B0604030504040204" pitchFamily="34" charset="-120"/>
                <a:sym typeface="+mn-ea"/>
              </a:rPr>
              <a:t>For reference, according to the actual</a:t>
            </a:r>
            <a:r>
              <a:rPr lang="en-US" altLang="zh-CN" sz="1400" b="1" dirty="0">
                <a:solidFill>
                  <a:srgbClr val="0000FF"/>
                </a:solidFill>
                <a:latin typeface="Microsoft JhengHei" panose="020B0604030504040204" pitchFamily="34" charset="-120"/>
                <a:ea typeface="Microsoft JhengHei" panose="020B0604030504040204" pitchFamily="34" charset="-120"/>
              </a:rPr>
              <a:t>)</a:t>
            </a:r>
          </a:p>
        </p:txBody>
      </p:sp>
      <p:grpSp>
        <p:nvGrpSpPr>
          <p:cNvPr id="6" name="组合 5"/>
          <p:cNvGrpSpPr/>
          <p:nvPr/>
        </p:nvGrpSpPr>
        <p:grpSpPr>
          <a:xfrm>
            <a:off x="1410970" y="2671445"/>
            <a:ext cx="9382125" cy="788670"/>
            <a:chOff x="2538" y="4207"/>
            <a:chExt cx="14775" cy="1242"/>
          </a:xfrm>
        </p:grpSpPr>
        <p:sp>
          <p:nvSpPr>
            <p:cNvPr id="30724" name="TextBox 216"/>
            <p:cNvSpPr txBox="1">
              <a:spLocks noChangeArrowheads="1"/>
            </p:cNvSpPr>
            <p:nvPr/>
          </p:nvSpPr>
          <p:spPr bwMode="auto">
            <a:xfrm>
              <a:off x="2912"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194" name="直接连接符 193"/>
            <p:cNvCxnSpPr/>
            <p:nvPr/>
          </p:nvCxnSpPr>
          <p:spPr>
            <a:xfrm flipV="1">
              <a:off x="2538"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a:xfrm flipV="1">
              <a:off x="3976"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直接连接符 195"/>
            <p:cNvCxnSpPr/>
            <p:nvPr/>
          </p:nvCxnSpPr>
          <p:spPr>
            <a:xfrm flipV="1">
              <a:off x="5429" y="4248"/>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V="1">
              <a:off x="6746"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V="1">
              <a:off x="8066" y="421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V="1">
              <a:off x="9519" y="4227"/>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flipV="1">
              <a:off x="10328" y="425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flipV="1">
              <a:off x="11764"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2" name="直接箭头连接符 211"/>
            <p:cNvCxnSpPr/>
            <p:nvPr/>
          </p:nvCxnSpPr>
          <p:spPr>
            <a:xfrm>
              <a:off x="2538"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3" name="直接箭头连接符 212"/>
            <p:cNvCxnSpPr/>
            <p:nvPr/>
          </p:nvCxnSpPr>
          <p:spPr>
            <a:xfrm>
              <a:off x="3976" y="5321"/>
              <a:ext cx="1468"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4" name="直接箭头连接符 213"/>
            <p:cNvCxnSpPr/>
            <p:nvPr/>
          </p:nvCxnSpPr>
          <p:spPr>
            <a:xfrm flipV="1">
              <a:off x="5443" y="5321"/>
              <a:ext cx="1303" cy="1"/>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5" name="直接箭头连接符 214"/>
            <p:cNvCxnSpPr/>
            <p:nvPr/>
          </p:nvCxnSpPr>
          <p:spPr>
            <a:xfrm>
              <a:off x="6746" y="5316"/>
              <a:ext cx="1320"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6" name="直接箭头连接符 215"/>
            <p:cNvCxnSpPr/>
            <p:nvPr/>
          </p:nvCxnSpPr>
          <p:spPr>
            <a:xfrm>
              <a:off x="8066" y="5310"/>
              <a:ext cx="1453"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7" name="直接箭头连接符 216"/>
            <p:cNvCxnSpPr/>
            <p:nvPr/>
          </p:nvCxnSpPr>
          <p:spPr>
            <a:xfrm>
              <a:off x="9519" y="5312"/>
              <a:ext cx="809"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8" name="直接箭头连接符 217"/>
            <p:cNvCxnSpPr/>
            <p:nvPr/>
          </p:nvCxnSpPr>
          <p:spPr>
            <a:xfrm>
              <a:off x="10328" y="5316"/>
              <a:ext cx="1436"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6" name="TextBox 216"/>
            <p:cNvSpPr txBox="1">
              <a:spLocks noChangeArrowheads="1"/>
            </p:cNvSpPr>
            <p:nvPr/>
          </p:nvSpPr>
          <p:spPr bwMode="auto">
            <a:xfrm>
              <a:off x="4362" y="4788"/>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30757" name="TextBox 216"/>
            <p:cNvSpPr txBox="1">
              <a:spLocks noChangeArrowheads="1"/>
            </p:cNvSpPr>
            <p:nvPr/>
          </p:nvSpPr>
          <p:spPr bwMode="auto">
            <a:xfrm>
              <a:off x="5738" y="4790"/>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800</a:t>
              </a:r>
              <a:endParaRPr lang="zh-CN" altLang="en-US" sz="1300" b="1">
                <a:latin typeface="宋体" panose="02010600030101010101" pitchFamily="2" charset="-122"/>
                <a:ea typeface="宋体" panose="02010600030101010101" pitchFamily="2" charset="-122"/>
              </a:endParaRPr>
            </a:p>
          </p:txBody>
        </p:sp>
        <p:sp>
          <p:nvSpPr>
            <p:cNvPr id="30758" name="TextBox 216"/>
            <p:cNvSpPr txBox="1">
              <a:spLocks noChangeArrowheads="1"/>
            </p:cNvSpPr>
            <p:nvPr/>
          </p:nvSpPr>
          <p:spPr bwMode="auto">
            <a:xfrm>
              <a:off x="7034" y="4785"/>
              <a:ext cx="70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sp>
          <p:nvSpPr>
            <p:cNvPr id="30759" name="TextBox 216"/>
            <p:cNvSpPr txBox="1">
              <a:spLocks noChangeArrowheads="1"/>
            </p:cNvSpPr>
            <p:nvPr/>
          </p:nvSpPr>
          <p:spPr bwMode="auto">
            <a:xfrm>
              <a:off x="8435" y="4797"/>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30760" name="TextBox 216"/>
            <p:cNvSpPr txBox="1">
              <a:spLocks noChangeArrowheads="1"/>
            </p:cNvSpPr>
            <p:nvPr/>
          </p:nvSpPr>
          <p:spPr bwMode="auto">
            <a:xfrm>
              <a:off x="9585" y="4773"/>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6</a:t>
              </a:r>
              <a:r>
                <a:rPr lang="en-US" altLang="zh-CN" sz="1300" b="1" dirty="0" smtClean="0">
                  <a:latin typeface="宋体" panose="02010600030101010101" pitchFamily="2" charset="-122"/>
                  <a:ea typeface="宋体" panose="02010600030101010101" pitchFamily="2" charset="-122"/>
                </a:rPr>
                <a:t>00</a:t>
              </a:r>
              <a:endParaRPr lang="zh-CN" altLang="en-US" sz="1300" b="1" dirty="0">
                <a:latin typeface="宋体" panose="02010600030101010101" pitchFamily="2" charset="-122"/>
                <a:ea typeface="宋体" panose="02010600030101010101" pitchFamily="2" charset="-122"/>
              </a:endParaRPr>
            </a:p>
          </p:txBody>
        </p:sp>
        <p:sp>
          <p:nvSpPr>
            <p:cNvPr id="30761" name="TextBox 216"/>
            <p:cNvSpPr txBox="1">
              <a:spLocks noChangeArrowheads="1"/>
            </p:cNvSpPr>
            <p:nvPr/>
          </p:nvSpPr>
          <p:spPr bwMode="auto">
            <a:xfrm>
              <a:off x="10745" y="4803"/>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246" name="直接箭头连接符 245"/>
            <p:cNvCxnSpPr/>
            <p:nvPr/>
          </p:nvCxnSpPr>
          <p:spPr>
            <a:xfrm>
              <a:off x="14557" y="5312"/>
              <a:ext cx="129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73" name="TextBox 216"/>
            <p:cNvSpPr txBox="1">
              <a:spLocks noChangeArrowheads="1"/>
            </p:cNvSpPr>
            <p:nvPr/>
          </p:nvSpPr>
          <p:spPr bwMode="auto">
            <a:xfrm>
              <a:off x="14857" y="4790"/>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cxnSp>
          <p:nvCxnSpPr>
            <p:cNvPr id="7" name="直接连接符 6"/>
            <p:cNvCxnSpPr/>
            <p:nvPr/>
          </p:nvCxnSpPr>
          <p:spPr>
            <a:xfrm flipV="1">
              <a:off x="13224" y="4207"/>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4550"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5860"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3233" y="5310"/>
              <a:ext cx="131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216"/>
            <p:cNvSpPr txBox="1">
              <a:spLocks noChangeArrowheads="1"/>
            </p:cNvSpPr>
            <p:nvPr/>
          </p:nvSpPr>
          <p:spPr bwMode="auto">
            <a:xfrm>
              <a:off x="13546" y="4790"/>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cxnSp>
          <p:nvCxnSpPr>
            <p:cNvPr id="12" name="直接箭头连接符 11"/>
            <p:cNvCxnSpPr/>
            <p:nvPr/>
          </p:nvCxnSpPr>
          <p:spPr>
            <a:xfrm>
              <a:off x="11764" y="5316"/>
              <a:ext cx="1460"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216"/>
            <p:cNvSpPr txBox="1">
              <a:spLocks noChangeArrowheads="1"/>
            </p:cNvSpPr>
            <p:nvPr/>
          </p:nvSpPr>
          <p:spPr bwMode="auto">
            <a:xfrm>
              <a:off x="12138" y="4805"/>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1" name="直接箭头连接符 70"/>
            <p:cNvCxnSpPr/>
            <p:nvPr/>
          </p:nvCxnSpPr>
          <p:spPr>
            <a:xfrm>
              <a:off x="15844" y="5317"/>
              <a:ext cx="1469"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216"/>
            <p:cNvSpPr txBox="1">
              <a:spLocks noChangeArrowheads="1"/>
            </p:cNvSpPr>
            <p:nvPr/>
          </p:nvSpPr>
          <p:spPr bwMode="auto">
            <a:xfrm>
              <a:off x="16297" y="4796"/>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3" name="直接连接符 72"/>
            <p:cNvCxnSpPr/>
            <p:nvPr/>
          </p:nvCxnSpPr>
          <p:spPr>
            <a:xfrm flipV="1">
              <a:off x="17313" y="4219"/>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79245" y="1043940"/>
            <a:ext cx="8785225" cy="497205"/>
            <a:chOff x="2803" y="1644"/>
            <a:chExt cx="13835" cy="783"/>
          </a:xfrm>
        </p:grpSpPr>
        <p:pic>
          <p:nvPicPr>
            <p:cNvPr id="30920" name="图片 3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70" y="1644"/>
              <a:ext cx="250" cy="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24" name="图片 4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244" y="1685"/>
              <a:ext cx="250" cy="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6" name="图片 53"/>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15" y="1797"/>
              <a:ext cx="282"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7" name="图片 2"/>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768" y="1687"/>
              <a:ext cx="558"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2"/>
            <p:cNvPicPr>
              <a:picLocks noChangeAspect="1"/>
            </p:cNvPicPr>
            <p:nvPr/>
          </p:nvPicPr>
          <p:blipFill rotWithShape="1">
            <a:blip r:embed="rId9"/>
            <a:srcRect l="24249" t="21012" r="16655" b="13838"/>
            <a:stretch>
              <a:fillRect/>
            </a:stretch>
          </p:blipFill>
          <p:spPr>
            <a:xfrm>
              <a:off x="16282" y="1929"/>
              <a:ext cx="356" cy="288"/>
            </a:xfrm>
            <a:prstGeom prst="rect">
              <a:avLst/>
            </a:prstGeom>
          </p:spPr>
        </p:pic>
        <p:pic>
          <p:nvPicPr>
            <p:cNvPr id="24" name="图片 23"/>
            <p:cNvPicPr>
              <a:picLocks noChangeAspect="1"/>
            </p:cNvPicPr>
            <p:nvPr/>
          </p:nvPicPr>
          <p:blipFill>
            <a:blip r:embed="rId10"/>
            <a:stretch>
              <a:fillRect/>
            </a:stretch>
          </p:blipFill>
          <p:spPr>
            <a:xfrm>
              <a:off x="5395" y="1771"/>
              <a:ext cx="1353" cy="547"/>
            </a:xfrm>
            <a:prstGeom prst="rect">
              <a:avLst/>
            </a:prstGeom>
          </p:spPr>
        </p:pic>
        <p:pic>
          <p:nvPicPr>
            <p:cNvPr id="25" name="图片 24"/>
            <p:cNvPicPr>
              <a:picLocks noChangeAspect="1"/>
            </p:cNvPicPr>
            <p:nvPr/>
          </p:nvPicPr>
          <p:blipFill>
            <a:blip r:embed="rId11"/>
            <a:stretch>
              <a:fillRect/>
            </a:stretch>
          </p:blipFill>
          <p:spPr>
            <a:xfrm>
              <a:off x="13224" y="1763"/>
              <a:ext cx="1298" cy="598"/>
            </a:xfrm>
            <a:prstGeom prst="rect">
              <a:avLst/>
            </a:prstGeom>
          </p:spPr>
        </p:pic>
        <p:pic>
          <p:nvPicPr>
            <p:cNvPr id="26" name="图片 25"/>
            <p:cNvPicPr>
              <a:picLocks noChangeAspect="1"/>
            </p:cNvPicPr>
            <p:nvPr/>
          </p:nvPicPr>
          <p:blipFill>
            <a:blip r:embed="rId12"/>
            <a:stretch>
              <a:fillRect/>
            </a:stretch>
          </p:blipFill>
          <p:spPr>
            <a:xfrm>
              <a:off x="2803" y="1687"/>
              <a:ext cx="768" cy="656"/>
            </a:xfrm>
            <a:prstGeom prst="rect">
              <a:avLst/>
            </a:prstGeom>
          </p:spPr>
        </p:pic>
        <p:pic>
          <p:nvPicPr>
            <p:cNvPr id="14" name="图片 13"/>
            <p:cNvPicPr>
              <a:picLocks noChangeAspect="1"/>
            </p:cNvPicPr>
            <p:nvPr/>
          </p:nvPicPr>
          <p:blipFill>
            <a:blip r:embed="rId13"/>
            <a:stretch>
              <a:fillRect/>
            </a:stretch>
          </p:blipFill>
          <p:spPr>
            <a:xfrm>
              <a:off x="10711" y="1761"/>
              <a:ext cx="550" cy="583"/>
            </a:xfrm>
            <a:prstGeom prst="rect">
              <a:avLst/>
            </a:prstGeom>
          </p:spPr>
        </p:pic>
      </p:grpSp>
      <p:grpSp>
        <p:nvGrpSpPr>
          <p:cNvPr id="21" name="组合 20"/>
          <p:cNvGrpSpPr/>
          <p:nvPr/>
        </p:nvGrpSpPr>
        <p:grpSpPr>
          <a:xfrm>
            <a:off x="5684520" y="6004560"/>
            <a:ext cx="1674495" cy="245110"/>
            <a:chOff x="9325" y="9456"/>
            <a:chExt cx="2637" cy="386"/>
          </a:xfrm>
        </p:grpSpPr>
        <p:sp>
          <p:nvSpPr>
            <p:cNvPr id="19" name="Rectangle 17"/>
            <p:cNvSpPr>
              <a:spLocks noChangeArrowheads="1"/>
            </p:cNvSpPr>
            <p:nvPr/>
          </p:nvSpPr>
          <p:spPr bwMode="auto">
            <a:xfrm>
              <a:off x="9325" y="9525"/>
              <a:ext cx="401" cy="290"/>
            </a:xfrm>
            <a:prstGeom prst="rect">
              <a:avLst/>
            </a:prstGeom>
            <a:solidFill>
              <a:schemeClr val="accent4">
                <a:lumMod val="40000"/>
                <a:lumOff val="60000"/>
              </a:schemeClr>
            </a:solidFill>
            <a:ln w="9525">
              <a:solidFill>
                <a:schemeClr val="tx1"/>
              </a:solidFill>
              <a:miter lim="800000"/>
            </a:ln>
          </p:spPr>
          <p:txBody>
            <a:bodyPr anchor="ctr"/>
            <a:lstStyle/>
            <a:p>
              <a:pPr algn="ctr"/>
              <a:endParaRPr lang="en-US" altLang="zh-CN" sz="1000"/>
            </a:p>
          </p:txBody>
        </p:sp>
        <p:sp>
          <p:nvSpPr>
            <p:cNvPr id="20" name="TextBox 121"/>
            <p:cNvSpPr txBox="1">
              <a:spLocks noChangeArrowheads="1"/>
            </p:cNvSpPr>
            <p:nvPr/>
          </p:nvSpPr>
          <p:spPr bwMode="auto">
            <a:xfrm>
              <a:off x="9821" y="9456"/>
              <a:ext cx="2141"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a:t>
              </a:r>
              <a:r>
                <a:rPr lang="zh-CN" altLang="en-US" sz="1000" b="1" dirty="0">
                  <a:latin typeface="Microsoft JhengHei" panose="020B0604030504040204" pitchFamily="34" charset="-120"/>
                  <a:ea typeface="Microsoft JhengHei" panose="020B0604030504040204" pitchFamily="34" charset="-120"/>
                </a:rPr>
                <a:t>(new)</a:t>
              </a:r>
            </a:p>
          </p:txBody>
        </p:sp>
      </p:grpSp>
      <p:grpSp>
        <p:nvGrpSpPr>
          <p:cNvPr id="27" name="组合 26"/>
          <p:cNvGrpSpPr/>
          <p:nvPr/>
        </p:nvGrpSpPr>
        <p:grpSpPr>
          <a:xfrm>
            <a:off x="7640320" y="6004560"/>
            <a:ext cx="1736725" cy="245110"/>
            <a:chOff x="12405" y="9456"/>
            <a:chExt cx="2735" cy="386"/>
          </a:xfrm>
        </p:grpSpPr>
        <p:sp>
          <p:nvSpPr>
            <p:cNvPr id="22" name="Rectangle 17"/>
            <p:cNvSpPr>
              <a:spLocks noChangeArrowheads="1"/>
            </p:cNvSpPr>
            <p:nvPr/>
          </p:nvSpPr>
          <p:spPr bwMode="auto">
            <a:xfrm>
              <a:off x="12405" y="9525"/>
              <a:ext cx="565" cy="290"/>
            </a:xfrm>
            <a:prstGeom prst="rect">
              <a:avLst/>
            </a:prstGeom>
            <a:solidFill>
              <a:schemeClr val="accent6">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29" name="TextBox 121"/>
            <p:cNvSpPr txBox="1">
              <a:spLocks noChangeArrowheads="1"/>
            </p:cNvSpPr>
            <p:nvPr/>
          </p:nvSpPr>
          <p:spPr bwMode="auto">
            <a:xfrm>
              <a:off x="13012" y="9456"/>
              <a:ext cx="212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machine(old)</a:t>
              </a:r>
              <a:endParaRPr lang="zh-CN" altLang="en-US" sz="1000" b="1" dirty="0">
                <a:latin typeface="Microsoft JhengHei" panose="020B0604030504040204" pitchFamily="34" charset="-120"/>
                <a:ea typeface="Microsoft JhengHei" panose="020B0604030504040204" pitchFamily="34" charset="-120"/>
              </a:endParaRPr>
            </a:p>
          </p:txBody>
        </p:sp>
      </p:grpSp>
      <p:grpSp>
        <p:nvGrpSpPr>
          <p:cNvPr id="30" name="组合 29"/>
          <p:cNvGrpSpPr/>
          <p:nvPr/>
        </p:nvGrpSpPr>
        <p:grpSpPr>
          <a:xfrm>
            <a:off x="9481995" y="6015355"/>
            <a:ext cx="2473150" cy="245110"/>
            <a:chOff x="16637" y="9987"/>
            <a:chExt cx="3895" cy="386"/>
          </a:xfrm>
        </p:grpSpPr>
        <p:sp>
          <p:nvSpPr>
            <p:cNvPr id="31" name="Rectangle 17"/>
            <p:cNvSpPr>
              <a:spLocks noChangeArrowheads="1"/>
            </p:cNvSpPr>
            <p:nvPr/>
          </p:nvSpPr>
          <p:spPr bwMode="auto">
            <a:xfrm>
              <a:off x="16637" y="10011"/>
              <a:ext cx="565" cy="290"/>
            </a:xfrm>
            <a:prstGeom prst="rect">
              <a:avLst/>
            </a:prstGeom>
            <a:solidFill>
              <a:schemeClr val="accent5">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34" name="TextBox 121"/>
            <p:cNvSpPr txBox="1">
              <a:spLocks noChangeArrowheads="1"/>
            </p:cNvSpPr>
            <p:nvPr/>
          </p:nvSpPr>
          <p:spPr bwMode="auto">
            <a:xfrm>
              <a:off x="17202" y="9987"/>
              <a:ext cx="3330"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a:t>
              </a:r>
              <a:r>
                <a:rPr lang="zh-CN" altLang="en-US" sz="1000" b="1" dirty="0">
                  <a:latin typeface="Microsoft JhengHei" panose="020B0604030504040204" pitchFamily="34" charset="-120"/>
                  <a:ea typeface="Microsoft JhengHei" panose="020B0604030504040204" pitchFamily="34" charset="-120"/>
                </a:rPr>
                <a:t> machine（</a:t>
              </a:r>
              <a:r>
                <a:rPr lang="zh-CN" altLang="en-US" sz="1000" b="1" dirty="0">
                  <a:latin typeface="Microsoft JhengHei" panose="020B0604030504040204" pitchFamily="34" charset="-120"/>
                  <a:ea typeface="Microsoft JhengHei" panose="020B0604030504040204" pitchFamily="34" charset="-120"/>
                  <a:sym typeface="+mn-ea"/>
                </a:rPr>
                <a:t>Guest supply</a:t>
              </a:r>
              <a:r>
                <a:rPr lang="zh-CN" altLang="en-US" sz="1000" b="1" dirty="0">
                  <a:latin typeface="Microsoft JhengHei" panose="020B0604030504040204" pitchFamily="34" charset="-120"/>
                  <a:ea typeface="Microsoft JhengHei" panose="020B0604030504040204" pitchFamily="34" charset="-120"/>
                </a:rPr>
                <a:t>）</a:t>
              </a:r>
            </a:p>
          </p:txBody>
        </p:sp>
      </p:grpSp>
      <p:sp>
        <p:nvSpPr>
          <p:cNvPr id="38" name="椭圆 37"/>
          <p:cNvSpPr/>
          <p:nvPr>
            <p:custDataLst>
              <p:tags r:id="rId3"/>
            </p:custDataLst>
          </p:nvPr>
        </p:nvSpPr>
        <p:spPr>
          <a:xfrm>
            <a:off x="1264920" y="841375"/>
            <a:ext cx="1191260" cy="488378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marL="0" marR="0" lvl="0" indent="0" algn="l" defTabSz="1218565" rtl="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rPr>
              <a:t>Contents</a:t>
            </a:r>
            <a:endParaRPr kumimoji="1" lang="zh-TW" altLang="en-US"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sym typeface="Gill Sans"/>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3</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4" name="表格 3"/>
          <p:cNvGraphicFramePr>
            <a:graphicFrameLocks noGrp="1"/>
          </p:cNvGraphicFramePr>
          <p:nvPr>
            <p:custDataLst>
              <p:tags r:id="rId2"/>
            </p:custDataLst>
          </p:nvPr>
        </p:nvGraphicFramePr>
        <p:xfrm>
          <a:off x="335361" y="1254012"/>
          <a:ext cx="11523749" cy="4320982"/>
        </p:xfrm>
        <a:graphic>
          <a:graphicData uri="http://schemas.openxmlformats.org/drawingml/2006/table">
            <a:tbl>
              <a:tblPr/>
              <a:tblGrid>
                <a:gridCol w="1875790">
                  <a:extLst>
                    <a:ext uri="{9D8B030D-6E8A-4147-A177-3AD203B41FA5}">
                      <a16:colId xmlns:a16="http://schemas.microsoft.com/office/drawing/2014/main" val="20000"/>
                    </a:ext>
                  </a:extLst>
                </a:gridCol>
                <a:gridCol w="5159820">
                  <a:extLst>
                    <a:ext uri="{9D8B030D-6E8A-4147-A177-3AD203B41FA5}">
                      <a16:colId xmlns:a16="http://schemas.microsoft.com/office/drawing/2014/main" val="20001"/>
                    </a:ext>
                  </a:extLst>
                </a:gridCol>
                <a:gridCol w="4488139">
                  <a:extLst>
                    <a:ext uri="{9D8B030D-6E8A-4147-A177-3AD203B41FA5}">
                      <a16:colId xmlns:a16="http://schemas.microsoft.com/office/drawing/2014/main" val="20002"/>
                    </a:ext>
                  </a:extLst>
                </a:gridCol>
              </a:tblGrid>
              <a:tr h="53784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latin typeface="Calibri" panose="020F0502020204030204" charset="0"/>
                          <a:cs typeface="Calibri" panose="020F0502020204030204" charset="0"/>
                        </a:rPr>
                        <a:t>Item</a:t>
                      </a:r>
                      <a:endParaRPr lang="en-US" sz="2400" b="0" i="0" u="none" strike="noStrike" dirty="0">
                        <a:solidFill>
                          <a:schemeClr val="bg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buClrTx/>
                        <a:buSzTx/>
                        <a:buFontTx/>
                      </a:pPr>
                      <a:r>
                        <a:rPr lang="en-US" sz="2400" dirty="0">
                          <a:solidFill>
                            <a:schemeClr val="bg1"/>
                          </a:solidFill>
                          <a:effectLst/>
                          <a:latin typeface="Calibri" panose="020F0502020204030204" charset="0"/>
                          <a:cs typeface="Calibri" panose="020F0502020204030204" charset="0"/>
                          <a:sym typeface="+mn-ea"/>
                        </a:rPr>
                        <a:t>Description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rPr>
                        <a:t>DRI</a:t>
                      </a:r>
                      <a:endParaRPr lang="en-US" sz="2400" b="0" i="0" u="none" strike="noStrike" dirty="0">
                        <a:solidFill>
                          <a:schemeClr val="bg1"/>
                        </a:solidFill>
                        <a:effectLst/>
                        <a:latin typeface="等线" panose="02010600030101010101" charset="-122"/>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917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1</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buClrTx/>
                        <a:buSzTx/>
                        <a:buFontTx/>
                      </a:pPr>
                      <a:r>
                        <a:rPr lang="en-US" altLang="zh-CN" sz="2000" u="none" strike="noStrike" dirty="0">
                          <a:effectLst/>
                          <a:latin typeface="Calibri" panose="020F0502020204030204" charset="0"/>
                          <a:cs typeface="Calibri" panose="020F0502020204030204" charset="0"/>
                        </a:rPr>
                        <a:t>Historical version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2</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en-US" altLang="zh-CN" sz="2000" dirty="0">
                          <a:effectLst/>
                          <a:latin typeface="Calibri" panose="020F0502020204030204" charset="0"/>
                          <a:cs typeface="Calibri" panose="020F0502020204030204" charset="0"/>
                          <a:sym typeface="+mn-ea"/>
                        </a:rPr>
                        <a:t>Machine performance design</a:t>
                      </a:r>
                      <a:endParaRPr lang="en-US" altLang="zh-CN" sz="2000" baseline="0" dirty="0">
                        <a:effectLst/>
                        <a:latin typeface="Calibri" panose="020F0502020204030204" charset="0"/>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2"/>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3</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defRPr/>
                      </a:pPr>
                      <a:r>
                        <a:rPr lang="en-US" altLang="zh-CN" sz="2000" kern="1200" baseline="0" dirty="0">
                          <a:solidFill>
                            <a:schemeClr val="dk1"/>
                          </a:solidFill>
                          <a:effectLst/>
                          <a:latin typeface="Calibri" panose="020F0502020204030204" charset="0"/>
                          <a:ea typeface="+mn-ea"/>
                          <a:cs typeface="Calibri" panose="020F0502020204030204" charset="0"/>
                          <a:sym typeface="+mn-ea"/>
                        </a:rPr>
                        <a:t>Product Change</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
                  </a:ext>
                </a:extLst>
              </a:tr>
              <a:tr h="5060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4</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Equipment Layout</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4"/>
                  </a:ext>
                </a:extLst>
              </a:tr>
              <a:tr h="51689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5</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The key components</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5"/>
                  </a:ext>
                </a:extLst>
              </a:tr>
              <a:tr h="48005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6</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Key Fixture Design</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6"/>
                  </a:ext>
                </a:extLst>
              </a:tr>
              <a:tr h="4800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7</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solidFill>
                            <a:prstClr val="black"/>
                          </a:solidFill>
                          <a:latin typeface="Calibri" panose="020F0502020204030204" charset="0"/>
                          <a:cs typeface="Calibri" panose="020F0502020204030204" charset="0"/>
                          <a:sym typeface="+mn-ea"/>
                        </a:rPr>
                        <a:t>Action flow design</a:t>
                      </a:r>
                      <a:endParaRPr lang="en-US" altLang="zh-CN" sz="2000" u="none" strike="noStrike" baseline="0" dirty="0">
                        <a:solidFill>
                          <a:prstClr val="black"/>
                        </a:solidFill>
                        <a:effectLst/>
                        <a:latin typeface="Calibri" panose="020F0502020204030204" charset="0"/>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rPr>
                        <a:t>Wang hao</a:t>
                      </a: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7"/>
                  </a:ext>
                </a:extLst>
              </a:tr>
              <a:tr h="480060">
                <a:tc>
                  <a:txBody>
                    <a:bodyPr/>
                    <a:lstStyle/>
                    <a:p>
                      <a:pPr algn="ctr" fontAlgn="ctr"/>
                      <a:r>
                        <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rPr>
                        <a:t>8</a:t>
                      </a: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en-US" altLang="zh-CN" sz="2000" dirty="0">
                          <a:effectLst/>
                          <a:latin typeface="Calibri" panose="020F0502020204030204" charset="0"/>
                          <a:cs typeface="Calibri" panose="020F0502020204030204" charset="0"/>
                          <a:sym typeface="+mn-ea"/>
                        </a:rPr>
                        <a:t>Timing diagram</a:t>
                      </a:r>
                      <a:endParaRPr lang="en-US" altLang="zh-CN" sz="2000" u="none" strike="noStrike" baseline="0" dirty="0">
                        <a:effectLst/>
                        <a:latin typeface="Calibri" panose="020F0502020204030204" charset="0"/>
                        <a:cs typeface="Calibri" panose="020F0502020204030204" charset="0"/>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等线" panose="02010600030101010101" charset="-122"/>
                          <a:cs typeface="+mn-cs"/>
                          <a:sym typeface="+mn-ea"/>
                        </a:rPr>
                        <a:t>Wang </a:t>
                      </a:r>
                      <a:r>
                        <a:rPr kumimoji="0" lang="en-US" altLang="zh-CN" sz="2000" b="0" i="0" u="none" strike="noStrike" kern="1200" cap="none" spc="0" normalizeH="0" baseline="0" noProof="0" dirty="0" err="1">
                          <a:ln>
                            <a:noFill/>
                          </a:ln>
                          <a:solidFill>
                            <a:srgbClr val="000000"/>
                          </a:solidFill>
                          <a:effectLst/>
                          <a:uLnTx/>
                          <a:uFillTx/>
                          <a:latin typeface="+mn-lt"/>
                          <a:ea typeface="等线" panose="02010600030101010101" charset="-122"/>
                          <a:cs typeface="+mn-cs"/>
                          <a:sym typeface="+mn-ea"/>
                        </a:rPr>
                        <a:t>hao</a:t>
                      </a:r>
                      <a:endParaRPr kumimoji="0" lang="en-US" altLang="zh-CN" sz="2000" b="0" i="0" u="none" strike="noStrike" kern="1200" cap="none" spc="0" normalizeH="0" baseline="0" noProof="0" dirty="0">
                        <a:ln>
                          <a:noFill/>
                        </a:ln>
                        <a:solidFill>
                          <a:srgbClr val="000000"/>
                        </a:solidFill>
                        <a:effectLst/>
                        <a:uLnTx/>
                        <a:uFillTx/>
                        <a:latin typeface="+mn-lt"/>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739833" y="1151412"/>
          <a:ext cx="11016000" cy="2303780"/>
        </p:xfrm>
        <a:graphic>
          <a:graphicData uri="http://schemas.openxmlformats.org/drawingml/2006/table">
            <a:tbl>
              <a:tblPr>
                <a:tableStyleId>{8799B23B-EC83-4686-B30A-512413B5E67A}</a:tableStyleId>
              </a:tblPr>
              <a:tblGrid>
                <a:gridCol w="1403985">
                  <a:extLst>
                    <a:ext uri="{9D8B030D-6E8A-4147-A177-3AD203B41FA5}">
                      <a16:colId xmlns:a16="http://schemas.microsoft.com/office/drawing/2014/main" val="20000"/>
                    </a:ext>
                  </a:extLst>
                </a:gridCol>
                <a:gridCol w="5400015">
                  <a:extLst>
                    <a:ext uri="{9D8B030D-6E8A-4147-A177-3AD203B41FA5}">
                      <a16:colId xmlns:a16="http://schemas.microsoft.com/office/drawing/2014/main" val="20001"/>
                    </a:ext>
                  </a:extLst>
                </a:gridCol>
                <a:gridCol w="1404000">
                  <a:extLst>
                    <a:ext uri="{9D8B030D-6E8A-4147-A177-3AD203B41FA5}">
                      <a16:colId xmlns:a16="http://schemas.microsoft.com/office/drawing/2014/main" val="20002"/>
                    </a:ext>
                  </a:extLst>
                </a:gridCol>
                <a:gridCol w="1404000">
                  <a:extLst>
                    <a:ext uri="{9D8B030D-6E8A-4147-A177-3AD203B41FA5}">
                      <a16:colId xmlns:a16="http://schemas.microsoft.com/office/drawing/2014/main" val="20003"/>
                    </a:ext>
                  </a:extLst>
                </a:gridCol>
                <a:gridCol w="1404000">
                  <a:extLst>
                    <a:ext uri="{9D8B030D-6E8A-4147-A177-3AD203B41FA5}">
                      <a16:colId xmlns:a16="http://schemas.microsoft.com/office/drawing/2014/main" val="20004"/>
                    </a:ext>
                  </a:extLst>
                </a:gridCol>
              </a:tblGrid>
              <a:tr h="575945">
                <a:tc>
                  <a:txBody>
                    <a:bodyPr/>
                    <a:lstStyle/>
                    <a:p>
                      <a:pPr algn="ctr" fontAlgn="b"/>
                      <a:r>
                        <a:rPr lang="en-US" sz="2000" u="none" strike="noStrike" dirty="0">
                          <a:effectLst/>
                        </a:rPr>
                        <a:t>Version</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Description</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Date</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DRI</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Remark</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0"/>
                  </a:ext>
                </a:extLst>
              </a:tr>
              <a:tr h="575945">
                <a:tc>
                  <a:txBody>
                    <a:bodyPr/>
                    <a:lstStyle/>
                    <a:p>
                      <a:pPr algn="ctr" fontAlgn="b"/>
                      <a:r>
                        <a:rPr lang="en-US" altLang="zh-CN" sz="1600" u="none" strike="noStrike" dirty="0">
                          <a:solidFill>
                            <a:srgbClr val="000000"/>
                          </a:solidFill>
                          <a:effectLst/>
                          <a:latin typeface="Calibri" panose="020F0502020204030204" charset="0"/>
                          <a:cs typeface="Calibri" panose="020F0502020204030204" charset="0"/>
                        </a:rPr>
                        <a:t>V01</a:t>
                      </a:r>
                      <a:endParaRPr lang="en-US" altLang="zh-CN" sz="1600" b="0" i="0" u="none" strike="noStrike" dirty="0">
                        <a:solidFill>
                          <a:srgbClr val="000000"/>
                        </a:solidFill>
                        <a:effectLst/>
                        <a:latin typeface="Calibri" panose="020F0502020204030204" charset="0"/>
                        <a:cs typeface="Calibri" panose="020F0502020204030204" charset="0"/>
                      </a:endParaRPr>
                    </a:p>
                  </a:txBody>
                  <a:tcPr marL="9525" marR="9525" marT="9525" marB="0" anchor="ctr"/>
                </a:tc>
                <a:tc>
                  <a:txBody>
                    <a:bodyPr/>
                    <a:lstStyle/>
                    <a:p>
                      <a:pPr algn="l" fontAlgn="b"/>
                      <a:r>
                        <a:rPr lang="en-US" altLang="zh-CN" sz="1600" dirty="0">
                          <a:solidFill>
                            <a:srgbClr val="000000"/>
                          </a:solidFill>
                          <a:effectLst/>
                          <a:latin typeface="Calibri" panose="020F0502020204030204" charset="0"/>
                          <a:cs typeface="Calibri" panose="020F0502020204030204" charset="0"/>
                          <a:sym typeface="+mn-ea"/>
                        </a:rPr>
                        <a:t>Initial design version</a:t>
                      </a:r>
                      <a:endParaRPr lang="en-US" altLang="zh-CN" sz="1600" b="0" i="0" u="none" strike="noStrike" dirty="0">
                        <a:solidFill>
                          <a:srgbClr val="000000"/>
                        </a:solidFill>
                        <a:effectLst/>
                        <a:latin typeface="Calibri" panose="020F0502020204030204" charset="0"/>
                        <a:cs typeface="Calibri" panose="020F0502020204030204" charset="0"/>
                      </a:endParaRPr>
                    </a:p>
                  </a:txBody>
                  <a:tcPr marL="9525" marR="9525" marT="9525" marB="0" anchor="ctr"/>
                </a:tc>
                <a:tc>
                  <a:txBody>
                    <a:bodyPr/>
                    <a:lstStyle/>
                    <a:p>
                      <a:pPr algn="ctr" fontAlgn="b"/>
                      <a:r>
                        <a:rPr lang="en-US" altLang="zh-CN" sz="1200" u="none" strike="noStrike" dirty="0">
                          <a:effectLst/>
                          <a:latin typeface="Arial" panose="020B0604020202020204" pitchFamily="34" charset="0"/>
                          <a:cs typeface="Arial" panose="020B0604020202020204" pitchFamily="34" charset="0"/>
                        </a:rPr>
                        <a:t>2026/01/23</a:t>
                      </a:r>
                      <a:endParaRPr lang="zh-CN" alt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dirty="0">
                          <a:ln>
                            <a:noFill/>
                          </a:ln>
                          <a:solidFill>
                            <a:srgbClr val="000000"/>
                          </a:solidFill>
                          <a:effectLst/>
                          <a:uLnTx/>
                          <a:uFillTx/>
                          <a:latin typeface="+mn-lt"/>
                          <a:ea typeface="等线" panose="02010600030101010101" charset="-122"/>
                          <a:cs typeface="+mn-cs"/>
                          <a:sym typeface="+mn-ea"/>
                        </a:rPr>
                        <a:t>Wang</a:t>
                      </a:r>
                      <a:r>
                        <a:rPr lang="en-US" altLang="zh-CN" sz="1600" dirty="0">
                          <a:solidFill>
                            <a:srgbClr val="000000"/>
                          </a:solidFill>
                          <a:effectLst/>
                          <a:ea typeface="等线" panose="02010600030101010101" charset="-122"/>
                          <a:sym typeface="+mn-ea"/>
                        </a:rPr>
                        <a:t> </a:t>
                      </a:r>
                      <a:r>
                        <a:rPr kumimoji="0" lang="en-US" altLang="zh-CN" sz="1600" b="0" i="0" u="none" strike="noStrike" kern="1200" cap="none" spc="0" normalizeH="0" baseline="0" dirty="0">
                          <a:ln>
                            <a:noFill/>
                          </a:ln>
                          <a:solidFill>
                            <a:srgbClr val="000000"/>
                          </a:solidFill>
                          <a:effectLst/>
                          <a:uLnTx/>
                          <a:uFillTx/>
                          <a:latin typeface="+mn-lt"/>
                          <a:ea typeface="等线" panose="02010600030101010101" charset="-122"/>
                          <a:cs typeface="+mn-cs"/>
                          <a:sym typeface="+mn-ea"/>
                        </a:rPr>
                        <a:t>hao</a:t>
                      </a:r>
                    </a:p>
                  </a:txBody>
                  <a:tcPr marL="9525" marR="9525" marT="9525" marB="0" anchor="ctr"/>
                </a:tc>
                <a:tc>
                  <a:txBody>
                    <a:bodyPr/>
                    <a:lstStyle/>
                    <a:p>
                      <a:pPr algn="ctr" fontAlgn="b"/>
                      <a:r>
                        <a:rPr lang="zh-CN" altLang="en-US" sz="1600" u="none" strike="noStrike" dirty="0">
                          <a:effectLst/>
                          <a:latin typeface="+mn-lt"/>
                        </a:rPr>
                        <a:t>　</a:t>
                      </a:r>
                      <a:endParaRPr lang="zh-CN" altLang="en-US"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001"/>
                  </a:ext>
                </a:extLst>
              </a:tr>
              <a:tr h="575945">
                <a:tc>
                  <a:txBody>
                    <a:bodyPr/>
                    <a:lstStyle/>
                    <a:p>
                      <a:pPr marL="0" algn="ctr" defTabSz="914400" rtl="0" eaLnBrk="1" fontAlgn="b" latinLnBrk="0" hangingPunct="1"/>
                      <a:endParaRPr lang="en-US" sz="1600" u="none" strike="noStrike" kern="1200" dirty="0">
                        <a:solidFill>
                          <a:srgbClr val="000000"/>
                        </a:solidFill>
                        <a:effectLst/>
                        <a:latin typeface="Calibri" panose="020F0502020204030204" charset="0"/>
                        <a:ea typeface="+mn-ea"/>
                      </a:endParaRPr>
                    </a:p>
                  </a:txBody>
                  <a:tcPr marL="9525" marR="9525" marT="9525" marB="0" anchor="ctr"/>
                </a:tc>
                <a:tc>
                  <a:txBody>
                    <a:bodyPr/>
                    <a:lstStyle/>
                    <a:p>
                      <a:pPr marL="0" algn="l" defTabSz="914400" rtl="0" eaLnBrk="1" fontAlgn="b" latinLnBrk="0" hangingPunct="1"/>
                      <a:endParaRPr lang="zh-CN" altLang="zh-CN" sz="1600" u="none" strike="noStrike" kern="1200" dirty="0">
                        <a:solidFill>
                          <a:srgbClr val="000000"/>
                        </a:solidFill>
                        <a:effectLst/>
                        <a:latin typeface="Calibri" panose="020F0502020204030204" charset="0"/>
                        <a:ea typeface="+mn-ea"/>
                      </a:endParaRPr>
                    </a:p>
                  </a:txBody>
                  <a:tcPr marL="9525" marR="9525" marT="9525" marB="0" anchor="ctr"/>
                </a:tc>
                <a:tc>
                  <a:txBody>
                    <a:bodyPr/>
                    <a:lstStyle/>
                    <a:p>
                      <a:pPr marL="0" algn="ctr" defTabSz="914400" rtl="0" eaLnBrk="1" fontAlgn="b" latinLnBrk="0" hangingPunct="1"/>
                      <a:endParaRPr lang="zh-CN" altLang="en-US" sz="1600" u="none" strike="noStrike" kern="1200" dirty="0">
                        <a:solidFill>
                          <a:srgbClr val="000000"/>
                        </a:solidFill>
                        <a:effectLst/>
                        <a:latin typeface="Calibri" panose="020F050202020403020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endParaRPr lang="en-US" altLang="zh-CN" sz="1600" u="none" strike="noStrike" kern="1200" dirty="0">
                        <a:solidFill>
                          <a:srgbClr val="000000"/>
                        </a:solidFill>
                        <a:effectLst/>
                        <a:latin typeface="Calibri" panose="020F0502020204030204" charset="0"/>
                        <a:ea typeface="+mn-ea"/>
                        <a:sym typeface="+mn-ea"/>
                      </a:endParaRPr>
                    </a:p>
                  </a:txBody>
                  <a:tcPr marL="9525" marR="9525" marT="9525" marB="0" anchor="ctr"/>
                </a:tc>
                <a:tc>
                  <a:txBody>
                    <a:bodyPr/>
                    <a:lstStyle/>
                    <a:p>
                      <a:pPr marL="0" algn="ctr" defTabSz="914400" rtl="0" eaLnBrk="1" fontAlgn="b" latinLnBrk="0" hangingPunct="1">
                        <a:buNone/>
                      </a:pPr>
                      <a:endParaRPr lang="zh-CN" altLang="en-US" sz="1600" u="none" strike="noStrike" kern="1200" dirty="0">
                        <a:solidFill>
                          <a:srgbClr val="000000"/>
                        </a:solidFill>
                        <a:effectLst/>
                        <a:latin typeface="Calibri" panose="020F0502020204030204" charset="0"/>
                        <a:ea typeface="+mn-ea"/>
                      </a:endParaRPr>
                    </a:p>
                  </a:txBody>
                  <a:tcPr marL="9525" marR="9525" marT="9525" marB="0" anchor="ctr"/>
                </a:tc>
                <a:extLst>
                  <a:ext uri="{0D108BD9-81ED-4DB2-BD59-A6C34878D82A}">
                    <a16:rowId xmlns:a16="http://schemas.microsoft.com/office/drawing/2014/main" val="10002"/>
                  </a:ext>
                </a:extLst>
              </a:tr>
              <a:tr h="575945">
                <a:tc>
                  <a:txBody>
                    <a:bodyPr/>
                    <a:lstStyle/>
                    <a:p>
                      <a:pPr algn="ctr" fontAlgn="b">
                        <a:buNone/>
                      </a:pPr>
                      <a:endParaRPr lang="en-US" altLang="en-US" sz="1600" b="0" i="0" u="none" strike="noStrike" dirty="0">
                        <a:solidFill>
                          <a:srgbClr val="000000"/>
                        </a:solidFill>
                        <a:effectLst/>
                        <a:latin typeface="+mn-lt"/>
                      </a:endParaRPr>
                    </a:p>
                  </a:txBody>
                  <a:tcPr marL="9525" marR="9525" marT="9525" marB="0" anchor="ctr"/>
                </a:tc>
                <a:tc>
                  <a:txBody>
                    <a:bodyPr/>
                    <a:lstStyle/>
                    <a:p>
                      <a:pPr algn="l" fontAlgn="b">
                        <a:buNone/>
                      </a:pPr>
                      <a:endParaRPr lang="en-US" altLang="zh-CN" sz="1600" b="0" i="0" u="none" strike="noStrike" dirty="0">
                        <a:solidFill>
                          <a:srgbClr val="000000"/>
                        </a:solidFill>
                        <a:effectLst/>
                        <a:latin typeface="+mn-lt"/>
                      </a:endParaRPr>
                    </a:p>
                  </a:txBody>
                  <a:tcPr marL="9525" marR="9525" marT="9525" marB="0" anchor="ctr"/>
                </a:tc>
                <a:tc>
                  <a:txBody>
                    <a:bodyPr/>
                    <a:lstStyle/>
                    <a:p>
                      <a:pPr algn="ctr" fontAlgn="b"/>
                      <a:endParaRPr lang="zh-CN" alt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en-US" sz="1600" dirty="0">
                        <a:solidFill>
                          <a:srgbClr val="000000"/>
                        </a:solidFill>
                        <a:effectLst/>
                        <a:latin typeface="Calibri" panose="020F0502020204030204"/>
                        <a:ea typeface="等线" panose="02010600030101010101" charset="-122"/>
                        <a:sym typeface="+mn-ea"/>
                      </a:endParaRPr>
                    </a:p>
                  </a:txBody>
                  <a:tcPr marL="9525" marR="9525" marT="9525" marB="0" anchor="ctr"/>
                </a:tc>
                <a:tc>
                  <a:txBody>
                    <a:bodyPr/>
                    <a:lstStyle/>
                    <a:p>
                      <a:pPr algn="ctr" fontAlgn="b">
                        <a:buNone/>
                      </a:pPr>
                      <a:endParaRPr lang="zh-CN" altLang="en-US"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003"/>
                  </a:ext>
                </a:extLst>
              </a:tr>
            </a:tbl>
          </a:graphicData>
        </a:graphic>
      </p:graphicFrame>
      <p:sp>
        <p:nvSpPr>
          <p:cNvPr id="3" name="標題 1"/>
          <p:cNvSpPr txBox="1"/>
          <p:nvPr/>
        </p:nvSpPr>
        <p:spPr>
          <a:xfrm>
            <a:off x="740083"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a:sym typeface="+mn-ea"/>
              </a:rPr>
              <a:t>1. Historical version</a:t>
            </a:r>
            <a:endParaRPr lang="en-US" altLang="zh-CN" dirty="0"/>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4</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2. Machine Performance Design</a:t>
            </a:r>
            <a:endParaRPr lang="en-US" altLang="zh-CN" dirty="0">
              <a:latin typeface="+mn-lt"/>
            </a:endParaRPr>
          </a:p>
        </p:txBody>
      </p:sp>
      <p:cxnSp>
        <p:nvCxnSpPr>
          <p:cNvPr id="2" name="直接连接符 1"/>
          <p:cNvCxnSpPr/>
          <p:nvPr/>
        </p:nvCxnSpPr>
        <p:spPr>
          <a:xfrm flipV="1">
            <a:off x="776658" y="3444061"/>
            <a:ext cx="9918236" cy="10106"/>
          </a:xfrm>
          <a:prstGeom prst="line">
            <a:avLst/>
          </a:prstGeom>
          <a:ln w="28575">
            <a:solidFill>
              <a:srgbClr val="005C4F"/>
            </a:solidFill>
            <a:prstDash val="sysDot"/>
          </a:ln>
        </p:spPr>
        <p:style>
          <a:lnRef idx="1">
            <a:schemeClr val="accent1"/>
          </a:lnRef>
          <a:fillRef idx="0">
            <a:schemeClr val="accent1"/>
          </a:fillRef>
          <a:effectRef idx="0">
            <a:schemeClr val="accent1"/>
          </a:effectRef>
          <a:fontRef idx="minor">
            <a:schemeClr val="tx1"/>
          </a:fontRef>
        </p:style>
      </p:cxnSp>
      <p:sp>
        <p:nvSpPr>
          <p:cNvPr id="8" name="Arrow: Right 7"/>
          <p:cNvSpPr/>
          <p:nvPr/>
        </p:nvSpPr>
        <p:spPr>
          <a:xfrm>
            <a:off x="6635912" y="1966262"/>
            <a:ext cx="471216" cy="412983"/>
          </a:xfrm>
          <a:prstGeom prst="rightArrow">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ross 12"/>
          <p:cNvSpPr/>
          <p:nvPr/>
        </p:nvSpPr>
        <p:spPr>
          <a:xfrm>
            <a:off x="4237005" y="2033569"/>
            <a:ext cx="339864" cy="345676"/>
          </a:xfrm>
          <a:prstGeom prst="plus">
            <a:avLst>
              <a:gd name="adj" fmla="val 35506"/>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p:cNvSpPr txBox="1"/>
          <p:nvPr/>
        </p:nvSpPr>
        <p:spPr>
          <a:xfrm>
            <a:off x="419907" y="891560"/>
            <a:ext cx="2182438" cy="322580"/>
          </a:xfrm>
          <a:prstGeom prst="rect">
            <a:avLst/>
          </a:prstGeom>
          <a:noFill/>
        </p:spPr>
        <p:txBody>
          <a:bodyPr wrap="square" lIns="0" tIns="0" rtlCol="0">
            <a:spAutoFit/>
          </a:bodyPr>
          <a:lstStyle/>
          <a:p>
            <a:r>
              <a:rPr lang="en-US" altLang="zh-CN" dirty="0">
                <a:latin typeface="Arial" panose="020B0604020202020204" pitchFamily="34" charset="0"/>
                <a:ea typeface="微软雅黑" panose="020B0503020204020204" pitchFamily="34" charset="-122"/>
                <a:cs typeface="Arial" panose="020B0604020202020204" pitchFamily="34" charset="0"/>
              </a:rPr>
              <a:t>Function</a:t>
            </a:r>
            <a:r>
              <a:rPr lang="zh-CN" altLang="en-US" dirty="0">
                <a:latin typeface="Arial" panose="020B0604020202020204" pitchFamily="34" charset="0"/>
                <a:ea typeface="微软雅黑" panose="020B0503020204020204" pitchFamily="34" charset="-122"/>
                <a:cs typeface="Arial" panose="020B0604020202020204" pitchFamily="34" charset="0"/>
              </a:rPr>
              <a:t>：</a:t>
            </a:r>
          </a:p>
        </p:txBody>
      </p:sp>
      <p:graphicFrame>
        <p:nvGraphicFramePr>
          <p:cNvPr id="12" name="Content Placeholder 4"/>
          <p:cNvGraphicFramePr>
            <a:graphicFrameLocks noGrp="1"/>
          </p:cNvGraphicFramePr>
          <p:nvPr>
            <p:custDataLst>
              <p:tags r:id="rId1"/>
            </p:custDataLst>
          </p:nvPr>
        </p:nvGraphicFramePr>
        <p:xfrm>
          <a:off x="658435" y="4016098"/>
          <a:ext cx="10154396" cy="1737360"/>
        </p:xfrm>
        <a:graphic>
          <a:graphicData uri="http://schemas.openxmlformats.org/drawingml/2006/table">
            <a:tbl>
              <a:tblPr firstRow="1" bandRow="1">
                <a:tableStyleId>{2D5ABB26-0587-4C30-8999-92F81FD0307C}</a:tableStyleId>
              </a:tblPr>
              <a:tblGrid>
                <a:gridCol w="1866265">
                  <a:extLst>
                    <a:ext uri="{9D8B030D-6E8A-4147-A177-3AD203B41FA5}">
                      <a16:colId xmlns:a16="http://schemas.microsoft.com/office/drawing/2014/main" val="20000"/>
                    </a:ext>
                  </a:extLst>
                </a:gridCol>
                <a:gridCol w="8288131">
                  <a:extLst>
                    <a:ext uri="{9D8B030D-6E8A-4147-A177-3AD203B41FA5}">
                      <a16:colId xmlns:a16="http://schemas.microsoft.com/office/drawing/2014/main" val="20001"/>
                    </a:ext>
                  </a:extLst>
                </a:gridCol>
              </a:tblGrid>
              <a:tr h="243840">
                <a:tc>
                  <a:txBody>
                    <a:bodyPr/>
                    <a:lstStyle/>
                    <a:p>
                      <a:r>
                        <a:rPr lang="en-US" altLang="zh-CN" sz="1300" dirty="0">
                          <a:latin typeface="Calibri" panose="020F0502020204030204" charset="0"/>
                          <a:ea typeface="黑体" panose="02010609060101010101" charset="-122"/>
                          <a:cs typeface="Calibri" panose="020F0502020204030204" charset="0"/>
                          <a:sym typeface="+mn-ea"/>
                        </a:rPr>
                        <a:t>Purpose</a:t>
                      </a:r>
                      <a:endParaRPr lang="en-US" altLang="zh-CN" sz="1300" b="0" dirty="0">
                        <a:latin typeface="Calibri" panose="020F0502020204030204" charset="0"/>
                        <a:ea typeface="黑体" panose="02010609060101010101" charset="-122"/>
                        <a:cs typeface="Calibri" panose="020F0502020204030204"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000" dirty="0">
                          <a:latin typeface="微软雅黑" panose="020B0503020204020204" pitchFamily="34" charset="-122"/>
                          <a:ea typeface="微软雅黑" panose="020B0503020204020204" pitchFamily="34" charset="-122"/>
                        </a:rPr>
                        <a:t>Apply heat dissipation paste onto the BOT surface of the PCBA board</a:t>
                      </a:r>
                      <a:endParaRPr lang="zh-TW" altLang="en-US" sz="1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840">
                <a:tc>
                  <a:txBody>
                    <a:bodyPr/>
                    <a:lstStyle/>
                    <a:p>
                      <a:r>
                        <a:rPr lang="en-US" altLang="zh-CN" sz="1300" kern="1200" dirty="0">
                          <a:solidFill>
                            <a:srgbClr val="000000"/>
                          </a:solidFill>
                          <a:effectLst/>
                          <a:latin typeface="Calibri" panose="020F0502020204030204" charset="0"/>
                          <a:ea typeface="微软雅黑" panose="020B0503020204020204" pitchFamily="34" charset="-122"/>
                          <a:cs typeface="Calibri" panose="020F0502020204030204" charset="0"/>
                          <a:sym typeface="+mn-ea"/>
                        </a:rPr>
                        <a:t>PCBA </a:t>
                      </a:r>
                      <a:r>
                        <a:rPr sz="1300" kern="1200" dirty="0">
                          <a:solidFill>
                            <a:srgbClr val="000000"/>
                          </a:solidFill>
                          <a:effectLst/>
                          <a:latin typeface="Calibri" panose="020F0502020204030204" charset="0"/>
                          <a:ea typeface="微软雅黑" panose="020B0503020204020204" pitchFamily="34" charset="-122"/>
                          <a:cs typeface="Calibri" panose="020F0502020204030204" charset="0"/>
                          <a:sym typeface="+mn-ea"/>
                        </a:rPr>
                        <a:t>board</a:t>
                      </a:r>
                      <a:endParaRPr lang="en-US" altLang="zh-CN" sz="1300" kern="1200" dirty="0">
                        <a:solidFill>
                          <a:srgbClr val="000000"/>
                        </a:solidFill>
                        <a:effectLst/>
                        <a:latin typeface="Calibri" panose="020F0502020204030204" charset="0"/>
                        <a:ea typeface="微软雅黑" panose="020B0503020204020204" pitchFamily="34" charset="-122"/>
                        <a:cs typeface="Calibri" panose="020F0502020204030204"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00" dirty="0">
                          <a:solidFill>
                            <a:schemeClr val="tx1"/>
                          </a:solidFill>
                          <a:latin typeface="Arial" panose="020B0604020202020204" pitchFamily="34" charset="0"/>
                          <a:cs typeface="Arial" panose="020B0604020202020204" pitchFamily="34" charset="0"/>
                        </a:rPr>
                        <a:t>137.6*199.8mm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3840">
                <a:tc>
                  <a:txBody>
                    <a:bodyPr/>
                    <a:lstStyle/>
                    <a:p>
                      <a:r>
                        <a:rPr lang="en-US" altLang="zh-CN" sz="1300" dirty="0">
                          <a:latin typeface="Calibri" panose="020F0502020204030204" charset="0"/>
                          <a:cs typeface="Calibri" panose="020F0502020204030204" charset="0"/>
                        </a:rPr>
                        <a:t>Tool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dirty="0">
                          <a:latin typeface="Arial" panose="020B0604020202020204" pitchFamily="34" charset="0"/>
                          <a:cs typeface="Arial" panose="020B0604020202020204" pitchFamily="34" charset="0"/>
                          <a:sym typeface="+mn-ea"/>
                        </a:rPr>
                        <a:t>TABLE Load transfer component</a:t>
                      </a:r>
                      <a:r>
                        <a:rPr lang="zh-CN" altLang="en-US" sz="1000" dirty="0">
                          <a:latin typeface="Arial" panose="020B0604020202020204" pitchFamily="34" charset="0"/>
                          <a:cs typeface="Arial" panose="020B0604020202020204" pitchFamily="34" charset="0"/>
                          <a:sym typeface="+mn-ea"/>
                        </a:rPr>
                        <a:t>，</a:t>
                      </a:r>
                      <a:r>
                        <a:rPr lang="en-US" altLang="zh-CN" sz="1000" dirty="0">
                          <a:latin typeface="Arial" panose="020B0604020202020204" pitchFamily="34" charset="0"/>
                          <a:cs typeface="Arial" panose="020B0604020202020204" pitchFamily="34" charset="0"/>
                          <a:sym typeface="+mn-ea"/>
                        </a:rPr>
                        <a:t>Dispensing valve</a:t>
                      </a:r>
                      <a:r>
                        <a:rPr lang="zh-CN" altLang="en-US" sz="1000" dirty="0">
                          <a:latin typeface="Arial" panose="020B0604020202020204" pitchFamily="34" charset="0"/>
                          <a:cs typeface="Arial" panose="020B0604020202020204" pitchFamily="34" charset="0"/>
                          <a:sym typeface="+mn-ea"/>
                        </a:rPr>
                        <a:t>，</a:t>
                      </a:r>
                      <a:r>
                        <a:rPr lang="en-US" altLang="zh-CN" sz="1000" dirty="0">
                          <a:latin typeface="Arial" panose="020B0604020202020204" pitchFamily="34" charset="0"/>
                          <a:cs typeface="Arial" panose="020B0604020202020204" pitchFamily="34" charset="0"/>
                          <a:sym typeface="+mn-ea"/>
                        </a:rPr>
                        <a:t>CCD</a:t>
                      </a:r>
                      <a:r>
                        <a:rPr lang="zh-CN" altLang="en-US" sz="1000" dirty="0">
                          <a:latin typeface="Arial" panose="020B0604020202020204" pitchFamily="34" charset="0"/>
                          <a:cs typeface="Arial" panose="020B0604020202020204" pitchFamily="34" charset="0"/>
                          <a:sym typeface="+mn-ea"/>
                        </a:rPr>
                        <a:t>，</a:t>
                      </a:r>
                      <a:r>
                        <a:rPr lang="en-US" altLang="zh-CN" sz="1000" dirty="0">
                          <a:latin typeface="Arial" panose="020B0604020202020204" pitchFamily="34" charset="0"/>
                          <a:cs typeface="Arial" panose="020B0604020202020204" pitchFamily="34" charset="0"/>
                          <a:sym typeface="+mn-ea"/>
                        </a:rPr>
                        <a:t>Electronic Balance</a:t>
                      </a:r>
                      <a:r>
                        <a:rPr lang="zh-CN" altLang="en-US" sz="1000" dirty="0">
                          <a:latin typeface="Arial" panose="020B0604020202020204" pitchFamily="34" charset="0"/>
                          <a:cs typeface="Arial" panose="020B0604020202020204" pitchFamily="34" charset="0"/>
                          <a:sym typeface="+mn-ea"/>
                        </a:rPr>
                        <a:t>，</a:t>
                      </a:r>
                      <a:r>
                        <a:rPr lang="en-US" altLang="zh-CN" sz="1000" dirty="0">
                          <a:latin typeface="Arial" panose="020B0604020202020204" pitchFamily="34" charset="0"/>
                          <a:cs typeface="Arial" panose="020B0604020202020204" pitchFamily="34" charset="0"/>
                          <a:sym typeface="+mn-ea"/>
                        </a:rPr>
                        <a:t>Actuator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3840">
                <a:tc>
                  <a:txBody>
                    <a:bodyPr/>
                    <a:lstStyle/>
                    <a:p>
                      <a:r>
                        <a:rPr lang="en-US" altLang="zh-CN" sz="1300" dirty="0">
                          <a:latin typeface="Calibri" panose="020F0502020204030204" charset="0"/>
                          <a:cs typeface="Calibri" panose="020F0502020204030204" charset="0"/>
                          <a:sym typeface="+mn-ea"/>
                        </a:rPr>
                        <a:t>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latin typeface="Arial" panose="020B0604020202020204" pitchFamily="34" charset="0"/>
                          <a:cs typeface="Arial" panose="020B0604020202020204" pitchFamily="34" charset="0"/>
                        </a:rPr>
                        <a:t>CCD calibration</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r>
                        <a:rPr lang="en-US" altLang="zh-CN" sz="1300" dirty="0">
                          <a:latin typeface="Calibri" panose="020F0502020204030204" charset="0"/>
                          <a:cs typeface="Calibri" panose="020F0502020204030204" charset="0"/>
                          <a:sym typeface="+mn-ea"/>
                        </a:rPr>
                        <a:t>Process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altLang="zh-CN" sz="1000" b="0" baseline="0" dirty="0">
                          <a:solidFill>
                            <a:schemeClr val="tx1"/>
                          </a:solidFill>
                          <a:latin typeface="Arial" panose="020B0604020202020204" pitchFamily="34" charset="0"/>
                          <a:cs typeface="Arial" panose="020B0604020202020204" pitchFamily="34" charset="0"/>
                        </a:rPr>
                        <a:t>Glue dispensing accuracy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r>
                        <a:rPr lang="en-US" altLang="zh-CN" sz="1300" dirty="0">
                          <a:latin typeface="Calibri" panose="020F0502020204030204" charset="0"/>
                          <a:cs typeface="Calibri" panose="020F0502020204030204" charset="0"/>
                          <a:sym typeface="+mn-ea"/>
                        </a:rPr>
                        <a:t>UPH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sz="1000" baseline="0" dirty="0">
                          <a:solidFill>
                            <a:schemeClr val="tx1"/>
                          </a:solidFill>
                          <a:latin typeface="Arial" panose="020B0604020202020204" pitchFamily="34" charset="0"/>
                          <a:cs typeface="Arial" panose="020B0604020202020204" pitchFamily="34" charset="0"/>
                        </a:rPr>
                        <a:t>720PCS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文本框 12"/>
          <p:cNvSpPr txBox="1"/>
          <p:nvPr/>
        </p:nvSpPr>
        <p:spPr>
          <a:xfrm>
            <a:off x="4642662" y="2985770"/>
            <a:ext cx="1724025" cy="275590"/>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Heat dissipation paste</a:t>
            </a:r>
            <a:endParaRPr lang="en-US" sz="1200" dirty="0">
              <a:latin typeface="Arial" panose="020B0604020202020204" pitchFamily="34" charset="0"/>
              <a:cs typeface="Arial" panose="020B0604020202020204" pitchFamily="34" charset="0"/>
            </a:endParaRPr>
          </a:p>
        </p:txBody>
      </p:sp>
      <p:sp>
        <p:nvSpPr>
          <p:cNvPr id="16" name="文本框 15"/>
          <p:cNvSpPr txBox="1"/>
          <p:nvPr/>
        </p:nvSpPr>
        <p:spPr>
          <a:xfrm>
            <a:off x="1581992" y="3093672"/>
            <a:ext cx="1191619" cy="275590"/>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PCBA</a:t>
            </a:r>
            <a:r>
              <a:rPr lang="zh-CN" altLang="en-US" sz="1200" dirty="0">
                <a:latin typeface="Arial" panose="020B0604020202020204" pitchFamily="34" charset="0"/>
                <a:cs typeface="Arial" panose="020B0604020202020204" pitchFamily="34" charset="0"/>
              </a:rPr>
              <a:t> </a:t>
            </a:r>
            <a:r>
              <a:rPr lang="en-US" altLang="zh-CN" sz="1200" dirty="0">
                <a:latin typeface="Arial" panose="020B0604020202020204" pitchFamily="34" charset="0"/>
                <a:cs typeface="Arial" panose="020B0604020202020204" pitchFamily="34" charset="0"/>
              </a:rPr>
              <a:t>board</a:t>
            </a:r>
            <a:endParaRPr lang="zh-CN" altLang="en-US" sz="1200" dirty="0">
              <a:latin typeface="Arial" panose="020B0604020202020204" pitchFamily="34" charset="0"/>
              <a:cs typeface="Arial" panose="020B0604020202020204" pitchFamily="34" charset="0"/>
            </a:endParaRP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5</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3" name="文本框 2"/>
          <p:cNvSpPr txBox="1"/>
          <p:nvPr/>
        </p:nvSpPr>
        <p:spPr>
          <a:xfrm>
            <a:off x="7575730" y="2965359"/>
            <a:ext cx="2799710" cy="492443"/>
          </a:xfrm>
          <a:prstGeom prst="rect">
            <a:avLst/>
          </a:prstGeom>
          <a:noFill/>
        </p:spPr>
        <p:txBody>
          <a:bodyPr wrap="square" rtlCol="0">
            <a:spAutoFit/>
          </a:bodyPr>
          <a:lstStyle/>
          <a:p>
            <a:pPr algn="ctr"/>
            <a:r>
              <a:rPr lang="en-US" sz="1300" dirty="0">
                <a:solidFill>
                  <a:srgbClr val="000000"/>
                </a:solidFill>
                <a:effectLst/>
                <a:latin typeface="Calibri" panose="020F0502020204030204" charset="0"/>
                <a:cs typeface="Calibri" panose="020F0502020204030204" charset="0"/>
                <a:sym typeface="+mn-ea"/>
              </a:rPr>
              <a:t>Apply heat dissipation paste onto the BOT surface of the PCBA board</a:t>
            </a:r>
            <a:endParaRPr lang="zh-CN" altLang="en-US" sz="1300" dirty="0">
              <a:solidFill>
                <a:srgbClr val="000000"/>
              </a:solidFill>
              <a:effectLst/>
              <a:latin typeface="Calibri" panose="020F0502020204030204" charset="0"/>
              <a:cs typeface="Calibri" panose="020F0502020204030204" charset="0"/>
              <a:sym typeface="+mn-ea"/>
            </a:endParaRPr>
          </a:p>
        </p:txBody>
      </p:sp>
      <p:pic>
        <p:nvPicPr>
          <p:cNvPr id="6" name="图片 5"/>
          <p:cNvPicPr>
            <a:picLocks noChangeAspect="1"/>
          </p:cNvPicPr>
          <p:nvPr/>
        </p:nvPicPr>
        <p:blipFill>
          <a:blip r:embed="rId5"/>
          <a:stretch>
            <a:fillRect/>
          </a:stretch>
        </p:blipFill>
        <p:spPr>
          <a:xfrm>
            <a:off x="7618730" y="1165225"/>
            <a:ext cx="2549525" cy="1798955"/>
          </a:xfrm>
          <a:prstGeom prst="rect">
            <a:avLst/>
          </a:prstGeom>
        </p:spPr>
      </p:pic>
      <p:pic>
        <p:nvPicPr>
          <p:cNvPr id="14" name="图片 13"/>
          <p:cNvPicPr>
            <a:picLocks noChangeAspect="1"/>
          </p:cNvPicPr>
          <p:nvPr/>
        </p:nvPicPr>
        <p:blipFill>
          <a:blip r:embed="rId6"/>
          <a:stretch>
            <a:fillRect/>
          </a:stretch>
        </p:blipFill>
        <p:spPr>
          <a:xfrm>
            <a:off x="4811395" y="1706880"/>
            <a:ext cx="1555115" cy="999490"/>
          </a:xfrm>
          <a:prstGeom prst="rect">
            <a:avLst/>
          </a:prstGeom>
        </p:spPr>
      </p:pic>
      <p:pic>
        <p:nvPicPr>
          <p:cNvPr id="15" name="图片 14"/>
          <p:cNvPicPr>
            <a:picLocks noChangeAspect="1"/>
          </p:cNvPicPr>
          <p:nvPr/>
        </p:nvPicPr>
        <p:blipFill>
          <a:blip r:embed="rId7"/>
          <a:stretch>
            <a:fillRect/>
          </a:stretch>
        </p:blipFill>
        <p:spPr>
          <a:xfrm>
            <a:off x="1014095" y="1357630"/>
            <a:ext cx="2419350" cy="16611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a:t>
            </a:r>
            <a:r>
              <a:rPr lang="en-US" altLang="zh-CN" dirty="0">
                <a:sym typeface="+mn-ea"/>
              </a:rPr>
              <a:t>Product</a:t>
            </a:r>
            <a:r>
              <a:rPr lang="zh-CN" altLang="en-US" dirty="0">
                <a:sym typeface="+mn-ea"/>
              </a:rPr>
              <a:t> </a:t>
            </a:r>
            <a:r>
              <a:rPr lang="en-US" altLang="zh-CN" dirty="0">
                <a:sym typeface="+mn-ea"/>
              </a:rPr>
              <a:t>Change</a:t>
            </a:r>
            <a:endParaRPr lang="en-US" altLang="zh-CN" dirty="0">
              <a:latin typeface="+mn-lt"/>
            </a:endParaRPr>
          </a:p>
        </p:txBody>
      </p:sp>
      <p:sp>
        <p:nvSpPr>
          <p:cNvPr id="11" name="文本框 10"/>
          <p:cNvSpPr txBox="1"/>
          <p:nvPr/>
        </p:nvSpPr>
        <p:spPr>
          <a:xfrm>
            <a:off x="954405" y="938530"/>
            <a:ext cx="922655" cy="350520"/>
          </a:xfrm>
          <a:prstGeom prst="rect">
            <a:avLst/>
          </a:prstGeom>
          <a:noFill/>
        </p:spPr>
        <p:txBody>
          <a:bodyPr wrap="square" lIns="0" tIns="0" rtlCol="0">
            <a:noAutofit/>
          </a:bodyPr>
          <a:lstStyle/>
          <a:p>
            <a:r>
              <a:rPr lang="en-US" altLang="zh-CN" dirty="0">
                <a:latin typeface="Arial" panose="020B0604020202020204" pitchFamily="34" charset="0"/>
                <a:ea typeface="微软雅黑" panose="020B0503020204020204" pitchFamily="34" charset="-122"/>
                <a:cs typeface="Arial" panose="020B0604020202020204" pitchFamily="34" charset="0"/>
              </a:rPr>
              <a:t>PCBA</a:t>
            </a:r>
            <a:r>
              <a:rPr lang="zh-CN" altLang="en-US" dirty="0">
                <a:latin typeface="Arial" panose="020B0604020202020204" pitchFamily="34" charset="0"/>
                <a:ea typeface="微软雅黑" panose="020B0503020204020204" pitchFamily="34" charset="-122"/>
                <a:cs typeface="Arial" panose="020B0604020202020204" pitchFamily="34" charset="0"/>
              </a:rPr>
              <a:t>：</a:t>
            </a: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6</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8" name="Arrow: Right 7"/>
          <p:cNvSpPr/>
          <p:nvPr/>
        </p:nvSpPr>
        <p:spPr>
          <a:xfrm>
            <a:off x="5986206" y="3402620"/>
            <a:ext cx="460318" cy="365539"/>
          </a:xfrm>
          <a:prstGeom prst="rightArrow">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组合 12"/>
          <p:cNvGrpSpPr/>
          <p:nvPr/>
        </p:nvGrpSpPr>
        <p:grpSpPr>
          <a:xfrm>
            <a:off x="6832600" y="2062480"/>
            <a:ext cx="5083810" cy="3022777"/>
            <a:chOff x="10411" y="1642"/>
            <a:chExt cx="7244" cy="4134"/>
          </a:xfrm>
        </p:grpSpPr>
        <p:pic>
          <p:nvPicPr>
            <p:cNvPr id="4" name="图片 3"/>
            <p:cNvPicPr>
              <a:picLocks noChangeAspect="1"/>
            </p:cNvPicPr>
            <p:nvPr>
              <p:custDataLst>
                <p:tags r:id="rId3"/>
              </p:custDataLst>
            </p:nvPr>
          </p:nvPicPr>
          <p:blipFill>
            <a:blip r:embed="rId6"/>
            <a:stretch>
              <a:fillRect/>
            </a:stretch>
          </p:blipFill>
          <p:spPr>
            <a:xfrm>
              <a:off x="10411" y="1642"/>
              <a:ext cx="5537" cy="3851"/>
            </a:xfrm>
            <a:prstGeom prst="rect">
              <a:avLst/>
            </a:prstGeom>
          </p:spPr>
        </p:pic>
        <p:grpSp>
          <p:nvGrpSpPr>
            <p:cNvPr id="24" name="组合 23"/>
            <p:cNvGrpSpPr/>
            <p:nvPr/>
          </p:nvGrpSpPr>
          <p:grpSpPr>
            <a:xfrm rot="16200000">
              <a:off x="12868" y="3277"/>
              <a:ext cx="506" cy="4492"/>
              <a:chOff x="6014777" y="3267157"/>
              <a:chExt cx="852721" cy="852713"/>
            </a:xfrm>
          </p:grpSpPr>
          <p:cxnSp>
            <p:nvCxnSpPr>
              <p:cNvPr id="25" name="直接连接符 24"/>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8" name="TextBox 45"/>
              <p:cNvSpPr txBox="1"/>
              <p:nvPr/>
            </p:nvSpPr>
            <p:spPr>
              <a:xfrm rot="5400000">
                <a:off x="6246063" y="3464823"/>
                <a:ext cx="536293" cy="706576"/>
              </a:xfrm>
              <a:prstGeom prst="rect">
                <a:avLst/>
              </a:prstGeom>
              <a:noFill/>
            </p:spPr>
            <p:txBody>
              <a:bodyPr wrap="square" rtlCol="0">
                <a:spAutoFit/>
              </a:bodyPr>
              <a:lstStyle/>
              <a:p>
                <a:r>
                  <a:rPr lang="en-US" altLang="zh-CN" sz="1400" dirty="0"/>
                  <a:t>184mm</a:t>
                </a:r>
              </a:p>
            </p:txBody>
          </p:sp>
        </p:grpSp>
        <p:grpSp>
          <p:nvGrpSpPr>
            <p:cNvPr id="45" name="组合 44"/>
            <p:cNvGrpSpPr/>
            <p:nvPr/>
          </p:nvGrpSpPr>
          <p:grpSpPr>
            <a:xfrm rot="10800000">
              <a:off x="15645" y="1905"/>
              <a:ext cx="2010" cy="3342"/>
              <a:chOff x="5624341" y="3267157"/>
              <a:chExt cx="1100045" cy="852713"/>
            </a:xfrm>
          </p:grpSpPr>
          <p:cxnSp>
            <p:nvCxnSpPr>
              <p:cNvPr id="46" name="直接连接符 45"/>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0" name="TextBox 45"/>
              <p:cNvSpPr txBox="1"/>
              <p:nvPr/>
            </p:nvSpPr>
            <p:spPr>
              <a:xfrm rot="10800000">
                <a:off x="5624341" y="3567496"/>
                <a:ext cx="588839" cy="182151"/>
              </a:xfrm>
              <a:prstGeom prst="rect">
                <a:avLst/>
              </a:prstGeom>
              <a:noFill/>
            </p:spPr>
            <p:txBody>
              <a:bodyPr wrap="square" rtlCol="0">
                <a:spAutoFit/>
              </a:bodyPr>
              <a:lstStyle/>
              <a:p>
                <a:r>
                  <a:rPr lang="en-US" altLang="zh-CN" sz="1400" dirty="0"/>
                  <a:t>137.6mm</a:t>
                </a:r>
              </a:p>
            </p:txBody>
          </p:sp>
        </p:grpSp>
      </p:grpSp>
      <p:grpSp>
        <p:nvGrpSpPr>
          <p:cNvPr id="6" name="组合 5"/>
          <p:cNvGrpSpPr/>
          <p:nvPr/>
        </p:nvGrpSpPr>
        <p:grpSpPr>
          <a:xfrm>
            <a:off x="863600" y="2070735"/>
            <a:ext cx="5074920" cy="3074042"/>
            <a:chOff x="2289" y="1565"/>
            <a:chExt cx="7026" cy="4180"/>
          </a:xfrm>
        </p:grpSpPr>
        <p:pic>
          <p:nvPicPr>
            <p:cNvPr id="3" name="图片 2"/>
            <p:cNvPicPr>
              <a:picLocks noChangeAspect="1"/>
            </p:cNvPicPr>
            <p:nvPr>
              <p:custDataLst>
                <p:tags r:id="rId2"/>
              </p:custDataLst>
            </p:nvPr>
          </p:nvPicPr>
          <p:blipFill>
            <a:blip r:embed="rId7"/>
            <a:stretch>
              <a:fillRect/>
            </a:stretch>
          </p:blipFill>
          <p:spPr>
            <a:xfrm>
              <a:off x="2300" y="1565"/>
              <a:ext cx="4775" cy="3690"/>
            </a:xfrm>
            <a:prstGeom prst="rect">
              <a:avLst/>
            </a:prstGeom>
          </p:spPr>
        </p:pic>
        <p:grpSp>
          <p:nvGrpSpPr>
            <p:cNvPr id="49" name="组合 48"/>
            <p:cNvGrpSpPr/>
            <p:nvPr/>
          </p:nvGrpSpPr>
          <p:grpSpPr>
            <a:xfrm rot="10800000">
              <a:off x="7256" y="2019"/>
              <a:ext cx="2059" cy="3118"/>
              <a:chOff x="5563131" y="3267157"/>
              <a:chExt cx="1021485" cy="854797"/>
            </a:xfrm>
          </p:grpSpPr>
          <p:cxnSp>
            <p:nvCxnSpPr>
              <p:cNvPr id="50" name="直接连接符 49"/>
              <p:cNvCxnSpPr/>
              <p:nvPr/>
            </p:nvCxnSpPr>
            <p:spPr>
              <a:xfrm rot="10800000" flipV="1">
                <a:off x="6024505" y="3267157"/>
                <a:ext cx="500336" cy="2084"/>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10800000">
                <a:off x="6014777" y="4119870"/>
                <a:ext cx="569839" cy="2084"/>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rot="10800000" flipV="1">
                <a:off x="6213188" y="3267157"/>
                <a:ext cx="0" cy="852714"/>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3" name="TextBox 45"/>
              <p:cNvSpPr txBox="1"/>
              <p:nvPr/>
            </p:nvSpPr>
            <p:spPr>
              <a:xfrm rot="10800000">
                <a:off x="5563131" y="3591201"/>
                <a:ext cx="666768" cy="114326"/>
              </a:xfrm>
              <a:prstGeom prst="rect">
                <a:avLst/>
              </a:prstGeom>
              <a:noFill/>
            </p:spPr>
            <p:txBody>
              <a:bodyPr wrap="square" rtlCol="0">
                <a:spAutoFit/>
              </a:bodyPr>
              <a:lstStyle/>
              <a:p>
                <a:r>
                  <a:rPr lang="en-US" altLang="zh-CN" sz="1400" dirty="0"/>
                  <a:t>159mm</a:t>
                </a:r>
              </a:p>
            </p:txBody>
          </p:sp>
        </p:grpSp>
        <p:grpSp>
          <p:nvGrpSpPr>
            <p:cNvPr id="71" name="组合 70"/>
            <p:cNvGrpSpPr/>
            <p:nvPr/>
          </p:nvGrpSpPr>
          <p:grpSpPr>
            <a:xfrm rot="16200000">
              <a:off x="4359" y="3145"/>
              <a:ext cx="530" cy="4670"/>
              <a:chOff x="6014777" y="3267157"/>
              <a:chExt cx="853217" cy="852713"/>
            </a:xfrm>
          </p:grpSpPr>
          <p:cxnSp>
            <p:nvCxnSpPr>
              <p:cNvPr id="72" name="直接连接符 71"/>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5" name="TextBox 45"/>
              <p:cNvSpPr txBox="1"/>
              <p:nvPr/>
            </p:nvSpPr>
            <p:spPr>
              <a:xfrm rot="5400000">
                <a:off x="6264008" y="3482418"/>
                <a:ext cx="536293" cy="671678"/>
              </a:xfrm>
              <a:prstGeom prst="rect">
                <a:avLst/>
              </a:prstGeom>
              <a:noFill/>
            </p:spPr>
            <p:txBody>
              <a:bodyPr wrap="square" rtlCol="0">
                <a:spAutoFit/>
              </a:bodyPr>
              <a:lstStyle/>
              <a:p>
                <a:r>
                  <a:rPr lang="en-US" altLang="zh-CN" sz="1400" dirty="0"/>
                  <a:t>187.8mm</a:t>
                </a:r>
              </a:p>
            </p:txBody>
          </p:sp>
        </p:grpSp>
      </p:grpSp>
      <p:sp>
        <p:nvSpPr>
          <p:cNvPr id="15" name="文本框 14"/>
          <p:cNvSpPr txBox="1"/>
          <p:nvPr/>
        </p:nvSpPr>
        <p:spPr>
          <a:xfrm>
            <a:off x="1350645" y="1616710"/>
            <a:ext cx="1650365" cy="322580"/>
          </a:xfrm>
          <a:prstGeom prst="rect">
            <a:avLst/>
          </a:prstGeom>
          <a:noFill/>
        </p:spPr>
        <p:txBody>
          <a:bodyPr wrap="square" lIns="0" tIns="0" rtlCol="0">
            <a:spAutoFit/>
          </a:bodyPr>
          <a:lstStyle/>
          <a:p>
            <a:r>
              <a:rPr lang="en-US" altLang="zh-CN" dirty="0">
                <a:latin typeface="Arial" panose="020B0604020202020204" pitchFamily="34" charset="0"/>
                <a:ea typeface="微软雅黑" panose="020B0503020204020204" pitchFamily="34" charset="-122"/>
                <a:cs typeface="Arial" panose="020B0604020202020204" pitchFamily="34" charset="0"/>
              </a:rPr>
              <a:t>	</a:t>
            </a:r>
            <a:r>
              <a:rPr lang="en-US" dirty="0">
                <a:latin typeface="Arial" panose="020B0604020202020204" pitchFamily="34" charset="0"/>
                <a:ea typeface="微软雅黑" panose="020B0503020204020204" pitchFamily="34" charset="-122"/>
                <a:cs typeface="Arial" panose="020B0604020202020204" pitchFamily="34" charset="0"/>
              </a:rPr>
              <a:t>Cony</a:t>
            </a:r>
          </a:p>
        </p:txBody>
      </p:sp>
      <p:sp>
        <p:nvSpPr>
          <p:cNvPr id="17" name="文本框 16"/>
          <p:cNvSpPr txBox="1"/>
          <p:nvPr/>
        </p:nvSpPr>
        <p:spPr>
          <a:xfrm>
            <a:off x="8517255" y="1616710"/>
            <a:ext cx="796925" cy="322580"/>
          </a:xfrm>
          <a:prstGeom prst="rect">
            <a:avLst/>
          </a:prstGeom>
          <a:noFill/>
        </p:spPr>
        <p:txBody>
          <a:bodyPr wrap="square" lIns="0" tIns="0" rtlCol="0">
            <a:spAutoFit/>
          </a:bodyPr>
          <a:lstStyle/>
          <a:p>
            <a:r>
              <a:rPr lang="en-US" dirty="0">
                <a:latin typeface="Arial" panose="020B0604020202020204" pitchFamily="34" charset="0"/>
                <a:ea typeface="微软雅黑" panose="020B0503020204020204" pitchFamily="34" charset="-122"/>
                <a:cs typeface="Arial" panose="020B0604020202020204" pitchFamily="34" charset="0"/>
              </a:rPr>
              <a:t>Calla</a:t>
            </a:r>
          </a:p>
        </p:txBody>
      </p:sp>
      <p:sp>
        <p:nvSpPr>
          <p:cNvPr id="33" name="Explosion 1 32"/>
          <p:cNvSpPr/>
          <p:nvPr/>
        </p:nvSpPr>
        <p:spPr>
          <a:xfrm>
            <a:off x="6522733" y="1876888"/>
            <a:ext cx="5016137" cy="3001440"/>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solidFill>
                  <a:srgbClr val="FF0000"/>
                </a:solidFill>
              </a:rPr>
              <a:t>Need to change the image from newst panel design Drw in calla DFM</a:t>
            </a:r>
            <a:endParaRPr lang="en-US">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5"/>
          <a:stretch>
            <a:fillRect/>
          </a:stretch>
        </p:blipFill>
        <p:spPr>
          <a:xfrm>
            <a:off x="6703519" y="1103159"/>
            <a:ext cx="2143361" cy="3336938"/>
          </a:xfrm>
          <a:prstGeom prst="rect">
            <a:avLst/>
          </a:prstGeom>
        </p:spPr>
      </p:pic>
      <p:pic>
        <p:nvPicPr>
          <p:cNvPr id="13" name="图片 12"/>
          <p:cNvPicPr>
            <a:picLocks noChangeAspect="1"/>
          </p:cNvPicPr>
          <p:nvPr/>
        </p:nvPicPr>
        <p:blipFill>
          <a:blip r:embed="rId6"/>
          <a:stretch>
            <a:fillRect/>
          </a:stretch>
        </p:blipFill>
        <p:spPr>
          <a:xfrm>
            <a:off x="2271490" y="4291808"/>
            <a:ext cx="1546142" cy="1822723"/>
          </a:xfrm>
          <a:prstGeom prst="rect">
            <a:avLst/>
          </a:prstGeom>
        </p:spPr>
      </p:pic>
      <p:pic>
        <p:nvPicPr>
          <p:cNvPr id="4" name="图片 3"/>
          <p:cNvPicPr>
            <a:picLocks noChangeAspect="1"/>
          </p:cNvPicPr>
          <p:nvPr/>
        </p:nvPicPr>
        <p:blipFill>
          <a:blip r:embed="rId7"/>
          <a:srcRect t="2197"/>
          <a:stretch>
            <a:fillRect/>
          </a:stretch>
        </p:blipFill>
        <p:spPr>
          <a:xfrm>
            <a:off x="2228416" y="794880"/>
            <a:ext cx="1589216" cy="3013784"/>
          </a:xfrm>
          <a:prstGeom prst="rect">
            <a:avLst/>
          </a:prstGeom>
        </p:spPr>
      </p:pic>
      <p:cxnSp>
        <p:nvCxnSpPr>
          <p:cNvPr id="24" name="直接连接符 25"/>
          <p:cNvCxnSpPr/>
          <p:nvPr/>
        </p:nvCxnSpPr>
        <p:spPr>
          <a:xfrm flipH="1">
            <a:off x="1617078" y="1332702"/>
            <a:ext cx="758864" cy="0"/>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6"/>
          <p:cNvCxnSpPr/>
          <p:nvPr/>
        </p:nvCxnSpPr>
        <p:spPr>
          <a:xfrm flipH="1">
            <a:off x="1617078" y="3721347"/>
            <a:ext cx="940437" cy="0"/>
          </a:xfrm>
          <a:prstGeom prst="line">
            <a:avLst/>
          </a:prstGeom>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a:off x="1727738" y="1338665"/>
            <a:ext cx="0" cy="2382682"/>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1" name="文本框 34"/>
          <p:cNvSpPr txBox="1"/>
          <p:nvPr/>
        </p:nvSpPr>
        <p:spPr>
          <a:xfrm>
            <a:off x="1008784" y="2237105"/>
            <a:ext cx="681597" cy="246221"/>
          </a:xfrm>
          <a:prstGeom prst="rect">
            <a:avLst/>
          </a:prstGeom>
          <a:noFill/>
        </p:spPr>
        <p:txBody>
          <a:bodyPr wrap="none" rtlCol="0">
            <a:spAutoFit/>
          </a:bodyPr>
          <a:lstStyle/>
          <a:p>
            <a:r>
              <a:rPr lang="en-US" altLang="zh-CN" sz="1000" dirty="0">
                <a:ln w="0"/>
                <a:effectLst>
                  <a:outerShdw blurRad="38100" dist="19050" dir="2700000" algn="tl" rotWithShape="0">
                    <a:schemeClr val="dk1">
                      <a:alpha val="40000"/>
                    </a:schemeClr>
                  </a:outerShdw>
                </a:effectLst>
              </a:rPr>
              <a:t>1600mm</a:t>
            </a:r>
          </a:p>
        </p:txBody>
      </p:sp>
      <p:sp>
        <p:nvSpPr>
          <p:cNvPr id="5" name="標題 1"/>
          <p:cNvSpPr txBox="1"/>
          <p:nvPr/>
        </p:nvSpPr>
        <p:spPr>
          <a:xfrm>
            <a:off x="742623" y="144893"/>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 Equipment Layout</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7</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8"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47" name="组合 46"/>
          <p:cNvGrpSpPr/>
          <p:nvPr/>
        </p:nvGrpSpPr>
        <p:grpSpPr>
          <a:xfrm>
            <a:off x="1157641" y="4339273"/>
            <a:ext cx="1208722" cy="1462322"/>
            <a:chOff x="2172018" y="4848817"/>
            <a:chExt cx="1208722" cy="1462322"/>
          </a:xfrm>
        </p:grpSpPr>
        <p:grpSp>
          <p:nvGrpSpPr>
            <p:cNvPr id="51" name="组合 39"/>
            <p:cNvGrpSpPr/>
            <p:nvPr/>
          </p:nvGrpSpPr>
          <p:grpSpPr>
            <a:xfrm>
              <a:off x="2577465" y="4848817"/>
              <a:ext cx="803275" cy="1462322"/>
              <a:chOff x="4059" y="7124"/>
              <a:chExt cx="1265" cy="1952"/>
            </a:xfrm>
          </p:grpSpPr>
          <p:cxnSp>
            <p:nvCxnSpPr>
              <p:cNvPr id="56" name="直接连接符 27"/>
              <p:cNvCxnSpPr/>
              <p:nvPr/>
            </p:nvCxnSpPr>
            <p:spPr>
              <a:xfrm flipH="1">
                <a:off x="4059" y="7124"/>
                <a:ext cx="1265" cy="0"/>
              </a:xfrm>
              <a:prstGeom prst="line">
                <a:avLst/>
              </a:prstGeom>
            </p:spPr>
            <p:style>
              <a:lnRef idx="1">
                <a:schemeClr val="dk1"/>
              </a:lnRef>
              <a:fillRef idx="0">
                <a:schemeClr val="dk1"/>
              </a:fillRef>
              <a:effectRef idx="0">
                <a:schemeClr val="dk1"/>
              </a:effectRef>
              <a:fontRef idx="minor">
                <a:schemeClr val="tx1"/>
              </a:fontRef>
            </p:style>
          </p:cxnSp>
          <p:cxnSp>
            <p:nvCxnSpPr>
              <p:cNvPr id="57" name="直接连接符 28"/>
              <p:cNvCxnSpPr/>
              <p:nvPr/>
            </p:nvCxnSpPr>
            <p:spPr>
              <a:xfrm flipH="1">
                <a:off x="4059" y="9068"/>
                <a:ext cx="1265" cy="0"/>
              </a:xfrm>
              <a:prstGeom prst="line">
                <a:avLst/>
              </a:prstGeom>
            </p:spPr>
            <p:style>
              <a:lnRef idx="1">
                <a:schemeClr val="dk1"/>
              </a:lnRef>
              <a:fillRef idx="0">
                <a:schemeClr val="dk1"/>
              </a:fillRef>
              <a:effectRef idx="0">
                <a:schemeClr val="dk1"/>
              </a:effectRef>
              <a:fontRef idx="minor">
                <a:schemeClr val="tx1"/>
              </a:fontRef>
            </p:style>
          </p:cxnSp>
          <p:cxnSp>
            <p:nvCxnSpPr>
              <p:cNvPr id="58" name="直接箭头连接符 30"/>
              <p:cNvCxnSpPr/>
              <p:nvPr/>
            </p:nvCxnSpPr>
            <p:spPr>
              <a:xfrm>
                <a:off x="4331" y="7124"/>
                <a:ext cx="0" cy="1952"/>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grpSp>
        <p:sp>
          <p:nvSpPr>
            <p:cNvPr id="49" name="文本框 35"/>
            <p:cNvSpPr txBox="1"/>
            <p:nvPr/>
          </p:nvSpPr>
          <p:spPr>
            <a:xfrm>
              <a:off x="2172018" y="5311319"/>
              <a:ext cx="611065" cy="246221"/>
            </a:xfrm>
            <a:prstGeom prst="rect">
              <a:avLst/>
            </a:prstGeom>
            <a:noFill/>
          </p:spPr>
          <p:txBody>
            <a:bodyPr wrap="none" rtlCol="0">
              <a:spAutoFit/>
            </a:bodyPr>
            <a:lstStyle/>
            <a:p>
              <a:r>
                <a:rPr lang="en-US" altLang="zh-CN" sz="1000" dirty="0">
                  <a:ln w="0"/>
                  <a:effectLst>
                    <a:outerShdw blurRad="38100" dist="19050" dir="2700000" algn="tl" rotWithShape="0">
                      <a:schemeClr val="dk1">
                        <a:alpha val="40000"/>
                      </a:schemeClr>
                    </a:outerShdw>
                  </a:effectLst>
                </a:rPr>
                <a:t>900mm</a:t>
              </a:r>
            </a:p>
          </p:txBody>
        </p:sp>
      </p:grpSp>
      <p:grpSp>
        <p:nvGrpSpPr>
          <p:cNvPr id="12288" name="组合 12287"/>
          <p:cNvGrpSpPr/>
          <p:nvPr/>
        </p:nvGrpSpPr>
        <p:grpSpPr>
          <a:xfrm rot="16200000">
            <a:off x="2508512" y="5249218"/>
            <a:ext cx="1036729" cy="1504274"/>
            <a:chOff x="2344011" y="4840577"/>
            <a:chExt cx="1036729" cy="1504274"/>
          </a:xfrm>
        </p:grpSpPr>
        <p:grpSp>
          <p:nvGrpSpPr>
            <p:cNvPr id="12289" name="组合 39"/>
            <p:cNvGrpSpPr/>
            <p:nvPr/>
          </p:nvGrpSpPr>
          <p:grpSpPr>
            <a:xfrm>
              <a:off x="2577465" y="4840577"/>
              <a:ext cx="803275" cy="1504274"/>
              <a:chOff x="4059" y="7113"/>
              <a:chExt cx="1265" cy="2008"/>
            </a:xfrm>
          </p:grpSpPr>
          <p:cxnSp>
            <p:nvCxnSpPr>
              <p:cNvPr id="12292" name="直接连接符 27"/>
              <p:cNvCxnSpPr/>
              <p:nvPr/>
            </p:nvCxnSpPr>
            <p:spPr>
              <a:xfrm flipH="1">
                <a:off x="4059" y="7124"/>
                <a:ext cx="1265" cy="0"/>
              </a:xfrm>
              <a:prstGeom prst="line">
                <a:avLst/>
              </a:prstGeom>
            </p:spPr>
            <p:style>
              <a:lnRef idx="1">
                <a:schemeClr val="dk1"/>
              </a:lnRef>
              <a:fillRef idx="0">
                <a:schemeClr val="dk1"/>
              </a:fillRef>
              <a:effectRef idx="0">
                <a:schemeClr val="dk1"/>
              </a:effectRef>
              <a:fontRef idx="minor">
                <a:schemeClr val="tx1"/>
              </a:fontRef>
            </p:style>
          </p:cxnSp>
          <p:cxnSp>
            <p:nvCxnSpPr>
              <p:cNvPr id="12293" name="直接连接符 28"/>
              <p:cNvCxnSpPr/>
              <p:nvPr/>
            </p:nvCxnSpPr>
            <p:spPr>
              <a:xfrm flipH="1">
                <a:off x="4059" y="9121"/>
                <a:ext cx="1265" cy="0"/>
              </a:xfrm>
              <a:prstGeom prst="line">
                <a:avLst/>
              </a:prstGeom>
            </p:spPr>
            <p:style>
              <a:lnRef idx="1">
                <a:schemeClr val="dk1"/>
              </a:lnRef>
              <a:fillRef idx="0">
                <a:schemeClr val="dk1"/>
              </a:fillRef>
              <a:effectRef idx="0">
                <a:schemeClr val="dk1"/>
              </a:effectRef>
              <a:fontRef idx="minor">
                <a:schemeClr val="tx1"/>
              </a:fontRef>
            </p:style>
          </p:cxnSp>
          <p:cxnSp>
            <p:nvCxnSpPr>
              <p:cNvPr id="12294" name="直接箭头连接符 30"/>
              <p:cNvCxnSpPr/>
              <p:nvPr/>
            </p:nvCxnSpPr>
            <p:spPr>
              <a:xfrm rot="5400000">
                <a:off x="3242" y="8117"/>
                <a:ext cx="2008" cy="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grpSp>
        <p:sp>
          <p:nvSpPr>
            <p:cNvPr id="12290" name="文本框 35"/>
            <p:cNvSpPr txBox="1"/>
            <p:nvPr/>
          </p:nvSpPr>
          <p:spPr>
            <a:xfrm rot="5400000">
              <a:off x="2161589" y="5527439"/>
              <a:ext cx="611065" cy="246221"/>
            </a:xfrm>
            <a:prstGeom prst="rect">
              <a:avLst/>
            </a:prstGeom>
            <a:noFill/>
          </p:spPr>
          <p:txBody>
            <a:bodyPr wrap="none" rtlCol="0">
              <a:spAutoFit/>
            </a:bodyPr>
            <a:lstStyle/>
            <a:p>
              <a:r>
                <a:rPr lang="en-US" altLang="zh-CN" sz="1000" dirty="0">
                  <a:ln w="0"/>
                  <a:effectLst>
                    <a:outerShdw blurRad="38100" dist="19050" dir="2700000" algn="tl" rotWithShape="0">
                      <a:schemeClr val="dk1">
                        <a:alpha val="40000"/>
                      </a:schemeClr>
                    </a:outerShdw>
                  </a:effectLst>
                </a:rPr>
                <a:t>900mm</a:t>
              </a:r>
            </a:p>
          </p:txBody>
        </p:sp>
      </p:grpSp>
      <p:graphicFrame>
        <p:nvGraphicFramePr>
          <p:cNvPr id="16" name="表格 15"/>
          <p:cNvGraphicFramePr>
            <a:graphicFrameLocks noGrp="1"/>
          </p:cNvGraphicFramePr>
          <p:nvPr>
            <p:custDataLst>
              <p:tags r:id="rId2"/>
            </p:custDataLst>
          </p:nvPr>
        </p:nvGraphicFramePr>
        <p:xfrm>
          <a:off x="6336854" y="4533439"/>
          <a:ext cx="3416300" cy="1869440"/>
        </p:xfrm>
        <a:graphic>
          <a:graphicData uri="http://schemas.openxmlformats.org/drawingml/2006/table">
            <a:tbl>
              <a:tblPr firstRow="1" bandRow="1">
                <a:tableStyleId>{F5AB1C69-6EDB-4FF4-983F-18BD219EF322}</a:tableStyleId>
              </a:tblPr>
              <a:tblGrid>
                <a:gridCol w="1847215">
                  <a:extLst>
                    <a:ext uri="{9D8B030D-6E8A-4147-A177-3AD203B41FA5}">
                      <a16:colId xmlns:a16="http://schemas.microsoft.com/office/drawing/2014/main" val="20000"/>
                    </a:ext>
                  </a:extLst>
                </a:gridCol>
                <a:gridCol w="1569085">
                  <a:extLst>
                    <a:ext uri="{9D8B030D-6E8A-4147-A177-3AD203B41FA5}">
                      <a16:colId xmlns:a16="http://schemas.microsoft.com/office/drawing/2014/main" val="20001"/>
                    </a:ext>
                  </a:extLst>
                </a:gridCol>
              </a:tblGrid>
              <a:tr h="457200">
                <a:tc>
                  <a:txBody>
                    <a:bodyPr/>
                    <a:lstStyle/>
                    <a:p>
                      <a:pPr algn="ctr"/>
                      <a:r>
                        <a:rPr lang="zh-CN" altLang="en-US" sz="1200" b="0" dirty="0">
                          <a:solidFill>
                            <a:schemeClr val="tx1"/>
                          </a:solidFill>
                          <a:latin typeface="Arial" panose="020B0604020202020204" pitchFamily="34" charset="0"/>
                          <a:cs typeface="Arial" panose="020B0604020202020204" pitchFamily="34" charset="0"/>
                          <a:sym typeface="+mn-ea"/>
                        </a:rPr>
                        <a:t>positional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CN" sz="1200" b="0" kern="1200" dirty="0">
                          <a:solidFill>
                            <a:schemeClr val="tx1"/>
                          </a:solidFill>
                          <a:latin typeface="Arial" panose="020B0604020202020204" pitchFamily="34" charset="0"/>
                          <a:cs typeface="Arial" panose="020B0604020202020204" pitchFamily="34" charset="0"/>
                        </a:rPr>
                        <a:t>±0.03mm</a:t>
                      </a:r>
                      <a:endParaRPr lang="en-US" altLang="zh-CN" sz="1200" b="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ctr"/>
                      <a:r>
                        <a:rPr lang="en-US" altLang="zh-CN" sz="1200" b="0" dirty="0">
                          <a:solidFill>
                            <a:schemeClr val="tx1"/>
                          </a:solidFill>
                          <a:latin typeface="Arial" panose="020B0604020202020204" pitchFamily="34" charset="0"/>
                          <a:cs typeface="Arial" panose="020B0604020202020204" pitchFamily="34" charset="0"/>
                        </a:rPr>
                        <a:t>Alignment accuracy</a:t>
                      </a:r>
                      <a:endParaRPr lang="zh-CN" altLang="en-US" sz="12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CN" sz="1200" b="0" kern="1200" dirty="0">
                          <a:solidFill>
                            <a:schemeClr val="tx1"/>
                          </a:solidFill>
                          <a:latin typeface="Arial" panose="020B0604020202020204" pitchFamily="34" charset="0"/>
                          <a:cs typeface="Arial" panose="020B0604020202020204" pitchFamily="34" charset="0"/>
                        </a:rPr>
                        <a:t>±0.15mm</a:t>
                      </a:r>
                      <a:endParaRPr lang="en-US" altLang="zh-CN" sz="1200" b="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40360">
                <a:tc>
                  <a:txBody>
                    <a:bodyPr/>
                    <a:lstStyle/>
                    <a:p>
                      <a:pPr algn="ctr"/>
                      <a:r>
                        <a:rPr lang="en-US" altLang="zh-CN" sz="1200" b="0" dirty="0">
                          <a:solidFill>
                            <a:schemeClr val="tx1"/>
                          </a:solidFill>
                          <a:latin typeface="Arial" panose="020B0604020202020204" pitchFamily="34" charset="0"/>
                          <a:cs typeface="Arial" panose="020B0604020202020204" pitchFamily="34" charset="0"/>
                        </a:rPr>
                        <a:t>Dispensing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b="0" dirty="0">
                          <a:solidFill>
                            <a:schemeClr val="tx1"/>
                          </a:solidFill>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40360">
                <a:tc>
                  <a:txBody>
                    <a:bodyPr/>
                    <a:lstStyle/>
                    <a:p>
                      <a:pPr algn="ctr"/>
                      <a:r>
                        <a:rPr lang="en-US" altLang="zh-CN" sz="1200" b="0" dirty="0">
                          <a:solidFill>
                            <a:schemeClr val="tx1"/>
                          </a:solidFill>
                          <a:latin typeface="Arial" panose="020B0604020202020204" pitchFamily="34" charset="0"/>
                          <a:cs typeface="Arial" panose="020B0604020202020204" pitchFamily="34" charset="0"/>
                        </a:rPr>
                        <a:t>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b="0" dirty="0">
                          <a:solidFill>
                            <a:schemeClr val="tx1"/>
                          </a:solidFill>
                          <a:latin typeface="Arial" panose="020B0604020202020204" pitchFamily="34" charset="0"/>
                          <a:cs typeface="Arial" panose="020B0604020202020204" pitchFamily="34" charset="0"/>
                        </a:rPr>
                        <a:t>4.0s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20">
                <a:tc>
                  <a:txBody>
                    <a:bodyPr/>
                    <a:lstStyle/>
                    <a:p>
                      <a:pPr algn="ctr"/>
                      <a:r>
                        <a:rPr lang="en-US" altLang="zh-CN" sz="1200" b="0" dirty="0">
                          <a:solidFill>
                            <a:schemeClr val="tx1"/>
                          </a:solidFill>
                          <a:latin typeface="Arial" panose="020B0604020202020204" pitchFamily="34" charset="0"/>
                          <a:cs typeface="Arial" panose="020B0604020202020204" pitchFamily="34" charset="0"/>
                        </a:rPr>
                        <a:t>UPH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b="0" dirty="0">
                          <a:solidFill>
                            <a:schemeClr val="tx1"/>
                          </a:solidFill>
                          <a:latin typeface="Arial" panose="020B0604020202020204" pitchFamily="34" charset="0"/>
                          <a:cs typeface="Arial" panose="020B0604020202020204" pitchFamily="34" charset="0"/>
                        </a:rPr>
                        <a:t>720PCS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2" name="组合 1"/>
          <p:cNvGrpSpPr/>
          <p:nvPr/>
        </p:nvGrpSpPr>
        <p:grpSpPr>
          <a:xfrm>
            <a:off x="8607425" y="1223010"/>
            <a:ext cx="2882900" cy="2349500"/>
            <a:chOff x="13719" y="850"/>
            <a:chExt cx="4540" cy="3700"/>
          </a:xfrm>
        </p:grpSpPr>
        <p:sp>
          <p:nvSpPr>
            <p:cNvPr id="3" name="文本框 2"/>
            <p:cNvSpPr txBox="1"/>
            <p:nvPr/>
          </p:nvSpPr>
          <p:spPr>
            <a:xfrm>
              <a:off x="16087" y="1499"/>
              <a:ext cx="2172" cy="436"/>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Tricolor lamp</a:t>
              </a:r>
            </a:p>
          </p:txBody>
        </p:sp>
        <p:cxnSp>
          <p:nvCxnSpPr>
            <p:cNvPr id="9" name="直接箭头连接符 8"/>
            <p:cNvCxnSpPr>
              <a:stCxn id="3" idx="1"/>
            </p:cNvCxnSpPr>
            <p:nvPr/>
          </p:nvCxnSpPr>
          <p:spPr>
            <a:xfrm flipH="1" flipV="1">
              <a:off x="13719" y="850"/>
              <a:ext cx="2368" cy="867"/>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6086" y="4114"/>
              <a:ext cx="1880" cy="436"/>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Touch screen</a:t>
              </a:r>
            </a:p>
          </p:txBody>
        </p:sp>
        <p:sp>
          <p:nvSpPr>
            <p:cNvPr id="11" name="矩形 10"/>
            <p:cNvSpPr/>
            <p:nvPr/>
          </p:nvSpPr>
          <p:spPr>
            <a:xfrm>
              <a:off x="16363" y="2941"/>
              <a:ext cx="721" cy="434"/>
            </a:xfrm>
            <a:prstGeom prst="rect">
              <a:avLst/>
            </a:prstGeom>
            <a:ln>
              <a:noFill/>
              <a:headEnd type="none" w="med" len="med"/>
              <a:tailEnd type="oval" w="med" len="med"/>
            </a:ln>
          </p:spPr>
          <p:style>
            <a:lnRef idx="2">
              <a:schemeClr val="accent1"/>
            </a:lnRef>
            <a:fillRef idx="0">
              <a:srgbClr val="FFFFFF"/>
            </a:fillRef>
            <a:effectRef idx="0">
              <a:srgbClr val="FFFFFF"/>
            </a:effectRef>
            <a:fontRef idx="minor">
              <a:schemeClr val="dk1"/>
            </a:fontRef>
          </p:style>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PC</a:t>
              </a:r>
            </a:p>
          </p:txBody>
        </p:sp>
      </p:grpSp>
      <p:cxnSp>
        <p:nvCxnSpPr>
          <p:cNvPr id="12" name="直接箭头连接符 11"/>
          <p:cNvCxnSpPr>
            <a:stCxn id="10" idx="1"/>
          </p:cNvCxnSpPr>
          <p:nvPr/>
        </p:nvCxnSpPr>
        <p:spPr>
          <a:xfrm flipH="1" flipV="1">
            <a:off x="8358809" y="2196772"/>
            <a:ext cx="1751661" cy="1237308"/>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11" idx="1"/>
          </p:cNvCxnSpPr>
          <p:nvPr/>
        </p:nvCxnSpPr>
        <p:spPr>
          <a:xfrm flipH="1" flipV="1">
            <a:off x="8251061" y="1657613"/>
            <a:ext cx="2035304" cy="1030977"/>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p:cNvPicPr>
            <a:picLocks noChangeAspect="1"/>
          </p:cNvPicPr>
          <p:nvPr/>
        </p:nvPicPr>
        <p:blipFill>
          <a:blip r:embed="rId5">
            <a:extLst>
              <a:ext uri="{BEBA8EAE-BF5A-486C-A8C5-ECC9F3942E4B}">
                <a14:imgProps xmlns:a14="http://schemas.microsoft.com/office/drawing/2010/main">
                  <a14:imgLayer r:embed="rId6">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968511" y="1076617"/>
            <a:ext cx="4847953" cy="5428279"/>
          </a:xfrm>
          <a:prstGeom prst="rect">
            <a:avLst/>
          </a:prstGeom>
        </p:spPr>
      </p:pic>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 Equipment Layout</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8</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7" name="椭圆 6"/>
          <p:cNvSpPr>
            <a:spLocks noChangeAspect="1"/>
          </p:cNvSpPr>
          <p:nvPr/>
        </p:nvSpPr>
        <p:spPr>
          <a:xfrm>
            <a:off x="3698096" y="2518779"/>
            <a:ext cx="259715" cy="25971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2</a:t>
            </a:r>
          </a:p>
        </p:txBody>
      </p:sp>
      <p:sp>
        <p:nvSpPr>
          <p:cNvPr id="8" name="椭圆 6"/>
          <p:cNvSpPr>
            <a:spLocks noChangeAspect="1"/>
          </p:cNvSpPr>
          <p:nvPr/>
        </p:nvSpPr>
        <p:spPr>
          <a:xfrm>
            <a:off x="4282860" y="2306950"/>
            <a:ext cx="259715" cy="25971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5</a:t>
            </a:r>
          </a:p>
        </p:txBody>
      </p:sp>
      <p:sp>
        <p:nvSpPr>
          <p:cNvPr id="9" name="右箭头 7"/>
          <p:cNvSpPr/>
          <p:nvPr/>
        </p:nvSpPr>
        <p:spPr>
          <a:xfrm>
            <a:off x="675005" y="3684270"/>
            <a:ext cx="403225" cy="412115"/>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8"/>
          <p:cNvSpPr/>
          <p:nvPr/>
        </p:nvSpPr>
        <p:spPr>
          <a:xfrm>
            <a:off x="5706745" y="3688715"/>
            <a:ext cx="403225" cy="412115"/>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9"/>
          <p:cNvSpPr txBox="1"/>
          <p:nvPr/>
        </p:nvSpPr>
        <p:spPr>
          <a:xfrm>
            <a:off x="495935" y="4166235"/>
            <a:ext cx="702310" cy="310515"/>
          </a:xfrm>
          <a:prstGeom prst="rect">
            <a:avLst/>
          </a:prstGeom>
          <a:solidFill>
            <a:srgbClr val="92D050"/>
          </a:solidFill>
        </p:spPr>
        <p:txBody>
          <a:bodyPr wrap="none" rtlCol="0">
            <a:spAutoFit/>
          </a:bodyPr>
          <a:lstStyle/>
          <a:p>
            <a:pPr algn="ctr"/>
            <a:r>
              <a:rPr lang="zh-CN" altLang="en-US" sz="800">
                <a:latin typeface="等线" panose="02010600030101010101" charset="-122"/>
                <a:ea typeface="等线" panose="02010600030101010101" charset="-122"/>
                <a:cs typeface="等线" panose="02010600030101010101" charset="-122"/>
              </a:rPr>
              <a:t>进板</a:t>
            </a:r>
          </a:p>
          <a:p>
            <a:pPr algn="ctr"/>
            <a:r>
              <a:rPr lang="en-US" altLang="zh-CN" sz="800" dirty="0">
                <a:latin typeface="等线" panose="02010600030101010101" charset="-122"/>
                <a:ea typeface="等线" panose="02010600030101010101" charset="-122"/>
                <a:cs typeface="等线" panose="02010600030101010101" charset="-122"/>
                <a:sym typeface="+mn-ea"/>
              </a:rPr>
              <a:t>Carrier inflow</a:t>
            </a:r>
            <a:endParaRPr lang="zh-CN" altLang="en-US" sz="800">
              <a:latin typeface="等线" panose="02010600030101010101" charset="-122"/>
              <a:ea typeface="等线" panose="02010600030101010101" charset="-122"/>
              <a:cs typeface="等线" panose="02010600030101010101" charset="-122"/>
            </a:endParaRPr>
          </a:p>
        </p:txBody>
      </p:sp>
      <p:sp>
        <p:nvSpPr>
          <p:cNvPr id="12" name="文本框 10"/>
          <p:cNvSpPr txBox="1"/>
          <p:nvPr/>
        </p:nvSpPr>
        <p:spPr>
          <a:xfrm>
            <a:off x="5531485" y="4170680"/>
            <a:ext cx="764540" cy="310515"/>
          </a:xfrm>
          <a:prstGeom prst="rect">
            <a:avLst/>
          </a:prstGeom>
          <a:solidFill>
            <a:srgbClr val="92D050"/>
          </a:solidFill>
        </p:spPr>
        <p:txBody>
          <a:bodyPr wrap="none" rtlCol="0">
            <a:spAutoFit/>
          </a:bodyPr>
          <a:lstStyle/>
          <a:p>
            <a:pPr algn="ctr"/>
            <a:r>
              <a:rPr lang="zh-CN" altLang="en-US" sz="800">
                <a:latin typeface="等线" panose="02010600030101010101" charset="-122"/>
                <a:ea typeface="等线" panose="02010600030101010101" charset="-122"/>
                <a:cs typeface="等线" panose="02010600030101010101" charset="-122"/>
              </a:rPr>
              <a:t>出板</a:t>
            </a:r>
          </a:p>
          <a:p>
            <a:pPr algn="ctr"/>
            <a:r>
              <a:rPr lang="zh-CN" altLang="en-US" sz="800">
                <a:latin typeface="等线" panose="02010600030101010101" charset="-122"/>
                <a:ea typeface="等线" panose="02010600030101010101" charset="-122"/>
                <a:cs typeface="等线" panose="02010600030101010101" charset="-122"/>
              </a:rPr>
              <a:t>Carrier outflow</a:t>
            </a:r>
          </a:p>
        </p:txBody>
      </p:sp>
      <p:sp>
        <p:nvSpPr>
          <p:cNvPr id="13" name="椭圆 59"/>
          <p:cNvSpPr>
            <a:spLocks noChangeAspect="1"/>
          </p:cNvSpPr>
          <p:nvPr/>
        </p:nvSpPr>
        <p:spPr>
          <a:xfrm>
            <a:off x="4283908" y="2783404"/>
            <a:ext cx="259715" cy="25971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1</a:t>
            </a:r>
          </a:p>
        </p:txBody>
      </p:sp>
      <p:sp>
        <p:nvSpPr>
          <p:cNvPr id="14" name="椭圆 62"/>
          <p:cNvSpPr>
            <a:spLocks noChangeAspect="1"/>
          </p:cNvSpPr>
          <p:nvPr/>
        </p:nvSpPr>
        <p:spPr>
          <a:xfrm>
            <a:off x="2567252" y="4217035"/>
            <a:ext cx="259715" cy="25971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6</a:t>
            </a:r>
          </a:p>
        </p:txBody>
      </p:sp>
      <p:grpSp>
        <p:nvGrpSpPr>
          <p:cNvPr id="15" name="组合 64"/>
          <p:cNvGrpSpPr>
            <a:grpSpLocks noChangeAspect="1"/>
          </p:cNvGrpSpPr>
          <p:nvPr/>
        </p:nvGrpSpPr>
        <p:grpSpPr>
          <a:xfrm>
            <a:off x="2257063" y="1982128"/>
            <a:ext cx="1331827" cy="284248"/>
            <a:chOff x="2759" y="4858"/>
            <a:chExt cx="3304" cy="705"/>
          </a:xfrm>
          <a:solidFill>
            <a:srgbClr val="92D050"/>
          </a:solidFill>
        </p:grpSpPr>
        <p:sp>
          <p:nvSpPr>
            <p:cNvPr id="16" name="椭圆 65"/>
            <p:cNvSpPr>
              <a:spLocks noChangeAspect="1"/>
            </p:cNvSpPr>
            <p:nvPr/>
          </p:nvSpPr>
          <p:spPr>
            <a:xfrm>
              <a:off x="4089" y="4889"/>
              <a:ext cx="645" cy="64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3</a:t>
              </a:r>
            </a:p>
          </p:txBody>
        </p:sp>
        <p:grpSp>
          <p:nvGrpSpPr>
            <p:cNvPr id="17" name="组合 66"/>
            <p:cNvGrpSpPr/>
            <p:nvPr/>
          </p:nvGrpSpPr>
          <p:grpSpPr>
            <a:xfrm rot="16200000">
              <a:off x="3026" y="4592"/>
              <a:ext cx="704" cy="1238"/>
              <a:chOff x="1515" y="2752"/>
              <a:chExt cx="704" cy="1238"/>
            </a:xfrm>
            <a:grpFill/>
          </p:grpSpPr>
          <p:sp>
            <p:nvSpPr>
              <p:cNvPr id="23" name="右箭头 67"/>
              <p:cNvSpPr/>
              <p:nvPr/>
            </p:nvSpPr>
            <p:spPr>
              <a:xfrm rot="16200000">
                <a:off x="1522" y="2745"/>
                <a:ext cx="690" cy="705"/>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4" name="矩形 23"/>
              <p:cNvSpPr/>
              <p:nvPr/>
            </p:nvSpPr>
            <p:spPr>
              <a:xfrm>
                <a:off x="1686" y="3510"/>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5" name="矩形 24"/>
              <p:cNvSpPr/>
              <p:nvPr/>
            </p:nvSpPr>
            <p:spPr>
              <a:xfrm>
                <a:off x="1686" y="3694"/>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6" name="矩形 25"/>
              <p:cNvSpPr/>
              <p:nvPr/>
            </p:nvSpPr>
            <p:spPr>
              <a:xfrm>
                <a:off x="1686" y="3870"/>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grpSp>
          <p:nvGrpSpPr>
            <p:cNvPr id="18" name="组合 71"/>
            <p:cNvGrpSpPr/>
            <p:nvPr/>
          </p:nvGrpSpPr>
          <p:grpSpPr>
            <a:xfrm rot="5400000">
              <a:off x="5092" y="4592"/>
              <a:ext cx="705" cy="1237"/>
              <a:chOff x="1514" y="2753"/>
              <a:chExt cx="705" cy="1237"/>
            </a:xfrm>
            <a:grpFill/>
          </p:grpSpPr>
          <p:sp>
            <p:nvSpPr>
              <p:cNvPr id="19" name="右箭头 72"/>
              <p:cNvSpPr/>
              <p:nvPr/>
            </p:nvSpPr>
            <p:spPr>
              <a:xfrm rot="16200000">
                <a:off x="1522" y="2745"/>
                <a:ext cx="690" cy="705"/>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0" name="矩形 19"/>
              <p:cNvSpPr/>
              <p:nvPr/>
            </p:nvSpPr>
            <p:spPr>
              <a:xfrm>
                <a:off x="1686" y="3510"/>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1" name="矩形 20"/>
              <p:cNvSpPr/>
              <p:nvPr/>
            </p:nvSpPr>
            <p:spPr>
              <a:xfrm>
                <a:off x="1686" y="3694"/>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2" name="矩形 21"/>
              <p:cNvSpPr/>
              <p:nvPr/>
            </p:nvSpPr>
            <p:spPr>
              <a:xfrm>
                <a:off x="1686" y="3870"/>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grpSp>
      <p:grpSp>
        <p:nvGrpSpPr>
          <p:cNvPr id="27" name="组合 77"/>
          <p:cNvGrpSpPr>
            <a:grpSpLocks noChangeAspect="1"/>
          </p:cNvGrpSpPr>
          <p:nvPr/>
        </p:nvGrpSpPr>
        <p:grpSpPr>
          <a:xfrm>
            <a:off x="4530883" y="2952570"/>
            <a:ext cx="283845" cy="1337310"/>
            <a:chOff x="1494" y="2774"/>
            <a:chExt cx="704" cy="3317"/>
          </a:xfrm>
          <a:solidFill>
            <a:srgbClr val="92D050"/>
          </a:solidFill>
        </p:grpSpPr>
        <p:sp>
          <p:nvSpPr>
            <p:cNvPr id="28" name="椭圆 78"/>
            <p:cNvSpPr>
              <a:spLocks noChangeAspect="1"/>
            </p:cNvSpPr>
            <p:nvPr/>
          </p:nvSpPr>
          <p:spPr>
            <a:xfrm>
              <a:off x="1523" y="4110"/>
              <a:ext cx="645" cy="64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4</a:t>
              </a:r>
            </a:p>
          </p:txBody>
        </p:sp>
        <p:grpSp>
          <p:nvGrpSpPr>
            <p:cNvPr id="29" name="组合 79"/>
            <p:cNvGrpSpPr/>
            <p:nvPr/>
          </p:nvGrpSpPr>
          <p:grpSpPr>
            <a:xfrm>
              <a:off x="1494" y="2774"/>
              <a:ext cx="704" cy="1238"/>
              <a:chOff x="1515" y="2752"/>
              <a:chExt cx="704" cy="1238"/>
            </a:xfrm>
            <a:grpFill/>
          </p:grpSpPr>
          <p:sp>
            <p:nvSpPr>
              <p:cNvPr id="36" name="右箭头 80"/>
              <p:cNvSpPr/>
              <p:nvPr/>
            </p:nvSpPr>
            <p:spPr>
              <a:xfrm rot="16200000">
                <a:off x="1522" y="2745"/>
                <a:ext cx="690" cy="705"/>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7" name="矩形 36"/>
              <p:cNvSpPr/>
              <p:nvPr/>
            </p:nvSpPr>
            <p:spPr>
              <a:xfrm>
                <a:off x="1686" y="3510"/>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8" name="矩形 37"/>
              <p:cNvSpPr/>
              <p:nvPr/>
            </p:nvSpPr>
            <p:spPr>
              <a:xfrm>
                <a:off x="1686" y="3694"/>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9" name="矩形 38"/>
              <p:cNvSpPr/>
              <p:nvPr/>
            </p:nvSpPr>
            <p:spPr>
              <a:xfrm>
                <a:off x="1686" y="3870"/>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grpSp>
          <p:nvGrpSpPr>
            <p:cNvPr id="30" name="组合 84"/>
            <p:cNvGrpSpPr/>
            <p:nvPr/>
          </p:nvGrpSpPr>
          <p:grpSpPr>
            <a:xfrm rot="10800000">
              <a:off x="1494" y="4853"/>
              <a:ext cx="704" cy="1238"/>
              <a:chOff x="1515" y="2752"/>
              <a:chExt cx="704" cy="1238"/>
            </a:xfrm>
            <a:grpFill/>
          </p:grpSpPr>
          <p:sp>
            <p:nvSpPr>
              <p:cNvPr id="31" name="右箭头 85"/>
              <p:cNvSpPr/>
              <p:nvPr/>
            </p:nvSpPr>
            <p:spPr>
              <a:xfrm rot="16200000">
                <a:off x="1522" y="2745"/>
                <a:ext cx="690" cy="705"/>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2" name="矩形 31"/>
              <p:cNvSpPr/>
              <p:nvPr/>
            </p:nvSpPr>
            <p:spPr>
              <a:xfrm>
                <a:off x="1686" y="3510"/>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3" name="矩形 32"/>
              <p:cNvSpPr/>
              <p:nvPr/>
            </p:nvSpPr>
            <p:spPr>
              <a:xfrm>
                <a:off x="1686" y="3694"/>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1686" y="3870"/>
                <a:ext cx="363" cy="12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grpSp>
      <p:graphicFrame>
        <p:nvGraphicFramePr>
          <p:cNvPr id="40" name="表格 39"/>
          <p:cNvGraphicFramePr>
            <a:graphicFrameLocks noGrp="1"/>
          </p:cNvGraphicFramePr>
          <p:nvPr>
            <p:custDataLst>
              <p:tags r:id="rId2"/>
            </p:custDataLst>
          </p:nvPr>
        </p:nvGraphicFramePr>
        <p:xfrm>
          <a:off x="6885029" y="1041188"/>
          <a:ext cx="4526280" cy="5256530"/>
        </p:xfrm>
        <a:graphic>
          <a:graphicData uri="http://schemas.openxmlformats.org/drawingml/2006/table">
            <a:tbl>
              <a:tblPr firstRow="1" bandRow="1">
                <a:tableStyleId>{F5AB1C69-6EDB-4FF4-983F-18BD219EF322}</a:tableStyleId>
              </a:tblPr>
              <a:tblGrid>
                <a:gridCol w="1248410">
                  <a:extLst>
                    <a:ext uri="{9D8B030D-6E8A-4147-A177-3AD203B41FA5}">
                      <a16:colId xmlns:a16="http://schemas.microsoft.com/office/drawing/2014/main" val="20000"/>
                    </a:ext>
                  </a:extLst>
                </a:gridCol>
                <a:gridCol w="3277870">
                  <a:extLst>
                    <a:ext uri="{9D8B030D-6E8A-4147-A177-3AD203B41FA5}">
                      <a16:colId xmlns:a16="http://schemas.microsoft.com/office/drawing/2014/main" val="20001"/>
                    </a:ext>
                  </a:extLst>
                </a:gridCol>
              </a:tblGrid>
              <a:tr h="775970">
                <a:tc>
                  <a:txBody>
                    <a:bodyPr/>
                    <a:lstStyle/>
                    <a:p>
                      <a:pPr algn="ctr"/>
                      <a:r>
                        <a:rPr lang="zh-CN" sz="1800" b="1" dirty="0">
                          <a:solidFill>
                            <a:schemeClr val="tx1"/>
                          </a:solidFill>
                          <a:latin typeface="等线" panose="02010600030101010101" charset="-122"/>
                          <a:ea typeface="等线" panose="02010600030101010101" charset="-122"/>
                          <a:cs typeface="等线" panose="02010600030101010101" charset="-122"/>
                          <a:sym typeface="+mn-ea"/>
                        </a:rPr>
                        <a:t>module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CN" sz="1800" b="1" dirty="0">
                          <a:solidFill>
                            <a:schemeClr val="tx1"/>
                          </a:solidFill>
                          <a:latin typeface="等线" panose="02010600030101010101" charset="-122"/>
                          <a:ea typeface="等线" panose="02010600030101010101" charset="-122"/>
                          <a:cs typeface="等线" panose="02010600030101010101" charset="-122"/>
                          <a:sym typeface="+mn-ea"/>
                        </a:rPr>
                        <a:t>Process Flow</a:t>
                      </a:r>
                      <a:endParaRPr lang="en-US" altLang="zh-CN" sz="1800" b="1" kern="1200" dirty="0">
                        <a:solidFill>
                          <a:schemeClr val="tx1"/>
                        </a:solidFill>
                        <a:latin typeface="等线" panose="02010600030101010101" charset="-122"/>
                        <a:ea typeface="等线" panose="02010600030101010101" charset="-122"/>
                        <a:cs typeface="等线" panose="02010600030101010101" charset="-122"/>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40080">
                <a:tc>
                  <a:txBody>
                    <a:bodyPr/>
                    <a:lstStyle/>
                    <a:p>
                      <a:pPr algn="ctr"/>
                      <a:r>
                        <a:rPr lang="en-US" altLang="zh-CN" sz="1800" b="0" dirty="0">
                          <a:solidFill>
                            <a:schemeClr val="tx1"/>
                          </a:solidFill>
                          <a:latin typeface="等线" panose="02010600030101010101" charset="-122"/>
                          <a:ea typeface="等线" panose="02010600030101010101" charset="-122"/>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CN" sz="1800" b="0" kern="1200" dirty="0">
                          <a:solidFill>
                            <a:schemeClr val="tx1"/>
                          </a:solidFill>
                          <a:latin typeface="等线" panose="02010600030101010101" charset="-122"/>
                          <a:ea typeface="+mn-ea"/>
                          <a:cs typeface="等线" panose="02010600030101010101" charset="-122"/>
                        </a:rPr>
                        <a:t>Rangefinder</a:t>
                      </a:r>
                      <a:endParaRPr lang="en-US" altLang="zh-CN" sz="1800" b="0" kern="1200" dirty="0">
                        <a:solidFill>
                          <a:schemeClr val="tx1"/>
                        </a:solidFill>
                        <a:latin typeface="等线" panose="02010600030101010101" charset="-122"/>
                        <a:ea typeface="等线" panose="02010600030101010101" charset="-122"/>
                        <a:cs typeface="等线" panose="02010600030101010101"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40080">
                <a:tc>
                  <a:txBody>
                    <a:bodyPr/>
                    <a:lstStyle/>
                    <a:p>
                      <a:pPr algn="ctr"/>
                      <a:r>
                        <a:rPr lang="en-US" altLang="zh-CN" sz="1800" b="0" dirty="0">
                          <a:solidFill>
                            <a:schemeClr val="tx1"/>
                          </a:solidFill>
                          <a:latin typeface="等线" panose="02010600030101010101" charset="-122"/>
                          <a:ea typeface="等线" panose="02010600030101010101" charset="-122"/>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chemeClr val="tx1"/>
                          </a:solidFill>
                          <a:latin typeface="等线" panose="02010600030101010101" charset="-122"/>
                          <a:ea typeface="+mn-ea"/>
                          <a:cs typeface="等线" panose="02010600030101010101" charset="-122"/>
                          <a:sym typeface="+mn-ea"/>
                        </a:rPr>
                        <a:t>Dispensing component</a:t>
                      </a:r>
                      <a:endParaRPr lang="en-US" altLang="zh-CN" sz="1800" b="0" dirty="0">
                        <a:solidFill>
                          <a:schemeClr val="tx1"/>
                        </a:solidFill>
                        <a:latin typeface="等线" panose="02010600030101010101" charset="-122"/>
                        <a:ea typeface="等线" panose="02010600030101010101" charset="-122"/>
                        <a:cs typeface="等线" panose="02010600030101010101"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40080">
                <a:tc>
                  <a:txBody>
                    <a:bodyPr/>
                    <a:lstStyle/>
                    <a:p>
                      <a:pPr algn="ctr"/>
                      <a:r>
                        <a:rPr lang="en-US" altLang="zh-CN" sz="1800" b="0" dirty="0">
                          <a:solidFill>
                            <a:schemeClr val="tx1"/>
                          </a:solidFill>
                          <a:latin typeface="等线" panose="02010600030101010101" charset="-122"/>
                          <a:ea typeface="等线" panose="02010600030101010101" charset="-122"/>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800" dirty="0">
                          <a:solidFill>
                            <a:schemeClr val="tx1"/>
                          </a:solidFill>
                          <a:latin typeface="等线" panose="02010600030101010101" charset="-122"/>
                          <a:ea typeface="等线" panose="02010600030101010101" charset="-122"/>
                          <a:cs typeface="等线" panose="02010600030101010101" charset="-122"/>
                          <a:sym typeface="+mn-ea"/>
                        </a:rPr>
                        <a:t>X-</a:t>
                      </a:r>
                      <a:r>
                        <a:rPr lang="en-US" altLang="zh-CN" sz="1800" dirty="0">
                          <a:solidFill>
                            <a:schemeClr val="tx1"/>
                          </a:solidFill>
                          <a:latin typeface="等线" panose="02010600030101010101" charset="-122"/>
                          <a:ea typeface="等线" panose="02010600030101010101" charset="-122"/>
                          <a:cs typeface="等线" panose="02010600030101010101" charset="-122"/>
                          <a:sym typeface="Gill Sans"/>
                        </a:rPr>
                        <a:t>axis transfer</a:t>
                      </a:r>
                      <a:endParaRPr lang="zh-CN" altLang="en-US" sz="1800" b="0" dirty="0">
                        <a:solidFill>
                          <a:schemeClr val="tx1"/>
                        </a:solidFill>
                        <a:latin typeface="等线" panose="02010600030101010101" charset="-122"/>
                        <a:ea typeface="等线" panose="02010600030101010101" charset="-122"/>
                        <a:cs typeface="等线" panose="02010600030101010101"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40080">
                <a:tc>
                  <a:txBody>
                    <a:bodyPr/>
                    <a:lstStyle/>
                    <a:p>
                      <a:pPr algn="ctr">
                        <a:buNone/>
                      </a:pPr>
                      <a:r>
                        <a:rPr lang="en-US" altLang="zh-CN" sz="1800" b="0" dirty="0">
                          <a:solidFill>
                            <a:schemeClr val="tx1"/>
                          </a:solidFill>
                          <a:latin typeface="等线" panose="02010600030101010101" charset="-122"/>
                          <a:ea typeface="等线" panose="02010600030101010101" charset="-122"/>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800" dirty="0">
                          <a:solidFill>
                            <a:schemeClr val="tx1"/>
                          </a:solidFill>
                          <a:latin typeface="等线" panose="02010600030101010101" charset="-122"/>
                          <a:ea typeface="等线" panose="02010600030101010101" charset="-122"/>
                          <a:cs typeface="等线" panose="02010600030101010101" charset="-122"/>
                          <a:sym typeface="Gill Sans"/>
                        </a:rPr>
                        <a:t>Y-axis transfer</a:t>
                      </a:r>
                      <a:endParaRPr lang="en-US" altLang="zh-CN" sz="1800" b="0" dirty="0">
                        <a:solidFill>
                          <a:schemeClr val="tx1"/>
                        </a:solidFill>
                        <a:latin typeface="等线" panose="02010600030101010101" charset="-122"/>
                        <a:ea typeface="等线" panose="02010600030101010101" charset="-122"/>
                        <a:cs typeface="等线" panose="02010600030101010101"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40080">
                <a:tc>
                  <a:txBody>
                    <a:bodyPr/>
                    <a:lstStyle/>
                    <a:p>
                      <a:pPr algn="ctr">
                        <a:buNone/>
                      </a:pPr>
                      <a:r>
                        <a:rPr lang="en-US" altLang="zh-CN" sz="1800" b="0" dirty="0">
                          <a:solidFill>
                            <a:schemeClr val="tx1"/>
                          </a:solidFill>
                          <a:latin typeface="等线" panose="02010600030101010101" charset="-122"/>
                          <a:ea typeface="等线" panose="02010600030101010101" charset="-122"/>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800" dirty="0">
                          <a:solidFill>
                            <a:schemeClr val="tx1"/>
                          </a:solidFill>
                          <a:latin typeface="等线" panose="02010600030101010101" charset="-122"/>
                          <a:ea typeface="+mn-ea"/>
                          <a:cs typeface="等线" panose="02010600030101010101" charset="-122"/>
                          <a:sym typeface="Gill Sans"/>
                        </a:rPr>
                        <a:t>Code scanner</a:t>
                      </a:r>
                      <a:endParaRPr lang="zh-CN" altLang="en-US" sz="1800" b="0" dirty="0">
                        <a:solidFill>
                          <a:schemeClr val="tx1"/>
                        </a:solidFill>
                        <a:latin typeface="等线" panose="02010600030101010101" charset="-122"/>
                        <a:ea typeface="等线" panose="02010600030101010101" charset="-122"/>
                        <a:cs typeface="等线" panose="02010600030101010101"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640080">
                <a:tc>
                  <a:txBody>
                    <a:bodyPr/>
                    <a:lstStyle/>
                    <a:p>
                      <a:pPr algn="ctr">
                        <a:buNone/>
                      </a:pPr>
                      <a:r>
                        <a:rPr lang="en-US" altLang="zh-CN" sz="1800" b="0" dirty="0">
                          <a:solidFill>
                            <a:schemeClr val="tx1"/>
                          </a:solidFill>
                          <a:latin typeface="等线" panose="02010600030101010101" charset="-122"/>
                          <a:ea typeface="等线" panose="02010600030101010101" charset="-122"/>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800" dirty="0">
                          <a:solidFill>
                            <a:schemeClr val="tx1"/>
                          </a:solidFill>
                          <a:latin typeface="等线" panose="02010600030101010101" charset="-122"/>
                          <a:ea typeface="等线" panose="02010600030101010101" charset="-122"/>
                          <a:cs typeface="等线" panose="02010600030101010101" charset="-122"/>
                          <a:sym typeface="+mn-ea"/>
                        </a:rPr>
                        <a:t>Transport module</a:t>
                      </a:r>
                      <a:endParaRPr lang="en-US" altLang="zh-CN" sz="1800" b="0" dirty="0">
                        <a:solidFill>
                          <a:schemeClr val="tx1"/>
                        </a:solidFill>
                        <a:latin typeface="等线" panose="02010600030101010101" charset="-122"/>
                        <a:ea typeface="等线" panose="02010600030101010101" charset="-122"/>
                        <a:cs typeface="等线" panose="02010600030101010101" charset="-122"/>
                        <a:sym typeface="Gill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640080">
                <a:tc>
                  <a:txBody>
                    <a:bodyPr/>
                    <a:lstStyle/>
                    <a:p>
                      <a:pPr algn="ctr">
                        <a:buNone/>
                      </a:pPr>
                      <a:r>
                        <a:rPr lang="en-US" altLang="zh-CN" sz="1800" b="0" dirty="0">
                          <a:solidFill>
                            <a:schemeClr val="tx1"/>
                          </a:solidFill>
                          <a:latin typeface="等线" panose="02010600030101010101" charset="-122"/>
                          <a:ea typeface="等线" panose="02010600030101010101" charset="-122"/>
                          <a:cs typeface="Arial" panose="020B060402020202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800" b="0" dirty="0">
                          <a:solidFill>
                            <a:schemeClr val="tx1"/>
                          </a:solidFill>
                          <a:latin typeface="等线" panose="02010600030101010101" charset="-122"/>
                          <a:ea typeface="+mn-ea"/>
                          <a:cs typeface="等线" panose="02010600030101010101" charset="-122"/>
                          <a:sym typeface="Gill Sans"/>
                        </a:rPr>
                        <a:t>Electronic Balance</a:t>
                      </a:r>
                      <a:endParaRPr lang="en-US" altLang="zh-CN" sz="1800" b="0" dirty="0">
                        <a:solidFill>
                          <a:schemeClr val="tx1"/>
                        </a:solidFill>
                        <a:latin typeface="等线" panose="02010600030101010101" charset="-122"/>
                        <a:ea typeface="等线" panose="02010600030101010101" charset="-122"/>
                        <a:cs typeface="等线" panose="02010600030101010101" charset="-122"/>
                        <a:sym typeface="Gill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41" name="椭圆 62"/>
          <p:cNvSpPr>
            <a:spLocks noChangeAspect="1"/>
          </p:cNvSpPr>
          <p:nvPr/>
        </p:nvSpPr>
        <p:spPr>
          <a:xfrm>
            <a:off x="2793180" y="2777104"/>
            <a:ext cx="259715" cy="25971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7</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rcRect l="1865" t="2014" r="2583" b="1737"/>
          <a:stretch>
            <a:fillRect/>
          </a:stretch>
        </p:blipFill>
        <p:spPr>
          <a:xfrm>
            <a:off x="3020354" y="798342"/>
            <a:ext cx="5701076" cy="4752463"/>
          </a:xfrm>
          <a:prstGeom prst="rect">
            <a:avLst/>
          </a:prstGeom>
        </p:spPr>
      </p:pic>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noProof="0" dirty="0">
                <a:sym typeface="+mn-ea"/>
              </a:rPr>
              <a:t>4</a:t>
            </a:r>
            <a:r>
              <a:rPr lang="en-US" altLang="zh-CN" dirty="0">
                <a:sym typeface="+mn-ea"/>
              </a:rPr>
              <a:t>. Equipment Layout</a:t>
            </a:r>
            <a:r>
              <a:rPr lang="zh-CN" altLang="en-US" dirty="0">
                <a:sym typeface="+mn-ea"/>
              </a:rPr>
              <a:t> </a:t>
            </a:r>
            <a:endParaRPr lang="en-US" altLang="zh-CN" dirty="0">
              <a:latin typeface="+mn-lt"/>
            </a:endParaRPr>
          </a:p>
        </p:txBody>
      </p:sp>
      <p:sp>
        <p:nvSpPr>
          <p:cNvPr id="7"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9</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8" name="组合 35"/>
          <p:cNvGrpSpPr/>
          <p:nvPr/>
        </p:nvGrpSpPr>
        <p:grpSpPr>
          <a:xfrm>
            <a:off x="2467870" y="2899791"/>
            <a:ext cx="1524000" cy="1090295"/>
            <a:chOff x="4549" y="4509"/>
            <a:chExt cx="2400" cy="1717"/>
          </a:xfrm>
        </p:grpSpPr>
        <p:sp>
          <p:nvSpPr>
            <p:cNvPr id="9" name="椭圆 33"/>
            <p:cNvSpPr>
              <a:spLocks noChangeAspect="1"/>
            </p:cNvSpPr>
            <p:nvPr/>
          </p:nvSpPr>
          <p:spPr>
            <a:xfrm>
              <a:off x="6798" y="4509"/>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肘形连接符 34"/>
            <p:cNvCxnSpPr>
              <a:stCxn id="44" idx="3"/>
              <a:endCxn id="9" idx="2"/>
            </p:cNvCxnSpPr>
            <p:nvPr>
              <p:custDataLst>
                <p:tags r:id="rId2"/>
              </p:custDataLst>
            </p:nvPr>
          </p:nvCxnSpPr>
          <p:spPr>
            <a:xfrm flipV="1">
              <a:off x="4549" y="4585"/>
              <a:ext cx="2249" cy="1641"/>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1" name="组合 36"/>
          <p:cNvGrpSpPr/>
          <p:nvPr/>
        </p:nvGrpSpPr>
        <p:grpSpPr>
          <a:xfrm>
            <a:off x="2523179" y="1854101"/>
            <a:ext cx="3066053" cy="503555"/>
            <a:chOff x="545" y="3766"/>
            <a:chExt cx="5618" cy="793"/>
          </a:xfrm>
        </p:grpSpPr>
        <p:sp>
          <p:nvSpPr>
            <p:cNvPr id="12" name="椭圆 37"/>
            <p:cNvSpPr>
              <a:spLocks noChangeAspect="1"/>
            </p:cNvSpPr>
            <p:nvPr/>
          </p:nvSpPr>
          <p:spPr>
            <a:xfrm>
              <a:off x="6012" y="4408"/>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肘形连接符 38"/>
            <p:cNvCxnSpPr>
              <a:stCxn id="33" idx="3"/>
              <a:endCxn id="12" idx="2"/>
            </p:cNvCxnSpPr>
            <p:nvPr/>
          </p:nvCxnSpPr>
          <p:spPr>
            <a:xfrm>
              <a:off x="545" y="3766"/>
              <a:ext cx="5467" cy="718"/>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5" name="组合 39"/>
          <p:cNvGrpSpPr/>
          <p:nvPr/>
        </p:nvGrpSpPr>
        <p:grpSpPr>
          <a:xfrm rot="10800000">
            <a:off x="6384290" y="2629916"/>
            <a:ext cx="2991485" cy="1835150"/>
            <a:chOff x="5953" y="2479"/>
            <a:chExt cx="4711" cy="2890"/>
          </a:xfrm>
        </p:grpSpPr>
        <p:sp>
          <p:nvSpPr>
            <p:cNvPr id="16" name="椭圆 40"/>
            <p:cNvSpPr>
              <a:spLocks noChangeAspect="1"/>
            </p:cNvSpPr>
            <p:nvPr/>
          </p:nvSpPr>
          <p:spPr>
            <a:xfrm>
              <a:off x="10513" y="5218"/>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肘形连接符 42"/>
            <p:cNvCxnSpPr>
              <a:stCxn id="38" idx="1"/>
              <a:endCxn id="16" idx="2"/>
            </p:cNvCxnSpPr>
            <p:nvPr/>
          </p:nvCxnSpPr>
          <p:spPr>
            <a:xfrm>
              <a:off x="5953" y="2479"/>
              <a:ext cx="4560" cy="2814"/>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8" name="组合 43"/>
          <p:cNvGrpSpPr/>
          <p:nvPr/>
        </p:nvGrpSpPr>
        <p:grpSpPr>
          <a:xfrm rot="10800000">
            <a:off x="6726289" y="2131964"/>
            <a:ext cx="2554605" cy="104775"/>
            <a:chOff x="7203" y="2461"/>
            <a:chExt cx="4023" cy="165"/>
          </a:xfrm>
        </p:grpSpPr>
        <p:sp>
          <p:nvSpPr>
            <p:cNvPr id="19" name="椭圆 44"/>
            <p:cNvSpPr>
              <a:spLocks noChangeAspect="1"/>
            </p:cNvSpPr>
            <p:nvPr/>
          </p:nvSpPr>
          <p:spPr>
            <a:xfrm>
              <a:off x="11075" y="2461"/>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肘形连接符 45"/>
            <p:cNvCxnSpPr>
              <a:stCxn id="28" idx="1"/>
            </p:cNvCxnSpPr>
            <p:nvPr/>
          </p:nvCxnSpPr>
          <p:spPr>
            <a:xfrm flipV="1">
              <a:off x="7203" y="2537"/>
              <a:ext cx="3872" cy="89"/>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grpSp>
        <p:nvGrpSpPr>
          <p:cNvPr id="21" name="组合 46"/>
          <p:cNvGrpSpPr/>
          <p:nvPr/>
        </p:nvGrpSpPr>
        <p:grpSpPr>
          <a:xfrm rot="16200000">
            <a:off x="3215136" y="3642377"/>
            <a:ext cx="1042670" cy="1588770"/>
            <a:chOff x="6797" y="-1269"/>
            <a:chExt cx="1642" cy="2502"/>
          </a:xfrm>
        </p:grpSpPr>
        <p:sp>
          <p:nvSpPr>
            <p:cNvPr id="22" name="椭圆 47"/>
            <p:cNvSpPr>
              <a:spLocks noChangeAspect="1"/>
            </p:cNvSpPr>
            <p:nvPr/>
          </p:nvSpPr>
          <p:spPr>
            <a:xfrm>
              <a:off x="8288" y="1082"/>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肘形连接符 48"/>
            <p:cNvCxnSpPr>
              <a:stCxn id="50" idx="0"/>
              <a:endCxn id="22" idx="2"/>
            </p:cNvCxnSpPr>
            <p:nvPr/>
          </p:nvCxnSpPr>
          <p:spPr>
            <a:xfrm rot="10800000" flipH="1" flipV="1">
              <a:off x="6797" y="-1269"/>
              <a:ext cx="1491" cy="2426"/>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cxnSp>
        <p:nvCxnSpPr>
          <p:cNvPr id="24" name="肘形连接符 51"/>
          <p:cNvCxnSpPr>
            <a:stCxn id="66" idx="1"/>
            <a:endCxn id="62" idx="2"/>
          </p:cNvCxnSpPr>
          <p:nvPr/>
        </p:nvCxnSpPr>
        <p:spPr>
          <a:xfrm rot="10800000">
            <a:off x="5602866" y="4855180"/>
            <a:ext cx="1009883" cy="761884"/>
          </a:xfrm>
          <a:prstGeom prst="bentConnector2">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9247214" y="1267671"/>
            <a:ext cx="2288458" cy="1781121"/>
            <a:chOff x="9345365" y="571035"/>
            <a:chExt cx="2288458" cy="1781121"/>
          </a:xfrm>
        </p:grpSpPr>
        <p:grpSp>
          <p:nvGrpSpPr>
            <p:cNvPr id="26" name="组合 25"/>
            <p:cNvGrpSpPr/>
            <p:nvPr/>
          </p:nvGrpSpPr>
          <p:grpSpPr>
            <a:xfrm>
              <a:off x="9345365" y="571035"/>
              <a:ext cx="2288458" cy="1781121"/>
              <a:chOff x="9334289" y="498856"/>
              <a:chExt cx="2589106" cy="1890027"/>
            </a:xfrm>
          </p:grpSpPr>
          <p:sp>
            <p:nvSpPr>
              <p:cNvPr id="28" name="圆角矩形 22"/>
              <p:cNvSpPr/>
              <p:nvPr/>
            </p:nvSpPr>
            <p:spPr>
              <a:xfrm>
                <a:off x="9372600" y="498856"/>
                <a:ext cx="2550795" cy="1833880"/>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9334289" y="574484"/>
                <a:ext cx="2420604" cy="1814399"/>
                <a:chOff x="9334289" y="574484"/>
                <a:chExt cx="2420604" cy="1814399"/>
              </a:xfrm>
            </p:grpSpPr>
            <p:pic>
              <p:nvPicPr>
                <p:cNvPr id="30" name="图片 29"/>
                <p:cNvPicPr>
                  <a:picLocks noChangeAspect="1"/>
                </p:cNvPicPr>
                <p:nvPr/>
              </p:nvPicPr>
              <p:blipFill rotWithShape="1">
                <a:blip r:embed="rId7"/>
                <a:srcRect l="10389" t="11334" r="6248" b="11576"/>
                <a:stretch>
                  <a:fillRect/>
                </a:stretch>
              </p:blipFill>
              <p:spPr>
                <a:xfrm>
                  <a:off x="9483551" y="574484"/>
                  <a:ext cx="2271342" cy="1691677"/>
                </a:xfrm>
                <a:prstGeom prst="rect">
                  <a:avLst/>
                </a:prstGeom>
              </p:spPr>
            </p:pic>
            <p:sp>
              <p:nvSpPr>
                <p:cNvPr id="31" name="文本框 69"/>
                <p:cNvSpPr txBox="1"/>
                <p:nvPr/>
              </p:nvSpPr>
              <p:spPr>
                <a:xfrm>
                  <a:off x="9334289" y="1898990"/>
                  <a:ext cx="1200148" cy="489893"/>
                </a:xfrm>
                <a:prstGeom prst="rect">
                  <a:avLst/>
                </a:prstGeom>
                <a:noFill/>
              </p:spPr>
              <p:txBody>
                <a:bodyPr wrap="square" rtlCol="0" anchor="t">
                  <a:spAutoFit/>
                </a:bodyPr>
                <a:lstStyle/>
                <a:p>
                  <a:pPr algn="ctr">
                    <a:buNone/>
                  </a:pPr>
                  <a:r>
                    <a:rPr lang="en-US" altLang="zh-CN" sz="1200" dirty="0">
                      <a:latin typeface="等线" panose="02010600030101010101" charset="-122"/>
                      <a:ea typeface="等线" panose="02010600030101010101" charset="-122"/>
                      <a:cs typeface="等线" panose="02010600030101010101" charset="-122"/>
                      <a:sym typeface="+mn-ea"/>
                    </a:rPr>
                    <a:t>Y-</a:t>
                  </a:r>
                  <a:r>
                    <a:rPr lang="en-US" altLang="zh-CN" sz="1200" dirty="0">
                      <a:latin typeface="等线" panose="02010600030101010101" charset="-122"/>
                      <a:ea typeface="等线" panose="02010600030101010101" charset="-122"/>
                      <a:cs typeface="等线" panose="02010600030101010101" charset="-122"/>
                      <a:sym typeface="Gill Sans"/>
                    </a:rPr>
                    <a:t>axis transfer</a:t>
                  </a:r>
                  <a:endParaRPr lang="zh-CN" altLang="en-US" sz="1200" dirty="0"/>
                </a:p>
              </p:txBody>
            </p:sp>
          </p:grpSp>
        </p:grpSp>
        <p:sp>
          <p:nvSpPr>
            <p:cNvPr id="27" name="椭圆 60"/>
            <p:cNvSpPr>
              <a:spLocks noChangeAspect="1"/>
            </p:cNvSpPr>
            <p:nvPr/>
          </p:nvSpPr>
          <p:spPr>
            <a:xfrm>
              <a:off x="11211877" y="765840"/>
              <a:ext cx="282607" cy="2826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4</a:t>
              </a:r>
            </a:p>
          </p:txBody>
        </p:sp>
      </p:grpSp>
      <p:grpSp>
        <p:nvGrpSpPr>
          <p:cNvPr id="35" name="组合 34"/>
          <p:cNvGrpSpPr/>
          <p:nvPr/>
        </p:nvGrpSpPr>
        <p:grpSpPr>
          <a:xfrm>
            <a:off x="9375632" y="3609495"/>
            <a:ext cx="2470870" cy="1710914"/>
            <a:chOff x="9403715" y="2597404"/>
            <a:chExt cx="2853055" cy="2024380"/>
          </a:xfrm>
        </p:grpSpPr>
        <p:pic>
          <p:nvPicPr>
            <p:cNvPr id="36" name="图片 35"/>
            <p:cNvPicPr>
              <a:picLocks noChangeAspect="1"/>
            </p:cNvPicPr>
            <p:nvPr/>
          </p:nvPicPr>
          <p:blipFill rotWithShape="1">
            <a:blip r:embed="rId8"/>
            <a:srcRect l="20797" t="5143" r="29258" b="12077"/>
            <a:stretch>
              <a:fillRect/>
            </a:stretch>
          </p:blipFill>
          <p:spPr>
            <a:xfrm>
              <a:off x="9566579" y="2637847"/>
              <a:ext cx="1224863" cy="1917613"/>
            </a:xfrm>
            <a:prstGeom prst="rect">
              <a:avLst/>
            </a:prstGeom>
          </p:spPr>
        </p:pic>
        <p:grpSp>
          <p:nvGrpSpPr>
            <p:cNvPr id="37" name="组合 74"/>
            <p:cNvGrpSpPr/>
            <p:nvPr/>
          </p:nvGrpSpPr>
          <p:grpSpPr>
            <a:xfrm>
              <a:off x="9403715" y="2597404"/>
              <a:ext cx="2853055" cy="2024380"/>
              <a:chOff x="1283" y="595"/>
              <a:chExt cx="4493" cy="3188"/>
            </a:xfrm>
          </p:grpSpPr>
          <p:sp>
            <p:nvSpPr>
              <p:cNvPr id="38" name="圆角矩形 32"/>
              <p:cNvSpPr/>
              <p:nvPr/>
            </p:nvSpPr>
            <p:spPr>
              <a:xfrm>
                <a:off x="1283" y="595"/>
                <a:ext cx="4361" cy="318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59"/>
              <p:cNvSpPr>
                <a:spLocks noChangeAspect="1"/>
              </p:cNvSpPr>
              <p:nvPr/>
            </p:nvSpPr>
            <p:spPr>
              <a:xfrm>
                <a:off x="3908" y="934"/>
                <a:ext cx="445" cy="44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2</a:t>
                </a:r>
              </a:p>
            </p:txBody>
          </p:sp>
          <p:sp>
            <p:nvSpPr>
              <p:cNvPr id="40" name="文本框 64"/>
              <p:cNvSpPr txBox="1"/>
              <p:nvPr/>
            </p:nvSpPr>
            <p:spPr>
              <a:xfrm>
                <a:off x="3136" y="3014"/>
                <a:ext cx="2640" cy="746"/>
              </a:xfrm>
              <a:prstGeom prst="rect">
                <a:avLst/>
              </a:prstGeom>
              <a:noFill/>
            </p:spPr>
            <p:txBody>
              <a:bodyPr wrap="square" rtlCol="0" anchor="t">
                <a:spAutoFit/>
              </a:bodyPr>
              <a:lstStyle/>
              <a:p>
                <a:pPr algn="ctr"/>
                <a:r>
                  <a:rPr lang="en-US" altLang="zh-CN" sz="1000" dirty="0">
                    <a:latin typeface="等线" panose="02010600030101010101" charset="-122"/>
                    <a:cs typeface="等线" panose="02010600030101010101" charset="-122"/>
                    <a:sym typeface="+mn-ea"/>
                  </a:rPr>
                  <a:t>Code scanner &amp; rangefinder</a:t>
                </a:r>
                <a:endParaRPr lang="en-US" altLang="zh-CN" sz="1000" dirty="0">
                  <a:latin typeface="等线" panose="02010600030101010101" charset="-122"/>
                  <a:ea typeface="等线" panose="02010600030101010101" charset="-122"/>
                  <a:cs typeface="等线" panose="02010600030101010101" charset="-122"/>
                  <a:sym typeface="+mn-ea"/>
                </a:endParaRPr>
              </a:p>
            </p:txBody>
          </p:sp>
        </p:grpSp>
      </p:grpSp>
      <p:grpSp>
        <p:nvGrpSpPr>
          <p:cNvPr id="41" name="组合 40"/>
          <p:cNvGrpSpPr/>
          <p:nvPr/>
        </p:nvGrpSpPr>
        <p:grpSpPr>
          <a:xfrm>
            <a:off x="135504" y="3072594"/>
            <a:ext cx="2332355" cy="1833880"/>
            <a:chOff x="112395" y="3064891"/>
            <a:chExt cx="2332355" cy="1833880"/>
          </a:xfrm>
        </p:grpSpPr>
        <p:pic>
          <p:nvPicPr>
            <p:cNvPr id="42" name="图片 41"/>
            <p:cNvPicPr>
              <a:picLocks noChangeAspect="1"/>
            </p:cNvPicPr>
            <p:nvPr/>
          </p:nvPicPr>
          <p:blipFill rotWithShape="1">
            <a:blip r:embed="rId9"/>
            <a:srcRect l="8278" t="4196" r="10411" b="9103"/>
            <a:stretch>
              <a:fillRect/>
            </a:stretch>
          </p:blipFill>
          <p:spPr>
            <a:xfrm>
              <a:off x="237646" y="3132122"/>
              <a:ext cx="1943516" cy="1743352"/>
            </a:xfrm>
            <a:prstGeom prst="rect">
              <a:avLst/>
            </a:prstGeom>
          </p:spPr>
        </p:pic>
        <p:grpSp>
          <p:nvGrpSpPr>
            <p:cNvPr id="43" name="组合 73"/>
            <p:cNvGrpSpPr/>
            <p:nvPr/>
          </p:nvGrpSpPr>
          <p:grpSpPr>
            <a:xfrm>
              <a:off x="112395" y="3064891"/>
              <a:ext cx="2332355" cy="1833880"/>
              <a:chOff x="537" y="4068"/>
              <a:chExt cx="3673" cy="2888"/>
            </a:xfrm>
          </p:grpSpPr>
          <p:sp>
            <p:nvSpPr>
              <p:cNvPr id="44" name="圆角矩形 19"/>
              <p:cNvSpPr/>
              <p:nvPr/>
            </p:nvSpPr>
            <p:spPr>
              <a:xfrm>
                <a:off x="537" y="4068"/>
                <a:ext cx="3673" cy="288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58"/>
              <p:cNvSpPr>
                <a:spLocks noChangeAspect="1"/>
              </p:cNvSpPr>
              <p:nvPr/>
            </p:nvSpPr>
            <p:spPr>
              <a:xfrm>
                <a:off x="1141" y="4352"/>
                <a:ext cx="445" cy="44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3</a:t>
                </a:r>
              </a:p>
            </p:txBody>
          </p:sp>
          <p:sp>
            <p:nvSpPr>
              <p:cNvPr id="46" name="文本框 66"/>
              <p:cNvSpPr txBox="1"/>
              <p:nvPr/>
            </p:nvSpPr>
            <p:spPr>
              <a:xfrm>
                <a:off x="2320" y="5987"/>
                <a:ext cx="1890" cy="436"/>
              </a:xfrm>
              <a:prstGeom prst="rect">
                <a:avLst/>
              </a:prstGeom>
              <a:noFill/>
            </p:spPr>
            <p:txBody>
              <a:bodyPr wrap="square" rtlCol="0" anchor="t">
                <a:spAutoFit/>
              </a:bodyPr>
              <a:lstStyle/>
              <a:p>
                <a:pPr algn="ctr">
                  <a:buNone/>
                </a:pPr>
                <a:r>
                  <a:rPr lang="en-US" altLang="zh-CN" sz="1200" dirty="0">
                    <a:latin typeface="等线" panose="02010600030101010101" charset="-122"/>
                    <a:ea typeface="等线" panose="02010600030101010101" charset="-122"/>
                    <a:cs typeface="等线" panose="02010600030101010101" charset="-122"/>
                    <a:sym typeface="+mn-ea"/>
                  </a:rPr>
                  <a:t>X-</a:t>
                </a:r>
                <a:r>
                  <a:rPr lang="en-US" altLang="zh-CN" sz="1200" dirty="0">
                    <a:latin typeface="等线" panose="02010600030101010101" charset="-122"/>
                    <a:ea typeface="等线" panose="02010600030101010101" charset="-122"/>
                    <a:cs typeface="等线" panose="02010600030101010101" charset="-122"/>
                    <a:sym typeface="Gill Sans"/>
                  </a:rPr>
                  <a:t>axis transfer</a:t>
                </a:r>
                <a:endParaRPr lang="zh-CN" altLang="en-US" sz="1200" dirty="0"/>
              </a:p>
            </p:txBody>
          </p:sp>
        </p:grpSp>
      </p:grpSp>
      <p:grpSp>
        <p:nvGrpSpPr>
          <p:cNvPr id="47" name="组合 46"/>
          <p:cNvGrpSpPr/>
          <p:nvPr/>
        </p:nvGrpSpPr>
        <p:grpSpPr>
          <a:xfrm>
            <a:off x="1719331" y="4958411"/>
            <a:ext cx="2550496" cy="1496632"/>
            <a:chOff x="9442793" y="4877271"/>
            <a:chExt cx="2362905" cy="1372826"/>
          </a:xfrm>
        </p:grpSpPr>
        <p:sp>
          <p:nvSpPr>
            <p:cNvPr id="48" name="文本框 68"/>
            <p:cNvSpPr txBox="1"/>
            <p:nvPr/>
          </p:nvSpPr>
          <p:spPr>
            <a:xfrm>
              <a:off x="10605548" y="5019249"/>
              <a:ext cx="1200150" cy="423475"/>
            </a:xfrm>
            <a:prstGeom prst="rect">
              <a:avLst/>
            </a:prstGeom>
            <a:noFill/>
          </p:spPr>
          <p:txBody>
            <a:bodyPr wrap="square" rtlCol="0" anchor="t">
              <a:spAutoFit/>
            </a:bodyPr>
            <a:lstStyle/>
            <a:p>
              <a:pPr algn="ctr">
                <a:buNone/>
              </a:pPr>
              <a:r>
                <a:rPr lang="en-US" altLang="zh-CN" sz="1200" dirty="0">
                  <a:latin typeface="等线" panose="02010600030101010101" charset="-122"/>
                  <a:cs typeface="等线" panose="02010600030101010101" charset="-122"/>
                  <a:sym typeface="Gill Sans"/>
                </a:rPr>
                <a:t>Electronic Balance</a:t>
              </a:r>
              <a:endParaRPr lang="en-US" altLang="zh-CN" sz="1200" dirty="0">
                <a:latin typeface="等线" panose="02010600030101010101" charset="-122"/>
                <a:ea typeface="等线" panose="02010600030101010101" charset="-122"/>
                <a:cs typeface="等线" panose="02010600030101010101" charset="-122"/>
                <a:sym typeface="Gill Sans"/>
              </a:endParaRPr>
            </a:p>
          </p:txBody>
        </p:sp>
        <p:grpSp>
          <p:nvGrpSpPr>
            <p:cNvPr id="49" name="组合 48"/>
            <p:cNvGrpSpPr/>
            <p:nvPr/>
          </p:nvGrpSpPr>
          <p:grpSpPr>
            <a:xfrm>
              <a:off x="9442793" y="4877271"/>
              <a:ext cx="2222297" cy="1372826"/>
              <a:chOff x="9442793" y="4877270"/>
              <a:chExt cx="2480602" cy="1451045"/>
            </a:xfrm>
          </p:grpSpPr>
          <p:sp>
            <p:nvSpPr>
              <p:cNvPr id="50" name="圆角矩形 28"/>
              <p:cNvSpPr/>
              <p:nvPr/>
            </p:nvSpPr>
            <p:spPr>
              <a:xfrm>
                <a:off x="9491345" y="4877270"/>
                <a:ext cx="2432050" cy="1451045"/>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6"/>
              <p:cNvSpPr>
                <a:spLocks noChangeAspect="1"/>
              </p:cNvSpPr>
              <p:nvPr/>
            </p:nvSpPr>
            <p:spPr>
              <a:xfrm>
                <a:off x="11367053" y="5751330"/>
                <a:ext cx="282607" cy="2826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5</a:t>
                </a:r>
              </a:p>
            </p:txBody>
          </p:sp>
          <p:pic>
            <p:nvPicPr>
              <p:cNvPr id="52" name="图片 51" descr="图示, 工程绘图&#10;&#10;描述已自动生成"/>
              <p:cNvPicPr>
                <a:picLocks noChangeAspect="1"/>
              </p:cNvPicPr>
              <p:nvPr/>
            </p:nvPicPr>
            <p:blipFill>
              <a:blip r:embed="rId10" cstate="print">
                <a:extLst>
                  <a:ext uri="{BEBA8EAE-BF5A-486C-A8C5-ECC9F3942E4B}">
                    <a14:imgProps xmlns:a14="http://schemas.microsoft.com/office/drawing/2010/main">
                      <a14:imgLayer r:embed="rId11">
                        <a14:imgEffect>
                          <a14:backgroundRemoval t="9106" b="92550" l="8582" r="89801">
                            <a14:foregroundMark x1="44776" y1="9106" x2="44776" y2="9106"/>
                            <a14:foregroundMark x1="8706" y1="57781" x2="8706" y2="57781"/>
                            <a14:foregroundMark x1="52861" y1="92550" x2="52861" y2="92550"/>
                          </a14:backgroundRemoval>
                        </a14:imgEffect>
                      </a14:imgLayer>
                    </a14:imgProps>
                  </a:ext>
                  <a:ext uri="{28A0092B-C50C-407E-A947-70E740481C1C}">
                    <a14:useLocalDpi xmlns:a14="http://schemas.microsoft.com/office/drawing/2010/main" val="0"/>
                  </a:ext>
                </a:extLst>
              </a:blip>
              <a:stretch>
                <a:fillRect/>
              </a:stretch>
            </p:blipFill>
            <p:spPr>
              <a:xfrm>
                <a:off x="9442793" y="4945587"/>
                <a:ext cx="1840585" cy="1382728"/>
              </a:xfrm>
              <a:prstGeom prst="rect">
                <a:avLst/>
              </a:prstGeom>
            </p:spPr>
          </p:pic>
        </p:grpSp>
      </p:grpSp>
      <p:sp>
        <p:nvSpPr>
          <p:cNvPr id="62" name="椭圆 47"/>
          <p:cNvSpPr>
            <a:spLocks noChangeAspect="1"/>
          </p:cNvSpPr>
          <p:nvPr/>
        </p:nvSpPr>
        <p:spPr>
          <a:xfrm rot="16200000">
            <a:off x="5554922" y="4759295"/>
            <a:ext cx="95885" cy="9588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62"/>
          <p:cNvGrpSpPr/>
          <p:nvPr/>
        </p:nvGrpSpPr>
        <p:grpSpPr>
          <a:xfrm>
            <a:off x="6612748" y="4712824"/>
            <a:ext cx="2723775" cy="1808480"/>
            <a:chOff x="6323925" y="5005043"/>
            <a:chExt cx="2723775" cy="1808480"/>
          </a:xfrm>
        </p:grpSpPr>
        <p:pic>
          <p:nvPicPr>
            <p:cNvPr id="65" name="图片 64" descr="图示&#10;&#10;描述已自动生成"/>
            <p:cNvPicPr>
              <a:picLocks noChangeAspect="1"/>
            </p:cNvPicPr>
            <p:nvPr/>
          </p:nvPicPr>
          <p:blipFill>
            <a:blip r:embed="rId12" cstate="print">
              <a:extLst>
                <a:ext uri="{BEBA8EAE-BF5A-486C-A8C5-ECC9F3942E4B}">
                  <a14:imgProps xmlns:a14="http://schemas.microsoft.com/office/drawing/2010/main">
                    <a14:imgLayer r:embed="rId13">
                      <a14:imgEffect>
                        <a14:backgroundRemoval t="3055" b="95981" l="5561" r="92177">
                          <a14:foregroundMark x1="5655" y1="63505" x2="5655" y2="63505"/>
                          <a14:foregroundMark x1="26767" y1="90997" x2="26767" y2="90997"/>
                          <a14:foregroundMark x1="41093" y1="94695" x2="41093" y2="94695"/>
                          <a14:foregroundMark x1="30820" y1="95177" x2="30820" y2="95177"/>
                          <a14:foregroundMark x1="35910" y1="95981" x2="35910" y2="95981"/>
                          <a14:foregroundMark x1="36098" y1="96302" x2="36098" y2="96302"/>
                          <a14:foregroundMark x1="36475" y1="95820" x2="36475" y2="95820"/>
                          <a14:foregroundMark x1="36664" y1="96302" x2="36664" y2="96302"/>
                          <a14:foregroundMark x1="36287" y1="96302" x2="36287" y2="96302"/>
                          <a14:foregroundMark x1="64844" y1="8360" x2="64844" y2="8360"/>
                          <a14:foregroundMark x1="69180" y1="8360" x2="69180" y2="8360"/>
                          <a14:foregroundMark x1="61263" y1="3376" x2="61734" y2="3055"/>
                          <a14:foregroundMark x1="68803" y1="7074" x2="69274" y2="7395"/>
                          <a14:foregroundMark x1="91706" y1="24437" x2="92177" y2="31350"/>
                        </a14:backgroundRemoval>
                      </a14:imgEffect>
                    </a14:imgLayer>
                  </a14:imgProps>
                </a:ext>
                <a:ext uri="{28A0092B-C50C-407E-A947-70E740481C1C}">
                  <a14:useLocalDpi xmlns:a14="http://schemas.microsoft.com/office/drawing/2010/main" val="0"/>
                </a:ext>
              </a:extLst>
            </a:blip>
            <a:stretch>
              <a:fillRect/>
            </a:stretch>
          </p:blipFill>
          <p:spPr>
            <a:xfrm>
              <a:off x="6343525" y="5099456"/>
              <a:ext cx="2531355" cy="1483980"/>
            </a:xfrm>
            <a:prstGeom prst="rect">
              <a:avLst/>
            </a:prstGeom>
          </p:spPr>
        </p:pic>
        <p:grpSp>
          <p:nvGrpSpPr>
            <p:cNvPr id="64" name="组合 71"/>
            <p:cNvGrpSpPr/>
            <p:nvPr/>
          </p:nvGrpSpPr>
          <p:grpSpPr>
            <a:xfrm>
              <a:off x="6323925" y="5005043"/>
              <a:ext cx="2723775" cy="1808480"/>
              <a:chOff x="1983" y="7665"/>
              <a:chExt cx="3737" cy="2848"/>
            </a:xfrm>
          </p:grpSpPr>
          <p:sp>
            <p:nvSpPr>
              <p:cNvPr id="66" name="圆角矩形 25"/>
              <p:cNvSpPr/>
              <p:nvPr/>
            </p:nvSpPr>
            <p:spPr>
              <a:xfrm>
                <a:off x="1983" y="7665"/>
                <a:ext cx="3473" cy="284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57"/>
              <p:cNvSpPr>
                <a:spLocks noChangeAspect="1"/>
              </p:cNvSpPr>
              <p:nvPr/>
            </p:nvSpPr>
            <p:spPr>
              <a:xfrm>
                <a:off x="2270" y="8360"/>
                <a:ext cx="445" cy="44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6</a:t>
                </a:r>
              </a:p>
            </p:txBody>
          </p:sp>
          <p:sp>
            <p:nvSpPr>
              <p:cNvPr id="68" name="文本框 67"/>
              <p:cNvSpPr txBox="1"/>
              <p:nvPr/>
            </p:nvSpPr>
            <p:spPr>
              <a:xfrm>
                <a:off x="3228" y="9966"/>
                <a:ext cx="2492" cy="436"/>
              </a:xfrm>
              <a:prstGeom prst="rect">
                <a:avLst/>
              </a:prstGeom>
              <a:noFill/>
            </p:spPr>
            <p:txBody>
              <a:bodyPr wrap="square" rtlCol="0" anchor="t">
                <a:spAutoFit/>
              </a:bodyPr>
              <a:lstStyle/>
              <a:p>
                <a:pPr algn="ctr">
                  <a:buNone/>
                </a:pPr>
                <a:r>
                  <a:rPr lang="zh-CN" altLang="en-US" sz="1200" dirty="0">
                    <a:latin typeface="等线" panose="02010600030101010101" charset="-122"/>
                    <a:ea typeface="等线" panose="02010600030101010101" charset="-122"/>
                    <a:cs typeface="等线" panose="02010600030101010101" charset="-122"/>
                    <a:sym typeface="+mn-ea"/>
                  </a:rPr>
                  <a:t>Transport module</a:t>
                </a:r>
                <a:endParaRPr lang="zh-CN" altLang="en-US" sz="1200" dirty="0"/>
              </a:p>
            </p:txBody>
          </p:sp>
        </p:grpSp>
      </p:grpSp>
      <p:grpSp>
        <p:nvGrpSpPr>
          <p:cNvPr id="55" name="组合 54"/>
          <p:cNvGrpSpPr/>
          <p:nvPr/>
        </p:nvGrpSpPr>
        <p:grpSpPr>
          <a:xfrm>
            <a:off x="317695" y="798342"/>
            <a:ext cx="2275815" cy="2111375"/>
            <a:chOff x="317695" y="798342"/>
            <a:chExt cx="2275815" cy="2111375"/>
          </a:xfrm>
        </p:grpSpPr>
        <p:pic>
          <p:nvPicPr>
            <p:cNvPr id="73" name="图片 7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45895" y="913714"/>
              <a:ext cx="1273436" cy="1924373"/>
            </a:xfrm>
            <a:prstGeom prst="rect">
              <a:avLst/>
            </a:prstGeom>
          </p:spPr>
        </p:pic>
        <p:grpSp>
          <p:nvGrpSpPr>
            <p:cNvPr id="72" name="组合 71"/>
            <p:cNvGrpSpPr/>
            <p:nvPr/>
          </p:nvGrpSpPr>
          <p:grpSpPr>
            <a:xfrm>
              <a:off x="317695" y="798342"/>
              <a:ext cx="2275815" cy="2111375"/>
              <a:chOff x="512470" y="350617"/>
              <a:chExt cx="2275815" cy="2111375"/>
            </a:xfrm>
          </p:grpSpPr>
          <p:grpSp>
            <p:nvGrpSpPr>
              <p:cNvPr id="32" name="组合 17"/>
              <p:cNvGrpSpPr/>
              <p:nvPr/>
            </p:nvGrpSpPr>
            <p:grpSpPr>
              <a:xfrm>
                <a:off x="512470" y="350617"/>
                <a:ext cx="2205355" cy="2111375"/>
                <a:chOff x="14958" y="6275"/>
                <a:chExt cx="3473" cy="3325"/>
              </a:xfrm>
            </p:grpSpPr>
            <p:sp>
              <p:nvSpPr>
                <p:cNvPr id="33" name="圆角矩形 27"/>
                <p:cNvSpPr/>
                <p:nvPr/>
              </p:nvSpPr>
              <p:spPr>
                <a:xfrm>
                  <a:off x="14958" y="6275"/>
                  <a:ext cx="3473" cy="3325"/>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55"/>
                <p:cNvSpPr>
                  <a:spLocks noChangeAspect="1"/>
                </p:cNvSpPr>
                <p:nvPr/>
              </p:nvSpPr>
              <p:spPr>
                <a:xfrm>
                  <a:off x="17514" y="7053"/>
                  <a:ext cx="445" cy="44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1</a:t>
                  </a:r>
                </a:p>
              </p:txBody>
            </p:sp>
          </p:grpSp>
          <p:sp>
            <p:nvSpPr>
              <p:cNvPr id="70" name="文本框 62"/>
              <p:cNvSpPr txBox="1"/>
              <p:nvPr/>
            </p:nvSpPr>
            <p:spPr>
              <a:xfrm>
                <a:off x="1676658" y="1848264"/>
                <a:ext cx="1111627" cy="276999"/>
              </a:xfrm>
              <a:prstGeom prst="rect">
                <a:avLst/>
              </a:prstGeom>
              <a:noFill/>
            </p:spPr>
            <p:txBody>
              <a:bodyPr wrap="square" rtlCol="0" anchor="t">
                <a:spAutoFit/>
              </a:bodyPr>
              <a:lstStyle/>
              <a:p>
                <a:pPr algn="ctr"/>
                <a:r>
                  <a:rPr lang="en-US" altLang="zh-CN" sz="1200" dirty="0">
                    <a:latin typeface="等线" panose="02010600030101010101" charset="-122"/>
                    <a:ea typeface="等线" panose="02010600030101010101" charset="-122"/>
                    <a:cs typeface="等线" panose="02010600030101010101" charset="-122"/>
                    <a:sym typeface="+mn-ea"/>
                  </a:rPr>
                  <a:t>Coil feeder</a:t>
                </a:r>
                <a:endParaRPr lang="zh-CN" altLang="en-US" sz="1200" b="0" kern="1200" dirty="0">
                  <a:solidFill>
                    <a:schemeClr val="tx1"/>
                  </a:solidFill>
                  <a:latin typeface="等线" panose="02010600030101010101" charset="-122"/>
                  <a:ea typeface="等线" panose="02010600030101010101" charset="-122"/>
                  <a:cs typeface="等线" panose="02010600030101010101" charset="-122"/>
                </a:endParaRP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4"/>
          <a:stretch>
            <a:fillRect/>
          </a:stretch>
        </p:blipFill>
        <p:spPr>
          <a:xfrm>
            <a:off x="186055" y="1183005"/>
            <a:ext cx="5537200" cy="3879215"/>
          </a:xfrm>
          <a:prstGeom prst="rect">
            <a:avLst/>
          </a:prstGeom>
        </p:spPr>
      </p:pic>
      <p:pic>
        <p:nvPicPr>
          <p:cNvPr id="3" name="图片 2"/>
          <p:cNvPicPr>
            <a:picLocks noChangeAspect="1"/>
          </p:cNvPicPr>
          <p:nvPr>
            <p:custDataLst>
              <p:tags r:id="rId2"/>
            </p:custDataLst>
          </p:nvPr>
        </p:nvPicPr>
        <p:blipFill>
          <a:blip r:embed="rId25"/>
          <a:stretch>
            <a:fillRect/>
          </a:stretch>
        </p:blipFill>
        <p:spPr>
          <a:xfrm>
            <a:off x="6111240" y="1700530"/>
            <a:ext cx="5902960" cy="3160395"/>
          </a:xfrm>
          <a:prstGeom prst="rect">
            <a:avLst/>
          </a:prstGeom>
        </p:spPr>
      </p:pic>
      <p:sp>
        <p:nvSpPr>
          <p:cNvPr id="36" name="椭圆 35"/>
          <p:cNvSpPr/>
          <p:nvPr>
            <p:custDataLst>
              <p:tags r:id="rId3"/>
            </p:custDataLst>
          </p:nvPr>
        </p:nvSpPr>
        <p:spPr>
          <a:xfrm>
            <a:off x="9089342" y="2760263"/>
            <a:ext cx="645584" cy="1524162"/>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cs typeface="Calibri" panose="020F0502020204030204" charset="0"/>
            </a:endParaRPr>
          </a:p>
        </p:txBody>
      </p:sp>
      <p:sp>
        <p:nvSpPr>
          <p:cNvPr id="37" name="圆角矩形标注 6"/>
          <p:cNvSpPr/>
          <p:nvPr/>
        </p:nvSpPr>
        <p:spPr>
          <a:xfrm>
            <a:off x="8127204" y="1000125"/>
            <a:ext cx="2575001" cy="994887"/>
          </a:xfrm>
          <a:prstGeom prst="wedgeRoundRectCallout">
            <a:avLst>
              <a:gd name="adj1" fmla="val 2098"/>
              <a:gd name="adj2" fmla="val 127514"/>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Due</a:t>
            </a:r>
            <a:r>
              <a:rPr lang="zh-CN" altLang="en-US" sz="1200" dirty="0">
                <a:sym typeface="+mn-ea"/>
              </a:rPr>
              <a:t> </a:t>
            </a:r>
            <a:r>
              <a:rPr lang="en-US" altLang="zh-CN" sz="1200" dirty="0">
                <a:sym typeface="+mn-ea"/>
              </a:rPr>
              <a:t>to</a:t>
            </a:r>
            <a:r>
              <a:rPr lang="zh-CN" altLang="en-US" sz="1200" dirty="0">
                <a:sym typeface="+mn-ea"/>
              </a:rPr>
              <a:t> </a:t>
            </a:r>
            <a:r>
              <a:rPr lang="en-US" altLang="zh-CN" sz="1200" dirty="0">
                <a:sym typeface="+mn-ea"/>
              </a:rPr>
              <a:t>changes</a:t>
            </a:r>
            <a:r>
              <a:rPr lang="zh-CN" altLang="en-US" sz="1200" dirty="0">
                <a:sym typeface="+mn-ea"/>
              </a:rPr>
              <a:t> </a:t>
            </a:r>
            <a:r>
              <a:rPr lang="en-US" altLang="zh-CN" sz="1200" dirty="0">
                <a:sym typeface="+mn-ea"/>
              </a:rPr>
              <a:t>in</a:t>
            </a:r>
            <a:r>
              <a:rPr lang="zh-CN" altLang="en-US" sz="1200" dirty="0">
                <a:sym typeface="+mn-ea"/>
              </a:rPr>
              <a:t> </a:t>
            </a:r>
            <a:r>
              <a:rPr lang="en-US" altLang="zh-CN" sz="1200" dirty="0">
                <a:sym typeface="+mn-ea"/>
              </a:rPr>
              <a:t>the</a:t>
            </a:r>
            <a:r>
              <a:rPr lang="zh-CN" altLang="en-US" sz="1200" dirty="0">
                <a:sym typeface="+mn-ea"/>
              </a:rPr>
              <a:t> </a:t>
            </a:r>
            <a:r>
              <a:rPr lang="en-US" altLang="zh-CN" sz="1200" dirty="0">
                <a:sym typeface="+mn-ea"/>
              </a:rPr>
              <a:t>length </a:t>
            </a:r>
          </a:p>
          <a:p>
            <a:pPr algn="ctr"/>
            <a:r>
              <a:rPr lang="en-US" altLang="zh-CN" sz="1200" dirty="0">
                <a:sym typeface="+mn-ea"/>
              </a:rPr>
              <a:t>of  the PCBA, need to </a:t>
            </a:r>
          </a:p>
          <a:p>
            <a:pPr algn="ctr"/>
            <a:r>
              <a:rPr lang="en-US" altLang="zh-CN" sz="1200" dirty="0">
                <a:sym typeface="+mn-ea"/>
              </a:rPr>
              <a:t>change the blocking block of</a:t>
            </a:r>
          </a:p>
          <a:p>
            <a:pPr algn="ctr"/>
            <a:r>
              <a:rPr lang="en-US" altLang="zh-CN" sz="1200" dirty="0">
                <a:sym typeface="+mn-ea"/>
              </a:rPr>
              <a:t> the blocking cylinder</a:t>
            </a:r>
          </a:p>
        </p:txBody>
      </p:sp>
      <p:sp>
        <p:nvSpPr>
          <p:cNvPr id="13" name="灯片编号占位符 3"/>
          <p:cNvSpPr>
            <a:spLocks noGrp="1" noChangeArrowheads="1"/>
          </p:cNvSpPr>
          <p:nvPr>
            <p:custDataLst>
              <p:tags r:id="rId4"/>
            </p:custDataLst>
          </p:nvPr>
        </p:nvSpPr>
        <p:spPr bwMode="auto">
          <a:xfrm>
            <a:off x="11490234" y="5976703"/>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10</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97" name="文本框 96"/>
          <p:cNvSpPr txBox="1"/>
          <p:nvPr>
            <p:custDataLst>
              <p:tags r:id="rId5"/>
            </p:custDataLst>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5.1 </a:t>
            </a:r>
            <a:r>
              <a:rPr lang="en-US" altLang="zh-CN" sz="1800" b="1" noProof="0" dirty="0">
                <a:ln>
                  <a:noFill/>
                </a:ln>
                <a:solidFill>
                  <a:prstClr val="black"/>
                </a:solidFill>
                <a:effectLst/>
                <a:uLnTx/>
                <a:uFillTx/>
                <a:latin typeface="Calibri" panose="020F0502020204030204" charset="0"/>
                <a:cs typeface="Calibri" panose="020F0502020204030204" charset="0"/>
                <a:sym typeface="+mn-ea"/>
              </a:rPr>
              <a:t>Feed conveyor line</a:t>
            </a:r>
            <a:endParaRPr lang="zh-CN" altLang="en-US" sz="1800" b="1" dirty="0">
              <a:latin typeface="Calibri" panose="020F0502020204030204" charset="0"/>
              <a:cs typeface="Calibri" panose="020F0502020204030204" charset="0"/>
            </a:endParaRPr>
          </a:p>
        </p:txBody>
      </p:sp>
      <p:sp>
        <p:nvSpPr>
          <p:cNvPr id="99" name="文本框 27"/>
          <p:cNvSpPr txBox="1"/>
          <p:nvPr>
            <p:custDataLst>
              <p:tags r:id="rId6"/>
            </p:custDataLst>
          </p:nvPr>
        </p:nvSpPr>
        <p:spPr bwMode="auto">
          <a:xfrm>
            <a:off x="34926" y="5484739"/>
            <a:ext cx="6934200" cy="117094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pPr lvl="0" algn="l">
              <a:buClrTx/>
              <a:buSzTx/>
              <a:buFontTx/>
            </a:pPr>
            <a:r>
              <a:rPr sz="1300" dirty="0">
                <a:latin typeface="Calibri" panose="020F0502020204030204" charset="0"/>
                <a:ea typeface="+mj-ea"/>
                <a:cs typeface="Calibri" panose="020F0502020204030204" charset="0"/>
                <a:sym typeface="+mn-ea"/>
              </a:rPr>
              <a:t>PCBA board positioning process:</a:t>
            </a:r>
          </a:p>
          <a:p>
            <a:pPr lvl="0" algn="l">
              <a:buClrTx/>
              <a:buSzTx/>
              <a:buFontTx/>
            </a:pPr>
            <a:r>
              <a:rPr sz="1300" dirty="0">
                <a:latin typeface="Calibri" panose="020F0502020204030204" charset="0"/>
                <a:ea typeface="+mj-ea"/>
                <a:cs typeface="Calibri" panose="020F0502020204030204" charset="0"/>
                <a:sym typeface="+mn-ea"/>
              </a:rPr>
              <a:t>1.The PCBA board flows into the conveyor line, and the CX-461A senses that the conveyor line </a:t>
            </a:r>
          </a:p>
          <a:p>
            <a:pPr lvl="0" algn="l">
              <a:buClrTx/>
              <a:buSzTx/>
              <a:buFontTx/>
            </a:pPr>
            <a:r>
              <a:rPr sz="1300" dirty="0">
                <a:latin typeface="Calibri" panose="020F0502020204030204" charset="0"/>
                <a:ea typeface="+mj-ea"/>
                <a:cs typeface="Calibri" panose="020F0502020204030204" charset="0"/>
                <a:sym typeface="+mn-ea"/>
              </a:rPr>
              <a:t>slows down and blocks the PCBA board from the blocking cylinder.</a:t>
            </a:r>
          </a:p>
          <a:p>
            <a:pPr lvl="0" algn="l">
              <a:buClrTx/>
              <a:buSzTx/>
              <a:buFontTx/>
            </a:pPr>
            <a:r>
              <a:rPr sz="1300" dirty="0">
                <a:latin typeface="Calibri" panose="020F0502020204030204" charset="0"/>
                <a:ea typeface="+mj-ea"/>
                <a:cs typeface="Calibri" panose="020F0502020204030204" charset="0"/>
                <a:sym typeface="+mn-ea"/>
              </a:rPr>
              <a:t>2.The lifting cylinder is pushed out to position the PCBA board.</a:t>
            </a:r>
          </a:p>
          <a:p>
            <a:pPr lvl="0" algn="l">
              <a:buClrTx/>
              <a:buSzTx/>
              <a:buFontTx/>
            </a:pPr>
            <a:endParaRPr sz="1300" dirty="0">
              <a:latin typeface="Calibri" panose="020F0502020204030204" charset="0"/>
              <a:ea typeface="+mj-ea"/>
              <a:cs typeface="Calibri" panose="020F0502020204030204" charset="0"/>
              <a:sym typeface="+mn-ea"/>
            </a:endParaRPr>
          </a:p>
        </p:txBody>
      </p:sp>
      <p:sp>
        <p:nvSpPr>
          <p:cNvPr id="100" name="標題 1"/>
          <p:cNvSpPr txBox="1"/>
          <p:nvPr>
            <p:custDataLst>
              <p:tags r:id="rId7"/>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grpSp>
        <p:nvGrpSpPr>
          <p:cNvPr id="12" name="组合 11"/>
          <p:cNvGrpSpPr/>
          <p:nvPr/>
        </p:nvGrpSpPr>
        <p:grpSpPr>
          <a:xfrm>
            <a:off x="260565" y="1341199"/>
            <a:ext cx="5365112" cy="3915220"/>
            <a:chOff x="393150" y="1022876"/>
            <a:chExt cx="6057464" cy="4224471"/>
          </a:xfrm>
        </p:grpSpPr>
        <p:grpSp>
          <p:nvGrpSpPr>
            <p:cNvPr id="14" name="组合 13"/>
            <p:cNvGrpSpPr/>
            <p:nvPr/>
          </p:nvGrpSpPr>
          <p:grpSpPr>
            <a:xfrm>
              <a:off x="526363" y="1022876"/>
              <a:ext cx="4737100" cy="3667760"/>
              <a:chOff x="1782" y="422"/>
              <a:chExt cx="7460" cy="5776"/>
            </a:xfrm>
          </p:grpSpPr>
          <p:sp>
            <p:nvSpPr>
              <p:cNvPr id="41" name="TextBox 216"/>
              <p:cNvSpPr txBox="1">
                <a:spLocks noChangeArrowheads="1"/>
              </p:cNvSpPr>
              <p:nvPr/>
            </p:nvSpPr>
            <p:spPr bwMode="auto">
              <a:xfrm>
                <a:off x="1782" y="1336"/>
                <a:ext cx="2857"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in place deceleration sensor</a:t>
                </a:r>
              </a:p>
            </p:txBody>
          </p:sp>
          <p:sp>
            <p:nvSpPr>
              <p:cNvPr id="42" name="TextBox 216"/>
              <p:cNvSpPr txBox="1">
                <a:spLocks noChangeArrowheads="1"/>
              </p:cNvSpPr>
              <p:nvPr>
                <p:custDataLst>
                  <p:tags r:id="rId18"/>
                </p:custDataLst>
              </p:nvPr>
            </p:nvSpPr>
            <p:spPr bwMode="auto">
              <a:xfrm>
                <a:off x="4161" y="422"/>
                <a:ext cx="2450"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blocking cylinder</a:t>
                </a:r>
              </a:p>
            </p:txBody>
          </p:sp>
          <p:sp>
            <p:nvSpPr>
              <p:cNvPr id="43" name="Shape 78"/>
              <p:cNvSpPr/>
              <p:nvPr>
                <p:custDataLst>
                  <p:tags r:id="rId19"/>
                </p:custDataLst>
              </p:nvPr>
            </p:nvSpPr>
            <p:spPr>
              <a:xfrm rot="10800000">
                <a:off x="6379" y="4721"/>
                <a:ext cx="868" cy="851"/>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44" name="TextBox 216"/>
              <p:cNvSpPr txBox="1">
                <a:spLocks noChangeArrowheads="1"/>
              </p:cNvSpPr>
              <p:nvPr>
                <p:custDataLst>
                  <p:tags r:id="rId20"/>
                </p:custDataLst>
              </p:nvPr>
            </p:nvSpPr>
            <p:spPr bwMode="auto">
              <a:xfrm>
                <a:off x="7121" y="5361"/>
                <a:ext cx="2121"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jacking cylinder</a:t>
                </a:r>
              </a:p>
            </p:txBody>
          </p:sp>
          <p:sp>
            <p:nvSpPr>
              <p:cNvPr id="45" name="Shape 78"/>
              <p:cNvSpPr/>
              <p:nvPr>
                <p:custDataLst>
                  <p:tags r:id="rId21"/>
                </p:custDataLst>
              </p:nvPr>
            </p:nvSpPr>
            <p:spPr>
              <a:xfrm rot="10800000" flipH="1" flipV="1">
                <a:off x="4161" y="2106"/>
                <a:ext cx="2302" cy="140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grpSp>
        <p:sp>
          <p:nvSpPr>
            <p:cNvPr id="16" name="TextBox 216"/>
            <p:cNvSpPr txBox="1">
              <a:spLocks noChangeArrowheads="1"/>
            </p:cNvSpPr>
            <p:nvPr/>
          </p:nvSpPr>
          <p:spPr bwMode="auto">
            <a:xfrm>
              <a:off x="393150" y="2501320"/>
              <a:ext cx="756285" cy="296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Motor</a:t>
              </a:r>
            </a:p>
          </p:txBody>
        </p:sp>
        <p:sp>
          <p:nvSpPr>
            <p:cNvPr id="21" name="Shape 78"/>
            <p:cNvSpPr/>
            <p:nvPr>
              <p:custDataLst>
                <p:tags r:id="rId12"/>
              </p:custDataLst>
            </p:nvPr>
          </p:nvSpPr>
          <p:spPr>
            <a:xfrm rot="9480000" flipV="1">
              <a:off x="654791" y="2899298"/>
              <a:ext cx="223538" cy="684466"/>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25" name="Shape 78"/>
            <p:cNvSpPr/>
            <p:nvPr>
              <p:custDataLst>
                <p:tags r:id="rId13"/>
              </p:custDataLst>
            </p:nvPr>
          </p:nvSpPr>
          <p:spPr>
            <a:xfrm rot="10800000" flipH="1" flipV="1">
              <a:off x="3160643" y="1574359"/>
              <a:ext cx="549253" cy="1106425"/>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26" name="Shape 78"/>
            <p:cNvSpPr/>
            <p:nvPr>
              <p:custDataLst>
                <p:tags r:id="rId14"/>
              </p:custDataLst>
            </p:nvPr>
          </p:nvSpPr>
          <p:spPr>
            <a:xfrm rot="10800000">
              <a:off x="3861179" y="3166047"/>
              <a:ext cx="917432" cy="586824"/>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dirty="0"/>
            </a:p>
          </p:txBody>
        </p:sp>
        <p:sp>
          <p:nvSpPr>
            <p:cNvPr id="29" name="TextBox 216"/>
            <p:cNvSpPr txBox="1">
              <a:spLocks noChangeArrowheads="1"/>
            </p:cNvSpPr>
            <p:nvPr>
              <p:custDataLst>
                <p:tags r:id="rId15"/>
              </p:custDataLst>
            </p:nvPr>
          </p:nvSpPr>
          <p:spPr bwMode="auto">
            <a:xfrm>
              <a:off x="3001857" y="4716007"/>
              <a:ext cx="1346835" cy="53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ea typeface="+mj-ea"/>
                  <a:cs typeface="Calibri" panose="020F0502020204030204" charset="0"/>
                  <a:sym typeface="+mn-ea"/>
                </a:rPr>
                <a:t>PCBA support board</a:t>
              </a:r>
              <a:endParaRPr lang="en-US" altLang="zh-CN" sz="1300" dirty="0">
                <a:latin typeface="+mn-lt"/>
              </a:endParaRPr>
            </a:p>
          </p:txBody>
        </p:sp>
        <p:sp>
          <p:nvSpPr>
            <p:cNvPr id="34" name="Shape 78"/>
            <p:cNvSpPr/>
            <p:nvPr>
              <p:custDataLst>
                <p:tags r:id="rId16"/>
              </p:custDataLst>
            </p:nvPr>
          </p:nvSpPr>
          <p:spPr>
            <a:xfrm rot="10800000">
              <a:off x="2958894" y="3600713"/>
              <a:ext cx="380766" cy="1115293"/>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40" name="TextBox 216"/>
            <p:cNvSpPr txBox="1">
              <a:spLocks noChangeArrowheads="1"/>
            </p:cNvSpPr>
            <p:nvPr>
              <p:custDataLst>
                <p:tags r:id="rId17"/>
              </p:custDataLst>
            </p:nvPr>
          </p:nvSpPr>
          <p:spPr bwMode="auto">
            <a:xfrm>
              <a:off x="4682656" y="3665689"/>
              <a:ext cx="1767958" cy="53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lifting limit component</a:t>
              </a:r>
            </a:p>
          </p:txBody>
        </p:sp>
      </p:grpSp>
      <p:sp>
        <p:nvSpPr>
          <p:cNvPr id="48" name="Shape 78"/>
          <p:cNvSpPr/>
          <p:nvPr>
            <p:custDataLst>
              <p:tags r:id="rId8"/>
            </p:custDataLst>
          </p:nvPr>
        </p:nvSpPr>
        <p:spPr>
          <a:xfrm rot="10800000">
            <a:off x="10915582" y="3835343"/>
            <a:ext cx="0" cy="89274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grpSp>
        <p:nvGrpSpPr>
          <p:cNvPr id="50" name="组合 49"/>
          <p:cNvGrpSpPr/>
          <p:nvPr/>
        </p:nvGrpSpPr>
        <p:grpSpPr>
          <a:xfrm>
            <a:off x="5445859" y="3140765"/>
            <a:ext cx="1322686" cy="882775"/>
            <a:chOff x="5715024" y="3267157"/>
            <a:chExt cx="1009362" cy="852713"/>
          </a:xfrm>
        </p:grpSpPr>
        <p:cxnSp>
          <p:nvCxnSpPr>
            <p:cNvPr id="51" name="直接连接符 50"/>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6213188" y="3267157"/>
              <a:ext cx="0" cy="820353"/>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4" name="TextBox 45"/>
            <p:cNvSpPr txBox="1"/>
            <p:nvPr/>
          </p:nvSpPr>
          <p:spPr>
            <a:xfrm>
              <a:off x="5715024" y="3532796"/>
              <a:ext cx="705784" cy="297296"/>
            </a:xfrm>
            <a:prstGeom prst="rect">
              <a:avLst/>
            </a:prstGeom>
            <a:noFill/>
          </p:spPr>
          <p:txBody>
            <a:bodyPr wrap="square" rtlCol="0">
              <a:spAutoFit/>
            </a:bodyPr>
            <a:lstStyle/>
            <a:p>
              <a:r>
                <a:rPr lang="en-US" altLang="zh-CN" sz="1400" dirty="0"/>
                <a:t>138.6mm</a:t>
              </a:r>
            </a:p>
          </p:txBody>
        </p:sp>
      </p:grpSp>
      <p:grpSp>
        <p:nvGrpSpPr>
          <p:cNvPr id="55" name="组合 54"/>
          <p:cNvGrpSpPr/>
          <p:nvPr/>
        </p:nvGrpSpPr>
        <p:grpSpPr>
          <a:xfrm>
            <a:off x="6635925" y="3790546"/>
            <a:ext cx="1803564" cy="2258379"/>
            <a:chOff x="10434867" y="3871225"/>
            <a:chExt cx="1803564" cy="2258379"/>
          </a:xfrm>
        </p:grpSpPr>
        <p:sp>
          <p:nvSpPr>
            <p:cNvPr id="56" name="Shape 78"/>
            <p:cNvSpPr/>
            <p:nvPr>
              <p:custDataLst>
                <p:tags r:id="rId10"/>
              </p:custDataLst>
            </p:nvPr>
          </p:nvSpPr>
          <p:spPr>
            <a:xfrm rot="10800000">
              <a:off x="11018848" y="3871225"/>
              <a:ext cx="0" cy="89274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sp>
          <p:nvSpPr>
            <p:cNvPr id="57" name="TextBox 216"/>
            <p:cNvSpPr txBox="1">
              <a:spLocks noChangeArrowheads="1"/>
            </p:cNvSpPr>
            <p:nvPr>
              <p:custDataLst>
                <p:tags r:id="rId11"/>
              </p:custDataLst>
            </p:nvPr>
          </p:nvSpPr>
          <p:spPr bwMode="auto">
            <a:xfrm>
              <a:off x="10434867" y="4763974"/>
              <a:ext cx="1803564" cy="136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Sensor CX-461A</a:t>
              </a:r>
            </a:p>
            <a:p>
              <a:pPr eaLnBrk="1" hangingPunct="1">
                <a:lnSpc>
                  <a:spcPct val="130000"/>
                </a:lnSpc>
              </a:pPr>
              <a:r>
                <a:rPr lang="en-US" altLang="zh-CN" sz="1300" dirty="0">
                  <a:latin typeface="+mn-lt"/>
                </a:rPr>
                <a:t>Detect whether the PCBA drives into the conveyor line</a:t>
              </a:r>
            </a:p>
            <a:p>
              <a:pPr eaLnBrk="1" hangingPunct="1">
                <a:lnSpc>
                  <a:spcPct val="130000"/>
                </a:lnSpc>
              </a:pPr>
              <a:endParaRPr lang="zh-CN" sz="1300" dirty="0">
                <a:latin typeface="+mn-lt"/>
              </a:endParaRPr>
            </a:p>
          </p:txBody>
        </p:sp>
      </p:grpSp>
      <p:sp>
        <p:nvSpPr>
          <p:cNvPr id="58" name="TextBox 216"/>
          <p:cNvSpPr txBox="1">
            <a:spLocks noChangeArrowheads="1"/>
          </p:cNvSpPr>
          <p:nvPr>
            <p:custDataLst>
              <p:tags r:id="rId9"/>
            </p:custDataLst>
          </p:nvPr>
        </p:nvSpPr>
        <p:spPr bwMode="auto">
          <a:xfrm>
            <a:off x="9620896" y="4702418"/>
            <a:ext cx="1803564" cy="136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Sensor CX-461A</a:t>
            </a:r>
          </a:p>
          <a:p>
            <a:pPr eaLnBrk="1" hangingPunct="1">
              <a:lnSpc>
                <a:spcPct val="130000"/>
              </a:lnSpc>
            </a:pPr>
            <a:r>
              <a:rPr lang="en-US" altLang="zh-CN" sz="1300" dirty="0">
                <a:latin typeface="+mn-lt"/>
              </a:rPr>
              <a:t>Detect whether the PCBA drives into the conveyor line</a:t>
            </a:r>
          </a:p>
          <a:p>
            <a:pPr eaLnBrk="1" hangingPunct="1">
              <a:lnSpc>
                <a:spcPct val="130000"/>
              </a:lnSpc>
            </a:pPr>
            <a:endParaRPr lang="zh-CN" sz="1300"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18"/>
          <a:stretch>
            <a:fillRect/>
          </a:stretch>
        </p:blipFill>
        <p:spPr>
          <a:xfrm>
            <a:off x="8380730" y="2152015"/>
            <a:ext cx="2850515" cy="3208655"/>
          </a:xfrm>
          <a:prstGeom prst="rect">
            <a:avLst/>
          </a:prstGeom>
        </p:spPr>
      </p:pic>
      <p:sp>
        <p:nvSpPr>
          <p:cNvPr id="97" name="文本框 96"/>
          <p:cNvSpPr txBox="1"/>
          <p:nvPr>
            <p:custDataLst>
              <p:tags r:id="rId2"/>
            </p:custDataLst>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5.1 </a:t>
            </a:r>
            <a:r>
              <a:rPr lang="en-US" altLang="zh-CN" sz="1800" b="1" noProof="0" dirty="0">
                <a:ln>
                  <a:noFill/>
                </a:ln>
                <a:solidFill>
                  <a:prstClr val="black"/>
                </a:solidFill>
                <a:effectLst/>
                <a:uLnTx/>
                <a:uFillTx/>
                <a:latin typeface="Calibri" panose="020F0502020204030204" charset="0"/>
                <a:cs typeface="Calibri" panose="020F0502020204030204" charset="0"/>
                <a:sym typeface="+mn-ea"/>
              </a:rPr>
              <a:t>Feed conveyor line</a:t>
            </a:r>
            <a:endParaRPr lang="zh-CN" altLang="en-US" sz="1800" b="1" dirty="0">
              <a:latin typeface="Calibri" panose="020F0502020204030204" charset="0"/>
              <a:cs typeface="Calibri" panose="020F0502020204030204" charset="0"/>
            </a:endParaRPr>
          </a:p>
        </p:txBody>
      </p:sp>
      <p:sp>
        <p:nvSpPr>
          <p:cNvPr id="10" name="標題 1"/>
          <p:cNvSpPr txBox="1"/>
          <p:nvPr>
            <p:custDataLst>
              <p:tags r:id="rId3"/>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sp>
        <p:nvSpPr>
          <p:cNvPr id="21" name="文本框 40"/>
          <p:cNvSpPr txBox="1"/>
          <p:nvPr>
            <p:custDataLst>
              <p:tags r:id="rId4"/>
            </p:custDataLst>
          </p:nvPr>
        </p:nvSpPr>
        <p:spPr>
          <a:xfrm>
            <a:off x="298610" y="5321480"/>
            <a:ext cx="4605020" cy="954107"/>
          </a:xfrm>
          <a:prstGeom prst="rect">
            <a:avLst/>
          </a:prstGeom>
          <a:noFill/>
        </p:spPr>
        <p:txBody>
          <a:bodyPr wrap="square" rtlCol="0">
            <a:spAutoFit/>
          </a:bodyPr>
          <a:lstStyle/>
          <a:p>
            <a:pPr algn="l"/>
            <a:r>
              <a:rPr lang="en-US" altLang="zh-CN" sz="1400" dirty="0">
                <a:latin typeface="Calibri" panose="020F0502020204030204" charset="0"/>
                <a:cs typeface="Calibri" panose="020F0502020204030204" charset="0"/>
                <a:sym typeface="+mn-ea"/>
              </a:rPr>
              <a:t>PCBA board clamping:</a:t>
            </a:r>
          </a:p>
          <a:p>
            <a:pPr algn="l"/>
            <a:r>
              <a:rPr lang="en-US" altLang="zh-CN" sz="1400" dirty="0">
                <a:latin typeface="Calibri" panose="020F0502020204030204" charset="0"/>
                <a:cs typeface="Calibri" panose="020F0502020204030204" charset="0"/>
                <a:sym typeface="+mn-ea"/>
              </a:rPr>
              <a:t>1. PCBA board arrives at the assembly position;</a:t>
            </a:r>
          </a:p>
          <a:p>
            <a:pPr algn="l"/>
            <a:r>
              <a:rPr lang="en-US" altLang="zh-CN" sz="1400" dirty="0">
                <a:latin typeface="Calibri" panose="020F0502020204030204" charset="0"/>
                <a:cs typeface="Calibri" panose="020F0502020204030204" charset="0"/>
                <a:sym typeface="+mn-ea"/>
              </a:rPr>
              <a:t>2, the block cylinder is blocked out3. At the same time, the support plate rises to support the PCBA board.</a:t>
            </a:r>
            <a:endParaRPr lang="zh-CN" altLang="en-US" sz="1400" dirty="0">
              <a:latin typeface="Calibri" panose="020F0502020204030204" charset="0"/>
              <a:cs typeface="Calibri" panose="020F0502020204030204" charset="0"/>
            </a:endParaRPr>
          </a:p>
        </p:txBody>
      </p:sp>
      <p:sp>
        <p:nvSpPr>
          <p:cNvPr id="22" name="灯片编号占位符 3"/>
          <p:cNvSpPr>
            <a:spLocks noGrp="1" noChangeArrowheads="1"/>
          </p:cNvSpPr>
          <p:nvPr>
            <p:custDataLst>
              <p:tags r:id="rId5"/>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11</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24" name="图片 23" descr="图片包含 游戏机, 乐高&#10;&#10;描述已自动生成"/>
          <p:cNvPicPr>
            <a:picLocks noChangeAspect="1"/>
          </p:cNvPicPr>
          <p:nvPr/>
        </p:nvPicPr>
        <p:blipFill>
          <a:blip r:embed="rId19">
            <a:extLst>
              <a:ext uri="{BEBA8EAE-BF5A-486C-A8C5-ECC9F3942E4B}">
                <a14:imgProps xmlns:a14="http://schemas.microsoft.com/office/drawing/2010/main">
                  <a14:imgLayer r:embed="rId20">
                    <a14:imgEffect>
                      <a14:backgroundRemoval t="9868" b="89967" l="9981" r="92345">
                        <a14:foregroundMark x1="73159" y1="39145" x2="73159" y2="39145"/>
                        <a14:foregroundMark x1="30136" y1="38487" x2="30523" y2="38487"/>
                        <a14:foregroundMark x1="39050" y1="38158" x2="39050" y2="38158"/>
                        <a14:foregroundMark x1="39147" y1="30428" x2="39147" y2="41283"/>
                        <a14:foregroundMark x1="39147" y1="41283" x2="39341" y2="35362"/>
                        <a14:foregroundMark x1="47771" y1="32237" x2="49128" y2="38816"/>
                        <a14:foregroundMark x1="53779" y1="33059" x2="53973" y2="43586"/>
                        <a14:foregroundMark x1="63081" y1="33388" x2="63857" y2="45395"/>
                        <a14:foregroundMark x1="61531" y1="50164" x2="65504" y2="57730"/>
                        <a14:foregroundMark x1="28876" y1="35691" x2="31008" y2="45230"/>
                        <a14:foregroundMark x1="91473" y1="81908" x2="92345" y2="81414"/>
                      </a14:backgroundRemoval>
                    </a14:imgEffect>
                    <a14:imgEffect>
                      <a14:brightnessContrast bright="20000" contrast="-20000"/>
                    </a14:imgEffect>
                  </a14:imgLayer>
                </a14:imgProps>
              </a:ext>
              <a:ext uri="{28A0092B-C50C-407E-A947-70E740481C1C}">
                <a14:useLocalDpi xmlns:a14="http://schemas.microsoft.com/office/drawing/2010/main" val="0"/>
              </a:ext>
            </a:extLst>
          </a:blip>
          <a:srcRect l="23321" t="14950" r="20019" b="11394"/>
          <a:stretch>
            <a:fillRect/>
          </a:stretch>
        </p:blipFill>
        <p:spPr>
          <a:xfrm>
            <a:off x="729343" y="2495616"/>
            <a:ext cx="3367104" cy="2759485"/>
          </a:xfrm>
          <a:prstGeom prst="rect">
            <a:avLst/>
          </a:prstGeom>
        </p:spPr>
      </p:pic>
      <p:grpSp>
        <p:nvGrpSpPr>
          <p:cNvPr id="25" name="组合 24"/>
          <p:cNvGrpSpPr/>
          <p:nvPr/>
        </p:nvGrpSpPr>
        <p:grpSpPr>
          <a:xfrm>
            <a:off x="1488036" y="1607457"/>
            <a:ext cx="1829948" cy="1141866"/>
            <a:chOff x="1179921" y="1563945"/>
            <a:chExt cx="1829948" cy="1141866"/>
          </a:xfrm>
        </p:grpSpPr>
        <p:cxnSp>
          <p:nvCxnSpPr>
            <p:cNvPr id="30" name="直接箭头连接符 29"/>
            <p:cNvCxnSpPr/>
            <p:nvPr>
              <p:custDataLst>
                <p:tags r:id="rId13"/>
              </p:custDataLst>
            </p:nvPr>
          </p:nvCxnSpPr>
          <p:spPr>
            <a:xfrm flipH="1">
              <a:off x="1179921" y="1900279"/>
              <a:ext cx="721250" cy="780464"/>
            </a:xfrm>
            <a:prstGeom prst="straightConnector1">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本框 30"/>
            <p:cNvSpPr txBox="1"/>
            <p:nvPr>
              <p:custDataLst>
                <p:tags r:id="rId14"/>
              </p:custDataLst>
            </p:nvPr>
          </p:nvSpPr>
          <p:spPr>
            <a:xfrm>
              <a:off x="1180434" y="1563945"/>
              <a:ext cx="1829435" cy="350520"/>
            </a:xfrm>
            <a:prstGeom prst="rect">
              <a:avLst/>
            </a:prstGeom>
            <a:noFill/>
          </p:spPr>
          <p:txBody>
            <a:bodyPr wrap="square" rtlCol="0">
              <a:noAutofit/>
            </a:bodyPr>
            <a:lstStyle/>
            <a:p>
              <a:pPr lvl="0" algn="ctr">
                <a:buClrTx/>
                <a:buSzTx/>
                <a:buFontTx/>
              </a:pPr>
              <a:r>
                <a:rPr lang="en-US" altLang="zh-CN" sz="1400" dirty="0">
                  <a:latin typeface="Calibri" panose="020F0502020204030204" charset="0"/>
                  <a:ea typeface="+mj-ea"/>
                  <a:cs typeface="Calibri" panose="020F0502020204030204" charset="0"/>
                  <a:sym typeface="+mn-ea"/>
                </a:rPr>
                <a:t>clamping position</a:t>
              </a:r>
              <a:endParaRPr lang="en-US" altLang="zh-CN" sz="1400" dirty="0">
                <a:latin typeface="Calibri" panose="020F0502020204030204" charset="0"/>
              </a:endParaRPr>
            </a:p>
          </p:txBody>
        </p:sp>
        <p:cxnSp>
          <p:nvCxnSpPr>
            <p:cNvPr id="32" name="直接箭头连接符 31"/>
            <p:cNvCxnSpPr/>
            <p:nvPr>
              <p:custDataLst>
                <p:tags r:id="rId15"/>
              </p:custDataLst>
            </p:nvPr>
          </p:nvCxnSpPr>
          <p:spPr>
            <a:xfrm>
              <a:off x="2316306" y="1914465"/>
              <a:ext cx="693563" cy="791346"/>
            </a:xfrm>
            <a:prstGeom prst="straightConnector1">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a:xfrm>
            <a:off x="844826" y="2823297"/>
            <a:ext cx="2880000" cy="0"/>
          </a:xfrm>
          <a:prstGeom prst="line">
            <a:avLst/>
          </a:prstGeom>
          <a:ln w="3810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7" name="组合 36"/>
          <p:cNvGrpSpPr/>
          <p:nvPr/>
        </p:nvGrpSpPr>
        <p:grpSpPr>
          <a:xfrm rot="10800000">
            <a:off x="9990012" y="5028559"/>
            <a:ext cx="2207283" cy="1451679"/>
            <a:chOff x="9537397" y="-760053"/>
            <a:chExt cx="871022" cy="4085276"/>
          </a:xfrm>
        </p:grpSpPr>
        <p:cxnSp>
          <p:nvCxnSpPr>
            <p:cNvPr id="38" name="直接箭头连接符 37"/>
            <p:cNvCxnSpPr/>
            <p:nvPr/>
          </p:nvCxnSpPr>
          <p:spPr>
            <a:xfrm rot="10800000" flipH="1">
              <a:off x="10180966" y="1479623"/>
              <a:ext cx="10488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9537397" y="-760053"/>
              <a:ext cx="871022" cy="4085276"/>
              <a:chOff x="9537397" y="-760053"/>
              <a:chExt cx="871022" cy="4085276"/>
            </a:xfrm>
          </p:grpSpPr>
          <p:grpSp>
            <p:nvGrpSpPr>
              <p:cNvPr id="40" name="组合 39"/>
              <p:cNvGrpSpPr/>
              <p:nvPr/>
            </p:nvGrpSpPr>
            <p:grpSpPr>
              <a:xfrm>
                <a:off x="9537397" y="-760053"/>
                <a:ext cx="761402" cy="4085276"/>
                <a:chOff x="9341258" y="-1421120"/>
                <a:chExt cx="761402" cy="4085276"/>
              </a:xfrm>
            </p:grpSpPr>
            <p:grpSp>
              <p:nvGrpSpPr>
                <p:cNvPr id="42" name="组合 41"/>
                <p:cNvGrpSpPr/>
                <p:nvPr/>
              </p:nvGrpSpPr>
              <p:grpSpPr>
                <a:xfrm flipV="1">
                  <a:off x="10089714" y="665859"/>
                  <a:ext cx="12946" cy="1972685"/>
                  <a:chOff x="11160" y="3028"/>
                  <a:chExt cx="59" cy="2946"/>
                </a:xfrm>
              </p:grpSpPr>
              <p:cxnSp>
                <p:nvCxnSpPr>
                  <p:cNvPr id="44" name="直接连接符 43"/>
                  <p:cNvCxnSpPr/>
                  <p:nvPr>
                    <p:custDataLst>
                      <p:tags r:id="rId11"/>
                    </p:custDataLst>
                  </p:nvPr>
                </p:nvCxnSpPr>
                <p:spPr>
                  <a:xfrm flipV="1">
                    <a:off x="11160" y="3047"/>
                    <a:ext cx="0" cy="2927"/>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custDataLst>
                      <p:tags r:id="rId12"/>
                    </p:custDataLst>
                  </p:nvPr>
                </p:nvCxnSpPr>
                <p:spPr>
                  <a:xfrm flipV="1">
                    <a:off x="11219" y="3028"/>
                    <a:ext cx="0" cy="29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3" name="TextBox 216"/>
                <p:cNvSpPr txBox="1">
                  <a:spLocks noChangeArrowheads="1"/>
                </p:cNvSpPr>
                <p:nvPr>
                  <p:custDataLst>
                    <p:tags r:id="rId10"/>
                  </p:custDataLst>
                </p:nvPr>
              </p:nvSpPr>
              <p:spPr bwMode="auto">
                <a:xfrm rot="10800000">
                  <a:off x="9341258" y="-1421120"/>
                  <a:ext cx="754380" cy="4085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400" dirty="0">
                      <a:solidFill>
                        <a:srgbClr val="FF0000"/>
                      </a:solidFill>
                      <a:ea typeface="+mn-ea"/>
                      <a:cs typeface="Calibri" panose="020F0502020204030204" charset="0"/>
                      <a:sym typeface="+mn-ea"/>
                    </a:rPr>
                    <a:t>The distance between the connecting plate and the edge of the conveyor line is 0.5mm</a:t>
                  </a:r>
                </a:p>
                <a:p>
                  <a:pPr algn="ctr" eaLnBrk="1" hangingPunct="1">
                    <a:lnSpc>
                      <a:spcPct val="130000"/>
                    </a:lnSpc>
                  </a:pPr>
                  <a:endParaRPr lang="en-US" altLang="zh-CN" sz="1300" dirty="0">
                    <a:solidFill>
                      <a:srgbClr val="FF0000"/>
                    </a:solidFill>
                    <a:cs typeface="Calibri" panose="020F0502020204030204" charset="0"/>
                    <a:sym typeface="+mn-ea"/>
                  </a:endParaRPr>
                </a:p>
              </p:txBody>
            </p:sp>
          </p:grpSp>
          <p:cxnSp>
            <p:nvCxnSpPr>
              <p:cNvPr id="41" name="直接箭头连接符 40"/>
              <p:cNvCxnSpPr/>
              <p:nvPr/>
            </p:nvCxnSpPr>
            <p:spPr>
              <a:xfrm rot="10800000">
                <a:off x="10298740" y="1472281"/>
                <a:ext cx="109679" cy="7342"/>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nvGrpSpPr>
          <p:cNvPr id="46" name="组合 45"/>
          <p:cNvGrpSpPr/>
          <p:nvPr/>
        </p:nvGrpSpPr>
        <p:grpSpPr>
          <a:xfrm>
            <a:off x="9481026" y="1347211"/>
            <a:ext cx="2460187" cy="2315387"/>
            <a:chOff x="9965841" y="992260"/>
            <a:chExt cx="2460187" cy="2315387"/>
          </a:xfrm>
        </p:grpSpPr>
        <p:cxnSp>
          <p:nvCxnSpPr>
            <p:cNvPr id="48" name="直接箭头连接符 47"/>
            <p:cNvCxnSpPr/>
            <p:nvPr/>
          </p:nvCxnSpPr>
          <p:spPr>
            <a:xfrm>
              <a:off x="9965841" y="1472280"/>
              <a:ext cx="300187"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9" name="组合 48"/>
            <p:cNvGrpSpPr/>
            <p:nvPr/>
          </p:nvGrpSpPr>
          <p:grpSpPr>
            <a:xfrm>
              <a:off x="10267799" y="992260"/>
              <a:ext cx="2158229" cy="2315387"/>
              <a:chOff x="10267799" y="992260"/>
              <a:chExt cx="2158229" cy="2315387"/>
            </a:xfrm>
          </p:grpSpPr>
          <p:grpSp>
            <p:nvGrpSpPr>
              <p:cNvPr id="52" name="组合 51"/>
              <p:cNvGrpSpPr/>
              <p:nvPr/>
            </p:nvGrpSpPr>
            <p:grpSpPr>
              <a:xfrm>
                <a:off x="10267799" y="992260"/>
                <a:ext cx="2158229" cy="2315387"/>
                <a:chOff x="10071660" y="331193"/>
                <a:chExt cx="2158229" cy="2315387"/>
              </a:xfrm>
            </p:grpSpPr>
            <p:grpSp>
              <p:nvGrpSpPr>
                <p:cNvPr id="54" name="组合 53"/>
                <p:cNvGrpSpPr/>
                <p:nvPr/>
              </p:nvGrpSpPr>
              <p:grpSpPr>
                <a:xfrm flipV="1">
                  <a:off x="10071660" y="679922"/>
                  <a:ext cx="72408" cy="1966658"/>
                  <a:chOff x="11078" y="3016"/>
                  <a:chExt cx="330" cy="2937"/>
                </a:xfrm>
              </p:grpSpPr>
              <p:cxnSp>
                <p:nvCxnSpPr>
                  <p:cNvPr id="56" name="直接连接符 55"/>
                  <p:cNvCxnSpPr/>
                  <p:nvPr>
                    <p:custDataLst>
                      <p:tags r:id="rId8"/>
                    </p:custDataLst>
                  </p:nvPr>
                </p:nvCxnSpPr>
                <p:spPr>
                  <a:xfrm flipV="1">
                    <a:off x="11078" y="3026"/>
                    <a:ext cx="0" cy="2927"/>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custDataLst>
                      <p:tags r:id="rId9"/>
                    </p:custDataLst>
                  </p:nvPr>
                </p:nvCxnSpPr>
                <p:spPr>
                  <a:xfrm flipV="1">
                    <a:off x="11408" y="3016"/>
                    <a:ext cx="0" cy="29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5" name="TextBox 216"/>
                <p:cNvSpPr txBox="1">
                  <a:spLocks noChangeArrowheads="1"/>
                </p:cNvSpPr>
                <p:nvPr>
                  <p:custDataLst>
                    <p:tags r:id="rId7"/>
                  </p:custDataLst>
                </p:nvPr>
              </p:nvSpPr>
              <p:spPr bwMode="auto">
                <a:xfrm>
                  <a:off x="10214838" y="331193"/>
                  <a:ext cx="2015051" cy="1153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lang="en-US" altLang="zh-CN" sz="1400" dirty="0">
                      <a:solidFill>
                        <a:srgbClr val="FF0000"/>
                      </a:solidFill>
                      <a:ea typeface="+mn-ea"/>
                      <a:cs typeface="Calibri" panose="020F0502020204030204" charset="0"/>
                    </a:rPr>
                    <a:t>The clamp block is in contact with the edge strip of the connecting plate 3.8mm</a:t>
                  </a:r>
                </a:p>
                <a:p>
                  <a:pPr algn="ctr"/>
                  <a:endParaRPr lang="en-US" altLang="zh-CN" sz="1300" dirty="0">
                    <a:solidFill>
                      <a:srgbClr val="FF0000"/>
                    </a:solidFill>
                    <a:latin typeface="宋体" panose="02010600030101010101" pitchFamily="2" charset="-122"/>
                    <a:cs typeface="Calibri" panose="020F0502020204030204" charset="0"/>
                  </a:endParaRPr>
                </a:p>
              </p:txBody>
            </p:sp>
          </p:grpSp>
          <p:cxnSp>
            <p:nvCxnSpPr>
              <p:cNvPr id="53" name="直接箭头连接符 52"/>
              <p:cNvCxnSpPr/>
              <p:nvPr/>
            </p:nvCxnSpPr>
            <p:spPr>
              <a:xfrm flipH="1">
                <a:off x="10337188" y="1472280"/>
                <a:ext cx="277362"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pic>
        <p:nvPicPr>
          <p:cNvPr id="2" name="图片 1"/>
          <p:cNvPicPr>
            <a:picLocks noChangeAspect="1"/>
          </p:cNvPicPr>
          <p:nvPr>
            <p:custDataLst>
              <p:tags r:id="rId6"/>
            </p:custDataLst>
          </p:nvPr>
        </p:nvPicPr>
        <p:blipFill>
          <a:blip r:embed="rId21"/>
          <a:srcRect l="12021" t="1523" r="9833" b="4166"/>
          <a:stretch>
            <a:fillRect/>
          </a:stretch>
        </p:blipFill>
        <p:spPr>
          <a:xfrm>
            <a:off x="4422140" y="1703705"/>
            <a:ext cx="3632835" cy="37280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4"/>
          <a:stretch>
            <a:fillRect/>
          </a:stretch>
        </p:blipFill>
        <p:spPr>
          <a:xfrm>
            <a:off x="300990" y="1350010"/>
            <a:ext cx="4681855" cy="4158615"/>
          </a:xfrm>
          <a:prstGeom prst="rect">
            <a:avLst/>
          </a:prstGeom>
        </p:spPr>
      </p:pic>
      <p:sp>
        <p:nvSpPr>
          <p:cNvPr id="4" name="標題 1"/>
          <p:cNvSpPr txBox="1"/>
          <p:nvPr/>
        </p:nvSpPr>
        <p:spPr>
          <a:xfrm>
            <a:off x="741988" y="126478"/>
            <a:ext cx="9543610" cy="584701"/>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dirty="0">
                <a:sym typeface="+mn-ea"/>
              </a:rPr>
              <a:t>5</a:t>
            </a:r>
            <a:r>
              <a:rPr lang="en-US" altLang="zh-CN" noProof="0" dirty="0">
                <a:sym typeface="+mn-ea"/>
              </a:rPr>
              <a:t>.</a:t>
            </a:r>
            <a:r>
              <a:rPr lang="en-US" altLang="zh-CN" sz="2800" dirty="0">
                <a:sym typeface="+mn-ea"/>
              </a:rPr>
              <a:t> The key components</a:t>
            </a:r>
            <a:endParaRPr lang="en-US" altLang="zh-CN" dirty="0">
              <a:latin typeface="+mn-lt"/>
            </a:endParaRPr>
          </a:p>
        </p:txBody>
      </p:sp>
      <p:sp>
        <p:nvSpPr>
          <p:cNvPr id="21" name="文本框 20"/>
          <p:cNvSpPr txBox="1"/>
          <p:nvPr/>
        </p:nvSpPr>
        <p:spPr>
          <a:xfrm>
            <a:off x="301059" y="768252"/>
            <a:ext cx="3547041"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5.1 </a:t>
            </a:r>
            <a:r>
              <a:rPr lang="en-US" altLang="zh-CN" sz="1800" b="1" dirty="0">
                <a:solidFill>
                  <a:prstClr val="black"/>
                </a:solidFill>
                <a:latin typeface="Calibri" panose="020F0502020204030204" charset="0"/>
                <a:cs typeface="Calibri" panose="020F0502020204030204" charset="0"/>
                <a:sym typeface="+mn-ea"/>
              </a:rPr>
              <a:t>Feed conveyor line </a:t>
            </a:r>
            <a:endParaRPr lang="zh-CN" altLang="en-US" sz="1800" b="1" dirty="0"/>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12</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12289"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6" name="圆角矩形标注 6"/>
          <p:cNvSpPr/>
          <p:nvPr/>
        </p:nvSpPr>
        <p:spPr>
          <a:xfrm>
            <a:off x="1069992" y="5657638"/>
            <a:ext cx="2168507" cy="640080"/>
          </a:xfrm>
          <a:prstGeom prst="wedgeRoundRectCallout">
            <a:avLst>
              <a:gd name="adj1" fmla="val 11543"/>
              <a:gd name="adj2" fmla="val -127761"/>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B-side jacking plate(A6061)</a:t>
            </a:r>
          </a:p>
        </p:txBody>
      </p:sp>
      <p:cxnSp>
        <p:nvCxnSpPr>
          <p:cNvPr id="9" name="直接箭头连接符 8"/>
          <p:cNvCxnSpPr/>
          <p:nvPr/>
        </p:nvCxnSpPr>
        <p:spPr>
          <a:xfrm flipH="1">
            <a:off x="2529490" y="3176504"/>
            <a:ext cx="226060" cy="9836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5914667" y="1033875"/>
            <a:ext cx="5000625" cy="5316202"/>
            <a:chOff x="9787" y="1415"/>
            <a:chExt cx="7875" cy="8372"/>
          </a:xfrm>
        </p:grpSpPr>
        <p:pic>
          <p:nvPicPr>
            <p:cNvPr id="10" name="图片 9"/>
            <p:cNvPicPr>
              <a:picLocks noChangeAspect="1"/>
            </p:cNvPicPr>
            <p:nvPr/>
          </p:nvPicPr>
          <p:blipFill>
            <a:blip r:embed="rId5"/>
            <a:srcRect l="3503" t="4206" r="2820" b="4694"/>
            <a:stretch>
              <a:fillRect/>
            </a:stretch>
          </p:blipFill>
          <p:spPr>
            <a:xfrm>
              <a:off x="9972" y="1595"/>
              <a:ext cx="7440" cy="4483"/>
            </a:xfrm>
            <a:prstGeom prst="rect">
              <a:avLst/>
            </a:prstGeom>
          </p:spPr>
        </p:pic>
        <p:pic>
          <p:nvPicPr>
            <p:cNvPr id="7" name="图片 6"/>
            <p:cNvPicPr>
              <a:picLocks noChangeAspect="1"/>
            </p:cNvPicPr>
            <p:nvPr/>
          </p:nvPicPr>
          <p:blipFill>
            <a:blip r:embed="rId6"/>
            <a:srcRect t="19145"/>
            <a:stretch>
              <a:fillRect/>
            </a:stretch>
          </p:blipFill>
          <p:spPr>
            <a:xfrm>
              <a:off x="10092" y="6396"/>
              <a:ext cx="7320" cy="977"/>
            </a:xfrm>
            <a:prstGeom prst="rect">
              <a:avLst/>
            </a:prstGeom>
          </p:spPr>
        </p:pic>
        <p:grpSp>
          <p:nvGrpSpPr>
            <p:cNvPr id="38" name="组合 37"/>
            <p:cNvGrpSpPr/>
            <p:nvPr/>
          </p:nvGrpSpPr>
          <p:grpSpPr>
            <a:xfrm>
              <a:off x="9787" y="1415"/>
              <a:ext cx="7875" cy="8372"/>
              <a:chOff x="5499404" y="822470"/>
              <a:chExt cx="5000625" cy="5316202"/>
            </a:xfrm>
          </p:grpSpPr>
          <p:sp>
            <p:nvSpPr>
              <p:cNvPr id="112" name="矩形 111"/>
              <p:cNvSpPr/>
              <p:nvPr/>
            </p:nvSpPr>
            <p:spPr>
              <a:xfrm>
                <a:off x="5499404" y="822470"/>
                <a:ext cx="5000625" cy="4335145"/>
              </a:xfrm>
              <a:prstGeom prst="rect">
                <a:avLst/>
              </a:prstGeom>
              <a:noFill/>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3" name="圆角矩形标注 6"/>
              <p:cNvSpPr/>
              <p:nvPr/>
            </p:nvSpPr>
            <p:spPr>
              <a:xfrm>
                <a:off x="5762946" y="5344978"/>
                <a:ext cx="1703411" cy="793694"/>
              </a:xfrm>
              <a:prstGeom prst="wedgeRoundRectCallout">
                <a:avLst>
                  <a:gd name="adj1" fmla="val 13533"/>
                  <a:gd name="adj2" fmla="val -116016"/>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The TPYE-C port is </a:t>
                </a:r>
              </a:p>
              <a:p>
                <a:pPr algn="ctr"/>
                <a:r>
                  <a:rPr lang="en-US" altLang="zh-CN" sz="1200" dirty="0">
                    <a:sym typeface="+mn-ea"/>
                  </a:rPr>
                  <a:t>5.5mm from the front</a:t>
                </a:r>
              </a:p>
              <a:p>
                <a:pPr algn="ctr"/>
                <a:r>
                  <a:rPr lang="en-US" altLang="zh-CN" sz="1200" dirty="0">
                    <a:sym typeface="+mn-ea"/>
                  </a:rPr>
                  <a:t> of the avoidance slot</a:t>
                </a:r>
              </a:p>
            </p:txBody>
          </p:sp>
          <p:grpSp>
            <p:nvGrpSpPr>
              <p:cNvPr id="33" name="组合 32"/>
              <p:cNvGrpSpPr/>
              <p:nvPr/>
            </p:nvGrpSpPr>
            <p:grpSpPr>
              <a:xfrm>
                <a:off x="7108930" y="2954477"/>
                <a:ext cx="148023" cy="1860840"/>
                <a:chOff x="7502904" y="3279894"/>
                <a:chExt cx="148023" cy="1860840"/>
              </a:xfrm>
            </p:grpSpPr>
            <p:cxnSp>
              <p:nvCxnSpPr>
                <p:cNvPr id="34" name="直接连接符 28"/>
                <p:cNvCxnSpPr/>
                <p:nvPr/>
              </p:nvCxnSpPr>
              <p:spPr>
                <a:xfrm>
                  <a:off x="7502904" y="3279894"/>
                  <a:ext cx="0" cy="1835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27"/>
                <p:cNvCxnSpPr/>
                <p:nvPr/>
              </p:nvCxnSpPr>
              <p:spPr>
                <a:xfrm flipH="1" flipV="1">
                  <a:off x="7646866" y="3305294"/>
                  <a:ext cx="4061" cy="1835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6" name="直接箭头连接符 35"/>
              <p:cNvCxnSpPr/>
              <p:nvPr/>
            </p:nvCxnSpPr>
            <p:spPr>
              <a:xfrm flipH="1">
                <a:off x="6802769" y="4761304"/>
                <a:ext cx="305978" cy="0"/>
              </a:xfrm>
              <a:prstGeom prst="straightConnector1">
                <a:avLst/>
              </a:prstGeom>
              <a:ln>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7" name="文本框 35"/>
              <p:cNvSpPr txBox="1"/>
              <p:nvPr/>
            </p:nvSpPr>
            <p:spPr>
              <a:xfrm>
                <a:off x="6494695" y="4543647"/>
                <a:ext cx="571500" cy="245110"/>
              </a:xfrm>
              <a:prstGeom prst="rect">
                <a:avLst/>
              </a:prstGeom>
              <a:noFill/>
            </p:spPr>
            <p:txBody>
              <a:bodyPr wrap="none" rtlCol="0">
                <a:spAutoFit/>
              </a:bodyPr>
              <a:lstStyle/>
              <a:p>
                <a:r>
                  <a:rPr lang="en-US" altLang="zh-CN" sz="1000" dirty="0">
                    <a:solidFill>
                      <a:srgbClr val="FF0000"/>
                    </a:solidFill>
                  </a:rPr>
                  <a:t>5.5mm</a:t>
                </a: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a:srcRect l="6385" t="5002" r="2907" b="7917"/>
          <a:stretch>
            <a:fillRect/>
          </a:stretch>
        </p:blipFill>
        <p:spPr>
          <a:xfrm>
            <a:off x="395331" y="1212749"/>
            <a:ext cx="4981191" cy="2629304"/>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dirty="0">
                <a:sym typeface="+mn-ea"/>
              </a:rPr>
              <a:t>5</a:t>
            </a:r>
            <a:r>
              <a:rPr lang="en-US" altLang="zh-CN" noProof="0" dirty="0">
                <a:sym typeface="+mn-ea"/>
              </a:rPr>
              <a:t>. The key components</a:t>
            </a:r>
            <a:endParaRPr lang="en-US" altLang="zh-CN" dirty="0">
              <a:latin typeface="+mn-lt"/>
            </a:endParaRPr>
          </a:p>
        </p:txBody>
      </p:sp>
      <p:sp>
        <p:nvSpPr>
          <p:cNvPr id="21" name="文本框 20"/>
          <p:cNvSpPr txBox="1"/>
          <p:nvPr/>
        </p:nvSpPr>
        <p:spPr>
          <a:xfrm>
            <a:off x="301059" y="768252"/>
            <a:ext cx="3706737"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pPr>
              <a:defRPr/>
            </a:pPr>
            <a:r>
              <a:rPr lang="en-US" altLang="zh-CN" sz="1800" b="1" dirty="0">
                <a:sym typeface="+mn-ea"/>
              </a:rPr>
              <a:t>5</a:t>
            </a:r>
            <a:r>
              <a:rPr lang="en-US" altLang="zh-CN" sz="1800" b="1" dirty="0">
                <a:solidFill>
                  <a:schemeClr val="tx1"/>
                </a:solidFill>
                <a:sym typeface="+mn-ea"/>
              </a:rPr>
              <a:t>.2 </a:t>
            </a:r>
            <a:r>
              <a:rPr lang="en-US" altLang="zh-CN" sz="1800" b="1" dirty="0">
                <a:solidFill>
                  <a:schemeClr val="tx1"/>
                </a:solidFill>
                <a:latin typeface="Calibri" panose="020F0502020204030204" charset="0"/>
                <a:ea typeface="微软雅黑" panose="020B0503020204020204" pitchFamily="34" charset="-122"/>
                <a:cs typeface="Calibri" panose="020F0502020204030204" charset="0"/>
                <a:sym typeface="Gill Sans"/>
              </a:rPr>
              <a:t>TABLE Load transfer component</a:t>
            </a:r>
          </a:p>
        </p:txBody>
      </p:sp>
      <p:sp>
        <p:nvSpPr>
          <p:cNvPr id="9" name="TextBox 216"/>
          <p:cNvSpPr txBox="1">
            <a:spLocks noChangeArrowheads="1"/>
          </p:cNvSpPr>
          <p:nvPr/>
        </p:nvSpPr>
        <p:spPr bwMode="auto">
          <a:xfrm>
            <a:off x="203555" y="1191761"/>
            <a:ext cx="1097033" cy="585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dirty="0">
                <a:latin typeface="+mn-lt"/>
              </a:rPr>
              <a:t>X-axis slide table</a:t>
            </a:r>
          </a:p>
        </p:txBody>
      </p:sp>
      <p:sp>
        <p:nvSpPr>
          <p:cNvPr id="22" name="TextBox 216"/>
          <p:cNvSpPr txBox="1">
            <a:spLocks noChangeArrowheads="1"/>
          </p:cNvSpPr>
          <p:nvPr/>
        </p:nvSpPr>
        <p:spPr bwMode="auto">
          <a:xfrm>
            <a:off x="1607951" y="3895667"/>
            <a:ext cx="1989225" cy="32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Heat dissipation valve</a:t>
            </a:r>
          </a:p>
        </p:txBody>
      </p:sp>
      <p:sp>
        <p:nvSpPr>
          <p:cNvPr id="24" name="TextBox 216"/>
          <p:cNvSpPr txBox="1">
            <a:spLocks noChangeArrowheads="1"/>
          </p:cNvSpPr>
          <p:nvPr/>
        </p:nvSpPr>
        <p:spPr bwMode="auto">
          <a:xfrm>
            <a:off x="5049405" y="1917590"/>
            <a:ext cx="1581678" cy="32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dirty="0">
                <a:solidFill>
                  <a:schemeClr val="tx1"/>
                </a:solidFill>
                <a:latin typeface="+mn-lt"/>
              </a:rPr>
              <a:t>Y-axis slide table</a:t>
            </a:r>
          </a:p>
        </p:txBody>
      </p:sp>
      <p:sp>
        <p:nvSpPr>
          <p:cNvPr id="42" name="TextBox 216"/>
          <p:cNvSpPr>
            <a:spLocks noChangeArrowheads="1"/>
          </p:cNvSpPr>
          <p:nvPr/>
        </p:nvSpPr>
        <p:spPr bwMode="auto">
          <a:xfrm>
            <a:off x="4586036" y="961212"/>
            <a:ext cx="1458595" cy="585417"/>
          </a:xfrm>
          <a:prstGeom prst="rect">
            <a:avLst/>
          </a:prstGeom>
          <a:ln w="28575">
            <a:no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Vacuum negative pressure gauge</a:t>
            </a:r>
          </a:p>
        </p:txBody>
      </p:sp>
      <p:sp>
        <p:nvSpPr>
          <p:cNvPr id="43" name="文字方塊 21"/>
          <p:cNvSpPr txBox="1"/>
          <p:nvPr/>
        </p:nvSpPr>
        <p:spPr bwMode="auto">
          <a:xfrm>
            <a:off x="249555" y="5932169"/>
            <a:ext cx="3347622" cy="461665"/>
          </a:xfrm>
          <a:prstGeom prst="rect">
            <a:avLst/>
          </a:prstGeom>
          <a:noFill/>
          <a:ln>
            <a:noFill/>
          </a:ln>
        </p:spPr>
        <p:txBody>
          <a:bodyPr wrap="square" rtlCol="0">
            <a:spAutoFit/>
          </a:bodyPr>
          <a:lstStyle/>
          <a:p>
            <a:pPr>
              <a:spcBef>
                <a:spcPct val="0"/>
              </a:spcBef>
            </a:pPr>
            <a:r>
              <a:rPr lang="en-US" altLang="zh-CN" sz="1200" dirty="0">
                <a:latin typeface="Arial" panose="020B0604020202020204" pitchFamily="34" charset="0"/>
                <a:ea typeface="微软雅黑" panose="020B0503020204020204" pitchFamily="34" charset="-122"/>
              </a:rPr>
              <a:t>Main structure: sliding table, Heat dissipation valve, CCD, perambulator</a:t>
            </a:r>
            <a:endParaRPr lang="zh-CN" altLang="en-US" sz="1200" dirty="0">
              <a:latin typeface="Arial" panose="020B0604020202020204" pitchFamily="34" charset="0"/>
              <a:ea typeface="微软雅黑" panose="020B0503020204020204" pitchFamily="34" charset="-122"/>
            </a:endParaRPr>
          </a:p>
        </p:txBody>
      </p:sp>
      <p:sp>
        <p:nvSpPr>
          <p:cNvPr id="10" name="TextBox 216"/>
          <p:cNvSpPr txBox="1">
            <a:spLocks noChangeArrowheads="1"/>
          </p:cNvSpPr>
          <p:nvPr/>
        </p:nvSpPr>
        <p:spPr bwMode="auto">
          <a:xfrm>
            <a:off x="767345" y="3915451"/>
            <a:ext cx="761365" cy="585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cs typeface="Calibri" panose="020F0502020204030204" charset="0"/>
                <a:sym typeface="+mn-ea"/>
              </a:rPr>
              <a:t>Upper </a:t>
            </a:r>
            <a:r>
              <a:rPr lang="en-US" altLang="zh-CN" sz="1300" dirty="0">
                <a:latin typeface="+mn-lt"/>
                <a:sym typeface="+mn-ea"/>
              </a:rPr>
              <a:t>CCD</a:t>
            </a:r>
            <a:endParaRPr lang="zh-CN" altLang="en-US" sz="1300" dirty="0">
              <a:latin typeface="+mn-lt"/>
            </a:endParaRPr>
          </a:p>
        </p:txBody>
      </p:sp>
      <p:sp>
        <p:nvSpPr>
          <p:cNvPr id="11" name="Shape 78"/>
          <p:cNvSpPr/>
          <p:nvPr/>
        </p:nvSpPr>
        <p:spPr>
          <a:xfrm rot="10800000" flipV="1">
            <a:off x="4145279" y="2118361"/>
            <a:ext cx="1047031" cy="609916"/>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cxnSp>
        <p:nvCxnSpPr>
          <p:cNvPr id="13" name="肘形连接符 12"/>
          <p:cNvCxnSpPr>
            <a:stCxn id="10" idx="0"/>
          </p:cNvCxnSpPr>
          <p:nvPr/>
        </p:nvCxnSpPr>
        <p:spPr>
          <a:xfrm rot="5400000" flipH="1" flipV="1">
            <a:off x="1219986" y="2890375"/>
            <a:ext cx="953118" cy="1097034"/>
          </a:xfrm>
          <a:prstGeom prst="bentConnector2">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5" name="Shape 78"/>
          <p:cNvSpPr/>
          <p:nvPr/>
        </p:nvSpPr>
        <p:spPr>
          <a:xfrm flipH="1">
            <a:off x="651758" y="1808019"/>
            <a:ext cx="0" cy="1343613"/>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cxnSp>
        <p:nvCxnSpPr>
          <p:cNvPr id="16" name="肘形连接符 15"/>
          <p:cNvCxnSpPr/>
          <p:nvPr/>
        </p:nvCxnSpPr>
        <p:spPr>
          <a:xfrm rot="10800000" flipV="1">
            <a:off x="2518570" y="1245024"/>
            <a:ext cx="2099788" cy="663684"/>
          </a:xfrm>
          <a:prstGeom prst="bentConnector3">
            <a:avLst>
              <a:gd name="adj1" fmla="val 5000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5" name="肘形连接符 4"/>
          <p:cNvCxnSpPr>
            <a:stCxn id="22" idx="0"/>
          </p:cNvCxnSpPr>
          <p:nvPr/>
        </p:nvCxnSpPr>
        <p:spPr>
          <a:xfrm rot="5400000" flipH="1" flipV="1">
            <a:off x="2177055" y="3371800"/>
            <a:ext cx="949376" cy="98358"/>
          </a:xfrm>
          <a:prstGeom prst="bentConnector3">
            <a:avLst>
              <a:gd name="adj1" fmla="val 5000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aphicFrame>
        <p:nvGraphicFramePr>
          <p:cNvPr id="7" name="表格 6"/>
          <p:cNvGraphicFramePr>
            <a:graphicFrameLocks noGrp="1"/>
          </p:cNvGraphicFramePr>
          <p:nvPr>
            <p:custDataLst>
              <p:tags r:id="rId1"/>
            </p:custDataLst>
          </p:nvPr>
        </p:nvGraphicFramePr>
        <p:xfrm>
          <a:off x="7630160" y="3800793"/>
          <a:ext cx="3910115" cy="2743200"/>
        </p:xfrm>
        <a:graphic>
          <a:graphicData uri="http://schemas.openxmlformats.org/drawingml/2006/table">
            <a:tbl>
              <a:tblPr firstRow="1" bandRow="1">
                <a:tableStyleId>{5C22544A-7EE6-4342-B048-85BDC9FD1C3A}</a:tableStyleId>
              </a:tblPr>
              <a:tblGrid>
                <a:gridCol w="1482725">
                  <a:extLst>
                    <a:ext uri="{9D8B030D-6E8A-4147-A177-3AD203B41FA5}">
                      <a16:colId xmlns:a16="http://schemas.microsoft.com/office/drawing/2014/main" val="20000"/>
                    </a:ext>
                  </a:extLst>
                </a:gridCol>
                <a:gridCol w="2427390">
                  <a:extLst>
                    <a:ext uri="{9D8B030D-6E8A-4147-A177-3AD203B41FA5}">
                      <a16:colId xmlns:a16="http://schemas.microsoft.com/office/drawing/2014/main" val="20001"/>
                    </a:ext>
                  </a:extLst>
                </a:gridCol>
              </a:tblGrid>
              <a:tr h="27360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pitchFamily="34" charset="-122"/>
                          <a:ea typeface="微软雅黑" panose="020B0503020204020204" pitchFamily="34" charset="-122"/>
                        </a:rPr>
                        <a:t>Y-axis transfer</a:t>
                      </a: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Type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kern="1200" cap="none" dirty="0">
                          <a:solidFill>
                            <a:schemeClr val="dk1"/>
                          </a:solidFill>
                          <a:latin typeface="微软雅黑" panose="020B0503020204020204" pitchFamily="34" charset="-122"/>
                          <a:ea typeface="微软雅黑" panose="020B0503020204020204" pitchFamily="34" charset="-122"/>
                          <a:cs typeface="+mn-cs"/>
                          <a:sym typeface="+mn-ea"/>
                        </a:rPr>
                        <a:t>ETH14-L32-500-BC-S40-A2</a:t>
                      </a:r>
                      <a:endParaRPr lang="en-US" altLang="zh-CN" sz="1200" b="0" i="0" u="none" strike="noStrike" kern="1200" cap="none"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274320">
                <a:tc>
                  <a:txBody>
                    <a:bodyPr/>
                    <a:lstStyle/>
                    <a:p>
                      <a:pPr algn="l"/>
                      <a:r>
                        <a:rPr lang="en-US" altLang="zh-CN" sz="1200" dirty="0">
                          <a:latin typeface="微软雅黑" panose="020B0503020204020204" pitchFamily="34" charset="-122"/>
                          <a:ea typeface="微软雅黑" panose="020B0503020204020204" pitchFamily="34" charset="-122"/>
                        </a:rPr>
                        <a:t>Brand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repeatability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360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Travel</a:t>
                      </a:r>
                      <a:r>
                        <a:rPr lang="en-US" altLang="zh-CN" sz="1200" baseline="0" dirty="0">
                          <a:latin typeface="微软雅黑" panose="020B0503020204020204" pitchFamily="34" charset="-122"/>
                          <a:ea typeface="微软雅黑" panose="020B0503020204020204" pitchFamily="34" charset="-122"/>
                        </a:rPr>
                        <a:t> distance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500mm</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Max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1600mm/s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Work</a:t>
                      </a:r>
                      <a:r>
                        <a:rPr lang="en-US" altLang="zh-CN" sz="1200" baseline="0" dirty="0">
                          <a:latin typeface="微软雅黑" panose="020B0503020204020204" pitchFamily="34" charset="-122"/>
                          <a:ea typeface="微软雅黑" panose="020B0503020204020204" pitchFamily="34" charset="-122"/>
                        </a:rPr>
                        <a:t>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1280mm/s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Maximum load</a:t>
                      </a: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15kg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Work load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10.5kg</a:t>
                      </a:r>
                    </a:p>
                  </a:txBody>
                  <a:tcPr anchor="ctr"/>
                </a:tc>
                <a:extLst>
                  <a:ext uri="{0D108BD9-81ED-4DB2-BD59-A6C34878D82A}">
                    <a16:rowId xmlns:a16="http://schemas.microsoft.com/office/drawing/2014/main" val="10009"/>
                  </a:ext>
                </a:extLst>
              </a:tr>
            </a:tbl>
          </a:graphicData>
        </a:graphic>
      </p:graphicFrame>
      <p:graphicFrame>
        <p:nvGraphicFramePr>
          <p:cNvPr id="12" name="表格 11"/>
          <p:cNvGraphicFramePr>
            <a:graphicFrameLocks noGrp="1"/>
          </p:cNvGraphicFramePr>
          <p:nvPr>
            <p:custDataLst>
              <p:tags r:id="rId2"/>
            </p:custDataLst>
          </p:nvPr>
        </p:nvGraphicFramePr>
        <p:xfrm>
          <a:off x="7629843" y="849630"/>
          <a:ext cx="3910399" cy="2743200"/>
        </p:xfrm>
        <a:graphic>
          <a:graphicData uri="http://schemas.openxmlformats.org/drawingml/2006/table">
            <a:tbl>
              <a:tblPr firstRow="1" bandRow="1">
                <a:tableStyleId>{5C22544A-7EE6-4342-B048-85BDC9FD1C3A}</a:tableStyleId>
              </a:tblPr>
              <a:tblGrid>
                <a:gridCol w="1501775">
                  <a:extLst>
                    <a:ext uri="{9D8B030D-6E8A-4147-A177-3AD203B41FA5}">
                      <a16:colId xmlns:a16="http://schemas.microsoft.com/office/drawing/2014/main" val="20000"/>
                    </a:ext>
                  </a:extLst>
                </a:gridCol>
                <a:gridCol w="2408624">
                  <a:extLst>
                    <a:ext uri="{9D8B030D-6E8A-4147-A177-3AD203B41FA5}">
                      <a16:colId xmlns:a16="http://schemas.microsoft.com/office/drawing/2014/main" val="20001"/>
                    </a:ext>
                  </a:extLst>
                </a:gridCol>
              </a:tblGrid>
              <a:tr h="27360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pitchFamily="34" charset="-122"/>
                          <a:ea typeface="微软雅黑" panose="020B0503020204020204" pitchFamily="34" charset="-122"/>
                          <a:sym typeface="+mn-ea"/>
                        </a:rPr>
                        <a:t>X-axis transfer</a:t>
                      </a: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Type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kern="1200" cap="none" dirty="0">
                          <a:solidFill>
                            <a:schemeClr val="dk1"/>
                          </a:solidFill>
                          <a:latin typeface="微软雅黑" panose="020B0503020204020204" pitchFamily="34" charset="-122"/>
                          <a:ea typeface="微软雅黑" panose="020B0503020204020204" pitchFamily="34" charset="-122"/>
                          <a:cs typeface="+mn-cs"/>
                          <a:sym typeface="+mn-ea"/>
                        </a:rPr>
                        <a:t>GTH8-L20-400-BC-S20-C4</a:t>
                      </a:r>
                      <a:endParaRPr lang="en-US" altLang="zh-CN" sz="1200" b="0" i="0" u="none" strike="noStrike" kern="1200" cap="none"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Brand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4320">
                <a:tc>
                  <a:txBody>
                    <a:bodyPr/>
                    <a:lstStyle/>
                    <a:p>
                      <a:pPr algn="l"/>
                      <a:r>
                        <a:rPr lang="en-US" altLang="zh-CN" sz="1200" dirty="0">
                          <a:latin typeface="微软雅黑" panose="020B0503020204020204" pitchFamily="34" charset="-122"/>
                          <a:ea typeface="微软雅黑" panose="020B0503020204020204" pitchFamily="34" charset="-122"/>
                        </a:rPr>
                        <a:t>repeatability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432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dirty="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Travel</a:t>
                      </a:r>
                      <a:r>
                        <a:rPr lang="en-US" altLang="zh-CN" sz="1200" baseline="0" dirty="0">
                          <a:latin typeface="微软雅黑" panose="020B0503020204020204" pitchFamily="34" charset="-122"/>
                          <a:ea typeface="微软雅黑" panose="020B0503020204020204" pitchFamily="34" charset="-122"/>
                        </a:rPr>
                        <a:t> distance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250mm</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4320">
                <a:tc>
                  <a:txBody>
                    <a:bodyPr/>
                    <a:lstStyle/>
                    <a:p>
                      <a:pPr algn="l"/>
                      <a:r>
                        <a:rPr lang="en-US" altLang="zh-CN" sz="1200" dirty="0">
                          <a:latin typeface="微软雅黑" panose="020B0503020204020204" pitchFamily="34" charset="-122"/>
                          <a:ea typeface="微软雅黑" panose="020B0503020204020204" pitchFamily="34" charset="-122"/>
                        </a:rPr>
                        <a:t>Max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1000mm/s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Work</a:t>
                      </a:r>
                      <a:r>
                        <a:rPr lang="en-US" altLang="zh-CN" sz="1200" baseline="0" dirty="0">
                          <a:latin typeface="微软雅黑" panose="020B0503020204020204" pitchFamily="34" charset="-122"/>
                          <a:ea typeface="微软雅黑" panose="020B0503020204020204" pitchFamily="34" charset="-122"/>
                        </a:rPr>
                        <a:t>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800mm/s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Maximum load</a:t>
                      </a: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18kg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r h="163272">
                <a:tc>
                  <a:txBody>
                    <a:bodyPr/>
                    <a:lstStyle/>
                    <a:p>
                      <a:pPr algn="l"/>
                      <a:r>
                        <a:rPr lang="en-US" altLang="zh-CN" sz="1200" dirty="0">
                          <a:latin typeface="微软雅黑" panose="020B0503020204020204" pitchFamily="34" charset="-122"/>
                          <a:ea typeface="微软雅黑" panose="020B0503020204020204" pitchFamily="34" charset="-122"/>
                        </a:rPr>
                        <a:t>Work load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8Kg</a:t>
                      </a:r>
                    </a:p>
                  </a:txBody>
                  <a:tcPr anchor="ctr"/>
                </a:tc>
                <a:extLst>
                  <a:ext uri="{0D108BD9-81ED-4DB2-BD59-A6C34878D82A}">
                    <a16:rowId xmlns:a16="http://schemas.microsoft.com/office/drawing/2014/main" val="10009"/>
                  </a:ext>
                </a:extLst>
              </a:tr>
            </a:tbl>
          </a:graphicData>
        </a:graphic>
      </p:graphicFrame>
      <p:sp>
        <p:nvSpPr>
          <p:cNvPr id="14" name="灯片编号占位符 3"/>
          <p:cNvSpPr>
            <a:spLocks noGrp="1" noChangeArrowheads="1"/>
          </p:cNvSpPr>
          <p:nvPr>
            <p:custDataLst>
              <p:tags r:id="rId3"/>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13</a:t>
            </a:fld>
            <a:endParaRPr lang="zh-TW" altLang="en-US" sz="1400">
              <a:solidFill>
                <a:srgbClr val="898989"/>
              </a:solidFill>
              <a:latin typeface="Arial" panose="020B0604020202020204" pitchFamily="34" charset="0"/>
              <a:ea typeface="微软雅黑" panose="020B0503020204020204" pitchFamily="34" charset="-122"/>
            </a:endParaRPr>
          </a:p>
        </p:txBody>
      </p:sp>
      <p:graphicFrame>
        <p:nvGraphicFramePr>
          <p:cNvPr id="17" name="表格 16"/>
          <p:cNvGraphicFramePr>
            <a:graphicFrameLocks noGrp="1"/>
          </p:cNvGraphicFramePr>
          <p:nvPr>
            <p:custDataLst>
              <p:tags r:id="rId4"/>
            </p:custDataLst>
          </p:nvPr>
        </p:nvGraphicFramePr>
        <p:xfrm>
          <a:off x="3557905" y="3800793"/>
          <a:ext cx="3910115" cy="2743200"/>
        </p:xfrm>
        <a:graphic>
          <a:graphicData uri="http://schemas.openxmlformats.org/drawingml/2006/table">
            <a:tbl>
              <a:tblPr firstRow="1" bandRow="1">
                <a:tableStyleId>{5C22544A-7EE6-4342-B048-85BDC9FD1C3A}</a:tableStyleId>
              </a:tblPr>
              <a:tblGrid>
                <a:gridCol w="1482725">
                  <a:extLst>
                    <a:ext uri="{9D8B030D-6E8A-4147-A177-3AD203B41FA5}">
                      <a16:colId xmlns:a16="http://schemas.microsoft.com/office/drawing/2014/main" val="20000"/>
                    </a:ext>
                  </a:extLst>
                </a:gridCol>
                <a:gridCol w="2427390">
                  <a:extLst>
                    <a:ext uri="{9D8B030D-6E8A-4147-A177-3AD203B41FA5}">
                      <a16:colId xmlns:a16="http://schemas.microsoft.com/office/drawing/2014/main" val="20001"/>
                    </a:ext>
                  </a:extLst>
                </a:gridCol>
              </a:tblGrid>
              <a:tr h="27360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pitchFamily="34" charset="-122"/>
                          <a:ea typeface="微软雅黑" panose="020B0503020204020204" pitchFamily="34" charset="-122"/>
                        </a:rPr>
                        <a:t>Z-axis transfer</a:t>
                      </a: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Type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sz="1200" dirty="0">
                          <a:sym typeface="+mn-ea"/>
                        </a:rPr>
                        <a:t>GTH8-L10-50-BC-S40B-C4</a:t>
                      </a:r>
                      <a:endParaRPr lang="en-US" altLang="zh-CN"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1"/>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Brand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repeatability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360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dirty="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Travel</a:t>
                      </a:r>
                      <a:r>
                        <a:rPr lang="en-US" altLang="zh-CN" sz="1200" baseline="0" dirty="0">
                          <a:latin typeface="微软雅黑" panose="020B0503020204020204" pitchFamily="34" charset="-122"/>
                          <a:ea typeface="微软雅黑" panose="020B0503020204020204" pitchFamily="34" charset="-122"/>
                        </a:rPr>
                        <a:t> distance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250mm</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Max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1000mm/s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Work</a:t>
                      </a:r>
                      <a:r>
                        <a:rPr lang="en-US" altLang="zh-CN" sz="1200" baseline="0" dirty="0">
                          <a:latin typeface="微软雅黑" panose="020B0503020204020204" pitchFamily="34" charset="-122"/>
                          <a:ea typeface="微软雅黑" panose="020B0503020204020204" pitchFamily="34" charset="-122"/>
                        </a:rPr>
                        <a:t>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800mm/s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Maximum load</a:t>
                      </a: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18kg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r h="0">
                <a:tc>
                  <a:txBody>
                    <a:bodyPr/>
                    <a:lstStyle/>
                    <a:p>
                      <a:pPr algn="l"/>
                      <a:r>
                        <a:rPr lang="en-US" altLang="zh-CN" sz="1200" dirty="0">
                          <a:latin typeface="微软雅黑" panose="020B0503020204020204" pitchFamily="34" charset="-122"/>
                          <a:ea typeface="微软雅黑" panose="020B0503020204020204" pitchFamily="34" charset="-122"/>
                        </a:rPr>
                        <a:t>Work load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3kg</a:t>
                      </a:r>
                    </a:p>
                  </a:txBody>
                  <a:tcPr anchor="ctr"/>
                </a:tc>
                <a:extLst>
                  <a:ext uri="{0D108BD9-81ED-4DB2-BD59-A6C34878D82A}">
                    <a16:rowId xmlns:a16="http://schemas.microsoft.com/office/drawing/2014/main" val="10009"/>
                  </a:ext>
                </a:extLst>
              </a:tr>
            </a:tbl>
          </a:graphicData>
        </a:graphic>
      </p:graphicFrame>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表格&#10;&#10;描述已自动生成"/>
          <p:cNvPicPr>
            <a:picLocks noGrp="1" noRot="1" noChangeAspect="1" noMove="1" noResize="1" noEditPoints="1" noAdjustHandles="1" noChangeArrowheads="1" noChangeShapeType="1" noCrop="1"/>
          </p:cNvPicPr>
          <p:nvPr/>
        </p:nvPicPr>
        <p:blipFill>
          <a:blip r:embed="rId13">
            <a:extLst>
              <a:ext uri="{28A0092B-C50C-407E-A947-70E740481C1C}">
                <a14:useLocalDpi xmlns:a14="http://schemas.microsoft.com/office/drawing/2010/main" val="0"/>
              </a:ext>
            </a:extLst>
          </a:blip>
          <a:stretch>
            <a:fillRect/>
          </a:stretch>
        </p:blipFill>
        <p:spPr>
          <a:xfrm>
            <a:off x="467098" y="1723787"/>
            <a:ext cx="5716090" cy="4110948"/>
          </a:xfrm>
          <a:prstGeom prst="rect">
            <a:avLst/>
          </a:prstGeom>
        </p:spPr>
      </p:pic>
      <p:pic>
        <p:nvPicPr>
          <p:cNvPr id="8" name="图片 7"/>
          <p:cNvPicPr>
            <a:picLocks noGrp="1" noRot="1" noChangeAspect="1" noMove="1" noResize="1" noEditPoints="1" noAdjustHandles="1" noChangeArrowheads="1" noChangeShapeType="1" noCrop="1"/>
          </p:cNvPicPr>
          <p:nvPr/>
        </p:nvPicPr>
        <p:blipFill>
          <a:blip r:embed="rId14"/>
          <a:srcRect l="2869" t="3891"/>
          <a:stretch>
            <a:fillRect/>
          </a:stretch>
        </p:blipFill>
        <p:spPr>
          <a:xfrm>
            <a:off x="6279619" y="1783341"/>
            <a:ext cx="5737050" cy="3991839"/>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dirty="0">
                <a:sym typeface="+mn-ea"/>
              </a:rPr>
              <a:t>5</a:t>
            </a:r>
            <a:r>
              <a:rPr lang="en-US" altLang="zh-CN" noProof="0" dirty="0">
                <a:sym typeface="+mn-ea"/>
              </a:rPr>
              <a:t>. The key components</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14</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11268" name="矩形 5"/>
          <p:cNvSpPr/>
          <p:nvPr>
            <p:custDataLst>
              <p:tags r:id="rId2"/>
            </p:custDataLst>
          </p:nvPr>
        </p:nvSpPr>
        <p:spPr>
          <a:xfrm>
            <a:off x="7478713" y="1354455"/>
            <a:ext cx="3247492" cy="369332"/>
          </a:xfrm>
          <a:prstGeom prst="rect">
            <a:avLst/>
          </a:prstGeom>
          <a:noFill/>
          <a:ln w="9525">
            <a:noFill/>
          </a:ln>
        </p:spPr>
        <p:txBody>
          <a:bodyPr wrap="none">
            <a:spAutoFit/>
          </a:bodyPr>
          <a:lstStyle/>
          <a:p>
            <a:pPr marL="0" indent="0" algn="l">
              <a:buNone/>
            </a:pPr>
            <a:r>
              <a:rPr lang="en-US" altLang="zh-CN" sz="1800" dirty="0">
                <a:solidFill>
                  <a:srgbClr val="000000"/>
                </a:solidFill>
                <a:latin typeface="Calibri" panose="020F0502020204030204" charset="0"/>
                <a:ea typeface="微软雅黑" panose="020B0503020204020204" pitchFamily="34" charset="-122"/>
                <a:cs typeface="Calibri" panose="020F0502020204030204" charset="0"/>
              </a:rPr>
              <a:t>Y-axis </a:t>
            </a:r>
            <a:r>
              <a:rPr lang="en-US" sz="1800" dirty="0">
                <a:latin typeface="Calibri" panose="020F0502020204030204" charset="0"/>
                <a:ea typeface="微软雅黑" panose="020B0503020204020204" pitchFamily="34" charset="-122"/>
                <a:cs typeface="Calibri" panose="020F0502020204030204" charset="0"/>
                <a:sym typeface="+mn-ea"/>
              </a:rPr>
              <a:t>ETH14-L32-500-BC-S40-A2</a:t>
            </a:r>
            <a:endParaRPr lang="en-US" altLang="zh-CN" sz="1800" dirty="0">
              <a:solidFill>
                <a:srgbClr val="000000"/>
              </a:solidFill>
              <a:latin typeface="Calibri" panose="020F0502020204030204" charset="0"/>
              <a:ea typeface="微软雅黑" panose="020B0503020204020204" pitchFamily="34" charset="-122"/>
              <a:cs typeface="Calibri" panose="020F0502020204030204" charset="0"/>
            </a:endParaRPr>
          </a:p>
        </p:txBody>
      </p:sp>
      <p:sp>
        <p:nvSpPr>
          <p:cNvPr id="11269" name="矩形 6"/>
          <p:cNvSpPr/>
          <p:nvPr>
            <p:custDataLst>
              <p:tags r:id="rId3"/>
            </p:custDataLst>
          </p:nvPr>
        </p:nvSpPr>
        <p:spPr>
          <a:xfrm>
            <a:off x="1240411" y="1340168"/>
            <a:ext cx="3247492" cy="369332"/>
          </a:xfrm>
          <a:prstGeom prst="rect">
            <a:avLst/>
          </a:prstGeom>
          <a:noFill/>
          <a:ln w="9525">
            <a:noFill/>
          </a:ln>
        </p:spPr>
        <p:txBody>
          <a:bodyPr wrap="square">
            <a:spAutoFit/>
          </a:bodyPr>
          <a:lstStyle/>
          <a:p>
            <a:pPr algn="l">
              <a:buClrTx/>
              <a:buSzTx/>
              <a:buFontTx/>
            </a:pPr>
            <a:r>
              <a:rPr lang="en-US" altLang="zh-CN" sz="1800" dirty="0">
                <a:solidFill>
                  <a:srgbClr val="000000"/>
                </a:solidFill>
                <a:latin typeface="Calibri" panose="020F0502020204030204" charset="0"/>
                <a:ea typeface="微软雅黑" panose="020B0503020204020204" pitchFamily="34" charset="-122"/>
                <a:cs typeface="Calibri" panose="020F0502020204030204" charset="0"/>
              </a:rPr>
              <a:t>X -axis  </a:t>
            </a:r>
            <a:r>
              <a:rPr lang="en-US" altLang="zh-CN" dirty="0">
                <a:solidFill>
                  <a:srgbClr val="000000"/>
                </a:solidFill>
                <a:latin typeface="Calibri" panose="020F0502020204030204" charset="0"/>
                <a:ea typeface="微软雅黑" panose="020B0503020204020204" pitchFamily="34" charset="-122"/>
                <a:cs typeface="Calibri" panose="020F0502020204030204" charset="0"/>
                <a:sym typeface="+mn-ea"/>
              </a:rPr>
              <a:t>GTH8-L20-400-BC-S20-C4</a:t>
            </a:r>
            <a:endParaRPr lang="en-US" altLang="zh-CN" sz="1800" dirty="0">
              <a:solidFill>
                <a:srgbClr val="000000"/>
              </a:solidFill>
              <a:latin typeface="Calibri" panose="020F0502020204030204" charset="0"/>
              <a:ea typeface="微软雅黑" panose="020B0503020204020204" pitchFamily="34" charset="-122"/>
              <a:cs typeface="Calibri" panose="020F0502020204030204" charset="0"/>
              <a:sym typeface="+mn-ea"/>
            </a:endParaRPr>
          </a:p>
        </p:txBody>
      </p:sp>
      <p:sp>
        <p:nvSpPr>
          <p:cNvPr id="6" name="椭圆 5"/>
          <p:cNvSpPr/>
          <p:nvPr>
            <p:custDataLst>
              <p:tags r:id="rId4"/>
            </p:custDataLst>
          </p:nvPr>
        </p:nvSpPr>
        <p:spPr>
          <a:xfrm>
            <a:off x="5274310" y="2176007"/>
            <a:ext cx="821690" cy="2129790"/>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cs typeface="Calibri" panose="020F0502020204030204" charset="0"/>
            </a:endParaRPr>
          </a:p>
        </p:txBody>
      </p:sp>
      <p:sp>
        <p:nvSpPr>
          <p:cNvPr id="18" name="椭圆 17"/>
          <p:cNvSpPr/>
          <p:nvPr>
            <p:custDataLst>
              <p:tags r:id="rId5"/>
            </p:custDataLst>
          </p:nvPr>
        </p:nvSpPr>
        <p:spPr>
          <a:xfrm>
            <a:off x="11171654" y="2176007"/>
            <a:ext cx="821690" cy="2129790"/>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cs typeface="Calibri" panose="020F0502020204030204" charset="0"/>
            </a:endParaRP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3" name="椭圆 2"/>
          <p:cNvSpPr/>
          <p:nvPr>
            <p:custDataLst>
              <p:tags r:id="rId6"/>
            </p:custDataLst>
          </p:nvPr>
        </p:nvSpPr>
        <p:spPr>
          <a:xfrm>
            <a:off x="4356189" y="2176007"/>
            <a:ext cx="821690" cy="2129790"/>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cs typeface="Calibri" panose="020F0502020204030204" charset="0"/>
            </a:endParaRPr>
          </a:p>
        </p:txBody>
      </p:sp>
      <p:sp>
        <p:nvSpPr>
          <p:cNvPr id="4" name="矩形 6"/>
          <p:cNvSpPr/>
          <p:nvPr>
            <p:custDataLst>
              <p:tags r:id="rId7"/>
            </p:custDataLst>
          </p:nvPr>
        </p:nvSpPr>
        <p:spPr>
          <a:xfrm>
            <a:off x="1128409" y="5918655"/>
            <a:ext cx="3300555" cy="369332"/>
          </a:xfrm>
          <a:prstGeom prst="rect">
            <a:avLst/>
          </a:prstGeom>
          <a:noFill/>
          <a:ln w="9525">
            <a:noFill/>
          </a:ln>
        </p:spPr>
        <p:txBody>
          <a:bodyPr wrap="square">
            <a:spAutoFit/>
          </a:bodyPr>
          <a:lstStyle/>
          <a:p>
            <a:r>
              <a:rPr lang="en-US" altLang="zh-CN" sz="1800" dirty="0">
                <a:solidFill>
                  <a:srgbClr val="000000"/>
                </a:solidFill>
                <a:latin typeface="Calibri" panose="020F0502020204030204" charset="0"/>
                <a:ea typeface="微软雅黑" panose="020B0503020204020204" pitchFamily="34" charset="-122"/>
                <a:cs typeface="Calibri" panose="020F0502020204030204" charset="0"/>
              </a:rPr>
              <a:t>Z -axis  </a:t>
            </a:r>
            <a:r>
              <a:rPr lang="en-US" altLang="zh-CN" sz="1800" dirty="0">
                <a:latin typeface="Calibri" panose="020F0502020204030204" charset="0"/>
                <a:ea typeface="Calibri" panose="020F0502020204030204" charset="0"/>
                <a:cs typeface="Calibri" panose="020F0502020204030204" charset="0"/>
                <a:sym typeface="+mn-ea"/>
              </a:rPr>
              <a:t>GTH8-L10-50-BC-S40B-C4</a:t>
            </a:r>
            <a:endParaRPr lang="en-US" altLang="zh-CN" sz="1800" dirty="0">
              <a:latin typeface="Calibri" panose="020F0502020204030204" charset="0"/>
              <a:ea typeface="Calibri" panose="020F0502020204030204" charset="0"/>
              <a:cs typeface="Calibri" panose="020F0502020204030204" charset="0"/>
            </a:endParaRPr>
          </a:p>
        </p:txBody>
      </p:sp>
      <p:cxnSp>
        <p:nvCxnSpPr>
          <p:cNvPr id="5" name="肘形连接符 85"/>
          <p:cNvCxnSpPr>
            <a:stCxn id="4" idx="3"/>
            <a:endCxn id="3" idx="4"/>
          </p:cNvCxnSpPr>
          <p:nvPr>
            <p:custDataLst>
              <p:tags r:id="rId8"/>
            </p:custDataLst>
          </p:nvPr>
        </p:nvCxnSpPr>
        <p:spPr>
          <a:xfrm flipV="1">
            <a:off x="4428964" y="4305797"/>
            <a:ext cx="338070" cy="1797524"/>
          </a:xfrm>
          <a:prstGeom prst="bentConnector2">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肘形连接符 85"/>
          <p:cNvCxnSpPr>
            <a:stCxn id="11269" idx="3"/>
            <a:endCxn id="6" idx="0"/>
          </p:cNvCxnSpPr>
          <p:nvPr>
            <p:custDataLst>
              <p:tags r:id="rId9"/>
            </p:custDataLst>
          </p:nvPr>
        </p:nvCxnSpPr>
        <p:spPr>
          <a:xfrm>
            <a:off x="4487903" y="1524834"/>
            <a:ext cx="1197252" cy="651173"/>
          </a:xfrm>
          <a:prstGeom prst="bentConnector2">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肘形连接符 85"/>
          <p:cNvCxnSpPr>
            <a:stCxn id="11268" idx="3"/>
            <a:endCxn id="18" idx="0"/>
          </p:cNvCxnSpPr>
          <p:nvPr>
            <p:custDataLst>
              <p:tags r:id="rId10"/>
            </p:custDataLst>
          </p:nvPr>
        </p:nvCxnSpPr>
        <p:spPr>
          <a:xfrm>
            <a:off x="10726205" y="1539121"/>
            <a:ext cx="856294" cy="636886"/>
          </a:xfrm>
          <a:prstGeom prst="bentConnector2">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01059" y="768252"/>
            <a:ext cx="3706737"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pPr>
              <a:defRPr/>
            </a:pPr>
            <a:r>
              <a:rPr lang="en-US" altLang="zh-CN" sz="1800" b="1" dirty="0">
                <a:sym typeface="+mn-ea"/>
              </a:rPr>
              <a:t>5</a:t>
            </a:r>
            <a:r>
              <a:rPr lang="en-US" altLang="zh-CN" sz="1800" b="1" dirty="0">
                <a:solidFill>
                  <a:schemeClr val="tx1"/>
                </a:solidFill>
                <a:sym typeface="+mn-ea"/>
              </a:rPr>
              <a:t>.2 </a:t>
            </a:r>
            <a:r>
              <a:rPr lang="en-US" altLang="zh-CN" sz="1800" b="1" dirty="0">
                <a:solidFill>
                  <a:schemeClr val="tx1"/>
                </a:solidFill>
                <a:latin typeface="Calibri" panose="020F0502020204030204" charset="0"/>
                <a:ea typeface="微软雅黑" panose="020B0503020204020204" pitchFamily="34" charset="-122"/>
                <a:cs typeface="Calibri" panose="020F0502020204030204" charset="0"/>
                <a:sym typeface="Gill Sans"/>
              </a:rPr>
              <a:t>TABLE Load transfer component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8"/>
          <a:stretch>
            <a:fillRect/>
          </a:stretch>
        </p:blipFill>
        <p:spPr>
          <a:xfrm>
            <a:off x="8456137" y="1042402"/>
            <a:ext cx="2459154" cy="1832800"/>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dirty="0">
                <a:sym typeface="+mn-ea"/>
              </a:rPr>
              <a:t>5</a:t>
            </a:r>
            <a:r>
              <a:rPr lang="en-US" altLang="zh-CN" noProof="0" dirty="0">
                <a:sym typeface="+mn-ea"/>
              </a:rPr>
              <a:t>. The key components</a:t>
            </a:r>
            <a:endParaRPr lang="en-US" altLang="zh-CN" dirty="0">
              <a:latin typeface="+mn-lt"/>
            </a:endParaRPr>
          </a:p>
        </p:txBody>
      </p:sp>
      <p:sp>
        <p:nvSpPr>
          <p:cNvPr id="26" name="文本框 20"/>
          <p:cNvSpPr txBox="1"/>
          <p:nvPr/>
        </p:nvSpPr>
        <p:spPr>
          <a:xfrm>
            <a:off x="301059" y="768252"/>
            <a:ext cx="3337529" cy="646331"/>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5.3 Electronic Balance</a:t>
            </a:r>
          </a:p>
          <a:p>
            <a:endParaRPr lang="zh-CN" altLang="en-US" sz="1800" b="1" dirty="0">
              <a:sym typeface="+mn-ea"/>
            </a:endParaRPr>
          </a:p>
        </p:txBody>
      </p:sp>
      <p:sp>
        <p:nvSpPr>
          <p:cNvPr id="77" name="TextBox 216"/>
          <p:cNvSpPr txBox="1">
            <a:spLocks noChangeArrowheads="1"/>
          </p:cNvSpPr>
          <p:nvPr>
            <p:custDataLst>
              <p:tags r:id="rId1"/>
            </p:custDataLst>
          </p:nvPr>
        </p:nvSpPr>
        <p:spPr bwMode="auto">
          <a:xfrm>
            <a:off x="341157" y="2332754"/>
            <a:ext cx="6367434" cy="585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solidFill>
                  <a:srgbClr val="FF0000"/>
                </a:solidFill>
                <a:latin typeface="+mn-lt"/>
                <a:sym typeface="+mn-ea"/>
              </a:rPr>
              <a:t>Note: It is recommended to manually wipe and clean the electronic balance tray once per shift with a dust-free cloth.</a:t>
            </a: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15</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8"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21" name="组合 20"/>
          <p:cNvGrpSpPr/>
          <p:nvPr/>
        </p:nvGrpSpPr>
        <p:grpSpPr>
          <a:xfrm>
            <a:off x="301059" y="3221127"/>
            <a:ext cx="11484995" cy="2987114"/>
            <a:chOff x="2257063" y="1799361"/>
            <a:chExt cx="9667311" cy="2514355"/>
          </a:xfrm>
        </p:grpSpPr>
        <p:pic>
          <p:nvPicPr>
            <p:cNvPr id="20" name="图片 19"/>
            <p:cNvPicPr>
              <a:picLocks noChangeAspect="1"/>
            </p:cNvPicPr>
            <p:nvPr/>
          </p:nvPicPr>
          <p:blipFill>
            <a:blip r:embed="rId9"/>
            <a:stretch>
              <a:fillRect/>
            </a:stretch>
          </p:blipFill>
          <p:spPr>
            <a:xfrm>
              <a:off x="2400201" y="1893761"/>
              <a:ext cx="9381033" cy="1836579"/>
            </a:xfrm>
            <a:prstGeom prst="rect">
              <a:avLst/>
            </a:prstGeom>
          </p:spPr>
        </p:pic>
        <p:sp>
          <p:nvSpPr>
            <p:cNvPr id="9" name="椭圆 8"/>
            <p:cNvSpPr/>
            <p:nvPr>
              <p:custDataLst>
                <p:tags r:id="rId4"/>
              </p:custDataLst>
            </p:nvPr>
          </p:nvSpPr>
          <p:spPr>
            <a:xfrm rot="5400000">
              <a:off x="6696712" y="-1518582"/>
              <a:ext cx="788014" cy="9381034"/>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cs typeface="Calibri" panose="020F0502020204030204" charset="0"/>
              </a:endParaRPr>
            </a:p>
          </p:txBody>
        </p:sp>
        <p:sp>
          <p:nvSpPr>
            <p:cNvPr id="10" name="矩形 9"/>
            <p:cNvSpPr/>
            <p:nvPr/>
          </p:nvSpPr>
          <p:spPr>
            <a:xfrm>
              <a:off x="2257063" y="1799361"/>
              <a:ext cx="9667311" cy="2514355"/>
            </a:xfrm>
            <a:prstGeom prst="rect">
              <a:avLst/>
            </a:prstGeom>
            <a:noFill/>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 name="TextBox 216"/>
            <p:cNvSpPr txBox="1">
              <a:spLocks noChangeArrowheads="1"/>
            </p:cNvSpPr>
            <p:nvPr>
              <p:custDataLst>
                <p:tags r:id="rId5"/>
              </p:custDataLst>
            </p:nvPr>
          </p:nvSpPr>
          <p:spPr bwMode="auto">
            <a:xfrm>
              <a:off x="5988063" y="3875201"/>
              <a:ext cx="2205309" cy="273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b="1" dirty="0">
                  <a:latin typeface="+mn-lt"/>
                  <a:sym typeface="+mn-ea"/>
                </a:rPr>
                <a:t>Electronic balance parameters</a:t>
              </a:r>
            </a:p>
          </p:txBody>
        </p:sp>
      </p:grpSp>
      <p:sp>
        <p:nvSpPr>
          <p:cNvPr id="18" name="文本框 17"/>
          <p:cNvSpPr txBox="1"/>
          <p:nvPr/>
        </p:nvSpPr>
        <p:spPr>
          <a:xfrm>
            <a:off x="341157" y="1216985"/>
            <a:ext cx="6367434" cy="1169551"/>
          </a:xfrm>
          <a:prstGeom prst="rect">
            <a:avLst/>
          </a:prstGeom>
          <a:noFill/>
        </p:spPr>
        <p:txBody>
          <a:bodyPr wrap="square" rtlCol="0">
            <a:spAutoFit/>
          </a:bodyPr>
          <a:lstStyle/>
          <a:p>
            <a:pPr indent="457200"/>
            <a:r>
              <a:rPr lang="en-US" altLang="zh-CN" sz="1400" dirty="0"/>
              <a:t>Purpose:</a:t>
            </a:r>
          </a:p>
          <a:p>
            <a:pPr indent="457200"/>
            <a:r>
              <a:rPr lang="en-US" altLang="zh-CN" sz="1400" dirty="0"/>
              <a:t>1. Used for manual inspection of adhesive quantity2. Used for automatic weighing during equipment operation (set weighing time, automatically weigh at regular intervals to ensure that the amount of glue dispensed is within the dispensing weight specified in SOP)</a:t>
            </a:r>
            <a:endParaRPr lang="zh-CN" altLang="en-US" sz="1400" dirty="0"/>
          </a:p>
        </p:txBody>
      </p:sp>
      <p:sp>
        <p:nvSpPr>
          <p:cNvPr id="22" name="矩形 21"/>
          <p:cNvSpPr/>
          <p:nvPr/>
        </p:nvSpPr>
        <p:spPr>
          <a:xfrm>
            <a:off x="301060" y="1136552"/>
            <a:ext cx="6447629" cy="1801563"/>
          </a:xfrm>
          <a:prstGeom prst="rect">
            <a:avLst/>
          </a:prstGeom>
          <a:noFill/>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3" name="矩形 22"/>
          <p:cNvSpPr/>
          <p:nvPr/>
        </p:nvSpPr>
        <p:spPr>
          <a:xfrm>
            <a:off x="7076690" y="1136551"/>
            <a:ext cx="4709364" cy="1801563"/>
          </a:xfrm>
          <a:prstGeom prst="rect">
            <a:avLst/>
          </a:prstGeom>
          <a:noFill/>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4" name="TextBox 216"/>
          <p:cNvSpPr txBox="1">
            <a:spLocks noChangeArrowheads="1"/>
          </p:cNvSpPr>
          <p:nvPr>
            <p:custDataLst>
              <p:tags r:id="rId3"/>
            </p:custDataLst>
          </p:nvPr>
        </p:nvSpPr>
        <p:spPr bwMode="auto">
          <a:xfrm>
            <a:off x="7244368" y="1821338"/>
            <a:ext cx="1410269" cy="585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b="1" dirty="0">
                <a:latin typeface="+mn-lt"/>
                <a:sym typeface="+mn-ea"/>
              </a:rPr>
              <a:t>Electronic balance model</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5"/>
          <a:stretch>
            <a:fillRect/>
          </a:stretch>
        </p:blipFill>
        <p:spPr>
          <a:xfrm>
            <a:off x="8783027" y="2043937"/>
            <a:ext cx="1544877" cy="2908293"/>
          </a:xfrm>
          <a:prstGeom prst="rect">
            <a:avLst/>
          </a:prstGeom>
        </p:spPr>
      </p:pic>
      <p:pic>
        <p:nvPicPr>
          <p:cNvPr id="7" name="图片 6" descr="图示&#10;&#10;描述已自动生成"/>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20000"/>
                    </a14:imgEffect>
                  </a14:imgLayer>
                </a14:imgProps>
              </a:ext>
              <a:ext uri="{28A0092B-C50C-407E-A947-70E740481C1C}">
                <a14:useLocalDpi xmlns:a14="http://schemas.microsoft.com/office/drawing/2010/main" val="0"/>
              </a:ext>
            </a:extLst>
          </a:blip>
          <a:srcRect l="19500" t="61247" r="9484"/>
          <a:stretch>
            <a:fillRect/>
          </a:stretch>
        </p:blipFill>
        <p:spPr>
          <a:xfrm>
            <a:off x="7279669" y="4689572"/>
            <a:ext cx="3723161" cy="1819640"/>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dirty="0">
                <a:sym typeface="+mn-ea"/>
              </a:rPr>
              <a:t>5</a:t>
            </a:r>
            <a:r>
              <a:rPr lang="en-US" altLang="zh-CN" noProof="0" dirty="0">
                <a:sym typeface="+mn-ea"/>
              </a:rPr>
              <a:t>. The key components</a:t>
            </a:r>
            <a:endParaRPr lang="en-US" altLang="zh-CN" dirty="0">
              <a:latin typeface="+mn-lt"/>
            </a:endParaRPr>
          </a:p>
        </p:txBody>
      </p:sp>
      <p:sp>
        <p:nvSpPr>
          <p:cNvPr id="21"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5.4 Upper CCD</a:t>
            </a:r>
            <a:endParaRPr lang="zh-CN" altLang="en-US" sz="1800" b="1" dirty="0">
              <a:sym typeface="+mn-ea"/>
            </a:endParaRPr>
          </a:p>
        </p:txBody>
      </p:sp>
      <p:sp>
        <p:nvSpPr>
          <p:cNvPr id="11267" name="灯片编号占位符 3"/>
          <p:cNvSpPr txBox="1">
            <a:spLocks noGrp="1"/>
          </p:cNvSpPr>
          <p:nvPr>
            <p:ph type="sldNum" sz="quarter" idx="4294967295"/>
          </p:nvPr>
        </p:nvSpPr>
        <p:spPr>
          <a:xfrm>
            <a:off x="9249244" y="6241638"/>
            <a:ext cx="2743200"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16</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dirty="0">
                <a:latin typeface="宋体" panose="02010600030101010101" pitchFamily="2" charset="-122"/>
              </a:rPr>
              <a:t>unit</a:t>
            </a:r>
            <a:r>
              <a:rPr lang="zh-CN" altLang="en-US" sz="1100" dirty="0">
                <a:latin typeface="宋体" panose="02010600030101010101" pitchFamily="2" charset="-122"/>
              </a:rPr>
              <a:t>：</a:t>
            </a:r>
            <a:r>
              <a:rPr lang="en-US" altLang="zh-CN" sz="1100" dirty="0">
                <a:latin typeface="宋体" panose="02010600030101010101" pitchFamily="2" charset="-122"/>
              </a:rPr>
              <a:t>mm</a:t>
            </a:r>
            <a:endParaRPr lang="zh-CN" altLang="en-US" sz="1100" dirty="0">
              <a:latin typeface="宋体" panose="02010600030101010101" pitchFamily="2" charset="-122"/>
            </a:endParaRPr>
          </a:p>
        </p:txBody>
      </p:sp>
      <p:grpSp>
        <p:nvGrpSpPr>
          <p:cNvPr id="11" name="组合 10"/>
          <p:cNvGrpSpPr/>
          <p:nvPr/>
        </p:nvGrpSpPr>
        <p:grpSpPr>
          <a:xfrm>
            <a:off x="6685781" y="1042402"/>
            <a:ext cx="4885612" cy="5509453"/>
            <a:chOff x="6476124" y="657225"/>
            <a:chExt cx="5375068" cy="5716143"/>
          </a:xfrm>
        </p:grpSpPr>
        <p:sp>
          <p:nvSpPr>
            <p:cNvPr id="14" name="文本框 12"/>
            <p:cNvSpPr txBox="1"/>
            <p:nvPr/>
          </p:nvSpPr>
          <p:spPr>
            <a:xfrm>
              <a:off x="6790055" y="711200"/>
              <a:ext cx="1260337" cy="383188"/>
            </a:xfrm>
            <a:prstGeom prst="rect">
              <a:avLst/>
            </a:prstGeom>
            <a:noFill/>
          </p:spPr>
          <p:txBody>
            <a:bodyPr wrap="none" rtlCol="0" anchor="t">
              <a:spAutoFit/>
            </a:bodyPr>
            <a:lstStyle/>
            <a:p>
              <a:pPr algn="l"/>
              <a:r>
                <a:rPr lang="en-US" altLang="zh-CN" b="1" dirty="0">
                  <a:latin typeface="微软雅黑" panose="020B0503020204020204" pitchFamily="34" charset="-122"/>
                  <a:ea typeface="微软雅黑" panose="020B0503020204020204" pitchFamily="34" charset="-122"/>
                  <a:cs typeface="宋体" panose="02010600030101010101" pitchFamily="2" charset="-122"/>
                  <a:sym typeface="+mn-ea"/>
                </a:rPr>
                <a:t>layout</a:t>
              </a:r>
              <a:r>
                <a:rPr lang="zh-CN" altLang="en-US" b="1" dirty="0">
                  <a:latin typeface="微软雅黑" panose="020B0503020204020204" pitchFamily="34" charset="-122"/>
                  <a:ea typeface="微软雅黑" panose="020B0503020204020204" pitchFamily="34" charset="-122"/>
                  <a:cs typeface="宋体" panose="02010600030101010101" pitchFamily="2" charset="-122"/>
                  <a:sym typeface="+mn-ea"/>
                </a:rPr>
                <a:t>：</a:t>
              </a:r>
            </a:p>
          </p:txBody>
        </p:sp>
        <p:cxnSp>
          <p:nvCxnSpPr>
            <p:cNvPr id="15" name="直接连接符 24"/>
            <p:cNvCxnSpPr/>
            <p:nvPr/>
          </p:nvCxnSpPr>
          <p:spPr>
            <a:xfrm flipH="1">
              <a:off x="9437469" y="3745384"/>
              <a:ext cx="93170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25"/>
            <p:cNvCxnSpPr/>
            <p:nvPr/>
          </p:nvCxnSpPr>
          <p:spPr>
            <a:xfrm flipH="1">
              <a:off x="10029241" y="4629199"/>
              <a:ext cx="104924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箭头连接符 28"/>
            <p:cNvCxnSpPr/>
            <p:nvPr/>
          </p:nvCxnSpPr>
          <p:spPr>
            <a:xfrm>
              <a:off x="10846213" y="3312797"/>
              <a:ext cx="0" cy="1313226"/>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8" name="文本框 19"/>
            <p:cNvSpPr txBox="1"/>
            <p:nvPr/>
          </p:nvSpPr>
          <p:spPr>
            <a:xfrm>
              <a:off x="10823661" y="4092901"/>
              <a:ext cx="968567" cy="255458"/>
            </a:xfrm>
            <a:prstGeom prst="rect">
              <a:avLst/>
            </a:prstGeom>
            <a:noFill/>
          </p:spPr>
          <p:txBody>
            <a:bodyPr wrap="none" rtlCol="0">
              <a:spAutoFit/>
            </a:bodyPr>
            <a:lstStyle/>
            <a:p>
              <a:r>
                <a:rPr lang="en-US" altLang="zh-CN" sz="1000" dirty="0">
                  <a:solidFill>
                    <a:srgbClr val="FF0000"/>
                  </a:solidFill>
                </a:rPr>
                <a:t>160</a:t>
              </a:r>
              <a:r>
                <a:rPr lang="zh-CN" altLang="en-US" sz="1000" dirty="0">
                  <a:solidFill>
                    <a:srgbClr val="FF0000"/>
                  </a:solidFill>
                </a:rPr>
                <a:t>±</a:t>
              </a:r>
              <a:r>
                <a:rPr lang="en-US" altLang="zh-CN" sz="1000" dirty="0">
                  <a:solidFill>
                    <a:srgbClr val="FF0000"/>
                  </a:solidFill>
                </a:rPr>
                <a:t>10mm</a:t>
              </a:r>
            </a:p>
          </p:txBody>
        </p:sp>
        <p:cxnSp>
          <p:nvCxnSpPr>
            <p:cNvPr id="19" name="直接连接符 20"/>
            <p:cNvCxnSpPr/>
            <p:nvPr/>
          </p:nvCxnSpPr>
          <p:spPr>
            <a:xfrm flipH="1">
              <a:off x="9312530" y="3312797"/>
              <a:ext cx="181683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3" name="组合 35"/>
            <p:cNvGrpSpPr/>
            <p:nvPr/>
          </p:nvGrpSpPr>
          <p:grpSpPr>
            <a:xfrm>
              <a:off x="8669909" y="2984627"/>
              <a:ext cx="1054735" cy="532765"/>
              <a:chOff x="6803" y="3014"/>
              <a:chExt cx="1661" cy="839"/>
            </a:xfrm>
          </p:grpSpPr>
          <p:sp>
            <p:nvSpPr>
              <p:cNvPr id="40" name="椭圆 26"/>
              <p:cNvSpPr>
                <a:spLocks noChangeAspect="1"/>
              </p:cNvSpPr>
              <p:nvPr/>
            </p:nvSpPr>
            <p:spPr>
              <a:xfrm>
                <a:off x="8313" y="3702"/>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肘形连接符 27"/>
              <p:cNvCxnSpPr>
                <a:stCxn id="24" idx="3"/>
              </p:cNvCxnSpPr>
              <p:nvPr/>
            </p:nvCxnSpPr>
            <p:spPr>
              <a:xfrm>
                <a:off x="6803" y="3014"/>
                <a:ext cx="1012" cy="603"/>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4" name="文本框 30"/>
            <p:cNvSpPr txBox="1"/>
            <p:nvPr/>
          </p:nvSpPr>
          <p:spPr>
            <a:xfrm>
              <a:off x="6713510" y="2840943"/>
              <a:ext cx="1956182" cy="287391"/>
            </a:xfrm>
            <a:prstGeom prst="rect">
              <a:avLst/>
            </a:prstGeom>
            <a:noFill/>
          </p:spPr>
          <p:txBody>
            <a:bodyPr wrap="none" rtlCol="0">
              <a:spAutoFit/>
            </a:bodyPr>
            <a:lstStyle/>
            <a:p>
              <a:pPr algn="ctr"/>
              <a:r>
                <a:rPr lang="en-US" altLang="zh-CN" sz="1200" dirty="0">
                  <a:latin typeface="等线" panose="02010600030101010101" charset="-122"/>
                  <a:ea typeface="等线" panose="02010600030101010101" charset="-122"/>
                </a:rPr>
                <a:t>lens</a:t>
              </a:r>
              <a:r>
                <a:rPr lang="zh-CN" altLang="en-US" sz="1200" dirty="0">
                  <a:latin typeface="等线" panose="02010600030101010101" charset="-122"/>
                  <a:ea typeface="等线" panose="02010600030101010101" charset="-122"/>
                </a:rPr>
                <a:t>：</a:t>
              </a:r>
              <a:r>
                <a:rPr lang="en-US" altLang="zh-CN" sz="1200" kern="100" dirty="0">
                  <a:latin typeface="等线" panose="02010600030101010101" charset="-122"/>
                  <a:sym typeface="+mn-ea"/>
                </a:rPr>
                <a:t>FL-CC1214A-2M</a:t>
              </a:r>
            </a:p>
          </p:txBody>
        </p:sp>
        <p:grpSp>
          <p:nvGrpSpPr>
            <p:cNvPr id="25" name="组合 31"/>
            <p:cNvGrpSpPr/>
            <p:nvPr/>
          </p:nvGrpSpPr>
          <p:grpSpPr>
            <a:xfrm>
              <a:off x="8810244" y="2182622"/>
              <a:ext cx="945515" cy="837565"/>
              <a:chOff x="7137" y="2636"/>
              <a:chExt cx="1489" cy="1319"/>
            </a:xfrm>
          </p:grpSpPr>
          <p:sp>
            <p:nvSpPr>
              <p:cNvPr id="38" name="椭圆 37"/>
              <p:cNvSpPr>
                <a:spLocks noChangeAspect="1"/>
              </p:cNvSpPr>
              <p:nvPr/>
            </p:nvSpPr>
            <p:spPr>
              <a:xfrm>
                <a:off x="8475" y="3735"/>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肘形连接符 39"/>
              <p:cNvCxnSpPr>
                <a:stCxn id="26" idx="3"/>
              </p:cNvCxnSpPr>
              <p:nvPr/>
            </p:nvCxnSpPr>
            <p:spPr>
              <a:xfrm>
                <a:off x="7137" y="2636"/>
                <a:ext cx="865" cy="1319"/>
              </a:xfrm>
              <a:prstGeom prst="bentConnector2">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6" name="文本框 40"/>
            <p:cNvSpPr txBox="1"/>
            <p:nvPr/>
          </p:nvSpPr>
          <p:spPr>
            <a:xfrm>
              <a:off x="6643829" y="2039137"/>
              <a:ext cx="2166502" cy="287391"/>
            </a:xfrm>
            <a:prstGeom prst="rect">
              <a:avLst/>
            </a:prstGeom>
            <a:noFill/>
          </p:spPr>
          <p:txBody>
            <a:bodyPr wrap="square" rtlCol="0">
              <a:spAutoFit/>
            </a:bodyPr>
            <a:lstStyle/>
            <a:p>
              <a:pPr algn="ctr"/>
              <a:r>
                <a:rPr lang="en-US" altLang="zh-CN" sz="1200" dirty="0">
                  <a:latin typeface="等线" panose="02010600030101010101" charset="-122"/>
                  <a:ea typeface="等线" panose="02010600030101010101" charset="-122"/>
                  <a:cs typeface="等线" panose="02010600030101010101" charset="-122"/>
                </a:rPr>
                <a:t>camera</a:t>
              </a:r>
              <a:r>
                <a:rPr lang="zh-CN" altLang="en-US" sz="1200" dirty="0">
                  <a:latin typeface="等线" panose="02010600030101010101" charset="-122"/>
                  <a:ea typeface="等线" panose="02010600030101010101" charset="-122"/>
                  <a:cs typeface="等线" panose="02010600030101010101" charset="-122"/>
                </a:rPr>
                <a:t>：</a:t>
              </a:r>
              <a:r>
                <a:rPr lang="en-US" altLang="zh-CN" sz="1200" dirty="0">
                  <a:latin typeface="等线" panose="02010600030101010101" charset="-122"/>
                  <a:sym typeface="+mn-ea"/>
                </a:rPr>
                <a:t>FM-GE500-22M</a:t>
              </a:r>
              <a:endParaRPr lang="en-US" altLang="zh-CN" sz="1200" kern="1200" dirty="0">
                <a:solidFill>
                  <a:schemeClr val="tx1"/>
                </a:solidFill>
                <a:effectLst/>
                <a:latin typeface="等线" panose="02010600030101010101" charset="-122"/>
                <a:ea typeface="等线" panose="02010600030101010101" charset="-122"/>
                <a:cs typeface="+mn-cs"/>
              </a:endParaRPr>
            </a:p>
          </p:txBody>
        </p:sp>
        <p:grpSp>
          <p:nvGrpSpPr>
            <p:cNvPr id="27" name="组合 50"/>
            <p:cNvGrpSpPr/>
            <p:nvPr/>
          </p:nvGrpSpPr>
          <p:grpSpPr>
            <a:xfrm>
              <a:off x="8700389" y="3613277"/>
              <a:ext cx="947420" cy="240665"/>
              <a:chOff x="7159" y="2904"/>
              <a:chExt cx="1492" cy="379"/>
            </a:xfrm>
          </p:grpSpPr>
          <p:sp>
            <p:nvSpPr>
              <p:cNvPr id="36" name="椭圆 51"/>
              <p:cNvSpPr>
                <a:spLocks noChangeAspect="1"/>
              </p:cNvSpPr>
              <p:nvPr/>
            </p:nvSpPr>
            <p:spPr>
              <a:xfrm>
                <a:off x="8500" y="3132"/>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肘形连接符 52"/>
              <p:cNvCxnSpPr>
                <a:stCxn id="28" idx="3"/>
              </p:cNvCxnSpPr>
              <p:nvPr/>
            </p:nvCxnSpPr>
            <p:spPr>
              <a:xfrm flipV="1">
                <a:off x="7159" y="2904"/>
                <a:ext cx="709" cy="172"/>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8" name="文本框 53"/>
            <p:cNvSpPr txBox="1"/>
            <p:nvPr/>
          </p:nvSpPr>
          <p:spPr>
            <a:xfrm>
              <a:off x="6476124" y="3578575"/>
              <a:ext cx="2224248" cy="287391"/>
            </a:xfrm>
            <a:prstGeom prst="rect">
              <a:avLst/>
            </a:prstGeom>
            <a:noFill/>
          </p:spPr>
          <p:txBody>
            <a:bodyPr wrap="none" rtlCol="0">
              <a:spAutoFit/>
            </a:bodyPr>
            <a:lstStyle/>
            <a:p>
              <a:pPr algn="ctr"/>
              <a:r>
                <a:rPr lang="en-US" altLang="zh-CN" sz="1200" dirty="0">
                  <a:latin typeface="等线" panose="02010600030101010101" charset="-122"/>
                  <a:ea typeface="等线" panose="02010600030101010101" charset="-122"/>
                </a:rPr>
                <a:t>optical source</a:t>
              </a:r>
              <a:r>
                <a:rPr lang="zh-CN" altLang="en-US" sz="1200" dirty="0">
                  <a:latin typeface="等线" panose="02010600030101010101" charset="-122"/>
                  <a:ea typeface="等线" panose="02010600030101010101" charset="-122"/>
                </a:rPr>
                <a:t>：</a:t>
              </a:r>
              <a:r>
                <a:rPr lang="en-US" altLang="zh-CN" sz="1200" kern="100" dirty="0">
                  <a:latin typeface="等线" panose="02010600030101010101" charset="-122"/>
                  <a:ea typeface="等线" panose="02010600030101010101" charset="-122"/>
                  <a:sym typeface="+mn-ea"/>
                </a:rPr>
                <a:t>HRS-70R60</a:t>
              </a:r>
              <a:endParaRPr lang="en-US" altLang="zh-CN" sz="1200" kern="100" dirty="0">
                <a:latin typeface="等线" panose="02010600030101010101" charset="-122"/>
                <a:sym typeface="+mn-ea"/>
              </a:endParaRPr>
            </a:p>
          </p:txBody>
        </p:sp>
        <p:grpSp>
          <p:nvGrpSpPr>
            <p:cNvPr id="29" name="组合 55"/>
            <p:cNvGrpSpPr/>
            <p:nvPr/>
          </p:nvGrpSpPr>
          <p:grpSpPr>
            <a:xfrm>
              <a:off x="7250684" y="4617847"/>
              <a:ext cx="1908175" cy="95885"/>
              <a:chOff x="4876" y="2667"/>
              <a:chExt cx="3005" cy="151"/>
            </a:xfrm>
          </p:grpSpPr>
          <p:sp>
            <p:nvSpPr>
              <p:cNvPr id="34" name="椭圆 56"/>
              <p:cNvSpPr>
                <a:spLocks noChangeAspect="1"/>
              </p:cNvSpPr>
              <p:nvPr/>
            </p:nvSpPr>
            <p:spPr>
              <a:xfrm>
                <a:off x="7730" y="2667"/>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肘形连接符 57"/>
              <p:cNvCxnSpPr>
                <a:stCxn id="32" idx="3"/>
                <a:endCxn id="34" idx="2"/>
              </p:cNvCxnSpPr>
              <p:nvPr/>
            </p:nvCxnSpPr>
            <p:spPr>
              <a:xfrm flipV="1">
                <a:off x="4876" y="2743"/>
                <a:ext cx="2854" cy="7"/>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32" name="文本框 58"/>
            <p:cNvSpPr txBox="1"/>
            <p:nvPr/>
          </p:nvSpPr>
          <p:spPr>
            <a:xfrm>
              <a:off x="6738524" y="4532918"/>
              <a:ext cx="512444" cy="275590"/>
            </a:xfrm>
            <a:prstGeom prst="rect">
              <a:avLst/>
            </a:prstGeom>
            <a:noFill/>
          </p:spPr>
          <p:txBody>
            <a:bodyPr wrap="none" rtlCol="0">
              <a:spAutoFit/>
            </a:bodyPr>
            <a:lstStyle/>
            <a:p>
              <a:pPr algn="ctr"/>
              <a:r>
                <a:rPr lang="en-US" altLang="zh-CN" sz="1200">
                  <a:latin typeface="等线" panose="02010600030101010101" charset="-122"/>
                  <a:ea typeface="等线" panose="02010600030101010101" charset="-122"/>
                </a:rPr>
                <a:t>PCBA</a:t>
              </a:r>
            </a:p>
          </p:txBody>
        </p:sp>
        <p:sp>
          <p:nvSpPr>
            <p:cNvPr id="33" name="圆角矩形 72"/>
            <p:cNvSpPr/>
            <p:nvPr/>
          </p:nvSpPr>
          <p:spPr>
            <a:xfrm>
              <a:off x="6534150" y="657225"/>
              <a:ext cx="5317042" cy="5716143"/>
            </a:xfrm>
            <a:prstGeom prst="roundRect">
              <a:avLst>
                <a:gd name="adj" fmla="val 6205"/>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3" name="表格 2"/>
          <p:cNvGraphicFramePr>
            <a:graphicFrameLocks noGrp="1"/>
          </p:cNvGraphicFramePr>
          <p:nvPr>
            <p:custDataLst>
              <p:tags r:id="rId1"/>
            </p:custDataLst>
          </p:nvPr>
        </p:nvGraphicFramePr>
        <p:xfrm>
          <a:off x="620607" y="1263475"/>
          <a:ext cx="5490648" cy="2477135"/>
        </p:xfrm>
        <a:graphic>
          <a:graphicData uri="http://schemas.openxmlformats.org/drawingml/2006/table">
            <a:tbl>
              <a:tblPr firstRow="1" firstCol="1" bandRow="1">
                <a:tableStyleId>{5C22544A-7EE6-4342-B048-85BDC9FD1C3A}</a:tableStyleId>
              </a:tblPr>
              <a:tblGrid>
                <a:gridCol w="1897845">
                  <a:extLst>
                    <a:ext uri="{9D8B030D-6E8A-4147-A177-3AD203B41FA5}">
                      <a16:colId xmlns:a16="http://schemas.microsoft.com/office/drawing/2014/main" val="20000"/>
                    </a:ext>
                  </a:extLst>
                </a:gridCol>
                <a:gridCol w="2553080">
                  <a:extLst>
                    <a:ext uri="{9D8B030D-6E8A-4147-A177-3AD203B41FA5}">
                      <a16:colId xmlns:a16="http://schemas.microsoft.com/office/drawing/2014/main" val="20001"/>
                    </a:ext>
                  </a:extLst>
                </a:gridCol>
                <a:gridCol w="1039723">
                  <a:extLst>
                    <a:ext uri="{9D8B030D-6E8A-4147-A177-3AD203B41FA5}">
                      <a16:colId xmlns:a16="http://schemas.microsoft.com/office/drawing/2014/main" val="20002"/>
                    </a:ext>
                  </a:extLst>
                </a:gridCol>
              </a:tblGrid>
              <a:tr h="385445">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Hardware name</a:t>
                      </a:r>
                      <a:endParaRPr 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Model</a:t>
                      </a: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quantity</a:t>
                      </a:r>
                    </a:p>
                  </a:txBody>
                  <a:tcPr marL="99060" marR="99060" marT="0" marB="0" anchor="ctr">
                    <a:solidFill>
                      <a:schemeClr val="bg2">
                        <a:lumMod val="25000"/>
                      </a:schemeClr>
                    </a:solidFill>
                  </a:tcPr>
                </a:tc>
                <a:extLst>
                  <a:ext uri="{0D108BD9-81ED-4DB2-BD59-A6C34878D82A}">
                    <a16:rowId xmlns:a16="http://schemas.microsoft.com/office/drawing/2014/main" val="10000"/>
                  </a:ext>
                </a:extLst>
              </a:tr>
              <a:tr h="40957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buClrTx/>
                        <a:buSzTx/>
                        <a:buFontTx/>
                      </a:pPr>
                      <a:r>
                        <a:rPr lang="en-US" altLang="zh-CN" sz="1200" dirty="0">
                          <a:solidFill>
                            <a:srgbClr val="0070C0"/>
                          </a:solidFill>
                          <a:sym typeface="Arial" panose="020B0604020202020204" pitchFamily="34" charset="0"/>
                        </a:rPr>
                        <a:t>MV-GES200GC-T-CL</a:t>
                      </a: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1"/>
                  </a:ext>
                </a:extLst>
              </a:tr>
              <a:tr h="38544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lens</a:t>
                      </a:r>
                    </a:p>
                  </a:txBody>
                  <a:tcPr marL="99060" marR="99060" marT="0" marB="0" anchor="ctr" anchorCtr="1">
                    <a:solidFill>
                      <a:srgbClr val="00FF00"/>
                    </a:solidFill>
                  </a:tcPr>
                </a:tc>
                <a:tc>
                  <a:txBody>
                    <a:bodyPr/>
                    <a:lstStyle/>
                    <a:p>
                      <a:pPr algn="ctr">
                        <a:lnSpc>
                          <a:spcPct val="150000"/>
                        </a:lnSpc>
                        <a:spcAft>
                          <a:spcPts val="0"/>
                        </a:spcAft>
                      </a:pPr>
                      <a:r>
                        <a:rPr lang="en-US" altLang="zh-CN" sz="1200" dirty="0">
                          <a:solidFill>
                            <a:srgbClr val="0070C0"/>
                          </a:solidFill>
                          <a:sym typeface="Arial" panose="020B0604020202020204" pitchFamily="34" charset="0"/>
                        </a:rPr>
                        <a:t>RICOH/FL-CC1614-2M</a:t>
                      </a:r>
                      <a:endParaRPr lang="en-US" altLang="zh-CN" sz="1200" i="0" dirty="0">
                        <a:solidFill>
                          <a:srgbClr val="0070C0"/>
                        </a:solidFill>
                        <a:sym typeface="Arial" panose="020B0604020202020204" pitchFamily="34" charset="0"/>
                      </a:endParaRPr>
                    </a:p>
                  </a:txBody>
                  <a:tcPr marL="99060" marR="99060" marT="0" marB="0" anchor="ctr" anchorCtr="1"/>
                </a:tc>
                <a:tc>
                  <a:txBody>
                    <a:bodyPr/>
                    <a:lstStyle/>
                    <a:p>
                      <a:pPr algn="ctr">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2"/>
                  </a:ext>
                </a:extLst>
              </a:tr>
              <a:tr h="385445">
                <a:tc>
                  <a:txBody>
                    <a:bodyPr/>
                    <a:lstStyle/>
                    <a:p>
                      <a:pPr algn="ctr">
                        <a:lnSpc>
                          <a:spcPct val="150000"/>
                        </a:lnSpc>
                        <a:spcAft>
                          <a:spcPts val="0"/>
                        </a:spcAft>
                        <a:buNone/>
                      </a:pPr>
                      <a:r>
                        <a:rPr lang="en-US" altLang="zh-CN" sz="1200" b="1" kern="100" dirty="0">
                          <a:solidFill>
                            <a:schemeClr val="tx1"/>
                          </a:solidFill>
                          <a:effectLst/>
                          <a:latin typeface="微软雅黑" panose="020B0503020204020204" pitchFamily="34" charset="-122"/>
                          <a:ea typeface="微软雅黑" panose="020B0503020204020204" pitchFamily="34" charset="-122"/>
                          <a:cs typeface="+mn-cs"/>
                        </a:rPr>
                        <a:t>Close up adaptor</a:t>
                      </a:r>
                      <a:endParaRPr lang="zh-CN" altLang="en-US" sz="1200" b="1" kern="100" dirty="0">
                        <a:solidFill>
                          <a:schemeClr val="tx1"/>
                        </a:solidFill>
                        <a:effectLst/>
                        <a:latin typeface="微软雅黑" panose="020B0503020204020204" pitchFamily="34" charset="-122"/>
                        <a:ea typeface="微软雅黑" panose="020B0503020204020204" pitchFamily="34" charset="-122"/>
                        <a:cs typeface="+mn-cs"/>
                      </a:endParaRPr>
                    </a:p>
                  </a:txBody>
                  <a:tcPr marL="99060" marR="99060" marT="0" marB="0" anchor="ctr" anchorCtr="1">
                    <a:solidFill>
                      <a:srgbClr val="00FF00"/>
                    </a:solidFill>
                  </a:tcPr>
                </a:tc>
                <a:tc>
                  <a:txBody>
                    <a:bodyPr/>
                    <a:lstStyle/>
                    <a:p>
                      <a:pPr algn="ctr">
                        <a:lnSpc>
                          <a:spcPct val="150000"/>
                        </a:lnSpc>
                        <a:spcAft>
                          <a:spcPts val="0"/>
                        </a:spcAft>
                        <a:buNone/>
                      </a:pPr>
                      <a:r>
                        <a:rPr lang="zh-CN" altLang="en-US" sz="1200" i="0" dirty="0">
                          <a:solidFill>
                            <a:srgbClr val="0070C0"/>
                          </a:solidFill>
                          <a:sym typeface="Arial" panose="020B0604020202020204" pitchFamily="34" charset="0"/>
                        </a:rPr>
                        <a:t>无</a:t>
                      </a:r>
                    </a:p>
                  </a:txBody>
                  <a:tcPr marL="99060" marR="99060" marT="0" marB="0" anchor="ctr" anchorCtr="1"/>
                </a:tc>
                <a:tc>
                  <a:txBody>
                    <a:bodyPr/>
                    <a:lstStyle/>
                    <a:p>
                      <a:pPr algn="ctr">
                        <a:lnSpc>
                          <a:spcPct val="150000"/>
                        </a:lnSpc>
                        <a:spcAft>
                          <a:spcPts val="0"/>
                        </a:spcAft>
                        <a:buNone/>
                      </a:pPr>
                      <a:r>
                        <a:rPr lang="en-US" altLang="zh-CN" sz="1200" b="0" kern="100" dirty="0">
                          <a:effectLst/>
                          <a:latin typeface="微软雅黑" panose="020B0503020204020204" pitchFamily="34" charset="-122"/>
                          <a:ea typeface="微软雅黑" panose="020B0503020204020204" pitchFamily="34" charset="-122"/>
                        </a:rPr>
                        <a:t>0</a:t>
                      </a:r>
                    </a:p>
                  </a:txBody>
                  <a:tcPr marL="99060" marR="99060" marT="0" marB="0" anchor="ctr" anchorCtr="1"/>
                </a:tc>
                <a:extLst>
                  <a:ext uri="{0D108BD9-81ED-4DB2-BD59-A6C34878D82A}">
                    <a16:rowId xmlns:a16="http://schemas.microsoft.com/office/drawing/2014/main" val="10003"/>
                  </a:ext>
                </a:extLst>
              </a:tr>
              <a:tr h="362585">
                <a:tc>
                  <a:txBody>
                    <a:bodyPr/>
                    <a:lstStyle/>
                    <a:p>
                      <a:pPr algn="ctr">
                        <a:lnSpc>
                          <a:spcPct val="150000"/>
                        </a:lnSpc>
                        <a:spcAft>
                          <a:spcPts val="0"/>
                        </a:spcAft>
                      </a:pP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rPr>
                        <a:t> source</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光源/華周/HRS-70W60</a:t>
                      </a:r>
                    </a:p>
                  </a:txBody>
                  <a:tcPr marL="99060" marR="99060" marT="0" marB="0" anchor="ctr" anchorCtr="1"/>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b="0" kern="100" dirty="0">
                          <a:effectLst/>
                          <a:latin typeface="微软雅黑" panose="020B0503020204020204" pitchFamily="34" charset="-122"/>
                          <a:ea typeface="微软雅黑" panose="020B0503020204020204" pitchFamily="34" charset="-122"/>
                        </a:rPr>
                        <a:t>1</a:t>
                      </a:r>
                      <a:endParaRPr lang="zh-CN" alt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4"/>
                  </a:ext>
                </a:extLst>
              </a:tr>
              <a:tr h="390525">
                <a:tc>
                  <a:txBody>
                    <a:bodyPr/>
                    <a:lstStyle/>
                    <a:p>
                      <a:pPr algn="ctr">
                        <a:lnSpc>
                          <a:spcPct val="150000"/>
                        </a:lnSpc>
                        <a:spcAft>
                          <a:spcPts val="0"/>
                        </a:spcAft>
                      </a:pP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cs typeface="+mn-cs"/>
                        </a:rPr>
                        <a:t> source </a:t>
                      </a:r>
                      <a:r>
                        <a:rPr lang="en-US" altLang="zh-CN" sz="1200" b="1" kern="100" dirty="0">
                          <a:solidFill>
                            <a:schemeClr val="tx1"/>
                          </a:solidFill>
                          <a:effectLst/>
                          <a:latin typeface="微软雅黑" panose="020B0503020204020204" pitchFamily="34" charset="-122"/>
                          <a:ea typeface="微软雅黑" panose="020B0503020204020204" pitchFamily="34" charset="-122"/>
                        </a:rPr>
                        <a:t>controller</a:t>
                      </a: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DKZ2-24V-2-AC </a:t>
                      </a:r>
                      <a:endParaRPr lang="zh-CN" altLang="zh-CN" sz="1200" b="0" i="0" kern="100" dirty="0">
                        <a:solidFill>
                          <a:schemeClr val="dk1"/>
                        </a:solidFill>
                        <a:effectLst/>
                        <a:latin typeface="微软雅黑" panose="020B0503020204020204" pitchFamily="34" charset="-122"/>
                        <a:ea typeface="微软雅黑" panose="020B0503020204020204" pitchFamily="34" charset="-122"/>
                        <a:cs typeface="+mn-cs"/>
                      </a:endParaRP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5"/>
                  </a:ext>
                </a:extLst>
              </a:tr>
            </a:tbl>
          </a:graphicData>
        </a:graphic>
      </p:graphicFrame>
      <p:graphicFrame>
        <p:nvGraphicFramePr>
          <p:cNvPr id="5" name="表格 4"/>
          <p:cNvGraphicFramePr>
            <a:graphicFrameLocks noGrp="1"/>
          </p:cNvGraphicFramePr>
          <p:nvPr>
            <p:custDataLst>
              <p:tags r:id="rId2"/>
            </p:custDataLst>
          </p:nvPr>
        </p:nvGraphicFramePr>
        <p:xfrm>
          <a:off x="620606" y="3957832"/>
          <a:ext cx="5475394" cy="2483485"/>
        </p:xfrm>
        <a:graphic>
          <a:graphicData uri="http://schemas.openxmlformats.org/drawingml/2006/table">
            <a:tbl>
              <a:tblPr firstRow="1" firstCol="1" bandRow="1">
                <a:tableStyleId>{5C22544A-7EE6-4342-B048-85BDC9FD1C3A}</a:tableStyleId>
              </a:tblPr>
              <a:tblGrid>
                <a:gridCol w="3021963">
                  <a:extLst>
                    <a:ext uri="{9D8B030D-6E8A-4147-A177-3AD203B41FA5}">
                      <a16:colId xmlns:a16="http://schemas.microsoft.com/office/drawing/2014/main" val="20000"/>
                    </a:ext>
                  </a:extLst>
                </a:gridCol>
                <a:gridCol w="2453431">
                  <a:extLst>
                    <a:ext uri="{9D8B030D-6E8A-4147-A177-3AD203B41FA5}">
                      <a16:colId xmlns:a16="http://schemas.microsoft.com/office/drawing/2014/main" val="20001"/>
                    </a:ext>
                  </a:extLst>
                </a:gridCol>
              </a:tblGrid>
              <a:tr h="359410">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mounting orientation</a:t>
                      </a: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buNone/>
                      </a:pPr>
                      <a:r>
                        <a:rPr lang="en-US" altLang="zh-CN" sz="1200" b="0" i="0" dirty="0">
                          <a:solidFill>
                            <a:srgbClr val="0070C0"/>
                          </a:solidFill>
                          <a:sym typeface="Arial" panose="020B0604020202020204" pitchFamily="34" charset="0"/>
                        </a:rPr>
                        <a:t>back to the human machine ↑</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0"/>
                  </a:ext>
                </a:extLst>
              </a:tr>
              <a:tr h="35941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distance between </a:t>
                      </a:r>
                    </a:p>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camera surface → the product</a:t>
                      </a: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pPr>
                      <a:r>
                        <a:rPr lang="en-US" sz="1200" b="0" i="0" dirty="0">
                          <a:solidFill>
                            <a:srgbClr val="0070C0"/>
                          </a:solidFill>
                          <a:sym typeface="Arial" panose="020B0604020202020204" pitchFamily="34" charset="0"/>
                        </a:rPr>
                        <a:t>160±10 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1"/>
                  </a:ext>
                </a:extLst>
              </a:tr>
              <a:tr h="34036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distance between </a:t>
                      </a:r>
                    </a:p>
                    <a:p>
                      <a:pPr marL="0" marR="0" lvl="0" indent="0" algn="ctr" defTabSz="914400" rtl="0" eaLnBrk="1" fontAlgn="auto" latinLnBrk="0" hangingPunct="1">
                        <a:lnSpc>
                          <a:spcPct val="150000"/>
                        </a:lnSpc>
                        <a:spcBef>
                          <a:spcPts val="0"/>
                        </a:spcBef>
                        <a:spcAft>
                          <a:spcPts val="0"/>
                        </a:spcAft>
                        <a:buClrTx/>
                        <a:buSzTx/>
                        <a:buFontTx/>
                        <a:buNone/>
                        <a:defRPr/>
                      </a:pPr>
                      <a:r>
                        <a:rPr lang="en-US" altLang="zh-CN" sz="1200" b="1" kern="100" dirty="0">
                          <a:solidFill>
                            <a:schemeClr val="tx1"/>
                          </a:solidFill>
                          <a:effectLst/>
                          <a:latin typeface="微软雅黑" panose="020B0503020204020204" pitchFamily="34" charset="-122"/>
                          <a:ea typeface="微软雅黑" panose="020B0503020204020204" pitchFamily="34" charset="-122"/>
                        </a:rPr>
                        <a:t>the camera surface → </a:t>
                      </a: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rPr>
                        <a:t> source</a:t>
                      </a:r>
                      <a:endParaRPr lang="zh-CN" alt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pPr>
                      <a:r>
                        <a:rPr lang="en-US" sz="1200" i="0" dirty="0">
                          <a:solidFill>
                            <a:srgbClr val="0070C0"/>
                          </a:solidFill>
                          <a:sym typeface="Arial" panose="020B0604020202020204" pitchFamily="34" charset="0"/>
                        </a:rPr>
                        <a:t>30</a:t>
                      </a:r>
                      <a:r>
                        <a:rPr lang="zh-CN" altLang="en-US" sz="1200" i="0" dirty="0">
                          <a:solidFill>
                            <a:srgbClr val="0070C0"/>
                          </a:solidFill>
                          <a:sym typeface="Arial" panose="020B0604020202020204" pitchFamily="34" charset="0"/>
                        </a:rPr>
                        <a:t>±</a:t>
                      </a:r>
                      <a:r>
                        <a:rPr lang="en-US" altLang="zh-CN" sz="1200" i="0" dirty="0">
                          <a:solidFill>
                            <a:srgbClr val="0070C0"/>
                          </a:solidFill>
                          <a:sym typeface="Arial" panose="020B0604020202020204" pitchFamily="34" charset="0"/>
                        </a:rPr>
                        <a:t>10mm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2"/>
                  </a:ext>
                </a:extLst>
              </a:tr>
              <a:tr h="342265">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visual field</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0070C0"/>
                          </a:solidFill>
                          <a:sym typeface="Arial" panose="020B0604020202020204" pitchFamily="34" charset="0"/>
                        </a:rPr>
                        <a:t>66mm*51mm</a:t>
                      </a:r>
                      <a:endParaRPr lang="en-US" altLang="zh-CN" sz="1200" i="0" dirty="0">
                        <a:solidFill>
                          <a:srgbClr val="0070C0"/>
                        </a:solidFill>
                        <a:sym typeface="Arial" panose="020B0604020202020204" pitchFamily="34" charset="0"/>
                      </a:endParaRP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3"/>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Image pixel size</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1600*1200</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4"/>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single-pixel accuracy</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0.04</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5"/>
                  </a:ext>
                </a:extLst>
              </a:tr>
            </a:tbl>
          </a:graphicData>
        </a:graphic>
      </p:graphicFrame>
      <p:cxnSp>
        <p:nvCxnSpPr>
          <p:cNvPr id="6" name="直接箭头连接符 22"/>
          <p:cNvCxnSpPr/>
          <p:nvPr/>
        </p:nvCxnSpPr>
        <p:spPr>
          <a:xfrm>
            <a:off x="9984967" y="3601951"/>
            <a:ext cx="0" cy="394667"/>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 name="文本框 23"/>
          <p:cNvSpPr txBox="1"/>
          <p:nvPr/>
        </p:nvSpPr>
        <p:spPr>
          <a:xfrm>
            <a:off x="9943230" y="3667318"/>
            <a:ext cx="809837" cy="246221"/>
          </a:xfrm>
          <a:prstGeom prst="rect">
            <a:avLst/>
          </a:prstGeom>
          <a:noFill/>
        </p:spPr>
        <p:txBody>
          <a:bodyPr wrap="none" rtlCol="0">
            <a:spAutoFit/>
          </a:bodyPr>
          <a:lstStyle/>
          <a:p>
            <a:r>
              <a:rPr lang="en-US" altLang="zh-CN" sz="1000" dirty="0">
                <a:solidFill>
                  <a:srgbClr val="FF0000"/>
                </a:solidFill>
              </a:rPr>
              <a:t>30</a:t>
            </a:r>
            <a:r>
              <a:rPr lang="zh-CN" altLang="en-US" sz="1000" dirty="0">
                <a:solidFill>
                  <a:srgbClr val="FF0000"/>
                </a:solidFill>
              </a:rPr>
              <a:t>±</a:t>
            </a:r>
            <a:r>
              <a:rPr lang="en-US" altLang="zh-CN" sz="1000" dirty="0">
                <a:solidFill>
                  <a:srgbClr val="FF0000"/>
                </a:solidFill>
              </a:rPr>
              <a:t>10mm</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dirty="0">
                <a:sym typeface="+mn-ea"/>
              </a:rPr>
              <a:t>6</a:t>
            </a:r>
            <a:r>
              <a:rPr lang="en-US" altLang="zh-CN" noProof="0" dirty="0">
                <a:sym typeface="+mn-ea"/>
              </a:rPr>
              <a:t>. Key tool design</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17</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4" name="文本框 3"/>
          <p:cNvSpPr txBox="1"/>
          <p:nvPr>
            <p:custDataLst>
              <p:tags r:id="rId2"/>
            </p:custDataLst>
          </p:nvPr>
        </p:nvSpPr>
        <p:spPr>
          <a:xfrm>
            <a:off x="318770" y="785495"/>
            <a:ext cx="3270736"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6.1Glue dispensing components</a:t>
            </a:r>
            <a:endParaRPr lang="zh-CN" altLang="en-US" sz="1800" b="1" dirty="0">
              <a:latin typeface="Calibri" panose="020F0502020204030204" charset="0"/>
              <a:cs typeface="Calibri" panose="020F0502020204030204" charset="0"/>
            </a:endParaRPr>
          </a:p>
        </p:txBody>
      </p:sp>
      <p:sp>
        <p:nvSpPr>
          <p:cNvPr id="6"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2" name="图片 1"/>
          <p:cNvPicPr>
            <a:picLocks noChangeAspect="1"/>
          </p:cNvPicPr>
          <p:nvPr/>
        </p:nvPicPr>
        <p:blipFill>
          <a:blip r:embed="rId7"/>
          <a:stretch>
            <a:fillRect/>
          </a:stretch>
        </p:blipFill>
        <p:spPr>
          <a:xfrm>
            <a:off x="4503925" y="1695949"/>
            <a:ext cx="2900256" cy="4840715"/>
          </a:xfrm>
          <a:prstGeom prst="rect">
            <a:avLst/>
          </a:prstGeom>
        </p:spPr>
      </p:pic>
      <p:sp>
        <p:nvSpPr>
          <p:cNvPr id="3" name="圆角矩形标注 6"/>
          <p:cNvSpPr/>
          <p:nvPr/>
        </p:nvSpPr>
        <p:spPr>
          <a:xfrm>
            <a:off x="7533364" y="5926772"/>
            <a:ext cx="2515892" cy="609891"/>
          </a:xfrm>
          <a:prstGeom prst="wedgeRoundRectCallout">
            <a:avLst>
              <a:gd name="adj1" fmla="val -106442"/>
              <a:gd name="adj2" fmla="val 11822"/>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olidFill>
                  <a:srgbClr val="000000"/>
                </a:solidFill>
                <a:latin typeface="黑体" panose="02010609060101010101" charset="-122"/>
                <a:sym typeface="+mn-ea"/>
              </a:rPr>
              <a:t>Glue dispensing head</a:t>
            </a:r>
          </a:p>
          <a:p>
            <a:pPr algn="ctr"/>
            <a:r>
              <a:rPr lang="en-US" altLang="zh-CN" sz="1200" dirty="0">
                <a:solidFill>
                  <a:srgbClr val="000000"/>
                </a:solidFill>
                <a:latin typeface="黑体" panose="02010609060101010101" charset="-122"/>
                <a:sym typeface="+mn-ea"/>
              </a:rPr>
              <a:t> (diameter 3.4)</a:t>
            </a:r>
          </a:p>
        </p:txBody>
      </p:sp>
      <p:sp>
        <p:nvSpPr>
          <p:cNvPr id="7" name="圆角矩形标注 6"/>
          <p:cNvSpPr/>
          <p:nvPr/>
        </p:nvSpPr>
        <p:spPr>
          <a:xfrm>
            <a:off x="3133494" y="5150499"/>
            <a:ext cx="1208438" cy="514686"/>
          </a:xfrm>
          <a:prstGeom prst="wedgeRoundRectCallout">
            <a:avLst>
              <a:gd name="adj1" fmla="val 147051"/>
              <a:gd name="adj2" fmla="val -81432"/>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eaLnBrk="1" fontAlgn="auto" hangingPunct="1">
              <a:spcBef>
                <a:spcPts val="0"/>
              </a:spcBef>
              <a:spcAft>
                <a:spcPts val="0"/>
              </a:spcAft>
              <a:defRPr/>
            </a:pPr>
            <a:r>
              <a:rPr lang="en-US" altLang="zh-CN" sz="1200" dirty="0">
                <a:latin typeface="微软雅黑" panose="020B0503020204020204" pitchFamily="34" charset="-122"/>
                <a:ea typeface="微软雅黑" panose="020B0503020204020204" pitchFamily="34" charset="-122"/>
              </a:rPr>
              <a:t>Rubber bucket</a:t>
            </a:r>
          </a:p>
        </p:txBody>
      </p:sp>
      <p:pic>
        <p:nvPicPr>
          <p:cNvPr id="10" name="图片 32" descr="截屏2022-12-24 18.06.13"/>
          <p:cNvPicPr>
            <a:picLocks noChangeAspect="1"/>
          </p:cNvPicPr>
          <p:nvPr/>
        </p:nvPicPr>
        <p:blipFill>
          <a:blip r:embed="rId8"/>
          <a:srcRect t="10807"/>
          <a:stretch>
            <a:fillRect/>
          </a:stretch>
        </p:blipFill>
        <p:spPr>
          <a:xfrm>
            <a:off x="7000629" y="1219563"/>
            <a:ext cx="4822562" cy="3334538"/>
          </a:xfrm>
          <a:prstGeom prst="rect">
            <a:avLst/>
          </a:prstGeom>
        </p:spPr>
      </p:pic>
      <p:sp>
        <p:nvSpPr>
          <p:cNvPr id="11" name="圆角矩形标注 6"/>
          <p:cNvSpPr/>
          <p:nvPr/>
        </p:nvSpPr>
        <p:spPr>
          <a:xfrm>
            <a:off x="7533364" y="5240498"/>
            <a:ext cx="1279796" cy="432418"/>
          </a:xfrm>
          <a:prstGeom prst="wedgeRoundRectCallout">
            <a:avLst>
              <a:gd name="adj1" fmla="val -92212"/>
              <a:gd name="adj2" fmla="val -14595"/>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olidFill>
                  <a:srgbClr val="000000"/>
                </a:solidFill>
                <a:latin typeface="黑体" panose="02010609060101010101" charset="-122"/>
                <a:sym typeface="+mn-ea"/>
              </a:rPr>
              <a:t>range finder</a:t>
            </a:r>
          </a:p>
        </p:txBody>
      </p:sp>
      <p:sp>
        <p:nvSpPr>
          <p:cNvPr id="12" name="矩形 11"/>
          <p:cNvSpPr/>
          <p:nvPr/>
        </p:nvSpPr>
        <p:spPr>
          <a:xfrm>
            <a:off x="10213848" y="1219563"/>
            <a:ext cx="791684" cy="3472605"/>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000629" y="1105456"/>
            <a:ext cx="4904859" cy="36959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肘形连接符 33"/>
          <p:cNvCxnSpPr>
            <a:stCxn id="11" idx="3"/>
            <a:endCxn id="12" idx="2"/>
          </p:cNvCxnSpPr>
          <p:nvPr>
            <p:custDataLst>
              <p:tags r:id="rId3"/>
            </p:custDataLst>
          </p:nvPr>
        </p:nvCxnSpPr>
        <p:spPr>
          <a:xfrm flipV="1">
            <a:off x="8813160" y="4692168"/>
            <a:ext cx="1796530" cy="764539"/>
          </a:xfrm>
          <a:prstGeom prst="bentConnector2">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圆角矩形标注 6"/>
          <p:cNvSpPr/>
          <p:nvPr/>
        </p:nvSpPr>
        <p:spPr>
          <a:xfrm>
            <a:off x="3062947" y="5907306"/>
            <a:ext cx="1350343" cy="451885"/>
          </a:xfrm>
          <a:prstGeom prst="wedgeRoundRectCallout">
            <a:avLst>
              <a:gd name="adj1" fmla="val 177467"/>
              <a:gd name="adj2" fmla="val -156038"/>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olidFill>
                  <a:srgbClr val="000000"/>
                </a:solidFill>
                <a:latin typeface="黑体" panose="02010609060101010101" charset="-122"/>
                <a:sym typeface="+mn-ea"/>
              </a:rPr>
              <a:t>Dispensing valve</a:t>
            </a:r>
          </a:p>
        </p:txBody>
      </p:sp>
      <p:cxnSp>
        <p:nvCxnSpPr>
          <p:cNvPr id="16" name="肘形连接符 33"/>
          <p:cNvCxnSpPr>
            <a:stCxn id="15" idx="1"/>
            <a:endCxn id="17" idx="2"/>
          </p:cNvCxnSpPr>
          <p:nvPr>
            <p:custDataLst>
              <p:tags r:id="rId4"/>
            </p:custDataLst>
          </p:nvPr>
        </p:nvCxnSpPr>
        <p:spPr>
          <a:xfrm rot="10800000">
            <a:off x="2570953" y="4750519"/>
            <a:ext cx="491994" cy="1382730"/>
          </a:xfrm>
          <a:prstGeom prst="bentConnector2">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9"/>
          <a:stretch>
            <a:fillRect/>
          </a:stretch>
        </p:blipFill>
        <p:spPr>
          <a:xfrm>
            <a:off x="405046" y="1189305"/>
            <a:ext cx="4331813" cy="356121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dirty="0">
                <a:sym typeface="+mn-ea"/>
              </a:rPr>
              <a:t>6</a:t>
            </a:r>
            <a:r>
              <a:rPr lang="en-US" altLang="zh-CN" noProof="0" dirty="0">
                <a:sym typeface="+mn-ea"/>
              </a:rPr>
              <a:t>. Key tool design </a:t>
            </a:r>
            <a:endParaRPr lang="en-US" altLang="zh-CN" dirty="0">
              <a:latin typeface="+mn-lt"/>
            </a:endParaRPr>
          </a:p>
        </p:txBody>
      </p:sp>
      <p:sp>
        <p:nvSpPr>
          <p:cNvPr id="117"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18</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4" name="文本框 3"/>
          <p:cNvSpPr txBox="1"/>
          <p:nvPr>
            <p:custDataLst>
              <p:tags r:id="rId2"/>
            </p:custDataLst>
          </p:nvPr>
        </p:nvSpPr>
        <p:spPr>
          <a:xfrm>
            <a:off x="318769" y="785495"/>
            <a:ext cx="3416652"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6.1Glue dispensing components</a:t>
            </a:r>
            <a:endParaRPr lang="zh-CN" altLang="en-US" sz="1800" b="1" dirty="0">
              <a:latin typeface="Calibri" panose="020F0502020204030204" charset="0"/>
              <a:cs typeface="Calibri" panose="020F0502020204030204" charset="0"/>
            </a:endParaRPr>
          </a:p>
        </p:txBody>
      </p:sp>
      <p:sp>
        <p:nvSpPr>
          <p:cNvPr id="5"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2" name="图片 1"/>
          <p:cNvPicPr>
            <a:picLocks noChangeAspect="1"/>
          </p:cNvPicPr>
          <p:nvPr/>
        </p:nvPicPr>
        <p:blipFill>
          <a:blip r:embed="rId6"/>
          <a:stretch>
            <a:fillRect/>
          </a:stretch>
        </p:blipFill>
        <p:spPr>
          <a:xfrm>
            <a:off x="202756" y="1597960"/>
            <a:ext cx="5652430" cy="3624581"/>
          </a:xfrm>
          <a:prstGeom prst="rect">
            <a:avLst/>
          </a:prstGeom>
        </p:spPr>
      </p:pic>
      <p:sp>
        <p:nvSpPr>
          <p:cNvPr id="3" name="文本框 2"/>
          <p:cNvSpPr txBox="1"/>
          <p:nvPr/>
        </p:nvSpPr>
        <p:spPr>
          <a:xfrm>
            <a:off x="5816600" y="5038390"/>
            <a:ext cx="1668780" cy="368300"/>
          </a:xfrm>
          <a:prstGeom prst="rect">
            <a:avLst/>
          </a:prstGeom>
          <a:noFill/>
          <a:ln>
            <a:solidFill>
              <a:schemeClr val="tx1"/>
            </a:solidFill>
          </a:ln>
        </p:spPr>
        <p:txBody>
          <a:bodyPr wrap="none" rtlCol="0" anchor="t">
            <a:spAutoFit/>
          </a:bodyPr>
          <a:lstStyle/>
          <a:p>
            <a:r>
              <a:rPr lang="en-US" altLang="zh-CN" dirty="0">
                <a:solidFill>
                  <a:srgbClr val="000000"/>
                </a:solidFill>
                <a:latin typeface="黑体" panose="02010609060101010101" charset="-122"/>
                <a:ea typeface="等线" panose="02010600030101010101" charset="-122"/>
                <a:sym typeface="+mn-ea"/>
              </a:rPr>
              <a:t>Y-S</a:t>
            </a:r>
            <a:r>
              <a:rPr lang="zh-CN" altLang="en-US" dirty="0">
                <a:solidFill>
                  <a:srgbClr val="000000"/>
                </a:solidFill>
                <a:latin typeface="黑体" panose="02010609060101010101" charset="-122"/>
                <a:ea typeface="等线" panose="02010600030101010101" charset="-122"/>
                <a:sym typeface="+mn-ea"/>
              </a:rPr>
              <a:t>ervo motor</a:t>
            </a:r>
            <a:endParaRPr lang="zh-CN" altLang="en-US"/>
          </a:p>
        </p:txBody>
      </p:sp>
      <p:sp>
        <p:nvSpPr>
          <p:cNvPr id="6" name="文本框 3"/>
          <p:cNvSpPr txBox="1"/>
          <p:nvPr/>
        </p:nvSpPr>
        <p:spPr>
          <a:xfrm>
            <a:off x="5816600" y="3771565"/>
            <a:ext cx="1668780" cy="368300"/>
          </a:xfrm>
          <a:prstGeom prst="rect">
            <a:avLst/>
          </a:prstGeom>
          <a:noFill/>
          <a:ln>
            <a:solidFill>
              <a:schemeClr val="tx1"/>
            </a:solidFill>
          </a:ln>
        </p:spPr>
        <p:txBody>
          <a:bodyPr wrap="none" rtlCol="0" anchor="t">
            <a:spAutoFit/>
          </a:bodyPr>
          <a:lstStyle/>
          <a:p>
            <a:r>
              <a:rPr lang="en-US" altLang="zh-CN" dirty="0">
                <a:solidFill>
                  <a:srgbClr val="000000"/>
                </a:solidFill>
                <a:latin typeface="黑体" panose="02010609060101010101" charset="-122"/>
                <a:ea typeface="等线" panose="02010600030101010101" charset="-122"/>
                <a:sym typeface="+mn-ea"/>
              </a:rPr>
              <a:t>X-S</a:t>
            </a:r>
            <a:r>
              <a:rPr lang="zh-CN" altLang="en-US" dirty="0">
                <a:solidFill>
                  <a:srgbClr val="000000"/>
                </a:solidFill>
                <a:latin typeface="黑体" panose="02010609060101010101" charset="-122"/>
                <a:ea typeface="等线" panose="02010600030101010101" charset="-122"/>
                <a:sym typeface="+mn-ea"/>
              </a:rPr>
              <a:t>ervo motor</a:t>
            </a:r>
            <a:endParaRPr lang="zh-CN" altLang="en-US"/>
          </a:p>
        </p:txBody>
      </p:sp>
      <p:grpSp>
        <p:nvGrpSpPr>
          <p:cNvPr id="7" name="组合 4"/>
          <p:cNvGrpSpPr/>
          <p:nvPr/>
        </p:nvGrpSpPr>
        <p:grpSpPr>
          <a:xfrm>
            <a:off x="4088447" y="3172124"/>
            <a:ext cx="1728470" cy="793750"/>
            <a:chOff x="7847" y="4563"/>
            <a:chExt cx="2722" cy="1250"/>
          </a:xfrm>
        </p:grpSpPr>
        <p:sp>
          <p:nvSpPr>
            <p:cNvPr id="9" name="椭圆 37"/>
            <p:cNvSpPr>
              <a:spLocks noChangeAspect="1"/>
            </p:cNvSpPr>
            <p:nvPr/>
          </p:nvSpPr>
          <p:spPr>
            <a:xfrm rot="10800000">
              <a:off x="7847" y="4563"/>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肘形连接符 38"/>
            <p:cNvCxnSpPr>
              <a:stCxn id="6" idx="1"/>
              <a:endCxn id="9" idx="2"/>
            </p:cNvCxnSpPr>
            <p:nvPr/>
          </p:nvCxnSpPr>
          <p:spPr>
            <a:xfrm rot="10800000">
              <a:off x="7998" y="4639"/>
              <a:ext cx="2571" cy="1174"/>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组合 5"/>
          <p:cNvGrpSpPr/>
          <p:nvPr/>
        </p:nvGrpSpPr>
        <p:grpSpPr>
          <a:xfrm>
            <a:off x="4322445" y="3955715"/>
            <a:ext cx="1494790" cy="1266825"/>
            <a:chOff x="7222" y="4825"/>
            <a:chExt cx="2354" cy="1995"/>
          </a:xfrm>
        </p:grpSpPr>
        <p:sp>
          <p:nvSpPr>
            <p:cNvPr id="17" name="椭圆 6"/>
            <p:cNvSpPr>
              <a:spLocks noChangeAspect="1"/>
            </p:cNvSpPr>
            <p:nvPr/>
          </p:nvSpPr>
          <p:spPr>
            <a:xfrm rot="10800000">
              <a:off x="7222" y="4825"/>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肘形连接符 7"/>
            <p:cNvCxnSpPr>
              <a:stCxn id="3" idx="1"/>
              <a:endCxn id="17" idx="0"/>
            </p:cNvCxnSpPr>
            <p:nvPr/>
          </p:nvCxnSpPr>
          <p:spPr>
            <a:xfrm rot="10800000">
              <a:off x="7298" y="4976"/>
              <a:ext cx="2278" cy="1844"/>
            </a:xfrm>
            <a:prstGeom prst="bentConnector2">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0" name="文本框 19"/>
          <p:cNvSpPr txBox="1"/>
          <p:nvPr/>
        </p:nvSpPr>
        <p:spPr>
          <a:xfrm>
            <a:off x="8137631" y="3955715"/>
            <a:ext cx="3352603" cy="1815882"/>
          </a:xfrm>
          <a:prstGeom prst="rect">
            <a:avLst/>
          </a:prstGeom>
          <a:noFill/>
        </p:spPr>
        <p:txBody>
          <a:bodyPr wrap="square" rtlCol="0">
            <a:spAutoFit/>
          </a:bodyPr>
          <a:lstStyle/>
          <a:p>
            <a:pPr marL="0" marR="0" indent="0" rtl="0" eaLnBrk="1" fontAlgn="auto" latinLnBrk="0" hangingPunct="1">
              <a:spcBef>
                <a:spcPts val="0"/>
              </a:spcBef>
              <a:spcAft>
                <a:spcPts val="0"/>
              </a:spcAft>
            </a:pPr>
            <a:r>
              <a:rPr lang="zh-CN" altLang="en-US" sz="1400" dirty="0"/>
              <a:t>Positioning accuracy = </a:t>
            </a:r>
            <a:r>
              <a:rPr lang="en-US" altLang="zh-CN" sz="1400" dirty="0"/>
              <a:t>X-axis module accuracy + Y-axis module accuracy + </a:t>
            </a:r>
            <a:endParaRPr lang="zh-CN" altLang="zh-CN" sz="1400" dirty="0"/>
          </a:p>
          <a:p>
            <a:pPr marL="0" indent="0" rtl="0" eaLnBrk="1" fontAlgn="ctr" latinLnBrk="0" hangingPunct="1">
              <a:spcBef>
                <a:spcPts val="0"/>
              </a:spcBef>
              <a:spcAft>
                <a:spcPts val="0"/>
              </a:spcAft>
            </a:pPr>
            <a:r>
              <a:rPr lang="en-US" altLang="zh-CN" sz="1400" dirty="0"/>
              <a:t>Z-axis module accuracy</a:t>
            </a:r>
            <a:r>
              <a:rPr lang="zh-CN" altLang="en-US" sz="1400" dirty="0"/>
              <a:t>：± (0.01+0.01</a:t>
            </a:r>
            <a:r>
              <a:rPr lang="en-US" altLang="zh-CN" sz="1400" dirty="0"/>
              <a:t>+0.01</a:t>
            </a:r>
            <a:r>
              <a:rPr lang="zh-CN" altLang="en-US" sz="1400" dirty="0"/>
              <a:t>) =±0.0</a:t>
            </a:r>
            <a:r>
              <a:rPr lang="en-US" altLang="zh-CN" sz="1400" dirty="0"/>
              <a:t>3</a:t>
            </a:r>
            <a:r>
              <a:rPr lang="zh-CN" altLang="en-US" sz="1400" dirty="0"/>
              <a:t>mm；</a:t>
            </a:r>
            <a:endParaRPr lang="en-US" altLang="zh-CN" sz="1400" dirty="0"/>
          </a:p>
          <a:p>
            <a:pPr indent="457200"/>
            <a:endParaRPr lang="en-US" altLang="zh-CN" sz="1400" dirty="0"/>
          </a:p>
          <a:p>
            <a:r>
              <a:rPr lang="en-US" altLang="zh-CN" sz="1400" dirty="0"/>
              <a:t>Mounting accuracy=positioning accuracy + CCD recognition accuracy :</a:t>
            </a:r>
          </a:p>
          <a:p>
            <a:r>
              <a:rPr lang="en-US" altLang="zh-CN" sz="1400" dirty="0"/>
              <a:t>± (0.03+0.12)=0.15mm.</a:t>
            </a:r>
            <a:endParaRPr lang="zh-CN" altLang="en-US" sz="1400" dirty="0"/>
          </a:p>
        </p:txBody>
      </p:sp>
      <p:graphicFrame>
        <p:nvGraphicFramePr>
          <p:cNvPr id="22" name="表格 21"/>
          <p:cNvGraphicFramePr/>
          <p:nvPr>
            <p:custDataLst>
              <p:tags r:id="rId3"/>
            </p:custDataLst>
          </p:nvPr>
        </p:nvGraphicFramePr>
        <p:xfrm>
          <a:off x="7615040" y="1269000"/>
          <a:ext cx="4100648" cy="1728000"/>
        </p:xfrm>
        <a:graphic>
          <a:graphicData uri="http://schemas.openxmlformats.org/drawingml/2006/table">
            <a:tbl>
              <a:tblPr firstRow="1" bandRow="1">
                <a:tableStyleId>{5C22544A-7EE6-4342-B048-85BDC9FD1C3A}</a:tableStyleId>
              </a:tblPr>
              <a:tblGrid>
                <a:gridCol w="2130357">
                  <a:extLst>
                    <a:ext uri="{9D8B030D-6E8A-4147-A177-3AD203B41FA5}">
                      <a16:colId xmlns:a16="http://schemas.microsoft.com/office/drawing/2014/main" val="20000"/>
                    </a:ext>
                  </a:extLst>
                </a:gridCol>
                <a:gridCol w="1970291">
                  <a:extLst>
                    <a:ext uri="{9D8B030D-6E8A-4147-A177-3AD203B41FA5}">
                      <a16:colId xmlns:a16="http://schemas.microsoft.com/office/drawing/2014/main" val="20001"/>
                    </a:ext>
                  </a:extLst>
                </a:gridCol>
              </a:tblGrid>
              <a:tr h="43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黑体" panose="02010609060101010101" charset="-122"/>
                          <a:cs typeface="+mn-cs"/>
                        </a:rPr>
                        <a:t>X-axis module </a:t>
                      </a:r>
                      <a:r>
                        <a:rPr kumimoji="0" lang="en-US" altLang="zh-CN" sz="12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t>accuracy</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黑体" panose="02010609060101010101" charset="-122"/>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0.01</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黑体" panose="02010609060101010101" charset="-122"/>
                          <a:cs typeface="+mn-cs"/>
                        </a:rPr>
                        <a:t>Y-axis module </a:t>
                      </a:r>
                      <a:r>
                        <a:rPr kumimoji="0" lang="en-US" altLang="zh-CN" sz="12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t>accuracy</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黑体" panose="02010609060101010101" charset="-122"/>
                        <a:cs typeface="+mn-cs"/>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0.01</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000">
                <a:tc>
                  <a:txBody>
                    <a:bodyPr/>
                    <a:lstStyle/>
                    <a:p>
                      <a:pPr indent="0" algn="ctr">
                        <a:buNone/>
                      </a:pPr>
                      <a:r>
                        <a:rPr lang="en-US" altLang="zh-CN" sz="1200" b="0" dirty="0">
                          <a:solidFill>
                            <a:srgbClr val="000000"/>
                          </a:solidFill>
                          <a:latin typeface="微软雅黑" panose="020B0503020204020204" pitchFamily="34" charset="-122"/>
                        </a:rPr>
                        <a:t>Z-axis module </a:t>
                      </a:r>
                      <a:r>
                        <a:rPr lang="en-US" altLang="zh-CN" sz="1200" dirty="0"/>
                        <a:t>accuracy</a:t>
                      </a:r>
                      <a:endParaRPr lang="zh-CN" altLang="en-US" sz="1200" b="0" dirty="0">
                        <a:solidFill>
                          <a:srgbClr val="000000"/>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0.01</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2000">
                <a:tc>
                  <a:txBody>
                    <a:bodyPr/>
                    <a:lstStyle/>
                    <a:p>
                      <a:pPr indent="0" algn="ctr">
                        <a:buNone/>
                      </a:pPr>
                      <a:r>
                        <a:rPr lang="en-US" altLang="zh-CN" sz="1200" dirty="0"/>
                        <a:t>CCD recognition accuracy</a:t>
                      </a:r>
                      <a:endParaRPr lang="en-US" altLang="en-US" sz="1200" b="0" dirty="0">
                        <a:solidFill>
                          <a:srgbClr val="000000"/>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0.12</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文本框 3"/>
          <p:cNvSpPr txBox="1"/>
          <p:nvPr/>
        </p:nvSpPr>
        <p:spPr>
          <a:xfrm>
            <a:off x="5647635" y="2390796"/>
            <a:ext cx="1685077" cy="369332"/>
          </a:xfrm>
          <a:prstGeom prst="rect">
            <a:avLst/>
          </a:prstGeom>
          <a:noFill/>
          <a:ln>
            <a:solidFill>
              <a:schemeClr val="tx1"/>
            </a:solidFill>
          </a:ln>
        </p:spPr>
        <p:txBody>
          <a:bodyPr wrap="none" rtlCol="0" anchor="t">
            <a:spAutoFit/>
          </a:bodyPr>
          <a:lstStyle/>
          <a:p>
            <a:r>
              <a:rPr lang="en-US" altLang="zh-CN" dirty="0">
                <a:solidFill>
                  <a:srgbClr val="000000"/>
                </a:solidFill>
                <a:latin typeface="黑体" panose="02010609060101010101" charset="-122"/>
                <a:ea typeface="等线" panose="02010600030101010101" charset="-122"/>
                <a:sym typeface="+mn-ea"/>
              </a:rPr>
              <a:t>Z-S</a:t>
            </a:r>
            <a:r>
              <a:rPr lang="zh-CN" altLang="en-US" dirty="0">
                <a:solidFill>
                  <a:srgbClr val="000000"/>
                </a:solidFill>
                <a:latin typeface="黑体" panose="02010609060101010101" charset="-122"/>
                <a:ea typeface="等线" panose="02010600030101010101" charset="-122"/>
                <a:sym typeface="+mn-ea"/>
              </a:rPr>
              <a:t>ervo motor</a:t>
            </a:r>
            <a:endParaRPr lang="zh-CN" altLang="en-US" dirty="0"/>
          </a:p>
        </p:txBody>
      </p:sp>
      <p:grpSp>
        <p:nvGrpSpPr>
          <p:cNvPr id="10" name="组合 4"/>
          <p:cNvGrpSpPr/>
          <p:nvPr/>
        </p:nvGrpSpPr>
        <p:grpSpPr>
          <a:xfrm>
            <a:off x="2947386" y="2551093"/>
            <a:ext cx="2700020" cy="95885"/>
            <a:chOff x="7847" y="4563"/>
            <a:chExt cx="4252" cy="151"/>
          </a:xfrm>
        </p:grpSpPr>
        <p:sp>
          <p:nvSpPr>
            <p:cNvPr id="12" name="椭圆 37"/>
            <p:cNvSpPr>
              <a:spLocks noChangeAspect="1"/>
            </p:cNvSpPr>
            <p:nvPr/>
          </p:nvSpPr>
          <p:spPr>
            <a:xfrm rot="10800000">
              <a:off x="7847" y="4563"/>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肘形连接符 38"/>
            <p:cNvCxnSpPr>
              <a:stCxn id="8" idx="1"/>
              <a:endCxn id="12" idx="2"/>
            </p:cNvCxnSpPr>
            <p:nvPr/>
          </p:nvCxnSpPr>
          <p:spPr>
            <a:xfrm rot="10800000" flipV="1">
              <a:off x="7998" y="4601"/>
              <a:ext cx="4101" cy="37"/>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9"/>
          <a:srcRect l="3028" t="5704" r="2669" b="4455"/>
          <a:stretch>
            <a:fillRect/>
          </a:stretch>
        </p:blipFill>
        <p:spPr>
          <a:xfrm>
            <a:off x="730743" y="832821"/>
            <a:ext cx="2693674" cy="2223418"/>
          </a:xfrm>
          <a:prstGeom prst="rect">
            <a:avLst/>
          </a:prstGeom>
        </p:spPr>
      </p:pic>
      <p:pic>
        <p:nvPicPr>
          <p:cNvPr id="15" name="图片 14"/>
          <p:cNvPicPr>
            <a:picLocks noChangeAspect="1"/>
          </p:cNvPicPr>
          <p:nvPr/>
        </p:nvPicPr>
        <p:blipFill>
          <a:blip r:embed="rId10"/>
          <a:srcRect l="3291" t="2768" r="6680" b="2032"/>
          <a:stretch>
            <a:fillRect/>
          </a:stretch>
        </p:blipFill>
        <p:spPr>
          <a:xfrm>
            <a:off x="5132615" y="852458"/>
            <a:ext cx="2337135" cy="2204755"/>
          </a:xfrm>
          <a:prstGeom prst="rect">
            <a:avLst/>
          </a:prstGeom>
        </p:spPr>
      </p:pic>
      <p:pic>
        <p:nvPicPr>
          <p:cNvPr id="8" name="图片 7"/>
          <p:cNvPicPr>
            <a:picLocks noChangeAspect="1"/>
          </p:cNvPicPr>
          <p:nvPr/>
        </p:nvPicPr>
        <p:blipFill>
          <a:blip r:embed="rId11"/>
          <a:srcRect l="1458" t="3805" r="4270" b="3425"/>
          <a:stretch>
            <a:fillRect/>
          </a:stretch>
        </p:blipFill>
        <p:spPr>
          <a:xfrm>
            <a:off x="8712035" y="861755"/>
            <a:ext cx="2394242" cy="2166937"/>
          </a:xfrm>
          <a:prstGeom prst="rect">
            <a:avLst/>
          </a:prstGeom>
        </p:spPr>
      </p:pic>
      <p:pic>
        <p:nvPicPr>
          <p:cNvPr id="19" name="图片 18"/>
          <p:cNvPicPr>
            <a:picLocks noChangeAspect="1"/>
          </p:cNvPicPr>
          <p:nvPr/>
        </p:nvPicPr>
        <p:blipFill>
          <a:blip r:embed="rId12"/>
          <a:stretch>
            <a:fillRect/>
          </a:stretch>
        </p:blipFill>
        <p:spPr>
          <a:xfrm>
            <a:off x="8938777" y="3752231"/>
            <a:ext cx="2412933" cy="2189576"/>
          </a:xfrm>
          <a:prstGeom prst="rect">
            <a:avLst/>
          </a:prstGeom>
        </p:spPr>
      </p:pic>
      <p:pic>
        <p:nvPicPr>
          <p:cNvPr id="20" name="图片 19"/>
          <p:cNvPicPr>
            <a:picLocks noChangeAspect="1"/>
          </p:cNvPicPr>
          <p:nvPr/>
        </p:nvPicPr>
        <p:blipFill>
          <a:blip r:embed="rId11"/>
          <a:srcRect l="1458" t="3805" r="4270" b="3425"/>
          <a:stretch>
            <a:fillRect/>
          </a:stretch>
        </p:blipFill>
        <p:spPr>
          <a:xfrm>
            <a:off x="4784023" y="3610411"/>
            <a:ext cx="2618946" cy="2370308"/>
          </a:xfrm>
          <a:prstGeom prst="rect">
            <a:avLst/>
          </a:prstGeom>
        </p:spPr>
      </p:pic>
      <p:pic>
        <p:nvPicPr>
          <p:cNvPr id="26" name="图片 25"/>
          <p:cNvPicPr>
            <a:picLocks noChangeAspect="1"/>
          </p:cNvPicPr>
          <p:nvPr/>
        </p:nvPicPr>
        <p:blipFill>
          <a:blip r:embed="rId13"/>
          <a:srcRect l="4357" t="4678" r="4240" b="2281"/>
          <a:stretch>
            <a:fillRect/>
          </a:stretch>
        </p:blipFill>
        <p:spPr>
          <a:xfrm>
            <a:off x="840289" y="3795884"/>
            <a:ext cx="2729761" cy="2237841"/>
          </a:xfrm>
          <a:prstGeom prst="rect">
            <a:avLst/>
          </a:prstGeom>
        </p:spPr>
      </p:pic>
      <p:sp>
        <p:nvSpPr>
          <p:cNvPr id="25"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dirty="0">
                <a:sym typeface="+mn-ea"/>
              </a:rPr>
              <a:t>7</a:t>
            </a:r>
            <a:r>
              <a:rPr lang="en-US" altLang="zh-CN" noProof="0" dirty="0">
                <a:sym typeface="+mn-ea"/>
              </a:rPr>
              <a:t>. Action process design</a:t>
            </a:r>
            <a:endParaRPr lang="en-US" altLang="zh-CN" dirty="0">
              <a:latin typeface="+mn-lt"/>
            </a:endParaRPr>
          </a:p>
        </p:txBody>
      </p:sp>
      <p:sp>
        <p:nvSpPr>
          <p:cNvPr id="12" name="Shape 78"/>
          <p:cNvSpPr/>
          <p:nvPr>
            <p:custDataLst>
              <p:tags r:id="rId1"/>
            </p:custDataLst>
          </p:nvPr>
        </p:nvSpPr>
        <p:spPr>
          <a:xfrm flipV="1">
            <a:off x="3654329" y="2266199"/>
            <a:ext cx="360000" cy="0"/>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13" name="Shape 78"/>
          <p:cNvSpPr/>
          <p:nvPr>
            <p:custDataLst>
              <p:tags r:id="rId2"/>
            </p:custDataLst>
          </p:nvPr>
        </p:nvSpPr>
        <p:spPr>
          <a:xfrm flipV="1">
            <a:off x="7597486" y="2257673"/>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4" name="Shape 78"/>
          <p:cNvSpPr/>
          <p:nvPr>
            <p:custDataLst>
              <p:tags r:id="rId3"/>
            </p:custDataLst>
          </p:nvPr>
        </p:nvSpPr>
        <p:spPr>
          <a:xfrm rot="5400000" flipV="1">
            <a:off x="9823354" y="3670239"/>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22" name="Shape 78"/>
          <p:cNvSpPr/>
          <p:nvPr>
            <p:custDataLst>
              <p:tags r:id="rId4"/>
            </p:custDataLst>
          </p:nvPr>
        </p:nvSpPr>
        <p:spPr>
          <a:xfrm rot="10800000" flipV="1">
            <a:off x="7597486" y="5075858"/>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24" name="Shape 78"/>
          <p:cNvSpPr/>
          <p:nvPr>
            <p:custDataLst>
              <p:tags r:id="rId5"/>
            </p:custDataLst>
          </p:nvPr>
        </p:nvSpPr>
        <p:spPr>
          <a:xfrm rot="10800000" flipV="1">
            <a:off x="3654329" y="5084384"/>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dirty="0">
              <a:sym typeface="+mn-ea"/>
            </a:endParaRPr>
          </a:p>
        </p:txBody>
      </p:sp>
      <p:sp>
        <p:nvSpPr>
          <p:cNvPr id="31" name="灯片编号占位符 3"/>
          <p:cNvSpPr>
            <a:spLocks noGrp="1" noChangeArrowheads="1"/>
          </p:cNvSpPr>
          <p:nvPr>
            <p:custDataLst>
              <p:tags r:id="rId6"/>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19</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0" name="文本框 9"/>
          <p:cNvSpPr txBox="1"/>
          <p:nvPr/>
        </p:nvSpPr>
        <p:spPr>
          <a:xfrm>
            <a:off x="262646" y="3028171"/>
            <a:ext cx="3891065" cy="1015663"/>
          </a:xfrm>
          <a:prstGeom prst="rect">
            <a:avLst/>
          </a:prstGeom>
          <a:noFill/>
        </p:spPr>
        <p:txBody>
          <a:bodyPr wrap="square">
            <a:spAutoFit/>
          </a:bodyPr>
          <a:lstStyle/>
          <a:p>
            <a:pPr indent="0">
              <a:spcBef>
                <a:spcPct val="0"/>
              </a:spcBef>
              <a:buFont typeface="+mj-ea"/>
              <a:buNone/>
            </a:pPr>
            <a:r>
              <a:rPr lang="en-US" altLang="zh-CN" sz="1200" dirty="0">
                <a:latin typeface="宋体" panose="02010600030101010101" pitchFamily="2" charset="-122"/>
                <a:ea typeface="宋体" panose="02010600030101010101" pitchFamily="2" charset="-122"/>
              </a:rPr>
              <a:t>Step1: The PCBA board of the front conveyor line flows in, blocking the cylinder from rising, and the sensor responds in place, and the jacking cylinder rises and clamps the PCBA continuous wrench</a:t>
            </a:r>
          </a:p>
        </p:txBody>
      </p:sp>
      <p:sp>
        <p:nvSpPr>
          <p:cNvPr id="41" name="文本框 40"/>
          <p:cNvSpPr txBox="1"/>
          <p:nvPr/>
        </p:nvSpPr>
        <p:spPr>
          <a:xfrm>
            <a:off x="4586107" y="3028171"/>
            <a:ext cx="3704202" cy="646331"/>
          </a:xfrm>
          <a:prstGeom prst="rect">
            <a:avLst/>
          </a:prstGeom>
          <a:noFill/>
        </p:spPr>
        <p:txBody>
          <a:bodyPr wrap="square">
            <a:spAutoFit/>
          </a:bodyPr>
          <a:lstStyle/>
          <a:p>
            <a:pPr>
              <a:spcBef>
                <a:spcPct val="0"/>
              </a:spcBef>
            </a:pPr>
            <a:r>
              <a:rPr lang="en-US" altLang="zh-CN" sz="1200" dirty="0">
                <a:latin typeface="宋体" panose="02010600030101010101" pitchFamily="2" charset="-122"/>
                <a:ea typeface="宋体" panose="02010600030101010101" pitchFamily="2" charset="-122"/>
              </a:rPr>
              <a:t>Step 2: The slide moves to the measuring point to start measuring, and after measuring, the scanner scans the QR code</a:t>
            </a:r>
            <a:endParaRPr lang="en-US" altLang="zh-CN" sz="1200" dirty="0">
              <a:latin typeface="宋体" panose="02010600030101010101" pitchFamily="2" charset="-122"/>
              <a:ea typeface="宋体" panose="02010600030101010101" pitchFamily="2" charset="-122"/>
              <a:sym typeface="+mn-ea"/>
            </a:endParaRPr>
          </a:p>
        </p:txBody>
      </p:sp>
      <p:sp>
        <p:nvSpPr>
          <p:cNvPr id="44" name="文本框 43"/>
          <p:cNvSpPr txBox="1"/>
          <p:nvPr/>
        </p:nvSpPr>
        <p:spPr>
          <a:xfrm>
            <a:off x="262645" y="6057656"/>
            <a:ext cx="3993949" cy="461665"/>
          </a:xfrm>
          <a:prstGeom prst="rect">
            <a:avLst/>
          </a:prstGeom>
          <a:noFill/>
        </p:spPr>
        <p:txBody>
          <a:bodyPr wrap="square">
            <a:spAutoFit/>
          </a:bodyPr>
          <a:lstStyle/>
          <a:p>
            <a:pPr indent="0">
              <a:spcBef>
                <a:spcPct val="0"/>
              </a:spcBef>
              <a:buFont typeface="+mj-ea"/>
              <a:buNone/>
            </a:pPr>
            <a:r>
              <a:rPr lang="en-US" altLang="zh-CN" sz="1200" dirty="0">
                <a:latin typeface="宋体" panose="02010600030101010101" pitchFamily="2" charset="-122"/>
                <a:ea typeface="宋体" panose="02010600030101010101" pitchFamily="2" charset="-122"/>
              </a:rPr>
              <a:t>Step 6: PCBA flows out of the equipment and enters the next process</a:t>
            </a:r>
            <a:endParaRPr lang="zh-CN" altLang="en-US" sz="1200" dirty="0">
              <a:latin typeface="宋体" panose="02010600030101010101" pitchFamily="2" charset="-122"/>
              <a:ea typeface="宋体" panose="02010600030101010101" pitchFamily="2" charset="-122"/>
            </a:endParaRPr>
          </a:p>
        </p:txBody>
      </p:sp>
      <p:sp>
        <p:nvSpPr>
          <p:cNvPr id="45" name="文本框 44"/>
          <p:cNvSpPr txBox="1"/>
          <p:nvPr/>
        </p:nvSpPr>
        <p:spPr>
          <a:xfrm>
            <a:off x="8549427" y="3074916"/>
            <a:ext cx="3062204" cy="461665"/>
          </a:xfrm>
          <a:prstGeom prst="rect">
            <a:avLst/>
          </a:prstGeom>
          <a:noFill/>
        </p:spPr>
        <p:txBody>
          <a:bodyPr wrap="square">
            <a:spAutoFit/>
          </a:bodyPr>
          <a:lstStyle/>
          <a:p>
            <a:pPr>
              <a:spcBef>
                <a:spcPct val="0"/>
              </a:spcBef>
            </a:pPr>
            <a:r>
              <a:rPr lang="en-US" altLang="zh-CN" sz="1200" dirty="0">
                <a:latin typeface="宋体" panose="02010600030101010101" pitchFamily="2" charset="-122"/>
                <a:ea typeface="宋体" panose="02010600030101010101" pitchFamily="2" charset="-122"/>
              </a:rPr>
              <a:t>Step 3: Use CCD to identify and locate the Mark points on PCBA</a:t>
            </a:r>
            <a:endParaRPr lang="en-US" altLang="zh-CN" sz="1200" dirty="0">
              <a:latin typeface="宋体" panose="02010600030101010101" pitchFamily="2" charset="-122"/>
              <a:ea typeface="宋体" panose="02010600030101010101" pitchFamily="2" charset="-122"/>
              <a:sym typeface="+mn-ea"/>
            </a:endParaRPr>
          </a:p>
        </p:txBody>
      </p:sp>
      <p:sp>
        <p:nvSpPr>
          <p:cNvPr id="52" name="文本框 51"/>
          <p:cNvSpPr txBox="1"/>
          <p:nvPr/>
        </p:nvSpPr>
        <p:spPr>
          <a:xfrm>
            <a:off x="4586105" y="5974552"/>
            <a:ext cx="3704203" cy="646331"/>
          </a:xfrm>
          <a:prstGeom prst="rect">
            <a:avLst/>
          </a:prstGeom>
          <a:noFill/>
        </p:spPr>
        <p:txBody>
          <a:bodyPr wrap="square">
            <a:spAutoFit/>
          </a:bodyPr>
          <a:lstStyle/>
          <a:p>
            <a:pPr>
              <a:spcBef>
                <a:spcPct val="0"/>
              </a:spcBef>
            </a:pPr>
            <a:r>
              <a:rPr lang="en-US" altLang="zh-CN" sz="1200" dirty="0">
                <a:latin typeface="宋体" panose="02010600030101010101" pitchFamily="2" charset="-122"/>
                <a:ea typeface="宋体" panose="02010600030101010101" pitchFamily="2" charset="-122"/>
              </a:rPr>
              <a:t>Step 5: Glue dispensing is completed, the camera moves to the glue point to identify the glue dispensing area and upload it to Kazan</a:t>
            </a:r>
            <a:endParaRPr lang="en-US" altLang="zh-CN" sz="1200" dirty="0">
              <a:latin typeface="宋体" panose="02010600030101010101" pitchFamily="2" charset="-122"/>
              <a:ea typeface="宋体" panose="02010600030101010101" pitchFamily="2" charset="-122"/>
              <a:sym typeface="+mn-ea"/>
            </a:endParaRPr>
          </a:p>
        </p:txBody>
      </p:sp>
      <p:sp>
        <p:nvSpPr>
          <p:cNvPr id="53" name="文本框 52"/>
          <p:cNvSpPr txBox="1"/>
          <p:nvPr/>
        </p:nvSpPr>
        <p:spPr>
          <a:xfrm>
            <a:off x="8549427" y="6032736"/>
            <a:ext cx="3062204" cy="646331"/>
          </a:xfrm>
          <a:prstGeom prst="rect">
            <a:avLst/>
          </a:prstGeom>
          <a:noFill/>
        </p:spPr>
        <p:txBody>
          <a:bodyPr wrap="square">
            <a:spAutoFit/>
          </a:bodyPr>
          <a:lstStyle/>
          <a:p>
            <a:pPr>
              <a:spcBef>
                <a:spcPct val="0"/>
              </a:spcBef>
            </a:pPr>
            <a:r>
              <a:rPr lang="en-US" altLang="zh-CN" sz="1200" dirty="0">
                <a:latin typeface="宋体" panose="02010600030101010101" pitchFamily="2" charset="-122"/>
                <a:ea typeface="宋体" panose="02010600030101010101" pitchFamily="2" charset="-122"/>
              </a:rPr>
              <a:t>Step 4: Move the dispensing head to the dispensing area for dispensing</a:t>
            </a:r>
            <a:endParaRPr lang="zh-CN" altLang="zh-CN" sz="1200" dirty="0">
              <a:latin typeface="宋体" panose="02010600030101010101" pitchFamily="2" charset="-122"/>
              <a:ea typeface="宋体" panose="02010600030101010101" pitchFamily="2" charset="-122"/>
              <a:sym typeface="+mn-ea"/>
            </a:endParaRPr>
          </a:p>
          <a:p>
            <a:pPr indent="0">
              <a:spcBef>
                <a:spcPct val="0"/>
              </a:spcBef>
              <a:buFont typeface="+mj-ea"/>
              <a:buNone/>
            </a:pPr>
            <a:endParaRPr lang="en-US" altLang="zh-CN" sz="1200" dirty="0">
              <a:latin typeface="宋体" panose="02010600030101010101" pitchFamily="2" charset="-122"/>
              <a:ea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dirty="0">
                <a:sym typeface="+mn-ea"/>
              </a:rPr>
              <a:t>8</a:t>
            </a:r>
            <a:r>
              <a:rPr lang="en-US" altLang="zh-CN" noProof="0" dirty="0">
                <a:sym typeface="+mn-ea"/>
              </a:rPr>
              <a:t>. Timing diagram</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20</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6" name="文本框 3"/>
          <p:cNvSpPr txBox="1"/>
          <p:nvPr/>
        </p:nvSpPr>
        <p:spPr>
          <a:xfrm>
            <a:off x="443516" y="5927153"/>
            <a:ext cx="6096000" cy="553085"/>
          </a:xfrm>
          <a:prstGeom prst="rect">
            <a:avLst/>
          </a:prstGeom>
          <a:noFill/>
        </p:spPr>
        <p:txBody>
          <a:bodyPr wrap="square" rtlCol="0" anchor="t">
            <a:spAutoFit/>
          </a:bodyPr>
          <a:lstStyle/>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UPH</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3600/4.0*0.8=720</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Note</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80% is estimated OEE, only for UPH calculation. not real product data</a:t>
            </a: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10" name="表格 9"/>
          <p:cNvGraphicFramePr>
            <a:graphicFrameLocks noGrp="1"/>
          </p:cNvGraphicFramePr>
          <p:nvPr/>
        </p:nvGraphicFramePr>
        <p:xfrm>
          <a:off x="443516" y="1106851"/>
          <a:ext cx="11393018" cy="4627195"/>
        </p:xfrm>
        <a:graphic>
          <a:graphicData uri="http://schemas.openxmlformats.org/drawingml/2006/table">
            <a:tbl>
              <a:tblPr/>
              <a:tblGrid>
                <a:gridCol w="951723">
                  <a:extLst>
                    <a:ext uri="{9D8B030D-6E8A-4147-A177-3AD203B41FA5}">
                      <a16:colId xmlns:a16="http://schemas.microsoft.com/office/drawing/2014/main" val="20000"/>
                    </a:ext>
                  </a:extLst>
                </a:gridCol>
                <a:gridCol w="1698191">
                  <a:extLst>
                    <a:ext uri="{9D8B030D-6E8A-4147-A177-3AD203B41FA5}">
                      <a16:colId xmlns:a16="http://schemas.microsoft.com/office/drawing/2014/main" val="20001"/>
                    </a:ext>
                  </a:extLst>
                </a:gridCol>
                <a:gridCol w="91074">
                  <a:extLst>
                    <a:ext uri="{9D8B030D-6E8A-4147-A177-3AD203B41FA5}">
                      <a16:colId xmlns:a16="http://schemas.microsoft.com/office/drawing/2014/main" val="20002"/>
                    </a:ext>
                  </a:extLst>
                </a:gridCol>
                <a:gridCol w="91074">
                  <a:extLst>
                    <a:ext uri="{9D8B030D-6E8A-4147-A177-3AD203B41FA5}">
                      <a16:colId xmlns:a16="http://schemas.microsoft.com/office/drawing/2014/main" val="20003"/>
                    </a:ext>
                  </a:extLst>
                </a:gridCol>
                <a:gridCol w="91074">
                  <a:extLst>
                    <a:ext uri="{9D8B030D-6E8A-4147-A177-3AD203B41FA5}">
                      <a16:colId xmlns:a16="http://schemas.microsoft.com/office/drawing/2014/main" val="20004"/>
                    </a:ext>
                  </a:extLst>
                </a:gridCol>
                <a:gridCol w="91074">
                  <a:extLst>
                    <a:ext uri="{9D8B030D-6E8A-4147-A177-3AD203B41FA5}">
                      <a16:colId xmlns:a16="http://schemas.microsoft.com/office/drawing/2014/main" val="20005"/>
                    </a:ext>
                  </a:extLst>
                </a:gridCol>
                <a:gridCol w="91074">
                  <a:extLst>
                    <a:ext uri="{9D8B030D-6E8A-4147-A177-3AD203B41FA5}">
                      <a16:colId xmlns:a16="http://schemas.microsoft.com/office/drawing/2014/main" val="20006"/>
                    </a:ext>
                  </a:extLst>
                </a:gridCol>
                <a:gridCol w="91074">
                  <a:extLst>
                    <a:ext uri="{9D8B030D-6E8A-4147-A177-3AD203B41FA5}">
                      <a16:colId xmlns:a16="http://schemas.microsoft.com/office/drawing/2014/main" val="20007"/>
                    </a:ext>
                  </a:extLst>
                </a:gridCol>
                <a:gridCol w="91074">
                  <a:extLst>
                    <a:ext uri="{9D8B030D-6E8A-4147-A177-3AD203B41FA5}">
                      <a16:colId xmlns:a16="http://schemas.microsoft.com/office/drawing/2014/main" val="20008"/>
                    </a:ext>
                  </a:extLst>
                </a:gridCol>
                <a:gridCol w="91074">
                  <a:extLst>
                    <a:ext uri="{9D8B030D-6E8A-4147-A177-3AD203B41FA5}">
                      <a16:colId xmlns:a16="http://schemas.microsoft.com/office/drawing/2014/main" val="20009"/>
                    </a:ext>
                  </a:extLst>
                </a:gridCol>
                <a:gridCol w="91074">
                  <a:extLst>
                    <a:ext uri="{9D8B030D-6E8A-4147-A177-3AD203B41FA5}">
                      <a16:colId xmlns:a16="http://schemas.microsoft.com/office/drawing/2014/main" val="20010"/>
                    </a:ext>
                  </a:extLst>
                </a:gridCol>
                <a:gridCol w="91074">
                  <a:extLst>
                    <a:ext uri="{9D8B030D-6E8A-4147-A177-3AD203B41FA5}">
                      <a16:colId xmlns:a16="http://schemas.microsoft.com/office/drawing/2014/main" val="20011"/>
                    </a:ext>
                  </a:extLst>
                </a:gridCol>
                <a:gridCol w="91074">
                  <a:extLst>
                    <a:ext uri="{9D8B030D-6E8A-4147-A177-3AD203B41FA5}">
                      <a16:colId xmlns:a16="http://schemas.microsoft.com/office/drawing/2014/main" val="20012"/>
                    </a:ext>
                  </a:extLst>
                </a:gridCol>
                <a:gridCol w="91074">
                  <a:extLst>
                    <a:ext uri="{9D8B030D-6E8A-4147-A177-3AD203B41FA5}">
                      <a16:colId xmlns:a16="http://schemas.microsoft.com/office/drawing/2014/main" val="20013"/>
                    </a:ext>
                  </a:extLst>
                </a:gridCol>
                <a:gridCol w="91074">
                  <a:extLst>
                    <a:ext uri="{9D8B030D-6E8A-4147-A177-3AD203B41FA5}">
                      <a16:colId xmlns:a16="http://schemas.microsoft.com/office/drawing/2014/main" val="20014"/>
                    </a:ext>
                  </a:extLst>
                </a:gridCol>
                <a:gridCol w="91074">
                  <a:extLst>
                    <a:ext uri="{9D8B030D-6E8A-4147-A177-3AD203B41FA5}">
                      <a16:colId xmlns:a16="http://schemas.microsoft.com/office/drawing/2014/main" val="20015"/>
                    </a:ext>
                  </a:extLst>
                </a:gridCol>
                <a:gridCol w="91074">
                  <a:extLst>
                    <a:ext uri="{9D8B030D-6E8A-4147-A177-3AD203B41FA5}">
                      <a16:colId xmlns:a16="http://schemas.microsoft.com/office/drawing/2014/main" val="20016"/>
                    </a:ext>
                  </a:extLst>
                </a:gridCol>
                <a:gridCol w="91074">
                  <a:extLst>
                    <a:ext uri="{9D8B030D-6E8A-4147-A177-3AD203B41FA5}">
                      <a16:colId xmlns:a16="http://schemas.microsoft.com/office/drawing/2014/main" val="20017"/>
                    </a:ext>
                  </a:extLst>
                </a:gridCol>
                <a:gridCol w="91074">
                  <a:extLst>
                    <a:ext uri="{9D8B030D-6E8A-4147-A177-3AD203B41FA5}">
                      <a16:colId xmlns:a16="http://schemas.microsoft.com/office/drawing/2014/main" val="20018"/>
                    </a:ext>
                  </a:extLst>
                </a:gridCol>
                <a:gridCol w="91074">
                  <a:extLst>
                    <a:ext uri="{9D8B030D-6E8A-4147-A177-3AD203B41FA5}">
                      <a16:colId xmlns:a16="http://schemas.microsoft.com/office/drawing/2014/main" val="20019"/>
                    </a:ext>
                  </a:extLst>
                </a:gridCol>
                <a:gridCol w="91074">
                  <a:extLst>
                    <a:ext uri="{9D8B030D-6E8A-4147-A177-3AD203B41FA5}">
                      <a16:colId xmlns:a16="http://schemas.microsoft.com/office/drawing/2014/main" val="20020"/>
                    </a:ext>
                  </a:extLst>
                </a:gridCol>
                <a:gridCol w="91074">
                  <a:extLst>
                    <a:ext uri="{9D8B030D-6E8A-4147-A177-3AD203B41FA5}">
                      <a16:colId xmlns:a16="http://schemas.microsoft.com/office/drawing/2014/main" val="20021"/>
                    </a:ext>
                  </a:extLst>
                </a:gridCol>
                <a:gridCol w="91074">
                  <a:extLst>
                    <a:ext uri="{9D8B030D-6E8A-4147-A177-3AD203B41FA5}">
                      <a16:colId xmlns:a16="http://schemas.microsoft.com/office/drawing/2014/main" val="20022"/>
                    </a:ext>
                  </a:extLst>
                </a:gridCol>
                <a:gridCol w="91074">
                  <a:extLst>
                    <a:ext uri="{9D8B030D-6E8A-4147-A177-3AD203B41FA5}">
                      <a16:colId xmlns:a16="http://schemas.microsoft.com/office/drawing/2014/main" val="20023"/>
                    </a:ext>
                  </a:extLst>
                </a:gridCol>
                <a:gridCol w="91074">
                  <a:extLst>
                    <a:ext uri="{9D8B030D-6E8A-4147-A177-3AD203B41FA5}">
                      <a16:colId xmlns:a16="http://schemas.microsoft.com/office/drawing/2014/main" val="20024"/>
                    </a:ext>
                  </a:extLst>
                </a:gridCol>
                <a:gridCol w="91074">
                  <a:extLst>
                    <a:ext uri="{9D8B030D-6E8A-4147-A177-3AD203B41FA5}">
                      <a16:colId xmlns:a16="http://schemas.microsoft.com/office/drawing/2014/main" val="20025"/>
                    </a:ext>
                  </a:extLst>
                </a:gridCol>
                <a:gridCol w="91074">
                  <a:extLst>
                    <a:ext uri="{9D8B030D-6E8A-4147-A177-3AD203B41FA5}">
                      <a16:colId xmlns:a16="http://schemas.microsoft.com/office/drawing/2014/main" val="20026"/>
                    </a:ext>
                  </a:extLst>
                </a:gridCol>
                <a:gridCol w="91074">
                  <a:extLst>
                    <a:ext uri="{9D8B030D-6E8A-4147-A177-3AD203B41FA5}">
                      <a16:colId xmlns:a16="http://schemas.microsoft.com/office/drawing/2014/main" val="20027"/>
                    </a:ext>
                  </a:extLst>
                </a:gridCol>
                <a:gridCol w="91074">
                  <a:extLst>
                    <a:ext uri="{9D8B030D-6E8A-4147-A177-3AD203B41FA5}">
                      <a16:colId xmlns:a16="http://schemas.microsoft.com/office/drawing/2014/main" val="20028"/>
                    </a:ext>
                  </a:extLst>
                </a:gridCol>
                <a:gridCol w="91074">
                  <a:extLst>
                    <a:ext uri="{9D8B030D-6E8A-4147-A177-3AD203B41FA5}">
                      <a16:colId xmlns:a16="http://schemas.microsoft.com/office/drawing/2014/main" val="20029"/>
                    </a:ext>
                  </a:extLst>
                </a:gridCol>
                <a:gridCol w="91074">
                  <a:extLst>
                    <a:ext uri="{9D8B030D-6E8A-4147-A177-3AD203B41FA5}">
                      <a16:colId xmlns:a16="http://schemas.microsoft.com/office/drawing/2014/main" val="20030"/>
                    </a:ext>
                  </a:extLst>
                </a:gridCol>
                <a:gridCol w="91074">
                  <a:extLst>
                    <a:ext uri="{9D8B030D-6E8A-4147-A177-3AD203B41FA5}">
                      <a16:colId xmlns:a16="http://schemas.microsoft.com/office/drawing/2014/main" val="20031"/>
                    </a:ext>
                  </a:extLst>
                </a:gridCol>
                <a:gridCol w="91074">
                  <a:extLst>
                    <a:ext uri="{9D8B030D-6E8A-4147-A177-3AD203B41FA5}">
                      <a16:colId xmlns:a16="http://schemas.microsoft.com/office/drawing/2014/main" val="20032"/>
                    </a:ext>
                  </a:extLst>
                </a:gridCol>
                <a:gridCol w="91074">
                  <a:extLst>
                    <a:ext uri="{9D8B030D-6E8A-4147-A177-3AD203B41FA5}">
                      <a16:colId xmlns:a16="http://schemas.microsoft.com/office/drawing/2014/main" val="20033"/>
                    </a:ext>
                  </a:extLst>
                </a:gridCol>
                <a:gridCol w="91074">
                  <a:extLst>
                    <a:ext uri="{9D8B030D-6E8A-4147-A177-3AD203B41FA5}">
                      <a16:colId xmlns:a16="http://schemas.microsoft.com/office/drawing/2014/main" val="20034"/>
                    </a:ext>
                  </a:extLst>
                </a:gridCol>
                <a:gridCol w="91074">
                  <a:extLst>
                    <a:ext uri="{9D8B030D-6E8A-4147-A177-3AD203B41FA5}">
                      <a16:colId xmlns:a16="http://schemas.microsoft.com/office/drawing/2014/main" val="20035"/>
                    </a:ext>
                  </a:extLst>
                </a:gridCol>
                <a:gridCol w="91074">
                  <a:extLst>
                    <a:ext uri="{9D8B030D-6E8A-4147-A177-3AD203B41FA5}">
                      <a16:colId xmlns:a16="http://schemas.microsoft.com/office/drawing/2014/main" val="20036"/>
                    </a:ext>
                  </a:extLst>
                </a:gridCol>
                <a:gridCol w="91074">
                  <a:extLst>
                    <a:ext uri="{9D8B030D-6E8A-4147-A177-3AD203B41FA5}">
                      <a16:colId xmlns:a16="http://schemas.microsoft.com/office/drawing/2014/main" val="20037"/>
                    </a:ext>
                  </a:extLst>
                </a:gridCol>
                <a:gridCol w="91074">
                  <a:extLst>
                    <a:ext uri="{9D8B030D-6E8A-4147-A177-3AD203B41FA5}">
                      <a16:colId xmlns:a16="http://schemas.microsoft.com/office/drawing/2014/main" val="20038"/>
                    </a:ext>
                  </a:extLst>
                </a:gridCol>
                <a:gridCol w="91074">
                  <a:extLst>
                    <a:ext uri="{9D8B030D-6E8A-4147-A177-3AD203B41FA5}">
                      <a16:colId xmlns:a16="http://schemas.microsoft.com/office/drawing/2014/main" val="20039"/>
                    </a:ext>
                  </a:extLst>
                </a:gridCol>
                <a:gridCol w="91074">
                  <a:extLst>
                    <a:ext uri="{9D8B030D-6E8A-4147-A177-3AD203B41FA5}">
                      <a16:colId xmlns:a16="http://schemas.microsoft.com/office/drawing/2014/main" val="20040"/>
                    </a:ext>
                  </a:extLst>
                </a:gridCol>
                <a:gridCol w="91074">
                  <a:extLst>
                    <a:ext uri="{9D8B030D-6E8A-4147-A177-3AD203B41FA5}">
                      <a16:colId xmlns:a16="http://schemas.microsoft.com/office/drawing/2014/main" val="20041"/>
                    </a:ext>
                  </a:extLst>
                </a:gridCol>
                <a:gridCol w="91074">
                  <a:extLst>
                    <a:ext uri="{9D8B030D-6E8A-4147-A177-3AD203B41FA5}">
                      <a16:colId xmlns:a16="http://schemas.microsoft.com/office/drawing/2014/main" val="20042"/>
                    </a:ext>
                  </a:extLst>
                </a:gridCol>
                <a:gridCol w="91074">
                  <a:extLst>
                    <a:ext uri="{9D8B030D-6E8A-4147-A177-3AD203B41FA5}">
                      <a16:colId xmlns:a16="http://schemas.microsoft.com/office/drawing/2014/main" val="20043"/>
                    </a:ext>
                  </a:extLst>
                </a:gridCol>
                <a:gridCol w="91074">
                  <a:extLst>
                    <a:ext uri="{9D8B030D-6E8A-4147-A177-3AD203B41FA5}">
                      <a16:colId xmlns:a16="http://schemas.microsoft.com/office/drawing/2014/main" val="20044"/>
                    </a:ext>
                  </a:extLst>
                </a:gridCol>
                <a:gridCol w="91074">
                  <a:extLst>
                    <a:ext uri="{9D8B030D-6E8A-4147-A177-3AD203B41FA5}">
                      <a16:colId xmlns:a16="http://schemas.microsoft.com/office/drawing/2014/main" val="20045"/>
                    </a:ext>
                  </a:extLst>
                </a:gridCol>
                <a:gridCol w="91074">
                  <a:extLst>
                    <a:ext uri="{9D8B030D-6E8A-4147-A177-3AD203B41FA5}">
                      <a16:colId xmlns:a16="http://schemas.microsoft.com/office/drawing/2014/main" val="20046"/>
                    </a:ext>
                  </a:extLst>
                </a:gridCol>
                <a:gridCol w="91074">
                  <a:extLst>
                    <a:ext uri="{9D8B030D-6E8A-4147-A177-3AD203B41FA5}">
                      <a16:colId xmlns:a16="http://schemas.microsoft.com/office/drawing/2014/main" val="20047"/>
                    </a:ext>
                  </a:extLst>
                </a:gridCol>
                <a:gridCol w="91074">
                  <a:extLst>
                    <a:ext uri="{9D8B030D-6E8A-4147-A177-3AD203B41FA5}">
                      <a16:colId xmlns:a16="http://schemas.microsoft.com/office/drawing/2014/main" val="20048"/>
                    </a:ext>
                  </a:extLst>
                </a:gridCol>
                <a:gridCol w="91074">
                  <a:extLst>
                    <a:ext uri="{9D8B030D-6E8A-4147-A177-3AD203B41FA5}">
                      <a16:colId xmlns:a16="http://schemas.microsoft.com/office/drawing/2014/main" val="20049"/>
                    </a:ext>
                  </a:extLst>
                </a:gridCol>
                <a:gridCol w="91074">
                  <a:extLst>
                    <a:ext uri="{9D8B030D-6E8A-4147-A177-3AD203B41FA5}">
                      <a16:colId xmlns:a16="http://schemas.microsoft.com/office/drawing/2014/main" val="20050"/>
                    </a:ext>
                  </a:extLst>
                </a:gridCol>
                <a:gridCol w="91074">
                  <a:extLst>
                    <a:ext uri="{9D8B030D-6E8A-4147-A177-3AD203B41FA5}">
                      <a16:colId xmlns:a16="http://schemas.microsoft.com/office/drawing/2014/main" val="20051"/>
                    </a:ext>
                  </a:extLst>
                </a:gridCol>
                <a:gridCol w="91074">
                  <a:extLst>
                    <a:ext uri="{9D8B030D-6E8A-4147-A177-3AD203B41FA5}">
                      <a16:colId xmlns:a16="http://schemas.microsoft.com/office/drawing/2014/main" val="20052"/>
                    </a:ext>
                  </a:extLst>
                </a:gridCol>
                <a:gridCol w="91074">
                  <a:extLst>
                    <a:ext uri="{9D8B030D-6E8A-4147-A177-3AD203B41FA5}">
                      <a16:colId xmlns:a16="http://schemas.microsoft.com/office/drawing/2014/main" val="20053"/>
                    </a:ext>
                  </a:extLst>
                </a:gridCol>
                <a:gridCol w="91074">
                  <a:extLst>
                    <a:ext uri="{9D8B030D-6E8A-4147-A177-3AD203B41FA5}">
                      <a16:colId xmlns:a16="http://schemas.microsoft.com/office/drawing/2014/main" val="20054"/>
                    </a:ext>
                  </a:extLst>
                </a:gridCol>
                <a:gridCol w="91074">
                  <a:extLst>
                    <a:ext uri="{9D8B030D-6E8A-4147-A177-3AD203B41FA5}">
                      <a16:colId xmlns:a16="http://schemas.microsoft.com/office/drawing/2014/main" val="20055"/>
                    </a:ext>
                  </a:extLst>
                </a:gridCol>
                <a:gridCol w="91074">
                  <a:extLst>
                    <a:ext uri="{9D8B030D-6E8A-4147-A177-3AD203B41FA5}">
                      <a16:colId xmlns:a16="http://schemas.microsoft.com/office/drawing/2014/main" val="20056"/>
                    </a:ext>
                  </a:extLst>
                </a:gridCol>
                <a:gridCol w="91074">
                  <a:extLst>
                    <a:ext uri="{9D8B030D-6E8A-4147-A177-3AD203B41FA5}">
                      <a16:colId xmlns:a16="http://schemas.microsoft.com/office/drawing/2014/main" val="20057"/>
                    </a:ext>
                  </a:extLst>
                </a:gridCol>
                <a:gridCol w="91074">
                  <a:extLst>
                    <a:ext uri="{9D8B030D-6E8A-4147-A177-3AD203B41FA5}">
                      <a16:colId xmlns:a16="http://schemas.microsoft.com/office/drawing/2014/main" val="20058"/>
                    </a:ext>
                  </a:extLst>
                </a:gridCol>
                <a:gridCol w="91074">
                  <a:extLst>
                    <a:ext uri="{9D8B030D-6E8A-4147-A177-3AD203B41FA5}">
                      <a16:colId xmlns:a16="http://schemas.microsoft.com/office/drawing/2014/main" val="20059"/>
                    </a:ext>
                  </a:extLst>
                </a:gridCol>
                <a:gridCol w="91074">
                  <a:extLst>
                    <a:ext uri="{9D8B030D-6E8A-4147-A177-3AD203B41FA5}">
                      <a16:colId xmlns:a16="http://schemas.microsoft.com/office/drawing/2014/main" val="20060"/>
                    </a:ext>
                  </a:extLst>
                </a:gridCol>
                <a:gridCol w="91074">
                  <a:extLst>
                    <a:ext uri="{9D8B030D-6E8A-4147-A177-3AD203B41FA5}">
                      <a16:colId xmlns:a16="http://schemas.microsoft.com/office/drawing/2014/main" val="20061"/>
                    </a:ext>
                  </a:extLst>
                </a:gridCol>
                <a:gridCol w="91074">
                  <a:extLst>
                    <a:ext uri="{9D8B030D-6E8A-4147-A177-3AD203B41FA5}">
                      <a16:colId xmlns:a16="http://schemas.microsoft.com/office/drawing/2014/main" val="20062"/>
                    </a:ext>
                  </a:extLst>
                </a:gridCol>
                <a:gridCol w="91074">
                  <a:extLst>
                    <a:ext uri="{9D8B030D-6E8A-4147-A177-3AD203B41FA5}">
                      <a16:colId xmlns:a16="http://schemas.microsoft.com/office/drawing/2014/main" val="20063"/>
                    </a:ext>
                  </a:extLst>
                </a:gridCol>
                <a:gridCol w="91074">
                  <a:extLst>
                    <a:ext uri="{9D8B030D-6E8A-4147-A177-3AD203B41FA5}">
                      <a16:colId xmlns:a16="http://schemas.microsoft.com/office/drawing/2014/main" val="20064"/>
                    </a:ext>
                  </a:extLst>
                </a:gridCol>
                <a:gridCol w="91074">
                  <a:extLst>
                    <a:ext uri="{9D8B030D-6E8A-4147-A177-3AD203B41FA5}">
                      <a16:colId xmlns:a16="http://schemas.microsoft.com/office/drawing/2014/main" val="20065"/>
                    </a:ext>
                  </a:extLst>
                </a:gridCol>
                <a:gridCol w="91074">
                  <a:extLst>
                    <a:ext uri="{9D8B030D-6E8A-4147-A177-3AD203B41FA5}">
                      <a16:colId xmlns:a16="http://schemas.microsoft.com/office/drawing/2014/main" val="20066"/>
                    </a:ext>
                  </a:extLst>
                </a:gridCol>
                <a:gridCol w="91074">
                  <a:extLst>
                    <a:ext uri="{9D8B030D-6E8A-4147-A177-3AD203B41FA5}">
                      <a16:colId xmlns:a16="http://schemas.microsoft.com/office/drawing/2014/main" val="20067"/>
                    </a:ext>
                  </a:extLst>
                </a:gridCol>
                <a:gridCol w="91074">
                  <a:extLst>
                    <a:ext uri="{9D8B030D-6E8A-4147-A177-3AD203B41FA5}">
                      <a16:colId xmlns:a16="http://schemas.microsoft.com/office/drawing/2014/main" val="20068"/>
                    </a:ext>
                  </a:extLst>
                </a:gridCol>
                <a:gridCol w="91074">
                  <a:extLst>
                    <a:ext uri="{9D8B030D-6E8A-4147-A177-3AD203B41FA5}">
                      <a16:colId xmlns:a16="http://schemas.microsoft.com/office/drawing/2014/main" val="20069"/>
                    </a:ext>
                  </a:extLst>
                </a:gridCol>
                <a:gridCol w="91074">
                  <a:extLst>
                    <a:ext uri="{9D8B030D-6E8A-4147-A177-3AD203B41FA5}">
                      <a16:colId xmlns:a16="http://schemas.microsoft.com/office/drawing/2014/main" val="20070"/>
                    </a:ext>
                  </a:extLst>
                </a:gridCol>
                <a:gridCol w="91074">
                  <a:extLst>
                    <a:ext uri="{9D8B030D-6E8A-4147-A177-3AD203B41FA5}">
                      <a16:colId xmlns:a16="http://schemas.microsoft.com/office/drawing/2014/main" val="20071"/>
                    </a:ext>
                  </a:extLst>
                </a:gridCol>
                <a:gridCol w="91074">
                  <a:extLst>
                    <a:ext uri="{9D8B030D-6E8A-4147-A177-3AD203B41FA5}">
                      <a16:colId xmlns:a16="http://schemas.microsoft.com/office/drawing/2014/main" val="20072"/>
                    </a:ext>
                  </a:extLst>
                </a:gridCol>
                <a:gridCol w="91074">
                  <a:extLst>
                    <a:ext uri="{9D8B030D-6E8A-4147-A177-3AD203B41FA5}">
                      <a16:colId xmlns:a16="http://schemas.microsoft.com/office/drawing/2014/main" val="20073"/>
                    </a:ext>
                  </a:extLst>
                </a:gridCol>
                <a:gridCol w="91074">
                  <a:extLst>
                    <a:ext uri="{9D8B030D-6E8A-4147-A177-3AD203B41FA5}">
                      <a16:colId xmlns:a16="http://schemas.microsoft.com/office/drawing/2014/main" val="20074"/>
                    </a:ext>
                  </a:extLst>
                </a:gridCol>
                <a:gridCol w="91074">
                  <a:extLst>
                    <a:ext uri="{9D8B030D-6E8A-4147-A177-3AD203B41FA5}">
                      <a16:colId xmlns:a16="http://schemas.microsoft.com/office/drawing/2014/main" val="20075"/>
                    </a:ext>
                  </a:extLst>
                </a:gridCol>
                <a:gridCol w="91074">
                  <a:extLst>
                    <a:ext uri="{9D8B030D-6E8A-4147-A177-3AD203B41FA5}">
                      <a16:colId xmlns:a16="http://schemas.microsoft.com/office/drawing/2014/main" val="20076"/>
                    </a:ext>
                  </a:extLst>
                </a:gridCol>
                <a:gridCol w="91074">
                  <a:extLst>
                    <a:ext uri="{9D8B030D-6E8A-4147-A177-3AD203B41FA5}">
                      <a16:colId xmlns:a16="http://schemas.microsoft.com/office/drawing/2014/main" val="20077"/>
                    </a:ext>
                  </a:extLst>
                </a:gridCol>
                <a:gridCol w="91074">
                  <a:extLst>
                    <a:ext uri="{9D8B030D-6E8A-4147-A177-3AD203B41FA5}">
                      <a16:colId xmlns:a16="http://schemas.microsoft.com/office/drawing/2014/main" val="20078"/>
                    </a:ext>
                  </a:extLst>
                </a:gridCol>
                <a:gridCol w="91074">
                  <a:extLst>
                    <a:ext uri="{9D8B030D-6E8A-4147-A177-3AD203B41FA5}">
                      <a16:colId xmlns:a16="http://schemas.microsoft.com/office/drawing/2014/main" val="20079"/>
                    </a:ext>
                  </a:extLst>
                </a:gridCol>
                <a:gridCol w="91074">
                  <a:extLst>
                    <a:ext uri="{9D8B030D-6E8A-4147-A177-3AD203B41FA5}">
                      <a16:colId xmlns:a16="http://schemas.microsoft.com/office/drawing/2014/main" val="20080"/>
                    </a:ext>
                  </a:extLst>
                </a:gridCol>
                <a:gridCol w="91074">
                  <a:extLst>
                    <a:ext uri="{9D8B030D-6E8A-4147-A177-3AD203B41FA5}">
                      <a16:colId xmlns:a16="http://schemas.microsoft.com/office/drawing/2014/main" val="20081"/>
                    </a:ext>
                  </a:extLst>
                </a:gridCol>
                <a:gridCol w="91074">
                  <a:extLst>
                    <a:ext uri="{9D8B030D-6E8A-4147-A177-3AD203B41FA5}">
                      <a16:colId xmlns:a16="http://schemas.microsoft.com/office/drawing/2014/main" val="20082"/>
                    </a:ext>
                  </a:extLst>
                </a:gridCol>
                <a:gridCol w="91074">
                  <a:extLst>
                    <a:ext uri="{9D8B030D-6E8A-4147-A177-3AD203B41FA5}">
                      <a16:colId xmlns:a16="http://schemas.microsoft.com/office/drawing/2014/main" val="20083"/>
                    </a:ext>
                  </a:extLst>
                </a:gridCol>
                <a:gridCol w="91074">
                  <a:extLst>
                    <a:ext uri="{9D8B030D-6E8A-4147-A177-3AD203B41FA5}">
                      <a16:colId xmlns:a16="http://schemas.microsoft.com/office/drawing/2014/main" val="20084"/>
                    </a:ext>
                  </a:extLst>
                </a:gridCol>
                <a:gridCol w="91074">
                  <a:extLst>
                    <a:ext uri="{9D8B030D-6E8A-4147-A177-3AD203B41FA5}">
                      <a16:colId xmlns:a16="http://schemas.microsoft.com/office/drawing/2014/main" val="20085"/>
                    </a:ext>
                  </a:extLst>
                </a:gridCol>
                <a:gridCol w="91074">
                  <a:extLst>
                    <a:ext uri="{9D8B030D-6E8A-4147-A177-3AD203B41FA5}">
                      <a16:colId xmlns:a16="http://schemas.microsoft.com/office/drawing/2014/main" val="20086"/>
                    </a:ext>
                  </a:extLst>
                </a:gridCol>
                <a:gridCol w="91074">
                  <a:extLst>
                    <a:ext uri="{9D8B030D-6E8A-4147-A177-3AD203B41FA5}">
                      <a16:colId xmlns:a16="http://schemas.microsoft.com/office/drawing/2014/main" val="20087"/>
                    </a:ext>
                  </a:extLst>
                </a:gridCol>
                <a:gridCol w="91074">
                  <a:extLst>
                    <a:ext uri="{9D8B030D-6E8A-4147-A177-3AD203B41FA5}">
                      <a16:colId xmlns:a16="http://schemas.microsoft.com/office/drawing/2014/main" val="20088"/>
                    </a:ext>
                  </a:extLst>
                </a:gridCol>
                <a:gridCol w="91074">
                  <a:extLst>
                    <a:ext uri="{9D8B030D-6E8A-4147-A177-3AD203B41FA5}">
                      <a16:colId xmlns:a16="http://schemas.microsoft.com/office/drawing/2014/main" val="20089"/>
                    </a:ext>
                  </a:extLst>
                </a:gridCol>
                <a:gridCol w="91074">
                  <a:extLst>
                    <a:ext uri="{9D8B030D-6E8A-4147-A177-3AD203B41FA5}">
                      <a16:colId xmlns:a16="http://schemas.microsoft.com/office/drawing/2014/main" val="20090"/>
                    </a:ext>
                  </a:extLst>
                </a:gridCol>
                <a:gridCol w="91074">
                  <a:extLst>
                    <a:ext uri="{9D8B030D-6E8A-4147-A177-3AD203B41FA5}">
                      <a16:colId xmlns:a16="http://schemas.microsoft.com/office/drawing/2014/main" val="20091"/>
                    </a:ext>
                  </a:extLst>
                </a:gridCol>
                <a:gridCol w="91074">
                  <a:extLst>
                    <a:ext uri="{9D8B030D-6E8A-4147-A177-3AD203B41FA5}">
                      <a16:colId xmlns:a16="http://schemas.microsoft.com/office/drawing/2014/main" val="20092"/>
                    </a:ext>
                  </a:extLst>
                </a:gridCol>
                <a:gridCol w="91074">
                  <a:extLst>
                    <a:ext uri="{9D8B030D-6E8A-4147-A177-3AD203B41FA5}">
                      <a16:colId xmlns:a16="http://schemas.microsoft.com/office/drawing/2014/main" val="20093"/>
                    </a:ext>
                  </a:extLst>
                </a:gridCol>
                <a:gridCol w="91074">
                  <a:extLst>
                    <a:ext uri="{9D8B030D-6E8A-4147-A177-3AD203B41FA5}">
                      <a16:colId xmlns:a16="http://schemas.microsoft.com/office/drawing/2014/main" val="20094"/>
                    </a:ext>
                  </a:extLst>
                </a:gridCol>
                <a:gridCol w="91074">
                  <a:extLst>
                    <a:ext uri="{9D8B030D-6E8A-4147-A177-3AD203B41FA5}">
                      <a16:colId xmlns:a16="http://schemas.microsoft.com/office/drawing/2014/main" val="20095"/>
                    </a:ext>
                  </a:extLst>
                </a:gridCol>
                <a:gridCol w="91074">
                  <a:extLst>
                    <a:ext uri="{9D8B030D-6E8A-4147-A177-3AD203B41FA5}">
                      <a16:colId xmlns:a16="http://schemas.microsoft.com/office/drawing/2014/main" val="20096"/>
                    </a:ext>
                  </a:extLst>
                </a:gridCol>
                <a:gridCol w="91074">
                  <a:extLst>
                    <a:ext uri="{9D8B030D-6E8A-4147-A177-3AD203B41FA5}">
                      <a16:colId xmlns:a16="http://schemas.microsoft.com/office/drawing/2014/main" val="20097"/>
                    </a:ext>
                  </a:extLst>
                </a:gridCol>
              </a:tblGrid>
              <a:tr h="461497">
                <a:tc gridSpan="98">
                  <a:txBody>
                    <a:bodyPr/>
                    <a:lstStyle/>
                    <a:p>
                      <a:pPr algn="l" fontAlgn="ctr"/>
                      <a:r>
                        <a:rPr lang="en-US" altLang="zh-TW" sz="1100" b="0" i="0" u="none" strike="noStrike" dirty="0">
                          <a:effectLst/>
                          <a:latin typeface="PMingLiU" panose="02020500000000000000" pitchFamily="18" charset="-120"/>
                          <a:ea typeface="PMingLiU" panose="02020500000000000000" pitchFamily="18" charset="-120"/>
                        </a:rPr>
                        <a:t>Automatic heating paste 0.5s/grid</a:t>
                      </a:r>
                      <a:endParaRPr lang="zh-TW" altLang="en-US" sz="1100" b="0" i="0" u="none" strike="noStrike" dirty="0">
                        <a:effectLst/>
                        <a:latin typeface="PMingLiU" panose="02020500000000000000" pitchFamily="18" charset="-120"/>
                        <a:ea typeface="PMingLiU" panose="02020500000000000000" pitchFamily="18" charset="-120"/>
                      </a:endParaRP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57743">
                <a:tc rowSpan="2">
                  <a:txBody>
                    <a:bodyPr/>
                    <a:lstStyle/>
                    <a:p>
                      <a:pPr algn="ctr" fontAlgn="ctr"/>
                      <a:r>
                        <a:rPr lang="zh-TW" altLang="en-US" sz="800" b="0" i="0" u="none" strike="noStrike" dirty="0">
                          <a:effectLst/>
                          <a:latin typeface="宋体" panose="02010600030101010101" pitchFamily="2" charset="-122"/>
                          <a:ea typeface="宋体" panose="02010600030101010101" pitchFamily="2" charset="-122"/>
                        </a:rPr>
                        <a:t>產品入工作區</a:t>
                      </a:r>
                      <a:endParaRPr lang="en-US" altLang="zh-TW" sz="800" b="0" i="0" u="none" strike="noStrike" dirty="0">
                        <a:effectLst/>
                        <a:latin typeface="宋体" panose="02010600030101010101" pitchFamily="2" charset="-122"/>
                        <a:ea typeface="宋体" panose="02010600030101010101" pitchFamily="2" charset="-122"/>
                      </a:endParaRPr>
                    </a:p>
                    <a:p>
                      <a:pPr algn="ctr" fontAlgn="ctr"/>
                      <a:r>
                        <a:rPr lang="en-US" altLang="zh-TW" sz="800" b="0" i="0" u="none" strike="noStrike" dirty="0">
                          <a:effectLst/>
                          <a:latin typeface="宋体" panose="02010600030101010101" pitchFamily="2" charset="-122"/>
                          <a:ea typeface="宋体" panose="02010600030101010101" pitchFamily="2" charset="-122"/>
                        </a:rPr>
                        <a:t>Product entering the workspace</a:t>
                      </a:r>
                      <a:endParaRPr lang="zh-TW" altLang="en-US" sz="800" b="0" i="0" u="none" strike="noStrike" dirty="0">
                        <a:effectLst/>
                        <a:latin typeface="宋体" panose="02010600030101010101" pitchFamily="2" charset="-122"/>
                        <a:ea typeface="宋体" panose="02010600030101010101" pitchFamily="2" charset="-122"/>
                      </a:endParaRP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700" b="0" i="0" u="none" strike="noStrike" dirty="0">
                          <a:effectLst/>
                          <a:latin typeface="宋体" panose="02010600030101010101" pitchFamily="2" charset="-122"/>
                          <a:ea typeface="宋体" panose="02010600030101010101" pitchFamily="2" charset="-122"/>
                        </a:rPr>
                        <a:t>輸送線運轉時間</a:t>
                      </a:r>
                      <a:r>
                        <a:rPr lang="en-US" altLang="zh-TW" sz="700" b="0" i="0" u="none" strike="noStrike" dirty="0">
                          <a:effectLst/>
                          <a:latin typeface="宋体" panose="02010600030101010101" pitchFamily="2" charset="-122"/>
                          <a:ea typeface="宋体" panose="02010600030101010101" pitchFamily="2" charset="-122"/>
                        </a:rPr>
                        <a:t>1.5s</a:t>
                      </a:r>
                    </a:p>
                    <a:p>
                      <a:pPr algn="ctr" fontAlgn="ctr"/>
                      <a:r>
                        <a:rPr lang="en-US" altLang="zh-TW" sz="700" b="0" i="0" u="none" strike="noStrike" dirty="0">
                          <a:effectLst/>
                          <a:latin typeface="宋体" panose="02010600030101010101" pitchFamily="2" charset="-122"/>
                          <a:ea typeface="宋体" panose="02010600030101010101" pitchFamily="2" charset="-122"/>
                        </a:rPr>
                        <a:t>Conveyor line running time 1.5s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gridSpan="4">
                  <a:txBody>
                    <a:bodyPr/>
                    <a:lstStyle/>
                    <a:p>
                      <a:pPr algn="ctr" fontAlgn="ctr"/>
                      <a:r>
                        <a:rPr lang="en-US" altLang="zh-CN" sz="700" b="0" i="0" u="none" strike="noStrike">
                          <a:solidFill>
                            <a:srgbClr val="FF0000"/>
                          </a:solidFill>
                          <a:effectLst/>
                          <a:latin typeface="PMingLiU" panose="02020500000000000000" pitchFamily="18" charset="-120"/>
                          <a:ea typeface="PMingLiU" panose="02020500000000000000" pitchFamily="18" charset="-120"/>
                        </a:rPr>
                        <a:t>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dirty="0">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7743">
                <a:tc vMerge="1">
                  <a:txBody>
                    <a:bodyPr/>
                    <a:lstStyle/>
                    <a:p>
                      <a:endParaRPr lang="zh-CN"/>
                    </a:p>
                  </a:txBody>
                  <a:tcPr/>
                </a:tc>
                <a:tc>
                  <a:txBody>
                    <a:bodyPr/>
                    <a:lstStyle/>
                    <a:p>
                      <a:pPr algn="ctr" fontAlgn="ctr"/>
                      <a:r>
                        <a:rPr lang="zh-CN" altLang="en-US" sz="700" b="0" i="0" u="none" strike="noStrike" dirty="0">
                          <a:effectLst/>
                          <a:latin typeface="宋体" panose="02010600030101010101" pitchFamily="2" charset="-122"/>
                          <a:ea typeface="宋体" panose="02010600030101010101" pitchFamily="2" charset="-122"/>
                        </a:rPr>
                        <a:t>產品定位 </a:t>
                      </a:r>
                      <a:r>
                        <a:rPr lang="en-US" altLang="zh-CN" sz="700" b="0" i="0" u="none" strike="noStrike" dirty="0">
                          <a:effectLst/>
                          <a:latin typeface="宋体" panose="02010600030101010101" pitchFamily="2" charset="-122"/>
                          <a:ea typeface="宋体" panose="02010600030101010101" pitchFamily="2" charset="-122"/>
                        </a:rPr>
                        <a:t>0.5</a:t>
                      </a:r>
                      <a:r>
                        <a:rPr lang="en-US" sz="700" b="0" i="0" u="none" strike="noStrike" dirty="0">
                          <a:effectLst/>
                          <a:latin typeface="宋体" panose="02010600030101010101" pitchFamily="2" charset="-122"/>
                          <a:ea typeface="宋体" panose="02010600030101010101" pitchFamily="2" charset="-122"/>
                        </a:rPr>
                        <a:t>s</a:t>
                      </a:r>
                    </a:p>
                    <a:p>
                      <a:pPr algn="ctr" fontAlgn="ctr"/>
                      <a:r>
                        <a:rPr lang="en-US" sz="700" b="0" i="0" u="none" strike="noStrike" dirty="0">
                          <a:effectLst/>
                          <a:latin typeface="宋体" panose="02010600030101010101" pitchFamily="2" charset="-122"/>
                          <a:ea typeface="宋体" panose="02010600030101010101" pitchFamily="2" charset="-122"/>
                        </a:rPr>
                        <a:t>Product positioning 0.5s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198">
                <a:tc rowSpan="3">
                  <a:txBody>
                    <a:bodyPr/>
                    <a:lstStyle/>
                    <a:p>
                      <a:pPr algn="ctr" fontAlgn="ctr"/>
                      <a:r>
                        <a:rPr lang="zh-TW" altLang="en-US" sz="800" b="0" i="0" u="none" strike="noStrike" dirty="0">
                          <a:effectLst/>
                          <a:latin typeface="宋体" panose="02010600030101010101" pitchFamily="2" charset="-122"/>
                          <a:ea typeface="宋体" panose="02010600030101010101" pitchFamily="2" charset="-122"/>
                        </a:rPr>
                        <a:t>測距</a:t>
                      </a:r>
                      <a:r>
                        <a:rPr lang="en-US" altLang="zh-TW" sz="800" b="0" i="0" u="none" strike="noStrike" dirty="0">
                          <a:effectLst/>
                          <a:latin typeface="宋体" panose="02010600030101010101" pitchFamily="2" charset="-122"/>
                          <a:ea typeface="宋体" panose="02010600030101010101" pitchFamily="2" charset="-122"/>
                        </a:rPr>
                        <a:t>&amp;</a:t>
                      </a:r>
                      <a:r>
                        <a:rPr lang="zh-TW" altLang="en-US" sz="800" b="0" i="0" u="none" strike="noStrike" dirty="0">
                          <a:effectLst/>
                          <a:latin typeface="宋体" panose="02010600030101010101" pitchFamily="2" charset="-122"/>
                          <a:ea typeface="宋体" panose="02010600030101010101" pitchFamily="2" charset="-122"/>
                        </a:rPr>
                        <a:t>拍照</a:t>
                      </a:r>
                      <a:r>
                        <a:rPr lang="en-US" altLang="zh-TW" sz="800" b="0" i="0" u="none" strike="noStrike" dirty="0">
                          <a:effectLst/>
                          <a:latin typeface="宋体" panose="02010600030101010101" pitchFamily="2" charset="-122"/>
                          <a:ea typeface="宋体" panose="02010600030101010101" pitchFamily="2" charset="-122"/>
                        </a:rPr>
                        <a:t>&amp;</a:t>
                      </a:r>
                      <a:r>
                        <a:rPr lang="zh-TW" altLang="en-US" sz="800" b="0" i="0" u="none" strike="noStrike" dirty="0">
                          <a:effectLst/>
                          <a:latin typeface="宋体" panose="02010600030101010101" pitchFamily="2" charset="-122"/>
                          <a:ea typeface="宋体" panose="02010600030101010101" pitchFamily="2" charset="-122"/>
                        </a:rPr>
                        <a:t>掃碼</a:t>
                      </a:r>
                      <a:endParaRPr lang="en-US" altLang="zh-TW" sz="800" b="0" i="0" u="none" strike="noStrike" dirty="0">
                        <a:effectLst/>
                        <a:latin typeface="宋体" panose="02010600030101010101" pitchFamily="2" charset="-122"/>
                        <a:ea typeface="宋体" panose="02010600030101010101" pitchFamily="2" charset="-122"/>
                      </a:endParaRPr>
                    </a:p>
                    <a:p>
                      <a:pPr algn="ctr" fontAlgn="ctr"/>
                      <a:r>
                        <a:rPr lang="en-US" altLang="zh-TW" sz="800" b="0" i="0" u="none" strike="noStrike" dirty="0">
                          <a:effectLst/>
                          <a:latin typeface="宋体" panose="02010600030101010101" pitchFamily="2" charset="-122"/>
                          <a:ea typeface="宋体" panose="02010600030101010101" pitchFamily="2" charset="-122"/>
                        </a:rPr>
                        <a:t>Distance measurement, photography, and scanning</a:t>
                      </a:r>
                      <a:endParaRPr lang="zh-TW" altLang="en-US" sz="800" b="0" i="0" u="none" strike="noStrike" dirty="0">
                        <a:effectLst/>
                        <a:latin typeface="宋体" panose="02010600030101010101" pitchFamily="2" charset="-122"/>
                        <a:ea typeface="宋体" panose="02010600030101010101" pitchFamily="2" charset="-122"/>
                      </a:endParaRP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700" b="0" i="0" u="none" strike="noStrike" dirty="0">
                          <a:effectLst/>
                          <a:latin typeface="宋体" panose="02010600030101010101" pitchFamily="2" charset="-122"/>
                          <a:ea typeface="宋体" panose="02010600030101010101" pitchFamily="2" charset="-122"/>
                        </a:rPr>
                        <a:t>滑台移動至測距點測距 </a:t>
                      </a:r>
                      <a:r>
                        <a:rPr lang="en-US" altLang="zh-TW" sz="700" b="0" i="0" u="none" strike="noStrike" dirty="0">
                          <a:effectLst/>
                          <a:latin typeface="宋体" panose="02010600030101010101" pitchFamily="2" charset="-122"/>
                          <a:ea typeface="宋体" panose="02010600030101010101" pitchFamily="2" charset="-122"/>
                        </a:rPr>
                        <a:t>1.5s</a:t>
                      </a:r>
                    </a:p>
                    <a:p>
                      <a:pPr algn="ctr" fontAlgn="ctr"/>
                      <a:r>
                        <a:rPr lang="en-US" altLang="zh-TW" sz="700" b="0" i="0" u="none" strike="noStrike" dirty="0">
                          <a:effectLst/>
                          <a:latin typeface="宋体" panose="02010600030101010101" pitchFamily="2" charset="-122"/>
                          <a:ea typeface="宋体" panose="02010600030101010101" pitchFamily="2" charset="-122"/>
                        </a:rPr>
                        <a:t>The sliding table moves to the distance measuring point for 1.5 seconds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gridSpan="8">
                  <a:txBody>
                    <a:bodyPr/>
                    <a:lstStyle/>
                    <a:p>
                      <a:pPr algn="ctr" fontAlgn="ctr"/>
                      <a:r>
                        <a:rPr lang="en-US" altLang="zh-CN" sz="700" b="0" i="0" u="none" strike="noStrike">
                          <a:solidFill>
                            <a:srgbClr val="FF0000"/>
                          </a:solidFill>
                          <a:effectLst/>
                          <a:latin typeface="PMingLiU" panose="02020500000000000000" pitchFamily="18" charset="-120"/>
                          <a:ea typeface="PMingLiU" panose="02020500000000000000" pitchFamily="18" charset="-120"/>
                        </a:rPr>
                        <a:t>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7743">
                <a:tc vMerge="1">
                  <a:txBody>
                    <a:bodyPr/>
                    <a:lstStyle/>
                    <a:p>
                      <a:endParaRPr lang="zh-CN"/>
                    </a:p>
                  </a:txBody>
                  <a:tcPr/>
                </a:tc>
                <a:tc>
                  <a:txBody>
                    <a:bodyPr/>
                    <a:lstStyle/>
                    <a:p>
                      <a:pPr algn="ctr" fontAlgn="ctr"/>
                      <a:r>
                        <a:rPr lang="en-US" sz="700" b="0" i="0" u="none" strike="noStrike" dirty="0">
                          <a:effectLst/>
                          <a:latin typeface="宋体" panose="02010600030101010101" pitchFamily="2" charset="-122"/>
                          <a:ea typeface="宋体" panose="02010600030101010101" pitchFamily="2" charset="-122"/>
                        </a:rPr>
                        <a:t>Mark</a:t>
                      </a:r>
                      <a:r>
                        <a:rPr lang="zh-CN" altLang="en-US" sz="700" b="0" i="0" u="none" strike="noStrike" dirty="0">
                          <a:effectLst/>
                          <a:latin typeface="宋体" panose="02010600030101010101" pitchFamily="2" charset="-122"/>
                          <a:ea typeface="宋体" panose="02010600030101010101" pitchFamily="2" charset="-122"/>
                        </a:rPr>
                        <a:t>點拍照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p>
                      <a:pPr algn="ctr" fontAlgn="ctr"/>
                      <a:r>
                        <a:rPr lang="en-US" sz="700" b="0" i="0" u="none" strike="noStrike" dirty="0">
                          <a:effectLst/>
                          <a:latin typeface="宋体" panose="02010600030101010101" pitchFamily="2" charset="-122"/>
                          <a:ea typeface="宋体" panose="02010600030101010101" pitchFamily="2" charset="-122"/>
                        </a:rPr>
                        <a:t>Mark point photography for 1.5 seconds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8"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7743">
                <a:tc vMerge="1">
                  <a:txBody>
                    <a:bodyPr/>
                    <a:lstStyle/>
                    <a:p>
                      <a:endParaRPr lang="zh-CN"/>
                    </a:p>
                  </a:txBody>
                  <a:tcPr/>
                </a:tc>
                <a:tc>
                  <a:txBody>
                    <a:bodyPr/>
                    <a:lstStyle/>
                    <a:p>
                      <a:pPr algn="ctr" fontAlgn="ctr"/>
                      <a:r>
                        <a:rPr lang="zh-CN" altLang="en-US" sz="700" b="0" i="0" u="none" strike="noStrike" dirty="0">
                          <a:effectLst/>
                          <a:latin typeface="宋体" panose="02010600030101010101" pitchFamily="2" charset="-122"/>
                          <a:ea typeface="宋体" panose="02010600030101010101" pitchFamily="2" charset="-122"/>
                        </a:rPr>
                        <a:t>掃碼</a:t>
                      </a:r>
                      <a:r>
                        <a:rPr lang="en-US" altLang="zh-CN" sz="700" b="0" i="0" u="none" strike="noStrike" dirty="0">
                          <a:effectLst/>
                          <a:latin typeface="宋体" panose="02010600030101010101" pitchFamily="2" charset="-122"/>
                          <a:ea typeface="宋体" panose="02010600030101010101" pitchFamily="2" charset="-122"/>
                        </a:rPr>
                        <a:t>1</a:t>
                      </a:r>
                      <a:r>
                        <a:rPr lang="en-US" sz="700" b="0" i="0" u="none" strike="noStrike" dirty="0">
                          <a:effectLst/>
                          <a:latin typeface="宋体" panose="02010600030101010101" pitchFamily="2" charset="-122"/>
                          <a:ea typeface="宋体" panose="02010600030101010101" pitchFamily="2" charset="-122"/>
                        </a:rPr>
                        <a:t>s</a:t>
                      </a:r>
                    </a:p>
                    <a:p>
                      <a:pPr algn="ctr" fontAlgn="ctr"/>
                      <a:r>
                        <a:rPr lang="en-US" sz="700" b="0" i="0" u="none" strike="noStrike" dirty="0">
                          <a:effectLst/>
                          <a:latin typeface="宋体" panose="02010600030101010101" pitchFamily="2" charset="-122"/>
                          <a:ea typeface="宋体" panose="02010600030101010101" pitchFamily="2" charset="-122"/>
                        </a:rPr>
                        <a:t>Scan the code for 1 second</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8"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3971">
                <a:tc rowSpan="2">
                  <a:txBody>
                    <a:bodyPr/>
                    <a:lstStyle/>
                    <a:p>
                      <a:pPr algn="ctr" fontAlgn="ctr"/>
                      <a:r>
                        <a:rPr lang="zh-CN" altLang="en-US" sz="800" b="0" i="0" u="none" strike="noStrike" dirty="0">
                          <a:effectLst/>
                          <a:latin typeface="宋体" panose="02010600030101010101" pitchFamily="2" charset="-122"/>
                          <a:ea typeface="宋体" panose="02010600030101010101" pitchFamily="2" charset="-122"/>
                        </a:rPr>
                        <a:t>點膠流程</a:t>
                      </a:r>
                      <a:endParaRPr lang="en-US" altLang="zh-CN" sz="800" b="0" i="0" u="none" strike="noStrike" dirty="0">
                        <a:effectLst/>
                        <a:latin typeface="宋体" panose="02010600030101010101" pitchFamily="2" charset="-122"/>
                        <a:ea typeface="宋体" panose="02010600030101010101" pitchFamily="2" charset="-122"/>
                      </a:endParaRPr>
                    </a:p>
                    <a:p>
                      <a:pPr algn="ctr" fontAlgn="ctr"/>
                      <a:r>
                        <a:rPr lang="en-US" altLang="zh-CN" sz="800" b="0" i="0" u="none" strike="noStrike" dirty="0">
                          <a:effectLst/>
                          <a:latin typeface="宋体" panose="02010600030101010101" pitchFamily="2" charset="-122"/>
                          <a:ea typeface="宋体" panose="02010600030101010101" pitchFamily="2" charset="-122"/>
                        </a:rPr>
                        <a:t>Glue dispensing process</a:t>
                      </a:r>
                      <a:endParaRPr lang="zh-CN" altLang="en-US" sz="800" b="0" i="0" u="none" strike="noStrike" dirty="0">
                        <a:effectLst/>
                        <a:latin typeface="宋体" panose="02010600030101010101" pitchFamily="2" charset="-122"/>
                        <a:ea typeface="宋体" panose="02010600030101010101" pitchFamily="2" charset="-122"/>
                      </a:endParaRP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700" b="0" i="0" u="none" strike="noStrike" dirty="0">
                          <a:effectLst/>
                          <a:latin typeface="宋体" panose="02010600030101010101" pitchFamily="2" charset="-122"/>
                          <a:ea typeface="宋体" panose="02010600030101010101" pitchFamily="2" charset="-122"/>
                        </a:rPr>
                        <a:t>滑臺移動到點膠點 </a:t>
                      </a:r>
                      <a:r>
                        <a:rPr lang="en-US" altLang="zh-TW" sz="700" b="0" i="0" u="none" strike="noStrike" dirty="0">
                          <a:effectLst/>
                          <a:latin typeface="宋体" panose="02010600030101010101" pitchFamily="2" charset="-122"/>
                          <a:ea typeface="宋体" panose="02010600030101010101" pitchFamily="2" charset="-122"/>
                        </a:rPr>
                        <a:t>0.5s</a:t>
                      </a:r>
                    </a:p>
                    <a:p>
                      <a:pPr algn="ctr" fontAlgn="ctr"/>
                      <a:r>
                        <a:rPr lang="en-US" altLang="zh-TW" sz="700" b="0" i="0" u="none" strike="noStrike" dirty="0">
                          <a:effectLst/>
                          <a:latin typeface="宋体" panose="02010600030101010101" pitchFamily="2" charset="-122"/>
                          <a:ea typeface="宋体" panose="02010600030101010101" pitchFamily="2" charset="-122"/>
                        </a:rPr>
                        <a:t>Slide table moves to adhesive point for 0.5s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gridSpan="27">
                  <a:txBody>
                    <a:bodyPr/>
                    <a:lstStyle/>
                    <a:p>
                      <a:pPr algn="ctr" fontAlgn="ctr"/>
                      <a:r>
                        <a:rPr lang="en-US" altLang="zh-CN" sz="700" b="0" i="0" u="none" strike="noStrike">
                          <a:solidFill>
                            <a:srgbClr val="FF0000"/>
                          </a:solidFill>
                          <a:effectLst/>
                          <a:latin typeface="PMingLiU" panose="02020500000000000000" pitchFamily="18" charset="-120"/>
                          <a:ea typeface="PMingLiU" panose="02020500000000000000" pitchFamily="18" charset="-120"/>
                        </a:rPr>
                        <a:t>12.5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7743">
                <a:tc vMerge="1">
                  <a:txBody>
                    <a:bodyPr/>
                    <a:lstStyle/>
                    <a:p>
                      <a:endParaRPr lang="zh-CN"/>
                    </a:p>
                  </a:txBody>
                  <a:tcPr/>
                </a:tc>
                <a:tc>
                  <a:txBody>
                    <a:bodyPr/>
                    <a:lstStyle/>
                    <a:p>
                      <a:pPr algn="ctr" fontAlgn="ctr"/>
                      <a:r>
                        <a:rPr lang="zh-CN" altLang="en-US" sz="700" b="0" i="0" u="none" strike="noStrike" dirty="0">
                          <a:effectLst/>
                          <a:latin typeface="宋体" panose="02010600030101010101" pitchFamily="2" charset="-122"/>
                          <a:ea typeface="宋体" panose="02010600030101010101" pitchFamily="2" charset="-122"/>
                        </a:rPr>
                        <a:t>點膠（</a:t>
                      </a:r>
                      <a:r>
                        <a:rPr lang="en-US" altLang="zh-CN" sz="700" b="0" i="0" u="none" strike="noStrike" dirty="0">
                          <a:effectLst/>
                          <a:latin typeface="宋体" panose="02010600030101010101" pitchFamily="2" charset="-122"/>
                          <a:ea typeface="宋体" panose="02010600030101010101" pitchFamily="2" charset="-122"/>
                        </a:rPr>
                        <a:t>1-12</a:t>
                      </a:r>
                      <a:r>
                        <a:rPr lang="zh-CN" altLang="en-US" sz="700" b="0" i="0" u="none" strike="noStrike" dirty="0">
                          <a:effectLst/>
                          <a:latin typeface="宋体" panose="02010600030101010101" pitchFamily="2" charset="-122"/>
                          <a:ea typeface="宋体" panose="02010600030101010101" pitchFamily="2" charset="-122"/>
                        </a:rPr>
                        <a:t>號）</a:t>
                      </a:r>
                      <a:r>
                        <a:rPr lang="en-US" altLang="zh-CN" sz="700" b="0" i="0" u="none" strike="noStrike" dirty="0">
                          <a:effectLst/>
                          <a:latin typeface="宋体" panose="02010600030101010101" pitchFamily="2" charset="-122"/>
                          <a:ea typeface="宋体" panose="02010600030101010101" pitchFamily="2" charset="-122"/>
                        </a:rPr>
                        <a:t>13</a:t>
                      </a:r>
                      <a:r>
                        <a:rPr lang="en-US" sz="700" b="0" i="0" u="none" strike="noStrike" dirty="0">
                          <a:effectLst/>
                          <a:latin typeface="宋体" panose="02010600030101010101" pitchFamily="2" charset="-122"/>
                          <a:ea typeface="宋体" panose="02010600030101010101" pitchFamily="2" charset="-122"/>
                        </a:rPr>
                        <a:t>s</a:t>
                      </a:r>
                    </a:p>
                    <a:p>
                      <a:pPr algn="ctr" fontAlgn="ctr"/>
                      <a:r>
                        <a:rPr lang="en-US" sz="700" b="0" i="0" u="none" strike="noStrike" dirty="0">
                          <a:effectLst/>
                          <a:latin typeface="宋体" panose="02010600030101010101" pitchFamily="2" charset="-122"/>
                          <a:ea typeface="宋体" panose="02010600030101010101" pitchFamily="2" charset="-122"/>
                        </a:rPr>
                        <a:t>Glue dispensing (1-12) for 13 seconds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7"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3971">
                <a:tc rowSpan="3">
                  <a:txBody>
                    <a:bodyPr/>
                    <a:lstStyle/>
                    <a:p>
                      <a:pPr algn="ctr" fontAlgn="ctr"/>
                      <a:r>
                        <a:rPr lang="zh-TW" altLang="en-US" sz="800" b="0" i="0" u="none" strike="noStrike" dirty="0">
                          <a:effectLst/>
                          <a:latin typeface="宋体" panose="02010600030101010101" pitchFamily="2" charset="-122"/>
                          <a:ea typeface="宋体" panose="02010600030101010101" pitchFamily="2" charset="-122"/>
                        </a:rPr>
                        <a:t>識別面積</a:t>
                      </a:r>
                      <a:r>
                        <a:rPr lang="en-US" altLang="zh-TW" sz="800" b="0" i="0" u="none" strike="noStrike" dirty="0">
                          <a:effectLst/>
                          <a:latin typeface="宋体" panose="02010600030101010101" pitchFamily="2" charset="-122"/>
                          <a:ea typeface="宋体" panose="02010600030101010101" pitchFamily="2" charset="-122"/>
                        </a:rPr>
                        <a:t>&amp;</a:t>
                      </a:r>
                      <a:r>
                        <a:rPr lang="zh-TW" altLang="en-US" sz="800" b="0" i="0" u="none" strike="noStrike" dirty="0">
                          <a:effectLst/>
                          <a:latin typeface="宋体" panose="02010600030101010101" pitchFamily="2" charset="-122"/>
                          <a:ea typeface="宋体" panose="02010600030101010101" pitchFamily="2" charset="-122"/>
                        </a:rPr>
                        <a:t>上傳卡站</a:t>
                      </a:r>
                      <a:r>
                        <a:rPr lang="en-US" altLang="zh-TW" sz="800" b="0" i="0" u="none" strike="noStrike" dirty="0">
                          <a:effectLst/>
                          <a:latin typeface="宋体" panose="02010600030101010101" pitchFamily="2" charset="-122"/>
                          <a:ea typeface="宋体" panose="02010600030101010101" pitchFamily="2" charset="-122"/>
                        </a:rPr>
                        <a:t>Identify Area &amp; Upload </a:t>
                      </a:r>
                      <a:r>
                        <a:rPr lang="en-US" altLang="zh-CN" sz="800" dirty="0">
                          <a:latin typeface="宋体" panose="02010600030101010101" pitchFamily="2" charset="-122"/>
                          <a:ea typeface="宋体" panose="02010600030101010101" pitchFamily="2" charset="-122"/>
                        </a:rPr>
                        <a:t>Kazan</a:t>
                      </a:r>
                      <a:endParaRPr lang="zh-TW" altLang="en-US" sz="800" b="0" i="0" u="none" strike="noStrike" dirty="0">
                        <a:effectLst/>
                        <a:latin typeface="宋体" panose="02010600030101010101" pitchFamily="2" charset="-122"/>
                        <a:ea typeface="宋体" panose="02010600030101010101" pitchFamily="2" charset="-122"/>
                      </a:endParaRP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700" b="0" i="0" u="none" strike="noStrike" dirty="0">
                          <a:effectLst/>
                          <a:latin typeface="宋体" panose="02010600030101010101" pitchFamily="2" charset="-122"/>
                          <a:ea typeface="宋体" panose="02010600030101010101" pitchFamily="2" charset="-122"/>
                        </a:rPr>
                        <a:t>相機移動到點膠點 </a:t>
                      </a:r>
                      <a:r>
                        <a:rPr lang="en-US" altLang="zh-TW" sz="700" b="0" i="0" u="none" strike="noStrike" dirty="0">
                          <a:effectLst/>
                          <a:latin typeface="宋体" panose="02010600030101010101" pitchFamily="2" charset="-122"/>
                          <a:ea typeface="宋体" panose="02010600030101010101" pitchFamily="2" charset="-122"/>
                        </a:rPr>
                        <a:t>1s</a:t>
                      </a:r>
                    </a:p>
                    <a:p>
                      <a:pPr algn="ctr" fontAlgn="ctr"/>
                      <a:r>
                        <a:rPr lang="en-US" altLang="zh-TW" sz="700" b="0" i="0" u="none" strike="noStrike" dirty="0">
                          <a:effectLst/>
                          <a:latin typeface="宋体" panose="02010600030101010101" pitchFamily="2" charset="-122"/>
                          <a:ea typeface="宋体" panose="02010600030101010101" pitchFamily="2" charset="-122"/>
                        </a:rPr>
                        <a:t>Camera moves to the adhesive point for 1 second</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gridSpan="54">
                  <a:txBody>
                    <a:bodyPr/>
                    <a:lstStyle/>
                    <a:p>
                      <a:pPr algn="ctr" fontAlgn="ctr"/>
                      <a:r>
                        <a:rPr lang="en-US" altLang="zh-CN" sz="700" b="0" i="0" u="none" strike="noStrike">
                          <a:solidFill>
                            <a:srgbClr val="FF0000"/>
                          </a:solidFill>
                          <a:effectLst/>
                          <a:latin typeface="PMingLiU" panose="02020500000000000000" pitchFamily="18" charset="-120"/>
                          <a:ea typeface="PMingLiU" panose="02020500000000000000" pitchFamily="18" charset="-120"/>
                        </a:rPr>
                        <a:t>28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rowSpan="3" h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7743">
                <a:tc vMerge="1">
                  <a:txBody>
                    <a:bodyPr/>
                    <a:lstStyle/>
                    <a:p>
                      <a:endParaRPr lang="zh-CN"/>
                    </a:p>
                  </a:txBody>
                  <a:tcPr/>
                </a:tc>
                <a:tc>
                  <a:txBody>
                    <a:bodyPr/>
                    <a:lstStyle/>
                    <a:p>
                      <a:pPr algn="ctr" fontAlgn="ctr"/>
                      <a:r>
                        <a:rPr lang="zh-TW" altLang="en-US" sz="700" b="0" i="0" u="none" strike="noStrike" dirty="0">
                          <a:effectLst/>
                          <a:latin typeface="宋体" panose="02010600030101010101" pitchFamily="2" charset="-122"/>
                          <a:ea typeface="宋体" panose="02010600030101010101" pitchFamily="2" charset="-122"/>
                        </a:rPr>
                        <a:t>識別面積（</a:t>
                      </a:r>
                      <a:r>
                        <a:rPr lang="en-US" altLang="zh-TW" sz="700" b="0" i="0" u="none" strike="noStrike" dirty="0">
                          <a:effectLst/>
                          <a:latin typeface="宋体" panose="02010600030101010101" pitchFamily="2" charset="-122"/>
                          <a:ea typeface="宋体" panose="02010600030101010101" pitchFamily="2" charset="-122"/>
                        </a:rPr>
                        <a:t>1-12</a:t>
                      </a:r>
                      <a:r>
                        <a:rPr lang="zh-TW" altLang="en-US" sz="700" b="0" i="0" u="none" strike="noStrike" dirty="0">
                          <a:effectLst/>
                          <a:latin typeface="宋体" panose="02010600030101010101" pitchFamily="2" charset="-122"/>
                          <a:ea typeface="宋体" panose="02010600030101010101" pitchFamily="2" charset="-122"/>
                        </a:rPr>
                        <a:t>號）</a:t>
                      </a:r>
                      <a:r>
                        <a:rPr lang="en-US" altLang="zh-TW" sz="700" b="0" i="0" u="none" strike="noStrike" dirty="0">
                          <a:effectLst/>
                          <a:latin typeface="宋体" panose="02010600030101010101" pitchFamily="2" charset="-122"/>
                          <a:ea typeface="宋体" panose="02010600030101010101" pitchFamily="2" charset="-122"/>
                        </a:rPr>
                        <a:t>9s</a:t>
                      </a:r>
                    </a:p>
                    <a:p>
                      <a:pPr algn="ctr" fontAlgn="ctr"/>
                      <a:r>
                        <a:rPr lang="en-US" altLang="zh-TW" sz="700" b="0" i="0" u="none" strike="noStrike" dirty="0">
                          <a:effectLst/>
                          <a:latin typeface="宋体" panose="02010600030101010101" pitchFamily="2" charset="-122"/>
                          <a:ea typeface="宋体" panose="02010600030101010101" pitchFamily="2" charset="-122"/>
                        </a:rPr>
                        <a:t>Identification area (1-12) 9s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54"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7743">
                <a:tc vMerge="1">
                  <a:txBody>
                    <a:bodyPr/>
                    <a:lstStyle/>
                    <a:p>
                      <a:endParaRPr lang="zh-CN"/>
                    </a:p>
                  </a:txBody>
                  <a:tcPr/>
                </a:tc>
                <a:tc>
                  <a:txBody>
                    <a:bodyPr/>
                    <a:lstStyle/>
                    <a:p>
                      <a:pPr algn="ctr" fontAlgn="ctr"/>
                      <a:r>
                        <a:rPr lang="zh-TW" altLang="en-US" sz="700" b="0" i="0" u="none" strike="noStrike" dirty="0">
                          <a:effectLst/>
                          <a:latin typeface="宋体" panose="02010600030101010101" pitchFamily="2" charset="-122"/>
                          <a:ea typeface="宋体" panose="02010600030101010101" pitchFamily="2" charset="-122"/>
                        </a:rPr>
                        <a:t>上傳</a:t>
                      </a:r>
                      <a:r>
                        <a:rPr lang="en-US" altLang="zh-CN" sz="700" b="0" i="0" u="none" strike="noStrike" dirty="0">
                          <a:effectLst/>
                          <a:latin typeface="宋体" panose="02010600030101010101" pitchFamily="2" charset="-122"/>
                          <a:ea typeface="宋体" panose="02010600030101010101" pitchFamily="2" charset="-122"/>
                        </a:rPr>
                        <a:t>Kazan</a:t>
                      </a:r>
                      <a:r>
                        <a:rPr lang="zh-TW" altLang="en-US" sz="700" b="0" i="0" u="none" strike="noStrike" dirty="0">
                          <a:effectLst/>
                          <a:latin typeface="宋体" panose="02010600030101010101" pitchFamily="2" charset="-122"/>
                          <a:ea typeface="宋体" panose="02010600030101010101" pitchFamily="2" charset="-122"/>
                        </a:rPr>
                        <a:t>（</a:t>
                      </a:r>
                      <a:r>
                        <a:rPr lang="en-US" altLang="zh-TW" sz="700" b="0" i="0" u="none" strike="noStrike" dirty="0">
                          <a:effectLst/>
                          <a:latin typeface="宋体" panose="02010600030101010101" pitchFamily="2" charset="-122"/>
                          <a:ea typeface="宋体" panose="02010600030101010101" pitchFamily="2" charset="-122"/>
                        </a:rPr>
                        <a:t>5s</a:t>
                      </a:r>
                      <a:r>
                        <a:rPr lang="zh-TW" altLang="en-US" sz="700" b="0" i="0" u="none" strike="noStrike" dirty="0">
                          <a:effectLst/>
                          <a:latin typeface="宋体" panose="02010600030101010101" pitchFamily="2" charset="-122"/>
                          <a:ea typeface="宋体" panose="02010600030101010101" pitchFamily="2" charset="-122"/>
                        </a:rPr>
                        <a:t>）</a:t>
                      </a:r>
                      <a:endParaRPr lang="en-US" altLang="zh-TW" sz="700" b="0" i="0" u="none" strike="noStrike" dirty="0">
                        <a:effectLst/>
                        <a:latin typeface="宋体" panose="02010600030101010101" pitchFamily="2" charset="-122"/>
                        <a:ea typeface="宋体" panose="02010600030101010101" pitchFamily="2" charset="-122"/>
                      </a:endParaRPr>
                    </a:p>
                    <a:p>
                      <a:pPr algn="ctr" fontAlgn="ctr"/>
                      <a:r>
                        <a:rPr lang="en-US" altLang="zh-TW" sz="700" b="0" i="0" u="none" strike="noStrike" dirty="0">
                          <a:effectLst/>
                          <a:latin typeface="宋体" panose="02010600030101010101" pitchFamily="2" charset="-122"/>
                          <a:ea typeface="宋体" panose="02010600030101010101" pitchFamily="2" charset="-122"/>
                        </a:rPr>
                        <a:t>Upload Kazan (5s)</a:t>
                      </a:r>
                      <a:endParaRPr lang="zh-TW" altLang="en-US" sz="700" b="0" i="0" u="none" strike="noStrike" dirty="0">
                        <a:effectLst/>
                        <a:latin typeface="宋体" panose="02010600030101010101" pitchFamily="2" charset="-122"/>
                        <a:ea typeface="宋体" panose="02010600030101010101" pitchFamily="2" charset="-122"/>
                      </a:endParaRP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54"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7743">
                <a:tc rowSpan="2">
                  <a:txBody>
                    <a:bodyPr/>
                    <a:lstStyle/>
                    <a:p>
                      <a:pPr algn="ctr" fontAlgn="ctr"/>
                      <a:r>
                        <a:rPr lang="zh-CN" altLang="en-US" sz="800" b="0" i="0" u="none" strike="noStrike" dirty="0">
                          <a:effectLst/>
                          <a:latin typeface="宋体" panose="02010600030101010101" pitchFamily="2" charset="-122"/>
                          <a:ea typeface="宋体" panose="02010600030101010101" pitchFamily="2" charset="-122"/>
                        </a:rPr>
                        <a:t>產品流出</a:t>
                      </a:r>
                      <a:endParaRPr lang="en-US" altLang="zh-CN" sz="800" b="0" i="0" u="none" strike="noStrike" dirty="0">
                        <a:effectLst/>
                        <a:latin typeface="宋体" panose="02010600030101010101" pitchFamily="2" charset="-122"/>
                        <a:ea typeface="宋体" panose="02010600030101010101" pitchFamily="2" charset="-122"/>
                      </a:endParaRPr>
                    </a:p>
                    <a:p>
                      <a:pPr algn="ctr" fontAlgn="ctr"/>
                      <a:r>
                        <a:rPr lang="en-US" altLang="zh-CN" sz="800" b="0" i="0" u="none" strike="noStrike" dirty="0">
                          <a:effectLst/>
                          <a:latin typeface="宋体" panose="02010600030101010101" pitchFamily="2" charset="-122"/>
                          <a:ea typeface="宋体" panose="02010600030101010101" pitchFamily="2" charset="-122"/>
                        </a:rPr>
                        <a:t>Product outflow</a:t>
                      </a:r>
                      <a:endParaRPr lang="zh-CN" altLang="en-US" sz="800" b="0" i="0" u="none" strike="noStrike" dirty="0">
                        <a:effectLst/>
                        <a:latin typeface="宋体" panose="02010600030101010101" pitchFamily="2" charset="-122"/>
                        <a:ea typeface="宋体" panose="02010600030101010101" pitchFamily="2" charset="-122"/>
                      </a:endParaRP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700" b="0" i="0" u="none" strike="noStrike" dirty="0">
                          <a:effectLst/>
                          <a:latin typeface="宋体" panose="02010600030101010101" pitchFamily="2" charset="-122"/>
                          <a:ea typeface="宋体" panose="02010600030101010101" pitchFamily="2" charset="-122"/>
                        </a:rPr>
                        <a:t>產品定位取消 </a:t>
                      </a:r>
                      <a:r>
                        <a:rPr lang="en-US" altLang="zh-CN" sz="700" b="0" i="0" u="none" strike="noStrike" dirty="0">
                          <a:effectLst/>
                          <a:latin typeface="宋体" panose="02010600030101010101" pitchFamily="2" charset="-122"/>
                          <a:ea typeface="宋体" panose="02010600030101010101" pitchFamily="2" charset="-122"/>
                        </a:rPr>
                        <a:t>0.5</a:t>
                      </a:r>
                      <a:r>
                        <a:rPr lang="en-US" sz="700" b="0" i="0" u="none" strike="noStrike" dirty="0">
                          <a:effectLst/>
                          <a:latin typeface="宋体" panose="02010600030101010101" pitchFamily="2" charset="-122"/>
                          <a:ea typeface="宋体" panose="02010600030101010101" pitchFamily="2" charset="-122"/>
                        </a:rPr>
                        <a:t>s</a:t>
                      </a:r>
                    </a:p>
                    <a:p>
                      <a:pPr algn="ctr" fontAlgn="ctr"/>
                      <a:r>
                        <a:rPr lang="en-US" sz="700" b="0" i="0" u="none" strike="noStrike" dirty="0">
                          <a:effectLst/>
                          <a:latin typeface="宋体" panose="02010600030101010101" pitchFamily="2" charset="-122"/>
                          <a:ea typeface="宋体" panose="02010600030101010101" pitchFamily="2" charset="-122"/>
                        </a:rPr>
                        <a:t>Product positioning canceled in 0.5s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gridSpan="3">
                  <a:txBody>
                    <a:bodyPr/>
                    <a:lstStyle/>
                    <a:p>
                      <a:pPr algn="ctr" fontAlgn="ctr"/>
                      <a:r>
                        <a:rPr lang="en-US" altLang="zh-CN" sz="700" b="0" i="0" u="none" strike="noStrike">
                          <a:solidFill>
                            <a:srgbClr val="FF0000"/>
                          </a:solidFill>
                          <a:effectLst/>
                          <a:latin typeface="PMingLiU" panose="02020500000000000000" pitchFamily="18" charset="-120"/>
                          <a:ea typeface="PMingLiU" panose="02020500000000000000" pitchFamily="18" charset="-120"/>
                        </a:rPr>
                        <a:t>1.5 </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rowSpan="2" hMerge="1">
                  <a:txBody>
                    <a:bodyPr/>
                    <a:lstStyle/>
                    <a:p>
                      <a:endParaRPr lang="zh-CN"/>
                    </a:p>
                  </a:txBody>
                  <a:tcPr/>
                </a:tc>
                <a:tc rowSpan="2" hMerge="1">
                  <a:txBody>
                    <a:bodyPr/>
                    <a:lstStyle/>
                    <a:p>
                      <a:endParaRPr lang="zh-CN"/>
                    </a:p>
                  </a:txBody>
                  <a:tcPr/>
                </a:tc>
                <a:extLst>
                  <a:ext uri="{0D108BD9-81ED-4DB2-BD59-A6C34878D82A}">
                    <a16:rowId xmlns:a16="http://schemas.microsoft.com/office/drawing/2014/main" val="10011"/>
                  </a:ext>
                </a:extLst>
              </a:tr>
              <a:tr h="383971">
                <a:tc vMerge="1">
                  <a:txBody>
                    <a:bodyPr/>
                    <a:lstStyle/>
                    <a:p>
                      <a:endParaRPr lang="zh-CN"/>
                    </a:p>
                  </a:txBody>
                  <a:tcPr/>
                </a:tc>
                <a:tc>
                  <a:txBody>
                    <a:bodyPr/>
                    <a:lstStyle/>
                    <a:p>
                      <a:pPr algn="ctr" fontAlgn="ctr"/>
                      <a:r>
                        <a:rPr lang="zh-CN" altLang="en-US" sz="700" b="0" i="0" u="none" strike="noStrike" dirty="0">
                          <a:effectLst/>
                          <a:latin typeface="宋体" panose="02010600030101010101" pitchFamily="2" charset="-122"/>
                          <a:ea typeface="宋体" panose="02010600030101010101" pitchFamily="2" charset="-122"/>
                        </a:rPr>
                        <a:t>產品流入后</a:t>
                      </a:r>
                      <a:r>
                        <a:rPr lang="en-US" sz="700" b="0" i="0" u="none" strike="noStrike" dirty="0">
                          <a:effectLst/>
                          <a:latin typeface="宋体" panose="02010600030101010101" pitchFamily="2" charset="-122"/>
                          <a:ea typeface="宋体" panose="02010600030101010101" pitchFamily="2" charset="-122"/>
                        </a:rPr>
                        <a:t>buffer 1s</a:t>
                      </a:r>
                    </a:p>
                    <a:p>
                      <a:pPr algn="ctr" fontAlgn="ctr"/>
                      <a:r>
                        <a:rPr lang="en-US" sz="700" b="0" i="0" u="none" strike="noStrike" dirty="0">
                          <a:effectLst/>
                          <a:latin typeface="宋体" panose="02010600030101010101" pitchFamily="2" charset="-122"/>
                          <a:ea typeface="宋体" panose="02010600030101010101" pitchFamily="2" charset="-122"/>
                        </a:rPr>
                        <a:t>Buffer for 1 second after the product flows in</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zh-CN" altLang="en-US" sz="1100" b="0" i="0" u="none" strike="noStrike">
                          <a:solidFill>
                            <a:srgbClr val="FF0000"/>
                          </a:solidFill>
                          <a:effectLst/>
                          <a:latin typeface="PMingLiU" panose="02020500000000000000" pitchFamily="18" charset="-120"/>
                          <a:ea typeface="PMingLiU" panose="02020500000000000000" pitchFamily="18" charset="-120"/>
                        </a:rPr>
                        <a:t>　</a:t>
                      </a:r>
                    </a:p>
                  </a:txBody>
                  <a:tcPr marL="4470" marR="4470" marT="447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3" vMerge="1">
                  <a:txBody>
                    <a:bodyPr/>
                    <a:lstStyle/>
                    <a:p>
                      <a:endParaRPr lang="zh-CN"/>
                    </a:p>
                  </a:txBody>
                  <a:tcPr/>
                </a:tc>
                <a:tc hMerge="1" vMerge="1">
                  <a:txBody>
                    <a:bodyPr/>
                    <a:lstStyle/>
                    <a:p>
                      <a:endParaRPr lang="zh-CN"/>
                    </a:p>
                  </a:txBody>
                  <a:tcPr/>
                </a:tc>
                <a:tc hMerge="1" vMerge="1">
                  <a:txBody>
                    <a:bodyPr/>
                    <a:lstStyle/>
                    <a:p>
                      <a:endParaRPr lang="zh-CN"/>
                    </a:p>
                  </a:txBody>
                  <a:tcPr/>
                </a:tc>
                <a:extLst>
                  <a:ext uri="{0D108BD9-81ED-4DB2-BD59-A6C34878D82A}">
                    <a16:rowId xmlns:a16="http://schemas.microsoft.com/office/drawing/2014/main" val="10012"/>
                  </a:ext>
                </a:extLst>
              </a:tr>
              <a:tr h="171897">
                <a:tc>
                  <a:txBody>
                    <a:bodyPr/>
                    <a:lstStyle/>
                    <a:p>
                      <a:pPr algn="ctr" fontAlgn="ctr"/>
                      <a:r>
                        <a:rPr lang="zh-CN" altLang="en-US" sz="700" b="0" i="0" u="none" strike="noStrike">
                          <a:effectLst/>
                          <a:latin typeface="PMingLiU" panose="02020500000000000000" pitchFamily="18" charset="-120"/>
                          <a:ea typeface="PMingLiU" panose="02020500000000000000" pitchFamily="18" charset="-120"/>
                        </a:rPr>
                        <a:t>　</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400" b="0" i="0" u="none" strike="noStrike">
                          <a:effectLst/>
                          <a:latin typeface="PMingLiU" panose="02020500000000000000" pitchFamily="18" charset="-120"/>
                          <a:ea typeface="PMingLiU" panose="02020500000000000000" pitchFamily="18" charset="-120"/>
                        </a:rPr>
                        <a:t>　</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19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29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39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49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59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69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79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87</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88</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89</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90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91</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92</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93</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94</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95</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400" b="0" i="0" u="none" strike="noStrike">
                          <a:effectLst/>
                          <a:latin typeface="PMingLiU" panose="02020500000000000000" pitchFamily="18" charset="-120"/>
                          <a:ea typeface="PMingLiU" panose="02020500000000000000" pitchFamily="18" charset="-120"/>
                        </a:rPr>
                        <a:t>96</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3"/>
                  </a:ext>
                </a:extLst>
              </a:tr>
              <a:tr h="269746">
                <a:tc>
                  <a:txBody>
                    <a:bodyPr/>
                    <a:lstStyle/>
                    <a:p>
                      <a:pPr algn="ctr" fontAlgn="ctr"/>
                      <a:r>
                        <a:rPr lang="en-US" sz="1100" b="1" i="0" u="none" strike="noStrike">
                          <a:effectLst/>
                          <a:latin typeface="Times New Roman" panose="02020603050405020304" pitchFamily="18" charset="0"/>
                          <a:ea typeface="PMingLiU" panose="02020500000000000000" pitchFamily="18" charset="-120"/>
                        </a:rPr>
                        <a:t>Cycle time/s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FF0000"/>
                          </a:solidFill>
                          <a:effectLst/>
                          <a:latin typeface="Times New Roman" panose="02020603050405020304" pitchFamily="18" charset="0"/>
                          <a:ea typeface="PMingLiU" panose="02020500000000000000" pitchFamily="18" charset="-120"/>
                        </a:rPr>
                        <a:t>48/12=4.0S</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96">
                  <a:txBody>
                    <a:bodyPr/>
                    <a:lstStyle/>
                    <a:p>
                      <a:pPr algn="l" fontAlgn="ctr"/>
                      <a:r>
                        <a:rPr lang="en-US" sz="1100" b="1" i="0" u="none" strike="noStrike" dirty="0">
                          <a:solidFill>
                            <a:srgbClr val="FF0000"/>
                          </a:solidFill>
                          <a:effectLst/>
                          <a:latin typeface="Times New Roman" panose="02020603050405020304" pitchFamily="18" charset="0"/>
                          <a:ea typeface="PMingLiU" panose="02020500000000000000" pitchFamily="18" charset="-120"/>
                        </a:rPr>
                        <a:t>UPH: 3600/4.0*0.8=720</a:t>
                      </a:r>
                    </a:p>
                  </a:txBody>
                  <a:tcPr marL="4470" marR="4470" marT="4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1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1"/>
          <p:cNvSpPr txBox="1"/>
          <p:nvPr/>
        </p:nvSpPr>
        <p:spPr>
          <a:xfrm>
            <a:off x="3772452" y="2557117"/>
            <a:ext cx="5212080" cy="1445260"/>
          </a:xfrm>
          <a:prstGeom prst="rect">
            <a:avLst/>
          </a:prstGeom>
          <a:noFill/>
        </p:spPr>
        <p:txBody>
          <a:bodyPr wrap="none" rtlCol="0">
            <a:spAutoFit/>
          </a:bodyPr>
          <a:lstStyle/>
          <a:p>
            <a:pPr algn="l"/>
            <a:r>
              <a:rPr lang="en-US" altLang="zh-CN" sz="8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rPr>
              <a:t>Thank you</a:t>
            </a:r>
            <a:endParaRPr lang="zh-CN" altLang="en-US" sz="8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21</a:t>
            </a:fld>
            <a:endParaRPr lang="zh-TW" altLang="en-US" sz="1400" dirty="0">
              <a:solidFill>
                <a:srgbClr val="898989"/>
              </a:solidFill>
              <a:latin typeface="Arial" panose="020B0604020202020204" pitchFamily="34" charset="0"/>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a77bc53-a536-423e-a843-fb27bf0f07cc"/>
  <p:tag name="COMMONDATA" val="eyJoZGlkIjoiMzBkYjgwMTgyNzkzMmMyM2RmZDU0YTJiZTM3NGZiZj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TABLE_ENDDRAG_ORIGIN_RECT" val="925*165"/>
  <p:tag name="TABLE_ENDDRAG_RECT" val="4*279*925*165"/>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TABLE_ENDDRAG_ORIGIN_RECT" val="793*143"/>
  <p:tag name="TABLE_ENDDRAG_RECT" val="65*296*793*143"/>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UNIT_TABLE_BEAUTIFY" val="smartTable{3618acce-166d-449e-9a13-4c6fe6cdc447}"/>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UNIT_TABLE_BEAUTIFY" val="smartTable{c3b2e767-b66f-4a49-9bad-bd1fdd841429}"/>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UNIT_TABLE_BEAUTIFY" val="smartTable{02b54322-5e1c-4ef7-8677-8894dfdc2a81}"/>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690,&quot;width&quot;:4775}"/>
</p:tagLst>
</file>

<file path=ppt/tags/tag4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851,&quot;width&quot;:5537}"/>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UNIT_TABLE_BEAUTIFY" val="smartTable{e98a1139-04c1-4d8e-89b2-48dc7f296b16}"/>
  <p:tag name="TABLE_ENDDRAG_ORIGIN_RECT" val="269*119"/>
  <p:tag name="TABLE_ENDDRAG_RECT" val="503*363*269*119"/>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UNIT_TABLE_BEAUTIFY" val="smartTable{e98a1139-04c1-4d8e-89b2-48dc7f296b16}"/>
  <p:tag name="TABLE_ENDDRAG_ORIGIN_RECT" val="356*360"/>
  <p:tag name="TABLE_ENDDRAG_RECT" val="586*88*356*360"/>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163,&quot;width&quot;:4217}"/>
</p:tagLst>
</file>

<file path=ppt/tags/tag5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455,&quot;width&quot;:14925}"/>
</p:tagLst>
</file>

<file path=ppt/tags/tag5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000,&quot;width&quot;:16815}"/>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53,&quot;width&quot;:4199}"/>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017,&quot;width&quot;:5721}"/>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UNIT_TABLE_BEAUTIFY" val="smartTable{ecd8f8c9-1342-4a13-86e7-183849a21cb8}"/>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UNIT_TABLE_BEAUTIFY" val="smartTable{7a0bae81-8535-4fb0-8307-b53dd3f24d0b}"/>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UNIT_TABLE_BEAUTIFY" val="smartTable{d3b260e2-a650-45a7-b168-5804356f5062}"/>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UNIT_TABLE_BEAUTIFY" val="smartTable{56e46889-472f-416d-a4d7-39ecd3f0c806}"/>
  <p:tag name="TABLE_ENDDRAG_ORIGIN_RECT" val="349*191"/>
  <p:tag name="TABLE_ENDDRAG_RECT" val="36*137*349*191"/>
</p:tagLst>
</file>

<file path=ppt/tags/tag111.xml><?xml version="1.0" encoding="utf-8"?>
<p:tagLst xmlns:a="http://schemas.openxmlformats.org/drawingml/2006/main" xmlns:r="http://schemas.openxmlformats.org/officeDocument/2006/relationships" xmlns:p="http://schemas.openxmlformats.org/presentationml/2006/main">
  <p:tag name="KSO_WM_UNIT_TABLE_BEAUTIFY" val="smartTable{1a9bea53-d8aa-4c84-8e7a-cca4e808c1c5}"/>
  <p:tag name="TABLE_ENDDRAG_ORIGIN_RECT" val="349*98"/>
  <p:tag name="TABLE_ENDDRAG_RECT" val="36*375*349*98"/>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UNIT_TABLE_BEAUTIFY" val="smartTable{a680dd5a-efe3-402f-8795-05ea45095198}"/>
  <p:tag name="TABLE_ENDDRAG_ORIGIN_RECT" val="354*125"/>
  <p:tag name="TABLE_ENDDRAG_RECT" val="572*115*354*125"/>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rgbClr val="FF0000"/>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3514</Words>
  <Application>Microsoft Office PowerPoint</Application>
  <PresentationFormat>Widescreen</PresentationFormat>
  <Paragraphs>1562</Paragraphs>
  <Slides>22</Slides>
  <Notes>18</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22</vt:i4>
      </vt:variant>
    </vt:vector>
  </HeadingPairs>
  <TitlesOfParts>
    <vt:vector size="40" baseType="lpstr">
      <vt:lpstr>等线</vt:lpstr>
      <vt:lpstr>等线 Light</vt:lpstr>
      <vt:lpstr>Gill Sans</vt:lpstr>
      <vt:lpstr>微软雅黑</vt:lpstr>
      <vt:lpstr>黑体</vt:lpstr>
      <vt:lpstr>宋体</vt:lpstr>
      <vt:lpstr>Microsoft JhengHei</vt:lpstr>
      <vt:lpstr>Microsoft JhengHei</vt:lpstr>
      <vt:lpstr>思源黑体 CN Heavy</vt:lpstr>
      <vt:lpstr>思源黑体 CN Normal</vt:lpstr>
      <vt:lpstr>思源黑体 CN Regular</vt:lpstr>
      <vt:lpstr>PMingLiU</vt:lpstr>
      <vt:lpstr>DFKai-SB</vt:lpstr>
      <vt:lpstr>Arial</vt:lpstr>
      <vt:lpstr>Calibri</vt:lpstr>
      <vt:lpstr>Times New Roman</vt:lpstr>
      <vt:lpstr>Office 主题​​</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ZMY</dc:creator>
  <cp:lastModifiedBy>陳如光</cp:lastModifiedBy>
  <cp:revision>2014</cp:revision>
  <dcterms:created xsi:type="dcterms:W3CDTF">2022-05-19T09:53:00Z</dcterms:created>
  <dcterms:modified xsi:type="dcterms:W3CDTF">2026-02-12T03:12:49Z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787FAE0DD3794758B76713BC673CB937_13</vt:lpwstr>
  </property>
</Properties>
</file>